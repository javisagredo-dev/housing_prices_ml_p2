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4"/>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18288000" cy="10287000"/>
  <p:notesSz cx="6858000" cy="9144000"/>
  <p:embeddedFontLst>
    <p:embeddedFont>
      <p:font typeface="Archivo Narrow" charset="1" panose="020B0506020202020B04"/>
      <p:regular r:id="rId27"/>
    </p:embeddedFont>
    <p:embeddedFont>
      <p:font typeface="Anton" charset="1" panose="00000500000000000000"/>
      <p:regular r:id="rId28"/>
    </p:embeddedFont>
    <p:embeddedFont>
      <p:font typeface="Archivo Narrow Bold" charset="1" panose="020B0806020202020B04"/>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notesMasters/notesMaster1.xml" Type="http://schemas.openxmlformats.org/officeDocument/2006/relationships/notesMaster"/><Relationship Id="rId25" Target="theme/theme2.xml" Type="http://schemas.openxmlformats.org/officeDocument/2006/relationships/theme"/><Relationship Id="rId26" Target="notesSlides/notesSlide1.xml" Type="http://schemas.openxmlformats.org/officeDocument/2006/relationships/notesSlide"/><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notesSlides/notesSlide2.xml" Type="http://schemas.openxmlformats.org/officeDocument/2006/relationships/notesSlide"/><Relationship Id="rId31" Target="notesSlides/notesSlide3.xml" Type="http://schemas.openxmlformats.org/officeDocument/2006/relationships/notesSlide"/><Relationship Id="rId32" Target="notesSlides/notesSlide4.xml" Type="http://schemas.openxmlformats.org/officeDocument/2006/relationships/notesSlide"/><Relationship Id="rId33" Target="notesSlides/notesSlide5.xml" Type="http://schemas.openxmlformats.org/officeDocument/2006/relationships/notesSlide"/><Relationship Id="rId34" Target="notesSlides/notesSlide6.xml" Type="http://schemas.openxmlformats.org/officeDocument/2006/relationships/notesSlide"/><Relationship Id="rId35" Target="notesSlides/notesSlide7.xml" Type="http://schemas.openxmlformats.org/officeDocument/2006/relationships/notesSlide"/><Relationship Id="rId36" Target="notesSlides/notesSlide8.xml" Type="http://schemas.openxmlformats.org/officeDocument/2006/relationships/notesSlide"/><Relationship Id="rId37" Target="notesSlides/notesSlide9.xml" Type="http://schemas.openxmlformats.org/officeDocument/2006/relationships/notesSlide"/><Relationship Id="rId38" Target="notesSlides/notesSlide10.xml" Type="http://schemas.openxmlformats.org/officeDocument/2006/relationships/notesSlide"/><Relationship Id="rId39" Target="notesSlides/notesSlide11.xml" Type="http://schemas.openxmlformats.org/officeDocument/2006/relationships/notesSlide"/><Relationship Id="rId4" Target="theme/theme1.xml" Type="http://schemas.openxmlformats.org/officeDocument/2006/relationships/theme"/><Relationship Id="rId40" Target="notesSlides/notesSlide12.xml" Type="http://schemas.openxmlformats.org/officeDocument/2006/relationships/notesSlide"/><Relationship Id="rId41" Target="notesSlides/notesSlide13.xml" Type="http://schemas.openxmlformats.org/officeDocument/2006/relationships/notesSlide"/><Relationship Id="rId42" Target="notesSlides/notesSlide14.xml" Type="http://schemas.openxmlformats.org/officeDocument/2006/relationships/notesSlide"/><Relationship Id="rId43" Target="notesSlides/notesSlide15.xml" Type="http://schemas.openxmlformats.org/officeDocument/2006/relationships/notesSlide"/><Relationship Id="rId44" Target="notesSlides/notesSlide16.xml" Type="http://schemas.openxmlformats.org/officeDocument/2006/relationships/notesSlide"/><Relationship Id="rId45" Target="notesSlides/notesSlide17.xml" Type="http://schemas.openxmlformats.org/officeDocument/2006/relationships/notesSlide"/><Relationship Id="rId46" Target="notesSlides/notesSlide18.xml" Type="http://schemas.openxmlformats.org/officeDocument/2006/relationships/notesSlid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Tiempo: 15 s. Presenta Javier. Presentarnos: Nicolas Osses y Javier Sagredo. Evaluación Parcial 2 de MLY1101 Machine Learning, Caso B: predicción de precios de viviendas en Ames, Iowa.</a:t>
            </a:r>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Tiempo: 1 min. Presenta Javier. Hoy la tasación es manual: lenta, inconsistente y difícil de justificar. Dos peritos pueden llegar a valores distintos para la misma casa y el criterio rara vez queda documentado. El objetivo es estimar el valor de mercado, es decir, el precio en una venta normal. Es un problema de regresión supervisada sobre SalePrice en dólares. El modelo no reemplaza al perito: le da un punto de partida que se puede justificar.</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Tiempo: 1 min. Presenta Javier. El criterio de salida viene de la EP1 y se fijó antes de entrenar: un modelo es apto solo si cumple los seis KPI a la vez, en el test. Los cuatro primeros miden error. La brecha de R² entre train y test mide sobreajuste. La brecha de MAPE entre barrios mide equidad (solo barrios con al menos 10 casas en test). Si ningún modelo cumple, no se bajan los umbrales: se vuelve a una fase anterior.</a:t>
            </a:r>
          </a:p>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Tiempo: 1 min. Presenta Javier. El dataset tiene 2.930 ventas y 82 variables, de 2006 a 2010, en 28 barrios. El precio mediano es 160.000 USD. En la EP1 se sacaron 5 casas de más de 4.000 pies². Después se dejaron solo las zonas residenciales (lo justificamos en la diapositiva 9): quedan 2.896 casas. Se separa 80 / 20: 2.314 en train y 582 en test. El test se separa al principio y no se usa para ninguna decisión hasta la evaluación final.</a:t>
            </a:r>
          </a:p>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Tiempo: 45 s. Presenta Javier. Para tomar decisiones sin tocar el test usamos validación cruzada de 5 folds. Train, las 2.314 casas, se divide en 5 partes de unas 463. En cada ronda el modelo aprende con 4 partes y se mide con la que no vio. Así cada casa sirve de validación una vez y ningún modelo se mide con casas con las que aprendió. Al final se promedian las 5 notas: el resultado no depende de la suerte de un solo corte, y la diferencia entre rondas nos dice si una mejora es real o ruido. El escalado y el target encoding se ajustan de nuevo en cada ronda, dentro del pipeline, para que no haya fuga de datos. El test, 582 casas, no participa en nada de esto: se usa una sola vez al final. Así se probaron todas las decisiones que vienen.</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Tiempo: 1 min. Presenta Javier. Dos hallazgos de la exploración. Primero, el precio tiene cola a la derecha, así que se modela en escala log. Según la EP1, la escala log además reparte el error de forma más pareja entre barrios: el modelo minimiza el error relativo y deja de favorecer a las casas caras. Segundo, el error se concentra en dos grupos: las ventas anómalas (Abnorml, 19,1 % de MAPE frente a 7,2 % en ventas normales) y las zonas no residenciales (33,6 % frente a 8,1 %). Valores de Ridge en validación cruzada. Estos dos hallazgos llevaron a las pruebas de la diapositiva 9.</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Tiempo: 1 min. Presenta Javier. 232 casas quedaron marcadas como outlier por IQR y por z-score en al menos una variable, un 7,9 %. No se eliminó ninguna: son casas reales. Por ejemplo, los lotes más grandes resultaron ser ventas normales en terrenos bajos, no errores de registro. Cuando muchas casas tienen 0 en una variable, el IQR exagera: en Mas Vnr Area pasa de 200 a 63 si se calcula solo con los valores mayores que 0, y en Open Porch SF de 156 a 86. La asimetría se trata con log1p en 5 variables, y solo en los modelos lineales.</a:t>
            </a:r>
          </a:p>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Tiempo: 1 min 15 s. Presenta Javier. La preparación cambia según la familia de modelos. Ridge y Lasso usan log1p en 5 variables y escalado; los árboles no. Las categóricas van con one-hot y target encoding en los dos casos. Quedan 138 columnas para los lineales y 158 para los árboles. Cada decisión se probó con validación cruzada en vez de asumirse. A los árboles no les afecta el log1p: la diferencia fue de 4 USD en Random Forest y de 0 en XGBoost, porque solo usan el orden de los valores. Todo lo que aprende de los datos (escalado, target encoding) va dentro de un pipeline, para evitar fuga de información hacia validación.</a:t>
            </a:r>
          </a:p>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Tiempo: 1 min 30 s. Presenta Javier. Tres preguntas, cada una con el criterio fijado antes de probar. Uno: entrenar con zonas no residenciales empeora a las residenciales en 3 de 4 modelos, y en esas zonas el MAPE queda entre 34 % y 44 %. Se excluyen y van a tasación manual. La zonificación se conoce antes de tasar, así que sirve para decidir qué casas entran al modelo. Dos: quitar variables casi constantes y redundantes mejora a Ridge en 66 USD de RMSE y a Lasso en 221; los árboles quedan igual. Con igual o mejor rendimiento se prefiere la versión con menos columnas: 164 a 138 en los lineales y 185 a 158 en los árboles. Tres: Sale Condition y Sale Type solo se conocen al vender, pero quitarlas empeora a los cuatro modelos. Se mantienen y, al tasar, se asume venta normal. Para medir ese uso real se preparó un segundo test con la venta normal impuesta: cambian 64 casas.</a:t>
            </a:r>
          </a:p>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Tiempo: 1 min. Presenta Nicolas. Los cuatro modelos reciben las mismas casas y estiman el logaritmo del precio; lo que cambia es cómo combinan las variables. Ridge y Lasso son una suma ponderada: cada variable tiene un peso y el precio estimado es la suma. Los dos penalizan los pesos grandes para no sobreajustar. Ridge los achica a todos; Lasso puede dejar algunos en cero, y así se queda solo con las variables útiles: en nuestro caso usa 105 de 138 columnas. Random Forest arma 300 árboles de decisión, que son preguntas encadenadas del tipo ¿la superficie es mayor a 1.500 pies²? Cada árbol se entrena con una muestra distinta de casas y la estimación final es el promedio. XGBoost también usa árboles, pero en secuencia: cada árbol nuevo aprende a corregir el error que dejaron los anteriores, de a poco. Los lineales se pueden explicar variable por variable; los árboles captan relaciones más complejas, pero cuesta justificar una estimación puntual.</a:t>
            </a:r>
          </a:p>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Tiempo: 45 s. Presenta Nicolas. Son las tres familias que preseleccionó la EP1, de menor a mayor complejidad. En Ridge y Lasso la penalización alpha es parte del ajuste: se elige con validación cruzada interna usando solo train. Random Forest usa 300 árboles sin límite de profundidad: agregar árboles no sobreajusta, solo estabiliza la predicción. XGBoost usa 500 árboles con tasa 0,05: cada árbol corrige poco, y una tasa baja con más árboles suele generalizar mejor. No hay búsqueda de hiperparámetros en esta entrega.</a:t>
            </a:r>
          </a:p>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Tiempo: 1 min 15 s. Presenta Nicolas. Resultados de la validación cruzada explicada en la diapositiva 5, con el mismo KFold del notebook de preparación. El test no participa. Cada fila compara el R² en las casas con que se entrenó (punto lleno) y en las de validación (anillo); la distancia entre los dos es la brecha. Ridge y Lasso rinden casi igual en casas vistas y nuevas: brecha de 1 punto. Random Forest y XGBoost casi memorizan train (R² de 0,985 y 0,998) y en validación quedan bajo los lineales. Sus brechas de 9,3 y 8,5 puntos superan el máximo de 5. Es la consecuencia de usar árboles sin límite de profundidad. Limitarlos es búsqueda de hiperparámetros, fuera del alcance de esta entrega. Además, los lineales varían menos entre folds: unos 1.000 USD de desviación del RMSE frente a 1.554 en XGBoost y 2.518 en Random Forest.</a:t>
            </a:r>
          </a:p>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Tiempo: 1 min 30 s. Presenta Nicolas. Cada modelo se entrena con las 2.314 casas de train y se mide en las 582 de test, que no se usaron en ningún paso anterior. Los cuatro cumplen los KPI de error: R², RMSE, MAE (todos bajo 20.000 USD) y MAPE. Los árboles fallan el de sobreajuste: su brecha de R² entre train y test es de 6,3 en XGBoost y 6,1 en Random Forest, sobre el máximo de 5. Random Forest además falla el de equidad: 10,0 puntos de diferencia de MAPE entre barrios. Con la venta normal impuesta, que es lo más parecido al uso real, Ridge y Lasso siguen cumpliendo los seis. La brecha negativa de los lineales significa que este test resultó algo más fácil que el promedio: su RMSE queda unos 1.000 USD bajo el de validación, del mismo orden que la variación entre folds.</a:t>
            </a:r>
          </a:p>
          <a:p>
            <a:r>
              <a:rPr lang="en-US"/>
              <a:t>11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Tiempo: 1 min. Presenta Nicolas. La regla de elección se fijó antes de evaluar. Uno: solo compiten los que cumplen los seis KPI en test, es decir, Ridge y Lasso. Dos: entre ellos se prefiere el de menor RMSE en validación cruzada, y ese es Ridge, por 54 USD. Tres: si otro queda a menos de 1 punto de R² de validación, gana el más interpretable. Lasso queda a 0,04 puntos (0,9295 frente a 0,9299) y usa 105 columnas en vez de 138. La diferencia entre los dos es mucho menor que la variación entre folds, que es de unos 1.000 USD: en la práctica son equivalentes. Se elige por validación y no por test para que el test siga siendo una medición independiente. Con precisión equivalente, gana el que se explica con menos variables.</a:t>
            </a:r>
          </a:p>
          <a:p>
            <a:r>
              <a:rPr lang="en-US"/>
              <a:t>12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Tiempo: 1 min 30 s. Presenta Nicolas. En el test, la mitad de las casas tuvo un error menor a 5,3 % del precio, unos 8.659 USD. Casi 8 de cada 10 quedan bajo 10 % de error y el 96,6 % bajo 20 %. A la derecha, la importancia por permutación: cuánto sube el RMSE en test si se desordena cada variable. Pesan la superficie habitable, la calidad general y la superficie del sótano; después el año de construcción, el barrio y el terreno. Son los mismos factores que considera cualquier tasación. El modelo le da al perito un valor de partida y le dice qué lo movió. Ejemplo: en una casa de Mitchel, la superficie habitable suma 8,3 % y la funcionalidad (Functional) resta 7,9 % respecto de una casa promedio de 167.304 USD. Eso permite justificar el valor ante un cliente o un banco. En Random Forest o XGBoost no hay una descomposición directa como esta.</a:t>
            </a:r>
          </a:p>
          <a:p>
            <a:r>
              <a:rPr lang="en-US"/>
              <a:t>13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Tiempo: 1 min. Presenta Nicolas. Uso recomendado: valor de partida para el perito en viviendas de zonas residenciales, tasadas como venta normal. Las zonas no residenciales quedan fuera de alcance y van a tasación manual. Hay que tener cuidado en los extremos. Sobre 450.000 USD el modelo subestima: 8 de las 9 casas de test quedan bajo su precio real. En el cuartil más barato sobreestima en promedio un 3,4 %. En esos extremos el perito debería revisar el valor con más cuidado. En remates y ventas entre familiares el error sube a entre 11 % y 15 %. Como la condición de venta no se conoce antes de vender, esos errores son un límite del modelo y no algo que se pueda filtrar. Los datos son de 2006 a 2010: el modelo tasa a precios de ese período.</a:t>
            </a:r>
          </a:p>
          <a:p>
            <a:r>
              <a:rPr lang="en-US"/>
              <a:t>14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Tiempo: 1 min. Presenta Nicolas. Lasso cumple los seis KPI en test: R² de 0,948, MAPE de 6,77 % y una brecha entre barrios de 6,1 puntos, todos con margen. Con la misma precisión que Ridge usa 33 columnas menos, y cada estimación se puede descomponer en el aporte de cada variable: el valor se puede justificar y revisar. Próximo paso: búsqueda de hiperparámetros, para ver si Random Forest y XGBoost cumplen la brecha de R² al limitar la profundidad de los árboles. Cerrar con la idea central: las decisiones se tomaron con criterios fijados antes de ver resultados, y el modelo elegido es el que cumple y además se puede justificar.</a:t>
            </a:r>
          </a:p>
          <a:p>
            <a:r>
              <a:rPr lang="en-US"/>
              <a:t>15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Abrir a preguntas. La defensa es individual y con preguntas cruzadas: los dos deben poder explicar todas las diapositivas, no solo las propias.</a:t>
            </a:r>
          </a:p>
          <a:p>
            <a:r>
              <a:rPr lang="en-US"/>
              <a:t>16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5.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6.png" Type="http://schemas.openxmlformats.org/officeDocument/2006/relationships/image"/><Relationship Id="rId4" Target="../media/image7.png" Type="http://schemas.openxmlformats.org/officeDocument/2006/relationships/image"/><Relationship Id="rId5" Target="../media/image8.png" Type="http://schemas.openxmlformats.org/officeDocument/2006/relationships/image"/><Relationship Id="rId6" Target="../media/image9.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5.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5.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0.png" Type="http://schemas.openxmlformats.org/officeDocument/2006/relationships/image"/><Relationship Id="rId4" Target="../media/image5.jpeg" Type="http://schemas.openxmlformats.org/officeDocument/2006/relationships/image"/><Relationship Id="rId5" Target="../media/image1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5.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2.png" Type="http://schemas.openxmlformats.org/officeDocument/2006/relationships/image"/><Relationship Id="rId4" Target="../media/image5.jpeg" Type="http://schemas.openxmlformats.org/officeDocument/2006/relationships/image"/><Relationship Id="rId5" Target="../media/image13.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5.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14.png" Type="http://schemas.openxmlformats.org/officeDocument/2006/relationships/image"/><Relationship Id="rId4" Target="../media/image5.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s>
</file>

<file path=ppt/slides/slide1.xml><?xml version="1.0" encoding="utf-8"?>
<p:sld xmlns:p="http://schemas.openxmlformats.org/presentationml/2006/main" xmlns:a="http://schemas.openxmlformats.org/drawingml/2006/main">
  <p:cSld>
    <p:bg>
      <p:bgPr>
        <a:solidFill>
          <a:srgbClr val="1F1E1C"/>
        </a:solidFill>
      </p:bgPr>
    </p:bg>
    <p:spTree>
      <p:nvGrpSpPr>
        <p:cNvPr id="1" name=""/>
        <p:cNvGrpSpPr/>
        <p:nvPr/>
      </p:nvGrpSpPr>
      <p:grpSpPr>
        <a:xfrm>
          <a:off x="0" y="0"/>
          <a:ext cx="0" cy="0"/>
          <a:chOff x="0" y="0"/>
          <a:chExt cx="0" cy="0"/>
        </a:xfrm>
      </p:grpSpPr>
      <p:sp>
        <p:nvSpPr>
          <p:cNvPr name="TextBox 2" id="2"/>
          <p:cNvSpPr txBox="true"/>
          <p:nvPr/>
        </p:nvSpPr>
        <p:spPr>
          <a:xfrm rot="0">
            <a:off x="1219200" y="1019175"/>
            <a:ext cx="6278880" cy="725805"/>
          </a:xfrm>
          <a:prstGeom prst="rect">
            <a:avLst/>
          </a:prstGeom>
        </p:spPr>
        <p:txBody>
          <a:bodyPr anchor="t" rtlCol="false" tIns="0" lIns="0" bIns="0" rIns="0">
            <a:spAutoFit/>
          </a:bodyPr>
          <a:lstStyle/>
          <a:p>
            <a:pPr algn="l">
              <a:lnSpc>
                <a:spcPts val="2520"/>
              </a:lnSpc>
            </a:pPr>
            <a:r>
              <a:rPr lang="en-US" sz="1800">
                <a:solidFill>
                  <a:srgbClr val="A39B8B"/>
                </a:solidFill>
                <a:latin typeface="Archivo Narrow"/>
                <a:ea typeface="Archivo Narrow"/>
                <a:cs typeface="Archivo Narrow"/>
                <a:sym typeface="Archivo Narrow"/>
              </a:rPr>
              <a:t>Un modelo de regresión que estima el valor de mercado de una vivienda, como punto de partida para el perito.</a:t>
            </a:r>
          </a:p>
        </p:txBody>
      </p:sp>
      <p:sp>
        <p:nvSpPr>
          <p:cNvPr name="TextBox 3" id="3"/>
          <p:cNvSpPr txBox="true"/>
          <p:nvPr/>
        </p:nvSpPr>
        <p:spPr>
          <a:xfrm rot="0">
            <a:off x="11967210" y="1019175"/>
            <a:ext cx="5101590" cy="725805"/>
          </a:xfrm>
          <a:prstGeom prst="rect">
            <a:avLst/>
          </a:prstGeom>
        </p:spPr>
        <p:txBody>
          <a:bodyPr anchor="t" rtlCol="false" tIns="0" lIns="0" bIns="0" rIns="0">
            <a:spAutoFit/>
          </a:bodyPr>
          <a:lstStyle/>
          <a:p>
            <a:pPr algn="r">
              <a:lnSpc>
                <a:spcPts val="2520"/>
              </a:lnSpc>
            </a:pPr>
            <a:r>
              <a:rPr lang="en-US" sz="1800">
                <a:solidFill>
                  <a:srgbClr val="A39B8B"/>
                </a:solidFill>
                <a:latin typeface="Archivo Narrow"/>
                <a:ea typeface="Archivo Narrow"/>
                <a:cs typeface="Archivo Narrow"/>
                <a:sym typeface="Archivo Narrow"/>
              </a:rPr>
              <a:t>MLY1101 Machine Learning</a:t>
            </a:r>
          </a:p>
          <a:p>
            <a:pPr algn="r">
              <a:lnSpc>
                <a:spcPts val="2520"/>
              </a:lnSpc>
            </a:pPr>
            <a:r>
              <a:rPr lang="en-US" sz="1800">
                <a:solidFill>
                  <a:srgbClr val="A39B8B"/>
                </a:solidFill>
                <a:latin typeface="Archivo Narrow"/>
                <a:ea typeface="Archivo Narrow"/>
                <a:cs typeface="Archivo Narrow"/>
                <a:sym typeface="Archivo Narrow"/>
              </a:rPr>
              <a:t>Evaluación Parcial 2 · Caso B</a:t>
            </a:r>
          </a:p>
        </p:txBody>
      </p:sp>
      <p:sp>
        <p:nvSpPr>
          <p:cNvPr name="TextBox 4" id="4"/>
          <p:cNvSpPr txBox="true"/>
          <p:nvPr/>
        </p:nvSpPr>
        <p:spPr>
          <a:xfrm rot="0">
            <a:off x="1219200" y="4602480"/>
            <a:ext cx="16325088" cy="2190750"/>
          </a:xfrm>
          <a:prstGeom prst="rect">
            <a:avLst/>
          </a:prstGeom>
        </p:spPr>
        <p:txBody>
          <a:bodyPr anchor="t" rtlCol="false" tIns="0" lIns="0" bIns="0" rIns="0">
            <a:spAutoFit/>
          </a:bodyPr>
          <a:lstStyle/>
          <a:p>
            <a:pPr algn="l">
              <a:lnSpc>
                <a:spcPts val="18900"/>
              </a:lnSpc>
            </a:pPr>
            <a:r>
              <a:rPr lang="en-US" sz="18000">
                <a:solidFill>
                  <a:srgbClr val="DCD3C3"/>
                </a:solidFill>
                <a:latin typeface="Anton"/>
                <a:ea typeface="Anton"/>
                <a:cs typeface="Anton"/>
                <a:sym typeface="Anton"/>
              </a:rPr>
              <a:t>PREDICCIÓN</a:t>
            </a:r>
          </a:p>
        </p:txBody>
      </p:sp>
      <p:sp>
        <p:nvSpPr>
          <p:cNvPr name="TextBox 5" id="5"/>
          <p:cNvSpPr txBox="true"/>
          <p:nvPr/>
        </p:nvSpPr>
        <p:spPr>
          <a:xfrm rot="0">
            <a:off x="1219200" y="6869430"/>
            <a:ext cx="16325088" cy="963930"/>
          </a:xfrm>
          <a:prstGeom prst="rect">
            <a:avLst/>
          </a:prstGeom>
        </p:spPr>
        <p:txBody>
          <a:bodyPr anchor="t" rtlCol="false" tIns="0" lIns="0" bIns="0" rIns="0">
            <a:spAutoFit/>
          </a:bodyPr>
          <a:lstStyle/>
          <a:p>
            <a:pPr algn="l">
              <a:lnSpc>
                <a:spcPts val="8190"/>
              </a:lnSpc>
            </a:pPr>
            <a:r>
              <a:rPr lang="en-US" sz="7800">
                <a:solidFill>
                  <a:srgbClr val="DCD3C3"/>
                </a:solidFill>
                <a:latin typeface="Anton"/>
                <a:ea typeface="Anton"/>
                <a:cs typeface="Anton"/>
                <a:sym typeface="Anton"/>
              </a:rPr>
              <a:t>DE PRECIOS DE VIVIENDAS</a:t>
            </a:r>
          </a:p>
        </p:txBody>
      </p:sp>
      <p:sp>
        <p:nvSpPr>
          <p:cNvPr name="AutoShape 6" id="6"/>
          <p:cNvSpPr/>
          <p:nvPr/>
        </p:nvSpPr>
        <p:spPr>
          <a:xfrm rot="2040">
            <a:off x="1214438" y="8176260"/>
            <a:ext cx="15859125" cy="0"/>
          </a:xfrm>
          <a:prstGeom prst="line">
            <a:avLst/>
          </a:prstGeom>
          <a:ln cap="rnd" w="9525">
            <a:solidFill>
              <a:srgbClr val="6E685E"/>
            </a:solidFill>
            <a:prstDash val="solid"/>
            <a:headEnd type="none" len="sm" w="sm"/>
            <a:tailEnd type="none" len="sm" w="sm"/>
          </a:ln>
        </p:spPr>
      </p:sp>
      <p:sp>
        <p:nvSpPr>
          <p:cNvPr name="TextBox 7" id="7"/>
          <p:cNvSpPr txBox="true"/>
          <p:nvPr/>
        </p:nvSpPr>
        <p:spPr>
          <a:xfrm rot="0">
            <a:off x="1219200" y="8441055"/>
            <a:ext cx="3938854" cy="405765"/>
          </a:xfrm>
          <a:prstGeom prst="rect">
            <a:avLst/>
          </a:prstGeom>
        </p:spPr>
        <p:txBody>
          <a:bodyPr anchor="t" rtlCol="false" tIns="0" lIns="0" bIns="0" rIns="0">
            <a:spAutoFit/>
          </a:bodyPr>
          <a:lstStyle/>
          <a:p>
            <a:pPr algn="l">
              <a:lnSpc>
                <a:spcPts val="2520"/>
              </a:lnSpc>
            </a:pPr>
            <a:r>
              <a:rPr lang="en-US" sz="1800" spc="149">
                <a:solidFill>
                  <a:srgbClr val="A39B8B"/>
                </a:solidFill>
                <a:latin typeface="Archivo Narrow"/>
                <a:ea typeface="Archivo Narrow"/>
                <a:cs typeface="Archivo Narrow"/>
                <a:sym typeface="Archivo Narrow"/>
              </a:rPr>
              <a:t>PRESENTAN</a:t>
            </a:r>
          </a:p>
        </p:txBody>
      </p:sp>
      <p:sp>
        <p:nvSpPr>
          <p:cNvPr name="TextBox 8" id="8"/>
          <p:cNvSpPr txBox="true"/>
          <p:nvPr/>
        </p:nvSpPr>
        <p:spPr>
          <a:xfrm rot="0">
            <a:off x="1219200" y="8799195"/>
            <a:ext cx="4588954" cy="459105"/>
          </a:xfrm>
          <a:prstGeom prst="rect">
            <a:avLst/>
          </a:prstGeom>
        </p:spPr>
        <p:txBody>
          <a:bodyPr anchor="t" rtlCol="false" tIns="0" lIns="0" bIns="0" rIns="0">
            <a:spAutoFit/>
          </a:bodyPr>
          <a:lstStyle/>
          <a:p>
            <a:pPr algn="l">
              <a:lnSpc>
                <a:spcPts val="2940"/>
              </a:lnSpc>
            </a:pPr>
            <a:r>
              <a:rPr lang="en-US" sz="2100" b="true">
                <a:solidFill>
                  <a:srgbClr val="DCD3C3"/>
                </a:solidFill>
                <a:latin typeface="Archivo Narrow Bold"/>
                <a:ea typeface="Archivo Narrow Bold"/>
                <a:cs typeface="Archivo Narrow Bold"/>
                <a:sym typeface="Archivo Narrow Bold"/>
              </a:rPr>
              <a:t>Nicolas Osses · Javier Sagredo</a:t>
            </a:r>
          </a:p>
        </p:txBody>
      </p:sp>
      <p:sp>
        <p:nvSpPr>
          <p:cNvPr name="TextBox 9" id="9"/>
          <p:cNvSpPr txBox="true"/>
          <p:nvPr/>
        </p:nvSpPr>
        <p:spPr>
          <a:xfrm rot="0">
            <a:off x="13867390" y="8441055"/>
            <a:ext cx="3201410" cy="405765"/>
          </a:xfrm>
          <a:prstGeom prst="rect">
            <a:avLst/>
          </a:prstGeom>
        </p:spPr>
        <p:txBody>
          <a:bodyPr anchor="t" rtlCol="false" tIns="0" lIns="0" bIns="0" rIns="0">
            <a:spAutoFit/>
          </a:bodyPr>
          <a:lstStyle/>
          <a:p>
            <a:pPr algn="r">
              <a:lnSpc>
                <a:spcPts val="2520"/>
              </a:lnSpc>
            </a:pPr>
            <a:r>
              <a:rPr lang="en-US" sz="1800" spc="149">
                <a:solidFill>
                  <a:srgbClr val="A39B8B"/>
                </a:solidFill>
                <a:latin typeface="Archivo Narrow"/>
                <a:ea typeface="Archivo Narrow"/>
                <a:cs typeface="Archivo Narrow"/>
                <a:sym typeface="Archivo Narrow"/>
              </a:rPr>
              <a:t>DATOS</a:t>
            </a:r>
          </a:p>
        </p:txBody>
      </p:sp>
      <p:sp>
        <p:nvSpPr>
          <p:cNvPr name="TextBox 10" id="10"/>
          <p:cNvSpPr txBox="true"/>
          <p:nvPr/>
        </p:nvSpPr>
        <p:spPr>
          <a:xfrm rot="0">
            <a:off x="13339000" y="8799195"/>
            <a:ext cx="3729800" cy="459105"/>
          </a:xfrm>
          <a:prstGeom prst="rect">
            <a:avLst/>
          </a:prstGeom>
        </p:spPr>
        <p:txBody>
          <a:bodyPr anchor="t" rtlCol="false" tIns="0" lIns="0" bIns="0" rIns="0">
            <a:spAutoFit/>
          </a:bodyPr>
          <a:lstStyle/>
          <a:p>
            <a:pPr algn="r">
              <a:lnSpc>
                <a:spcPts val="2940"/>
              </a:lnSpc>
            </a:pPr>
            <a:r>
              <a:rPr lang="en-US" sz="2100" b="true">
                <a:solidFill>
                  <a:srgbClr val="DCD3C3"/>
                </a:solidFill>
                <a:latin typeface="Archivo Narrow Bold"/>
                <a:ea typeface="Archivo Narrow Bold"/>
                <a:cs typeface="Archivo Narrow Bold"/>
                <a:sym typeface="Archivo Narrow Bold"/>
              </a:rPr>
              <a:t>Ames, Iowa · 2006 a 2010</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DCD3C3"/>
        </a:solidFill>
      </p:bgPr>
    </p:bg>
    <p:spTree>
      <p:nvGrpSpPr>
        <p:cNvPr id="1" name=""/>
        <p:cNvGrpSpPr/>
        <p:nvPr/>
      </p:nvGrpSpPr>
      <p:grpSpPr>
        <a:xfrm>
          <a:off x="0" y="0"/>
          <a:ext cx="0" cy="0"/>
          <a:chOff x="0" y="0"/>
          <a:chExt cx="0" cy="0"/>
        </a:xfrm>
      </p:grpSpPr>
      <p:sp>
        <p:nvSpPr>
          <p:cNvPr name="TextBox 2" id="2"/>
          <p:cNvSpPr txBox="true"/>
          <p:nvPr/>
        </p:nvSpPr>
        <p:spPr>
          <a:xfrm rot="0">
            <a:off x="1219200" y="1333500"/>
            <a:ext cx="16325088" cy="963930"/>
          </a:xfrm>
          <a:prstGeom prst="rect">
            <a:avLst/>
          </a:prstGeom>
        </p:spPr>
        <p:txBody>
          <a:bodyPr anchor="t" rtlCol="false" tIns="0" lIns="0" bIns="0" rIns="0">
            <a:spAutoFit/>
          </a:bodyPr>
          <a:lstStyle/>
          <a:p>
            <a:pPr algn="l">
              <a:lnSpc>
                <a:spcPts val="8190"/>
              </a:lnSpc>
            </a:pPr>
            <a:r>
              <a:rPr lang="en-US" sz="7800">
                <a:solidFill>
                  <a:srgbClr val="1F1E1C"/>
                </a:solidFill>
                <a:latin typeface="Anton"/>
                <a:ea typeface="Anton"/>
                <a:cs typeface="Anton"/>
                <a:sym typeface="Anton"/>
              </a:rPr>
              <a:t>PROBLEMA Y OBJETIVO</a:t>
            </a:r>
          </a:p>
        </p:txBody>
      </p:sp>
      <p:sp>
        <p:nvSpPr>
          <p:cNvPr name="TextBox 3" id="3"/>
          <p:cNvSpPr txBox="true"/>
          <p:nvPr/>
        </p:nvSpPr>
        <p:spPr>
          <a:xfrm rot="0">
            <a:off x="1219200" y="3726180"/>
            <a:ext cx="7063740" cy="405765"/>
          </a:xfrm>
          <a:prstGeom prst="rect">
            <a:avLst/>
          </a:prstGeom>
        </p:spPr>
        <p:txBody>
          <a:bodyPr anchor="t" rtlCol="false" tIns="0" lIns="0" bIns="0" rIns="0">
            <a:spAutoFit/>
          </a:bodyPr>
          <a:lstStyle/>
          <a:p>
            <a:pPr algn="l">
              <a:lnSpc>
                <a:spcPts val="2520"/>
              </a:lnSpc>
            </a:pPr>
            <a:r>
              <a:rPr lang="en-US" b="true" sz="1800" spc="149">
                <a:solidFill>
                  <a:srgbClr val="4A453F"/>
                </a:solidFill>
                <a:latin typeface="Archivo Narrow Bold"/>
                <a:ea typeface="Archivo Narrow Bold"/>
                <a:cs typeface="Archivo Narrow Bold"/>
                <a:sym typeface="Archivo Narrow Bold"/>
              </a:rPr>
              <a:t>HOY: TASACIÓN MANUAL</a:t>
            </a:r>
          </a:p>
        </p:txBody>
      </p:sp>
      <p:grpSp>
        <p:nvGrpSpPr>
          <p:cNvPr name="Group 4" id="4"/>
          <p:cNvGrpSpPr/>
          <p:nvPr/>
        </p:nvGrpSpPr>
        <p:grpSpPr>
          <a:xfrm rot="0">
            <a:off x="1219200" y="4486275"/>
            <a:ext cx="762000" cy="762000"/>
            <a:chOff x="0" y="0"/>
            <a:chExt cx="1016000" cy="1016000"/>
          </a:xfrm>
        </p:grpSpPr>
        <p:sp>
          <p:nvSpPr>
            <p:cNvPr name="Freeform 5" id="5"/>
            <p:cNvSpPr/>
            <p:nvPr/>
          </p:nvSpPr>
          <p:spPr>
            <a:xfrm flipH="false" flipV="false" rot="0">
              <a:off x="0" y="0"/>
              <a:ext cx="1016000" cy="1016000"/>
            </a:xfrm>
            <a:custGeom>
              <a:avLst/>
              <a:gdLst/>
              <a:ahLst/>
              <a:cxnLst/>
              <a:rect r="r" b="b" t="t" l="l"/>
              <a:pathLst>
                <a:path h="1016000" w="1016000">
                  <a:moveTo>
                    <a:pt x="0" y="508000"/>
                  </a:moveTo>
                  <a:cubicBezTo>
                    <a:pt x="0" y="227457"/>
                    <a:pt x="227457" y="0"/>
                    <a:pt x="508000" y="0"/>
                  </a:cubicBezTo>
                  <a:cubicBezTo>
                    <a:pt x="788543" y="0"/>
                    <a:pt x="1016000" y="227457"/>
                    <a:pt x="1016000" y="508000"/>
                  </a:cubicBezTo>
                  <a:cubicBezTo>
                    <a:pt x="1016000" y="788543"/>
                    <a:pt x="788543" y="1016000"/>
                    <a:pt x="508000" y="1016000"/>
                  </a:cubicBezTo>
                  <a:cubicBezTo>
                    <a:pt x="227457" y="1016000"/>
                    <a:pt x="0" y="788543"/>
                    <a:pt x="0" y="508000"/>
                  </a:cubicBezTo>
                  <a:close/>
                </a:path>
              </a:pathLst>
            </a:custGeom>
            <a:solidFill>
              <a:srgbClr val="1F1E1C"/>
            </a:solidFill>
          </p:spPr>
        </p:sp>
      </p:grpSp>
      <p:grpSp>
        <p:nvGrpSpPr>
          <p:cNvPr name="Group 6" id="6"/>
          <p:cNvGrpSpPr/>
          <p:nvPr/>
        </p:nvGrpSpPr>
        <p:grpSpPr>
          <a:xfrm rot="0">
            <a:off x="1409700" y="4676775"/>
            <a:ext cx="381000" cy="381000"/>
            <a:chOff x="0" y="0"/>
            <a:chExt cx="508000" cy="508000"/>
          </a:xfrm>
        </p:grpSpPr>
        <p:sp>
          <p:nvSpPr>
            <p:cNvPr name="Freeform 7" id="7" descr="Clock"/>
            <p:cNvSpPr/>
            <p:nvPr/>
          </p:nvSpPr>
          <p:spPr>
            <a:xfrm flipH="false" flipV="false" rot="0">
              <a:off x="0" y="0"/>
              <a:ext cx="508000" cy="508000"/>
            </a:xfrm>
            <a:custGeom>
              <a:avLst/>
              <a:gdLst/>
              <a:ahLst/>
              <a:cxnLst/>
              <a:rect r="r" b="b" t="t" l="l"/>
              <a:pathLst>
                <a:path h="508000" w="508000">
                  <a:moveTo>
                    <a:pt x="0" y="0"/>
                  </a:moveTo>
                  <a:lnTo>
                    <a:pt x="508000" y="0"/>
                  </a:lnTo>
                  <a:lnTo>
                    <a:pt x="508000" y="508000"/>
                  </a:lnTo>
                  <a:lnTo>
                    <a:pt x="0" y="508000"/>
                  </a:lnTo>
                  <a:lnTo>
                    <a:pt x="0" y="0"/>
                  </a:lnTo>
                  <a:close/>
                </a:path>
              </a:pathLst>
            </a:custGeom>
            <a:blipFill>
              <a:blip r:embed="rId3"/>
              <a:stretch>
                <a:fillRect l="0" t="0" r="0" b="0"/>
              </a:stretch>
            </a:blipFill>
          </p:spPr>
        </p:sp>
      </p:grpSp>
      <p:sp>
        <p:nvSpPr>
          <p:cNvPr name="TextBox 8" id="8"/>
          <p:cNvSpPr txBox="true"/>
          <p:nvPr/>
        </p:nvSpPr>
        <p:spPr>
          <a:xfrm rot="0">
            <a:off x="2247900" y="4465320"/>
            <a:ext cx="3161348" cy="512445"/>
          </a:xfrm>
          <a:prstGeom prst="rect">
            <a:avLst/>
          </a:prstGeom>
        </p:spPr>
        <p:txBody>
          <a:bodyPr anchor="t" rtlCol="false" tIns="0" lIns="0" bIns="0" rIns="0">
            <a:spAutoFit/>
          </a:bodyPr>
          <a:lstStyle/>
          <a:p>
            <a:pPr algn="l">
              <a:lnSpc>
                <a:spcPts val="3960"/>
              </a:lnSpc>
            </a:pPr>
            <a:r>
              <a:rPr lang="en-US" sz="3600">
                <a:solidFill>
                  <a:srgbClr val="1F1E1C"/>
                </a:solidFill>
                <a:latin typeface="Anton"/>
                <a:ea typeface="Anton"/>
                <a:cs typeface="Anton"/>
                <a:sym typeface="Anton"/>
              </a:rPr>
              <a:t>LENTA</a:t>
            </a:r>
          </a:p>
        </p:txBody>
      </p:sp>
      <p:sp>
        <p:nvSpPr>
          <p:cNvPr name="TextBox 9" id="9"/>
          <p:cNvSpPr txBox="true"/>
          <p:nvPr/>
        </p:nvSpPr>
        <p:spPr>
          <a:xfrm rot="0">
            <a:off x="2247900" y="4930140"/>
            <a:ext cx="3683127" cy="405765"/>
          </a:xfrm>
          <a:prstGeom prst="rect">
            <a:avLst/>
          </a:prstGeom>
        </p:spPr>
        <p:txBody>
          <a:bodyPr anchor="t" rtlCol="false" tIns="0" lIns="0" bIns="0" rIns="0">
            <a:spAutoFit/>
          </a:bodyPr>
          <a:lstStyle/>
          <a:p>
            <a:pPr algn="l">
              <a:lnSpc>
                <a:spcPts val="2520"/>
              </a:lnSpc>
            </a:pPr>
            <a:r>
              <a:rPr lang="en-US" sz="1800">
                <a:solidFill>
                  <a:srgbClr val="4A453F"/>
                </a:solidFill>
                <a:latin typeface="Archivo Narrow"/>
                <a:ea typeface="Archivo Narrow"/>
                <a:cs typeface="Archivo Narrow"/>
                <a:sym typeface="Archivo Narrow"/>
              </a:rPr>
              <a:t>Cada vivienda se tasa a mano.</a:t>
            </a:r>
          </a:p>
        </p:txBody>
      </p:sp>
      <p:grpSp>
        <p:nvGrpSpPr>
          <p:cNvPr name="Group 10" id="10"/>
          <p:cNvGrpSpPr/>
          <p:nvPr/>
        </p:nvGrpSpPr>
        <p:grpSpPr>
          <a:xfrm rot="0">
            <a:off x="1219200" y="5690235"/>
            <a:ext cx="762000" cy="762000"/>
            <a:chOff x="0" y="0"/>
            <a:chExt cx="1016000" cy="1016000"/>
          </a:xfrm>
        </p:grpSpPr>
        <p:sp>
          <p:nvSpPr>
            <p:cNvPr name="Freeform 11" id="11"/>
            <p:cNvSpPr/>
            <p:nvPr/>
          </p:nvSpPr>
          <p:spPr>
            <a:xfrm flipH="false" flipV="false" rot="0">
              <a:off x="0" y="0"/>
              <a:ext cx="1016000" cy="1016000"/>
            </a:xfrm>
            <a:custGeom>
              <a:avLst/>
              <a:gdLst/>
              <a:ahLst/>
              <a:cxnLst/>
              <a:rect r="r" b="b" t="t" l="l"/>
              <a:pathLst>
                <a:path h="1016000" w="1016000">
                  <a:moveTo>
                    <a:pt x="0" y="508000"/>
                  </a:moveTo>
                  <a:cubicBezTo>
                    <a:pt x="0" y="227457"/>
                    <a:pt x="227457" y="0"/>
                    <a:pt x="508000" y="0"/>
                  </a:cubicBezTo>
                  <a:cubicBezTo>
                    <a:pt x="788543" y="0"/>
                    <a:pt x="1016000" y="227457"/>
                    <a:pt x="1016000" y="508000"/>
                  </a:cubicBezTo>
                  <a:cubicBezTo>
                    <a:pt x="1016000" y="788543"/>
                    <a:pt x="788543" y="1016000"/>
                    <a:pt x="508000" y="1016000"/>
                  </a:cubicBezTo>
                  <a:cubicBezTo>
                    <a:pt x="227457" y="1016000"/>
                    <a:pt x="0" y="788543"/>
                    <a:pt x="0" y="508000"/>
                  </a:cubicBezTo>
                  <a:close/>
                </a:path>
              </a:pathLst>
            </a:custGeom>
            <a:solidFill>
              <a:srgbClr val="1F1E1C"/>
            </a:solidFill>
          </p:spPr>
        </p:sp>
      </p:grpSp>
      <p:grpSp>
        <p:nvGrpSpPr>
          <p:cNvPr name="Group 12" id="12"/>
          <p:cNvGrpSpPr/>
          <p:nvPr/>
        </p:nvGrpSpPr>
        <p:grpSpPr>
          <a:xfrm rot="0">
            <a:off x="1409700" y="5880735"/>
            <a:ext cx="381000" cy="381000"/>
            <a:chOff x="0" y="0"/>
            <a:chExt cx="508000" cy="508000"/>
          </a:xfrm>
        </p:grpSpPr>
        <p:sp>
          <p:nvSpPr>
            <p:cNvPr name="Freeform 13" id="13" descr="Users"/>
            <p:cNvSpPr/>
            <p:nvPr/>
          </p:nvSpPr>
          <p:spPr>
            <a:xfrm flipH="false" flipV="false" rot="0">
              <a:off x="0" y="0"/>
              <a:ext cx="508000" cy="508000"/>
            </a:xfrm>
            <a:custGeom>
              <a:avLst/>
              <a:gdLst/>
              <a:ahLst/>
              <a:cxnLst/>
              <a:rect r="r" b="b" t="t" l="l"/>
              <a:pathLst>
                <a:path h="508000" w="508000">
                  <a:moveTo>
                    <a:pt x="0" y="0"/>
                  </a:moveTo>
                  <a:lnTo>
                    <a:pt x="508000" y="0"/>
                  </a:lnTo>
                  <a:lnTo>
                    <a:pt x="508000" y="508000"/>
                  </a:lnTo>
                  <a:lnTo>
                    <a:pt x="0" y="508000"/>
                  </a:lnTo>
                  <a:lnTo>
                    <a:pt x="0" y="0"/>
                  </a:lnTo>
                  <a:close/>
                </a:path>
              </a:pathLst>
            </a:custGeom>
            <a:blipFill>
              <a:blip r:embed="rId4"/>
              <a:stretch>
                <a:fillRect l="0" t="0" r="0" b="0"/>
              </a:stretch>
            </a:blipFill>
          </p:spPr>
        </p:sp>
      </p:grpSp>
      <p:sp>
        <p:nvSpPr>
          <p:cNvPr name="TextBox 14" id="14"/>
          <p:cNvSpPr txBox="true"/>
          <p:nvPr/>
        </p:nvSpPr>
        <p:spPr>
          <a:xfrm rot="0">
            <a:off x="2247900" y="5669280"/>
            <a:ext cx="5076082" cy="512445"/>
          </a:xfrm>
          <a:prstGeom prst="rect">
            <a:avLst/>
          </a:prstGeom>
        </p:spPr>
        <p:txBody>
          <a:bodyPr anchor="t" rtlCol="false" tIns="0" lIns="0" bIns="0" rIns="0">
            <a:spAutoFit/>
          </a:bodyPr>
          <a:lstStyle/>
          <a:p>
            <a:pPr algn="l">
              <a:lnSpc>
                <a:spcPts val="3960"/>
              </a:lnSpc>
            </a:pPr>
            <a:r>
              <a:rPr lang="en-US" sz="3600">
                <a:solidFill>
                  <a:srgbClr val="1F1E1C"/>
                </a:solidFill>
                <a:latin typeface="Anton"/>
                <a:ea typeface="Anton"/>
                <a:cs typeface="Anton"/>
                <a:sym typeface="Anton"/>
              </a:rPr>
              <a:t>INCONSISTENTE</a:t>
            </a:r>
          </a:p>
        </p:txBody>
      </p:sp>
      <p:sp>
        <p:nvSpPr>
          <p:cNvPr name="TextBox 15" id="15"/>
          <p:cNvSpPr txBox="true"/>
          <p:nvPr/>
        </p:nvSpPr>
        <p:spPr>
          <a:xfrm rot="0">
            <a:off x="2247900" y="6134100"/>
            <a:ext cx="5913882" cy="405765"/>
          </a:xfrm>
          <a:prstGeom prst="rect">
            <a:avLst/>
          </a:prstGeom>
        </p:spPr>
        <p:txBody>
          <a:bodyPr anchor="t" rtlCol="false" tIns="0" lIns="0" bIns="0" rIns="0">
            <a:spAutoFit/>
          </a:bodyPr>
          <a:lstStyle/>
          <a:p>
            <a:pPr algn="l">
              <a:lnSpc>
                <a:spcPts val="2520"/>
              </a:lnSpc>
            </a:pPr>
            <a:r>
              <a:rPr lang="en-US" sz="1800">
                <a:solidFill>
                  <a:srgbClr val="4A453F"/>
                </a:solidFill>
                <a:latin typeface="Archivo Narrow"/>
                <a:ea typeface="Archivo Narrow"/>
                <a:cs typeface="Archivo Narrow"/>
                <a:sym typeface="Archivo Narrow"/>
              </a:rPr>
              <a:t>Dos peritos pueden llegar a dos valores distintos.</a:t>
            </a:r>
          </a:p>
        </p:txBody>
      </p:sp>
      <p:grpSp>
        <p:nvGrpSpPr>
          <p:cNvPr name="Group 16" id="16"/>
          <p:cNvGrpSpPr/>
          <p:nvPr/>
        </p:nvGrpSpPr>
        <p:grpSpPr>
          <a:xfrm rot="0">
            <a:off x="1219200" y="6894195"/>
            <a:ext cx="762000" cy="762000"/>
            <a:chOff x="0" y="0"/>
            <a:chExt cx="1016000" cy="1016000"/>
          </a:xfrm>
        </p:grpSpPr>
        <p:sp>
          <p:nvSpPr>
            <p:cNvPr name="Freeform 17" id="17"/>
            <p:cNvSpPr/>
            <p:nvPr/>
          </p:nvSpPr>
          <p:spPr>
            <a:xfrm flipH="false" flipV="false" rot="0">
              <a:off x="0" y="0"/>
              <a:ext cx="1016000" cy="1016000"/>
            </a:xfrm>
            <a:custGeom>
              <a:avLst/>
              <a:gdLst/>
              <a:ahLst/>
              <a:cxnLst/>
              <a:rect r="r" b="b" t="t" l="l"/>
              <a:pathLst>
                <a:path h="1016000" w="1016000">
                  <a:moveTo>
                    <a:pt x="0" y="508000"/>
                  </a:moveTo>
                  <a:cubicBezTo>
                    <a:pt x="0" y="227457"/>
                    <a:pt x="227457" y="0"/>
                    <a:pt x="508000" y="0"/>
                  </a:cubicBezTo>
                  <a:cubicBezTo>
                    <a:pt x="788543" y="0"/>
                    <a:pt x="1016000" y="227457"/>
                    <a:pt x="1016000" y="508000"/>
                  </a:cubicBezTo>
                  <a:cubicBezTo>
                    <a:pt x="1016000" y="788543"/>
                    <a:pt x="788543" y="1016000"/>
                    <a:pt x="508000" y="1016000"/>
                  </a:cubicBezTo>
                  <a:cubicBezTo>
                    <a:pt x="227457" y="1016000"/>
                    <a:pt x="0" y="788543"/>
                    <a:pt x="0" y="508000"/>
                  </a:cubicBezTo>
                  <a:close/>
                </a:path>
              </a:pathLst>
            </a:custGeom>
            <a:solidFill>
              <a:srgbClr val="1F1E1C"/>
            </a:solidFill>
          </p:spPr>
        </p:sp>
      </p:grpSp>
      <p:grpSp>
        <p:nvGrpSpPr>
          <p:cNvPr name="Group 18" id="18"/>
          <p:cNvGrpSpPr/>
          <p:nvPr/>
        </p:nvGrpSpPr>
        <p:grpSpPr>
          <a:xfrm rot="0">
            <a:off x="1409700" y="7084695"/>
            <a:ext cx="381000" cy="381000"/>
            <a:chOff x="0" y="0"/>
            <a:chExt cx="508000" cy="508000"/>
          </a:xfrm>
        </p:grpSpPr>
        <p:sp>
          <p:nvSpPr>
            <p:cNvPr name="Freeform 19" id="19" descr="Search"/>
            <p:cNvSpPr/>
            <p:nvPr/>
          </p:nvSpPr>
          <p:spPr>
            <a:xfrm flipH="false" flipV="false" rot="0">
              <a:off x="0" y="0"/>
              <a:ext cx="508000" cy="508000"/>
            </a:xfrm>
            <a:custGeom>
              <a:avLst/>
              <a:gdLst/>
              <a:ahLst/>
              <a:cxnLst/>
              <a:rect r="r" b="b" t="t" l="l"/>
              <a:pathLst>
                <a:path h="508000" w="508000">
                  <a:moveTo>
                    <a:pt x="0" y="0"/>
                  </a:moveTo>
                  <a:lnTo>
                    <a:pt x="508000" y="0"/>
                  </a:lnTo>
                  <a:lnTo>
                    <a:pt x="508000" y="508000"/>
                  </a:lnTo>
                  <a:lnTo>
                    <a:pt x="0" y="508000"/>
                  </a:lnTo>
                  <a:lnTo>
                    <a:pt x="0" y="0"/>
                  </a:lnTo>
                  <a:close/>
                </a:path>
              </a:pathLst>
            </a:custGeom>
            <a:blipFill>
              <a:blip r:embed="rId5"/>
              <a:stretch>
                <a:fillRect l="0" t="0" r="0" b="0"/>
              </a:stretch>
            </a:blipFill>
          </p:spPr>
        </p:sp>
      </p:grpSp>
      <p:sp>
        <p:nvSpPr>
          <p:cNvPr name="TextBox 20" id="20"/>
          <p:cNvSpPr txBox="true"/>
          <p:nvPr/>
        </p:nvSpPr>
        <p:spPr>
          <a:xfrm rot="0">
            <a:off x="2247900" y="6873240"/>
            <a:ext cx="4122315" cy="512445"/>
          </a:xfrm>
          <a:prstGeom prst="rect">
            <a:avLst/>
          </a:prstGeom>
        </p:spPr>
        <p:txBody>
          <a:bodyPr anchor="t" rtlCol="false" tIns="0" lIns="0" bIns="0" rIns="0">
            <a:spAutoFit/>
          </a:bodyPr>
          <a:lstStyle/>
          <a:p>
            <a:pPr algn="l">
              <a:lnSpc>
                <a:spcPts val="3960"/>
              </a:lnSpc>
            </a:pPr>
            <a:r>
              <a:rPr lang="en-US" sz="3600">
                <a:solidFill>
                  <a:srgbClr val="1F1E1C"/>
                </a:solidFill>
                <a:latin typeface="Anton"/>
                <a:ea typeface="Anton"/>
                <a:cs typeface="Anton"/>
                <a:sym typeface="Anton"/>
              </a:rPr>
              <a:t>SIN TRAZABILIDAD</a:t>
            </a:r>
          </a:p>
        </p:txBody>
      </p:sp>
      <p:sp>
        <p:nvSpPr>
          <p:cNvPr name="TextBox 21" id="21"/>
          <p:cNvSpPr txBox="true"/>
          <p:nvPr/>
        </p:nvSpPr>
        <p:spPr>
          <a:xfrm rot="0">
            <a:off x="2247900" y="7338060"/>
            <a:ext cx="4802696" cy="405765"/>
          </a:xfrm>
          <a:prstGeom prst="rect">
            <a:avLst/>
          </a:prstGeom>
        </p:spPr>
        <p:txBody>
          <a:bodyPr anchor="t" rtlCol="false" tIns="0" lIns="0" bIns="0" rIns="0">
            <a:spAutoFit/>
          </a:bodyPr>
          <a:lstStyle/>
          <a:p>
            <a:pPr algn="l">
              <a:lnSpc>
                <a:spcPts val="2520"/>
              </a:lnSpc>
            </a:pPr>
            <a:r>
              <a:rPr lang="en-US" sz="1800">
                <a:solidFill>
                  <a:srgbClr val="4A453F"/>
                </a:solidFill>
                <a:latin typeface="Archivo Narrow"/>
                <a:ea typeface="Archivo Narrow"/>
                <a:cs typeface="Archivo Narrow"/>
                <a:sym typeface="Archivo Narrow"/>
              </a:rPr>
              <a:t>El criterio rara vez queda documentado.</a:t>
            </a:r>
          </a:p>
        </p:txBody>
      </p:sp>
      <p:grpSp>
        <p:nvGrpSpPr>
          <p:cNvPr name="Group 22" id="22"/>
          <p:cNvGrpSpPr/>
          <p:nvPr/>
        </p:nvGrpSpPr>
        <p:grpSpPr>
          <a:xfrm rot="0">
            <a:off x="8534400" y="5511165"/>
            <a:ext cx="914400" cy="457200"/>
            <a:chOff x="0" y="0"/>
            <a:chExt cx="1219200" cy="609600"/>
          </a:xfrm>
        </p:grpSpPr>
        <p:sp>
          <p:nvSpPr>
            <p:cNvPr name="Freeform 23" id="23" descr="arrow-right"/>
            <p:cNvSpPr/>
            <p:nvPr/>
          </p:nvSpPr>
          <p:spPr>
            <a:xfrm flipH="false" flipV="false" rot="0">
              <a:off x="0" y="0"/>
              <a:ext cx="1219200" cy="609600"/>
            </a:xfrm>
            <a:custGeom>
              <a:avLst/>
              <a:gdLst/>
              <a:ahLst/>
              <a:cxnLst/>
              <a:rect r="r" b="b" t="t" l="l"/>
              <a:pathLst>
                <a:path h="609600" w="1219200">
                  <a:moveTo>
                    <a:pt x="0" y="0"/>
                  </a:moveTo>
                  <a:lnTo>
                    <a:pt x="1219200" y="0"/>
                  </a:lnTo>
                  <a:lnTo>
                    <a:pt x="1219200" y="609600"/>
                  </a:lnTo>
                  <a:lnTo>
                    <a:pt x="0" y="609600"/>
                  </a:lnTo>
                  <a:lnTo>
                    <a:pt x="0" y="0"/>
                  </a:lnTo>
                  <a:close/>
                </a:path>
              </a:pathLst>
            </a:custGeom>
            <a:blipFill>
              <a:blip r:embed="rId6"/>
              <a:stretch>
                <a:fillRect l="0" t="0" r="0" b="0"/>
              </a:stretch>
            </a:blipFill>
          </p:spPr>
        </p:sp>
      </p:grpSp>
      <p:grpSp>
        <p:nvGrpSpPr>
          <p:cNvPr name="Group 24" id="24"/>
          <p:cNvGrpSpPr/>
          <p:nvPr/>
        </p:nvGrpSpPr>
        <p:grpSpPr>
          <a:xfrm rot="0">
            <a:off x="9906000" y="2716530"/>
            <a:ext cx="7162800" cy="6046470"/>
            <a:chOff x="0" y="0"/>
            <a:chExt cx="9550400" cy="8061960"/>
          </a:xfrm>
        </p:grpSpPr>
        <p:sp>
          <p:nvSpPr>
            <p:cNvPr name="Freeform 25" id="25"/>
            <p:cNvSpPr/>
            <p:nvPr/>
          </p:nvSpPr>
          <p:spPr>
            <a:xfrm flipH="false" flipV="false" rot="0">
              <a:off x="0" y="0"/>
              <a:ext cx="9550400" cy="8061960"/>
            </a:xfrm>
            <a:custGeom>
              <a:avLst/>
              <a:gdLst/>
              <a:ahLst/>
              <a:cxnLst/>
              <a:rect r="r" b="b" t="t" l="l"/>
              <a:pathLst>
                <a:path h="8061960" w="9550400">
                  <a:moveTo>
                    <a:pt x="0" y="0"/>
                  </a:moveTo>
                  <a:lnTo>
                    <a:pt x="9550400" y="0"/>
                  </a:lnTo>
                  <a:lnTo>
                    <a:pt x="9550400" y="8061960"/>
                  </a:lnTo>
                  <a:lnTo>
                    <a:pt x="0" y="8061960"/>
                  </a:lnTo>
                  <a:close/>
                </a:path>
              </a:pathLst>
            </a:custGeom>
            <a:solidFill>
              <a:srgbClr val="1F1E1C"/>
            </a:solidFill>
          </p:spPr>
        </p:sp>
      </p:grpSp>
      <p:sp>
        <p:nvSpPr>
          <p:cNvPr name="TextBox 26" id="26"/>
          <p:cNvSpPr txBox="true"/>
          <p:nvPr/>
        </p:nvSpPr>
        <p:spPr>
          <a:xfrm rot="0">
            <a:off x="10515600" y="3278505"/>
            <a:ext cx="6121908" cy="405765"/>
          </a:xfrm>
          <a:prstGeom prst="rect">
            <a:avLst/>
          </a:prstGeom>
        </p:spPr>
        <p:txBody>
          <a:bodyPr anchor="t" rtlCol="false" tIns="0" lIns="0" bIns="0" rIns="0">
            <a:spAutoFit/>
          </a:bodyPr>
          <a:lstStyle/>
          <a:p>
            <a:pPr algn="l">
              <a:lnSpc>
                <a:spcPts val="2520"/>
              </a:lnSpc>
            </a:pPr>
            <a:r>
              <a:rPr lang="en-US" b="true" sz="1800" spc="149">
                <a:solidFill>
                  <a:srgbClr val="A39B8B"/>
                </a:solidFill>
                <a:latin typeface="Archivo Narrow Bold"/>
                <a:ea typeface="Archivo Narrow Bold"/>
                <a:cs typeface="Archivo Narrow Bold"/>
                <a:sym typeface="Archivo Narrow Bold"/>
              </a:rPr>
              <a:t>OBJETIVO</a:t>
            </a:r>
          </a:p>
        </p:txBody>
      </p:sp>
      <p:sp>
        <p:nvSpPr>
          <p:cNvPr name="TextBox 27" id="27"/>
          <p:cNvSpPr txBox="true"/>
          <p:nvPr/>
        </p:nvSpPr>
        <p:spPr>
          <a:xfrm rot="0">
            <a:off x="10515600" y="4708207"/>
            <a:ext cx="6121908" cy="1080135"/>
          </a:xfrm>
          <a:prstGeom prst="rect">
            <a:avLst/>
          </a:prstGeom>
        </p:spPr>
        <p:txBody>
          <a:bodyPr anchor="t" rtlCol="false" tIns="0" lIns="0" bIns="0" rIns="0">
            <a:spAutoFit/>
          </a:bodyPr>
          <a:lstStyle/>
          <a:p>
            <a:pPr algn="l">
              <a:lnSpc>
                <a:spcPts val="4140"/>
              </a:lnSpc>
            </a:pPr>
            <a:r>
              <a:rPr lang="en-US" sz="3600">
                <a:solidFill>
                  <a:srgbClr val="DCD3C3"/>
                </a:solidFill>
                <a:latin typeface="Anton"/>
                <a:ea typeface="Anton"/>
                <a:cs typeface="Anton"/>
                <a:sym typeface="Anton"/>
              </a:rPr>
              <a:t>ESTIMAR EL PRECIO DE UNA VIVIENDA COMO APOYO AL PERITO</a:t>
            </a:r>
          </a:p>
        </p:txBody>
      </p:sp>
      <p:sp>
        <p:nvSpPr>
          <p:cNvPr name="AutoShape 28" id="28"/>
          <p:cNvSpPr/>
          <p:nvPr/>
        </p:nvSpPr>
        <p:spPr>
          <a:xfrm rot="5520">
            <a:off x="10510838" y="6802755"/>
            <a:ext cx="5953135" cy="0"/>
          </a:xfrm>
          <a:prstGeom prst="line">
            <a:avLst/>
          </a:prstGeom>
          <a:ln cap="rnd" w="9525">
            <a:solidFill>
              <a:srgbClr val="6E685E"/>
            </a:solidFill>
            <a:prstDash val="solid"/>
            <a:headEnd type="none" len="sm" w="sm"/>
            <a:tailEnd type="none" len="sm" w="sm"/>
          </a:ln>
        </p:spPr>
      </p:sp>
      <p:sp>
        <p:nvSpPr>
          <p:cNvPr name="TextBox 29" id="29"/>
          <p:cNvSpPr txBox="true"/>
          <p:nvPr/>
        </p:nvSpPr>
        <p:spPr>
          <a:xfrm rot="0">
            <a:off x="10515600" y="7038975"/>
            <a:ext cx="6121908" cy="436245"/>
          </a:xfrm>
          <a:prstGeom prst="rect">
            <a:avLst/>
          </a:prstGeom>
        </p:spPr>
        <p:txBody>
          <a:bodyPr anchor="t" rtlCol="false" tIns="0" lIns="0" bIns="0" rIns="0">
            <a:spAutoFit/>
          </a:bodyPr>
          <a:lstStyle/>
          <a:p>
            <a:pPr algn="l">
              <a:lnSpc>
                <a:spcPts val="2835"/>
              </a:lnSpc>
            </a:pPr>
            <a:r>
              <a:rPr lang="en-US" sz="2100">
                <a:solidFill>
                  <a:srgbClr val="DCD3C3"/>
                </a:solidFill>
                <a:latin typeface="Archivo Narrow"/>
                <a:ea typeface="Archivo Narrow"/>
                <a:cs typeface="Archivo Narrow"/>
                <a:sym typeface="Archivo Narrow"/>
              </a:rPr>
              <a:t>Regresión supervisada sobre </a:t>
            </a:r>
            <a:r>
              <a:rPr lang="en-US" sz="2100" b="true">
                <a:solidFill>
                  <a:srgbClr val="DCD3C3"/>
                </a:solidFill>
                <a:latin typeface="Archivo Narrow Bold"/>
                <a:ea typeface="Archivo Narrow Bold"/>
                <a:cs typeface="Archivo Narrow Bold"/>
                <a:sym typeface="Archivo Narrow Bold"/>
              </a:rPr>
              <a:t>SalePrice</a:t>
            </a:r>
            <a:r>
              <a:rPr lang="en-US" sz="2100">
                <a:solidFill>
                  <a:srgbClr val="DCD3C3"/>
                </a:solidFill>
                <a:latin typeface="Archivo Narrow"/>
                <a:ea typeface="Archivo Narrow"/>
                <a:cs typeface="Archivo Narrow"/>
                <a:sym typeface="Archivo Narrow"/>
              </a:rPr>
              <a:t> (USD)</a:t>
            </a:r>
          </a:p>
        </p:txBody>
      </p:sp>
      <p:sp>
        <p:nvSpPr>
          <p:cNvPr name="TextBox 30" id="30"/>
          <p:cNvSpPr txBox="true"/>
          <p:nvPr/>
        </p:nvSpPr>
        <p:spPr>
          <a:xfrm rot="0">
            <a:off x="10515600" y="7465695"/>
            <a:ext cx="6121908" cy="725805"/>
          </a:xfrm>
          <a:prstGeom prst="rect">
            <a:avLst/>
          </a:prstGeom>
        </p:spPr>
        <p:txBody>
          <a:bodyPr anchor="t" rtlCol="false" tIns="0" lIns="0" bIns="0" rIns="0">
            <a:spAutoFit/>
          </a:bodyPr>
          <a:lstStyle/>
          <a:p>
            <a:pPr algn="l">
              <a:lnSpc>
                <a:spcPts val="2520"/>
              </a:lnSpc>
            </a:pPr>
            <a:r>
              <a:rPr lang="en-US" sz="1800">
                <a:solidFill>
                  <a:srgbClr val="A39B8B"/>
                </a:solidFill>
                <a:latin typeface="Archivo Narrow"/>
                <a:ea typeface="Archivo Narrow"/>
                <a:cs typeface="Archivo Narrow"/>
                <a:sym typeface="Archivo Narrow"/>
              </a:rPr>
              <a:t>No reemplaza al perito: le da un punto de partida que se puede justificar.</a:t>
            </a:r>
          </a:p>
        </p:txBody>
      </p:sp>
      <p:sp>
        <p:nvSpPr>
          <p:cNvPr name="TextBox 31" id="31"/>
          <p:cNvSpPr txBox="true"/>
          <p:nvPr/>
        </p:nvSpPr>
        <p:spPr>
          <a:xfrm rot="0">
            <a:off x="1219200" y="9309735"/>
            <a:ext cx="7848600" cy="405765"/>
          </a:xfrm>
          <a:prstGeom prst="rect">
            <a:avLst/>
          </a:prstGeom>
        </p:spPr>
        <p:txBody>
          <a:bodyPr anchor="t" rtlCol="false" tIns="0" lIns="0" bIns="0" rIns="0">
            <a:spAutoFit/>
          </a:bodyPr>
          <a:lstStyle/>
          <a:p>
            <a:pPr algn="l">
              <a:lnSpc>
                <a:spcPts val="2520"/>
              </a:lnSpc>
            </a:pPr>
            <a:r>
              <a:rPr lang="en-US" sz="1800">
                <a:solidFill>
                  <a:srgbClr val="4A453F"/>
                </a:solidFill>
                <a:latin typeface="Archivo Narrow"/>
                <a:ea typeface="Archivo Narrow"/>
                <a:cs typeface="Archivo Narrow"/>
                <a:sym typeface="Archivo Narrow"/>
              </a:rPr>
              <a:t>02 · Housing Prices · EP2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DCD3C3"/>
        </a:solidFill>
      </p:bgPr>
    </p:bg>
    <p:spTree>
      <p:nvGrpSpPr>
        <p:cNvPr id="1" name=""/>
        <p:cNvGrpSpPr/>
        <p:nvPr/>
      </p:nvGrpSpPr>
      <p:grpSpPr>
        <a:xfrm>
          <a:off x="0" y="0"/>
          <a:ext cx="0" cy="0"/>
          <a:chOff x="0" y="0"/>
          <a:chExt cx="0" cy="0"/>
        </a:xfrm>
      </p:grpSpPr>
      <p:sp>
        <p:nvSpPr>
          <p:cNvPr name="TextBox 2" id="2"/>
          <p:cNvSpPr txBox="true"/>
          <p:nvPr/>
        </p:nvSpPr>
        <p:spPr>
          <a:xfrm rot="0">
            <a:off x="1219200" y="1333500"/>
            <a:ext cx="16325088" cy="963930"/>
          </a:xfrm>
          <a:prstGeom prst="rect">
            <a:avLst/>
          </a:prstGeom>
        </p:spPr>
        <p:txBody>
          <a:bodyPr anchor="t" rtlCol="false" tIns="0" lIns="0" bIns="0" rIns="0">
            <a:spAutoFit/>
          </a:bodyPr>
          <a:lstStyle/>
          <a:p>
            <a:pPr algn="l">
              <a:lnSpc>
                <a:spcPts val="8190"/>
              </a:lnSpc>
            </a:pPr>
            <a:r>
              <a:rPr lang="en-US" sz="7800">
                <a:solidFill>
                  <a:srgbClr val="1F1E1C"/>
                </a:solidFill>
                <a:latin typeface="Anton"/>
                <a:ea typeface="Anton"/>
                <a:cs typeface="Anton"/>
                <a:sym typeface="Anton"/>
              </a:rPr>
              <a:t>CRITERIO DE SALIDA</a:t>
            </a:r>
          </a:p>
        </p:txBody>
      </p:sp>
      <p:sp>
        <p:nvSpPr>
          <p:cNvPr name="TextBox 3" id="3"/>
          <p:cNvSpPr txBox="true"/>
          <p:nvPr/>
        </p:nvSpPr>
        <p:spPr>
          <a:xfrm rot="0">
            <a:off x="1219200" y="2602230"/>
            <a:ext cx="16325088" cy="436245"/>
          </a:xfrm>
          <a:prstGeom prst="rect">
            <a:avLst/>
          </a:prstGeom>
        </p:spPr>
        <p:txBody>
          <a:bodyPr anchor="t" rtlCol="false" tIns="0" lIns="0" bIns="0" rIns="0">
            <a:spAutoFit/>
          </a:bodyPr>
          <a:lstStyle/>
          <a:p>
            <a:pPr algn="l">
              <a:lnSpc>
                <a:spcPts val="2835"/>
              </a:lnSpc>
            </a:pPr>
            <a:r>
              <a:rPr lang="en-US" sz="2100">
                <a:solidFill>
                  <a:srgbClr val="4A453F"/>
                </a:solidFill>
                <a:latin typeface="Archivo Narrow"/>
                <a:ea typeface="Archivo Narrow"/>
                <a:cs typeface="Archivo Narrow"/>
                <a:sym typeface="Archivo Narrow"/>
              </a:rPr>
              <a:t>Apto solo si cumple los seis a la vez, en test. Umbrales fijados en la EP1, antes de entrenar.</a:t>
            </a:r>
          </a:p>
        </p:txBody>
      </p:sp>
      <p:grpSp>
        <p:nvGrpSpPr>
          <p:cNvPr name="Group 4" id="4"/>
          <p:cNvGrpSpPr/>
          <p:nvPr/>
        </p:nvGrpSpPr>
        <p:grpSpPr>
          <a:xfrm rot="0">
            <a:off x="1219200" y="3381375"/>
            <a:ext cx="5130803" cy="2400300"/>
            <a:chOff x="0" y="0"/>
            <a:chExt cx="6841071" cy="3200400"/>
          </a:xfrm>
        </p:grpSpPr>
        <p:sp>
          <p:nvSpPr>
            <p:cNvPr name="Freeform 5" id="5"/>
            <p:cNvSpPr/>
            <p:nvPr/>
          </p:nvSpPr>
          <p:spPr>
            <a:xfrm flipH="false" flipV="false" rot="0">
              <a:off x="0" y="0"/>
              <a:ext cx="6841110" cy="3200400"/>
            </a:xfrm>
            <a:custGeom>
              <a:avLst/>
              <a:gdLst/>
              <a:ahLst/>
              <a:cxnLst/>
              <a:rect r="r" b="b" t="t" l="l"/>
              <a:pathLst>
                <a:path h="3200400" w="6841110">
                  <a:moveTo>
                    <a:pt x="0" y="140843"/>
                  </a:moveTo>
                  <a:cubicBezTo>
                    <a:pt x="0" y="62992"/>
                    <a:pt x="62992" y="0"/>
                    <a:pt x="140843" y="0"/>
                  </a:cubicBezTo>
                  <a:lnTo>
                    <a:pt x="6700266" y="0"/>
                  </a:lnTo>
                  <a:cubicBezTo>
                    <a:pt x="6777990" y="0"/>
                    <a:pt x="6841110" y="62992"/>
                    <a:pt x="6841110" y="140843"/>
                  </a:cubicBezTo>
                  <a:lnTo>
                    <a:pt x="6841110" y="3059557"/>
                  </a:lnTo>
                  <a:cubicBezTo>
                    <a:pt x="6841110" y="3137281"/>
                    <a:pt x="6778117" y="3200400"/>
                    <a:pt x="6700266" y="3200400"/>
                  </a:cubicBezTo>
                  <a:lnTo>
                    <a:pt x="140843" y="3200400"/>
                  </a:lnTo>
                  <a:cubicBezTo>
                    <a:pt x="62992" y="3200400"/>
                    <a:pt x="0" y="3137408"/>
                    <a:pt x="0" y="3059557"/>
                  </a:cubicBezTo>
                  <a:close/>
                </a:path>
              </a:pathLst>
            </a:custGeom>
            <a:blipFill>
              <a:blip r:embed="rId3">
                <a:alphaModFix amt="0"/>
              </a:blip>
              <a:stretch>
                <a:fillRect l="-10023" t="0" r="-10022" b="0"/>
              </a:stretch>
            </a:blipFill>
            <a:ln w="19050" cap="sq">
              <a:solidFill>
                <a:srgbClr val="1F1E1C"/>
              </a:solidFill>
              <a:prstDash val="solid"/>
              <a:miter/>
            </a:ln>
          </p:spPr>
        </p:sp>
      </p:grpSp>
      <p:sp>
        <p:nvSpPr>
          <p:cNvPr name="TextBox 6" id="6"/>
          <p:cNvSpPr txBox="true"/>
          <p:nvPr/>
        </p:nvSpPr>
        <p:spPr>
          <a:xfrm rot="0">
            <a:off x="1539240" y="3615690"/>
            <a:ext cx="4625445" cy="405765"/>
          </a:xfrm>
          <a:prstGeom prst="rect">
            <a:avLst/>
          </a:prstGeom>
        </p:spPr>
        <p:txBody>
          <a:bodyPr anchor="t" rtlCol="false" tIns="0" lIns="0" bIns="0" rIns="0">
            <a:spAutoFit/>
          </a:bodyPr>
          <a:lstStyle/>
          <a:p>
            <a:pPr algn="l">
              <a:lnSpc>
                <a:spcPts val="2520"/>
              </a:lnSpc>
            </a:pPr>
            <a:r>
              <a:rPr lang="en-US" sz="1800" spc="149">
                <a:solidFill>
                  <a:srgbClr val="4A453F"/>
                </a:solidFill>
                <a:latin typeface="Archivo Narrow"/>
                <a:ea typeface="Archivo Narrow"/>
                <a:cs typeface="Archivo Narrow"/>
                <a:sym typeface="Archivo Narrow"/>
              </a:rPr>
              <a:t>ERROR</a:t>
            </a:r>
          </a:p>
        </p:txBody>
      </p:sp>
      <p:sp>
        <p:nvSpPr>
          <p:cNvPr name="TextBox 7" id="7"/>
          <p:cNvSpPr txBox="true"/>
          <p:nvPr/>
        </p:nvSpPr>
        <p:spPr>
          <a:xfrm rot="0">
            <a:off x="1539240" y="4011930"/>
            <a:ext cx="4625445" cy="459105"/>
          </a:xfrm>
          <a:prstGeom prst="rect">
            <a:avLst/>
          </a:prstGeom>
        </p:spPr>
        <p:txBody>
          <a:bodyPr anchor="t" rtlCol="false" tIns="0" lIns="0" bIns="0" rIns="0">
            <a:spAutoFit/>
          </a:bodyPr>
          <a:lstStyle/>
          <a:p>
            <a:pPr algn="l">
              <a:lnSpc>
                <a:spcPts val="2940"/>
              </a:lnSpc>
            </a:pPr>
            <a:r>
              <a:rPr lang="en-US" sz="2100" b="true">
                <a:solidFill>
                  <a:srgbClr val="1F1E1C"/>
                </a:solidFill>
                <a:latin typeface="Archivo Narrow Bold"/>
                <a:ea typeface="Archivo Narrow Bold"/>
                <a:cs typeface="Archivo Narrow Bold"/>
                <a:sym typeface="Archivo Narrow Bold"/>
              </a:rPr>
              <a:t>R²</a:t>
            </a:r>
          </a:p>
        </p:txBody>
      </p:sp>
      <p:sp>
        <p:nvSpPr>
          <p:cNvPr name="TextBox 8" id="8"/>
          <p:cNvSpPr txBox="true"/>
          <p:nvPr/>
        </p:nvSpPr>
        <p:spPr>
          <a:xfrm rot="0">
            <a:off x="1539240" y="4652010"/>
            <a:ext cx="4625445" cy="885825"/>
          </a:xfrm>
          <a:prstGeom prst="rect">
            <a:avLst/>
          </a:prstGeom>
        </p:spPr>
        <p:txBody>
          <a:bodyPr anchor="t" rtlCol="false" tIns="0" lIns="0" bIns="0" rIns="0">
            <a:spAutoFit/>
          </a:bodyPr>
          <a:lstStyle/>
          <a:p>
            <a:pPr algn="l">
              <a:lnSpc>
                <a:spcPts val="7800"/>
              </a:lnSpc>
            </a:pPr>
            <a:r>
              <a:rPr lang="en-US" sz="7800">
                <a:solidFill>
                  <a:srgbClr val="1F1E1C"/>
                </a:solidFill>
                <a:latin typeface="Anton"/>
                <a:ea typeface="Anton"/>
                <a:cs typeface="Anton"/>
                <a:sym typeface="Anton"/>
              </a:rPr>
              <a:t>≥ 0,85</a:t>
            </a:r>
          </a:p>
        </p:txBody>
      </p:sp>
      <p:grpSp>
        <p:nvGrpSpPr>
          <p:cNvPr name="Group 9" id="9"/>
          <p:cNvGrpSpPr/>
          <p:nvPr/>
        </p:nvGrpSpPr>
        <p:grpSpPr>
          <a:xfrm rot="0">
            <a:off x="6578603" y="3381375"/>
            <a:ext cx="5130803" cy="2400300"/>
            <a:chOff x="0" y="0"/>
            <a:chExt cx="6841071" cy="3200400"/>
          </a:xfrm>
        </p:grpSpPr>
        <p:sp>
          <p:nvSpPr>
            <p:cNvPr name="Freeform 10" id="10"/>
            <p:cNvSpPr/>
            <p:nvPr/>
          </p:nvSpPr>
          <p:spPr>
            <a:xfrm flipH="false" flipV="false" rot="0">
              <a:off x="0" y="0"/>
              <a:ext cx="6841110" cy="3200400"/>
            </a:xfrm>
            <a:custGeom>
              <a:avLst/>
              <a:gdLst/>
              <a:ahLst/>
              <a:cxnLst/>
              <a:rect r="r" b="b" t="t" l="l"/>
              <a:pathLst>
                <a:path h="3200400" w="6841110">
                  <a:moveTo>
                    <a:pt x="0" y="140843"/>
                  </a:moveTo>
                  <a:cubicBezTo>
                    <a:pt x="0" y="62992"/>
                    <a:pt x="62992" y="0"/>
                    <a:pt x="140843" y="0"/>
                  </a:cubicBezTo>
                  <a:lnTo>
                    <a:pt x="6700266" y="0"/>
                  </a:lnTo>
                  <a:cubicBezTo>
                    <a:pt x="6777990" y="0"/>
                    <a:pt x="6841110" y="62992"/>
                    <a:pt x="6841110" y="140843"/>
                  </a:cubicBezTo>
                  <a:lnTo>
                    <a:pt x="6841110" y="3059557"/>
                  </a:lnTo>
                  <a:cubicBezTo>
                    <a:pt x="6841110" y="3137281"/>
                    <a:pt x="6778117" y="3200400"/>
                    <a:pt x="6700266" y="3200400"/>
                  </a:cubicBezTo>
                  <a:lnTo>
                    <a:pt x="140843" y="3200400"/>
                  </a:lnTo>
                  <a:cubicBezTo>
                    <a:pt x="62992" y="3200400"/>
                    <a:pt x="0" y="3137408"/>
                    <a:pt x="0" y="3059557"/>
                  </a:cubicBezTo>
                  <a:close/>
                </a:path>
              </a:pathLst>
            </a:custGeom>
            <a:blipFill>
              <a:blip r:embed="rId3">
                <a:alphaModFix amt="0"/>
              </a:blip>
              <a:stretch>
                <a:fillRect l="-10023" t="0" r="-10022" b="0"/>
              </a:stretch>
            </a:blipFill>
            <a:ln w="19050" cap="sq">
              <a:solidFill>
                <a:srgbClr val="1F1E1C"/>
              </a:solidFill>
              <a:prstDash val="solid"/>
              <a:miter/>
            </a:ln>
          </p:spPr>
        </p:sp>
      </p:grpSp>
      <p:sp>
        <p:nvSpPr>
          <p:cNvPr name="TextBox 11" id="11"/>
          <p:cNvSpPr txBox="true"/>
          <p:nvPr/>
        </p:nvSpPr>
        <p:spPr>
          <a:xfrm rot="0">
            <a:off x="6898643" y="3615690"/>
            <a:ext cx="4625445" cy="405765"/>
          </a:xfrm>
          <a:prstGeom prst="rect">
            <a:avLst/>
          </a:prstGeom>
        </p:spPr>
        <p:txBody>
          <a:bodyPr anchor="t" rtlCol="false" tIns="0" lIns="0" bIns="0" rIns="0">
            <a:spAutoFit/>
          </a:bodyPr>
          <a:lstStyle/>
          <a:p>
            <a:pPr algn="l">
              <a:lnSpc>
                <a:spcPts val="2520"/>
              </a:lnSpc>
            </a:pPr>
            <a:r>
              <a:rPr lang="en-US" sz="1800" spc="149">
                <a:solidFill>
                  <a:srgbClr val="4A453F"/>
                </a:solidFill>
                <a:latin typeface="Archivo Narrow"/>
                <a:ea typeface="Archivo Narrow"/>
                <a:cs typeface="Archivo Narrow"/>
                <a:sym typeface="Archivo Narrow"/>
              </a:rPr>
              <a:t>ERROR</a:t>
            </a:r>
          </a:p>
        </p:txBody>
      </p:sp>
      <p:sp>
        <p:nvSpPr>
          <p:cNvPr name="TextBox 12" id="12"/>
          <p:cNvSpPr txBox="true"/>
          <p:nvPr/>
        </p:nvSpPr>
        <p:spPr>
          <a:xfrm rot="0">
            <a:off x="6898643" y="4011930"/>
            <a:ext cx="4625445" cy="459105"/>
          </a:xfrm>
          <a:prstGeom prst="rect">
            <a:avLst/>
          </a:prstGeom>
        </p:spPr>
        <p:txBody>
          <a:bodyPr anchor="t" rtlCol="false" tIns="0" lIns="0" bIns="0" rIns="0">
            <a:spAutoFit/>
          </a:bodyPr>
          <a:lstStyle/>
          <a:p>
            <a:pPr algn="l">
              <a:lnSpc>
                <a:spcPts val="2940"/>
              </a:lnSpc>
            </a:pPr>
            <a:r>
              <a:rPr lang="en-US" sz="2100" b="true">
                <a:solidFill>
                  <a:srgbClr val="1F1E1C"/>
                </a:solidFill>
                <a:latin typeface="Archivo Narrow Bold"/>
                <a:ea typeface="Archivo Narrow Bold"/>
                <a:cs typeface="Archivo Narrow Bold"/>
                <a:sym typeface="Archivo Narrow Bold"/>
              </a:rPr>
              <a:t>RMSE (USD)</a:t>
            </a:r>
          </a:p>
        </p:txBody>
      </p:sp>
      <p:sp>
        <p:nvSpPr>
          <p:cNvPr name="TextBox 13" id="13"/>
          <p:cNvSpPr txBox="true"/>
          <p:nvPr/>
        </p:nvSpPr>
        <p:spPr>
          <a:xfrm rot="0">
            <a:off x="6898643" y="4652010"/>
            <a:ext cx="4625445" cy="885825"/>
          </a:xfrm>
          <a:prstGeom prst="rect">
            <a:avLst/>
          </a:prstGeom>
        </p:spPr>
        <p:txBody>
          <a:bodyPr anchor="t" rtlCol="false" tIns="0" lIns="0" bIns="0" rIns="0">
            <a:spAutoFit/>
          </a:bodyPr>
          <a:lstStyle/>
          <a:p>
            <a:pPr algn="l">
              <a:lnSpc>
                <a:spcPts val="7800"/>
              </a:lnSpc>
            </a:pPr>
            <a:r>
              <a:rPr lang="en-US" sz="7800">
                <a:solidFill>
                  <a:srgbClr val="1F1E1C"/>
                </a:solidFill>
                <a:latin typeface="Anton"/>
                <a:ea typeface="Anton"/>
                <a:cs typeface="Anton"/>
                <a:sym typeface="Anton"/>
              </a:rPr>
              <a:t>≤ 30.000</a:t>
            </a:r>
          </a:p>
        </p:txBody>
      </p:sp>
      <p:grpSp>
        <p:nvGrpSpPr>
          <p:cNvPr name="Group 14" id="14"/>
          <p:cNvGrpSpPr/>
          <p:nvPr/>
        </p:nvGrpSpPr>
        <p:grpSpPr>
          <a:xfrm rot="0">
            <a:off x="11937997" y="3381375"/>
            <a:ext cx="5130803" cy="2400300"/>
            <a:chOff x="0" y="0"/>
            <a:chExt cx="6841071" cy="3200400"/>
          </a:xfrm>
        </p:grpSpPr>
        <p:sp>
          <p:nvSpPr>
            <p:cNvPr name="Freeform 15" id="15"/>
            <p:cNvSpPr/>
            <p:nvPr/>
          </p:nvSpPr>
          <p:spPr>
            <a:xfrm flipH="false" flipV="false" rot="0">
              <a:off x="0" y="0"/>
              <a:ext cx="6841110" cy="3200400"/>
            </a:xfrm>
            <a:custGeom>
              <a:avLst/>
              <a:gdLst/>
              <a:ahLst/>
              <a:cxnLst/>
              <a:rect r="r" b="b" t="t" l="l"/>
              <a:pathLst>
                <a:path h="3200400" w="6841110">
                  <a:moveTo>
                    <a:pt x="0" y="140843"/>
                  </a:moveTo>
                  <a:cubicBezTo>
                    <a:pt x="0" y="62992"/>
                    <a:pt x="62992" y="0"/>
                    <a:pt x="140843" y="0"/>
                  </a:cubicBezTo>
                  <a:lnTo>
                    <a:pt x="6700266" y="0"/>
                  </a:lnTo>
                  <a:cubicBezTo>
                    <a:pt x="6777990" y="0"/>
                    <a:pt x="6841110" y="62992"/>
                    <a:pt x="6841110" y="140843"/>
                  </a:cubicBezTo>
                  <a:lnTo>
                    <a:pt x="6841110" y="3059557"/>
                  </a:lnTo>
                  <a:cubicBezTo>
                    <a:pt x="6841110" y="3137281"/>
                    <a:pt x="6778117" y="3200400"/>
                    <a:pt x="6700266" y="3200400"/>
                  </a:cubicBezTo>
                  <a:lnTo>
                    <a:pt x="140843" y="3200400"/>
                  </a:lnTo>
                  <a:cubicBezTo>
                    <a:pt x="62992" y="3200400"/>
                    <a:pt x="0" y="3137408"/>
                    <a:pt x="0" y="3059557"/>
                  </a:cubicBezTo>
                  <a:close/>
                </a:path>
              </a:pathLst>
            </a:custGeom>
            <a:blipFill>
              <a:blip r:embed="rId3">
                <a:alphaModFix amt="0"/>
              </a:blip>
              <a:stretch>
                <a:fillRect l="-10023" t="0" r="-10022" b="0"/>
              </a:stretch>
            </a:blipFill>
            <a:ln w="19050" cap="sq">
              <a:solidFill>
                <a:srgbClr val="1F1E1C"/>
              </a:solidFill>
              <a:prstDash val="solid"/>
              <a:miter/>
            </a:ln>
          </p:spPr>
        </p:sp>
      </p:grpSp>
      <p:sp>
        <p:nvSpPr>
          <p:cNvPr name="TextBox 16" id="16"/>
          <p:cNvSpPr txBox="true"/>
          <p:nvPr/>
        </p:nvSpPr>
        <p:spPr>
          <a:xfrm rot="0">
            <a:off x="12258037" y="3615690"/>
            <a:ext cx="4625445" cy="405765"/>
          </a:xfrm>
          <a:prstGeom prst="rect">
            <a:avLst/>
          </a:prstGeom>
        </p:spPr>
        <p:txBody>
          <a:bodyPr anchor="t" rtlCol="false" tIns="0" lIns="0" bIns="0" rIns="0">
            <a:spAutoFit/>
          </a:bodyPr>
          <a:lstStyle/>
          <a:p>
            <a:pPr algn="l">
              <a:lnSpc>
                <a:spcPts val="2520"/>
              </a:lnSpc>
            </a:pPr>
            <a:r>
              <a:rPr lang="en-US" sz="1800" spc="149">
                <a:solidFill>
                  <a:srgbClr val="4A453F"/>
                </a:solidFill>
                <a:latin typeface="Archivo Narrow"/>
                <a:ea typeface="Archivo Narrow"/>
                <a:cs typeface="Archivo Narrow"/>
                <a:sym typeface="Archivo Narrow"/>
              </a:rPr>
              <a:t>ERROR</a:t>
            </a:r>
          </a:p>
        </p:txBody>
      </p:sp>
      <p:sp>
        <p:nvSpPr>
          <p:cNvPr name="TextBox 17" id="17"/>
          <p:cNvSpPr txBox="true"/>
          <p:nvPr/>
        </p:nvSpPr>
        <p:spPr>
          <a:xfrm rot="0">
            <a:off x="12258037" y="4011930"/>
            <a:ext cx="4625445" cy="459105"/>
          </a:xfrm>
          <a:prstGeom prst="rect">
            <a:avLst/>
          </a:prstGeom>
        </p:spPr>
        <p:txBody>
          <a:bodyPr anchor="t" rtlCol="false" tIns="0" lIns="0" bIns="0" rIns="0">
            <a:spAutoFit/>
          </a:bodyPr>
          <a:lstStyle/>
          <a:p>
            <a:pPr algn="l">
              <a:lnSpc>
                <a:spcPts val="2940"/>
              </a:lnSpc>
            </a:pPr>
            <a:r>
              <a:rPr lang="en-US" sz="2100" b="true">
                <a:solidFill>
                  <a:srgbClr val="1F1E1C"/>
                </a:solidFill>
                <a:latin typeface="Archivo Narrow Bold"/>
                <a:ea typeface="Archivo Narrow Bold"/>
                <a:cs typeface="Archivo Narrow Bold"/>
                <a:sym typeface="Archivo Narrow Bold"/>
              </a:rPr>
              <a:t>MAE (USD)</a:t>
            </a:r>
          </a:p>
        </p:txBody>
      </p:sp>
      <p:sp>
        <p:nvSpPr>
          <p:cNvPr name="TextBox 18" id="18"/>
          <p:cNvSpPr txBox="true"/>
          <p:nvPr/>
        </p:nvSpPr>
        <p:spPr>
          <a:xfrm rot="0">
            <a:off x="12258037" y="4652010"/>
            <a:ext cx="4625445" cy="885825"/>
          </a:xfrm>
          <a:prstGeom prst="rect">
            <a:avLst/>
          </a:prstGeom>
        </p:spPr>
        <p:txBody>
          <a:bodyPr anchor="t" rtlCol="false" tIns="0" lIns="0" bIns="0" rIns="0">
            <a:spAutoFit/>
          </a:bodyPr>
          <a:lstStyle/>
          <a:p>
            <a:pPr algn="l">
              <a:lnSpc>
                <a:spcPts val="7800"/>
              </a:lnSpc>
            </a:pPr>
            <a:r>
              <a:rPr lang="en-US" sz="7800">
                <a:solidFill>
                  <a:srgbClr val="1F1E1C"/>
                </a:solidFill>
                <a:latin typeface="Anton"/>
                <a:ea typeface="Anton"/>
                <a:cs typeface="Anton"/>
                <a:sym typeface="Anton"/>
              </a:rPr>
              <a:t>≤ 20.000</a:t>
            </a:r>
          </a:p>
        </p:txBody>
      </p:sp>
      <p:grpSp>
        <p:nvGrpSpPr>
          <p:cNvPr name="Group 19" id="19"/>
          <p:cNvGrpSpPr/>
          <p:nvPr/>
        </p:nvGrpSpPr>
        <p:grpSpPr>
          <a:xfrm rot="0">
            <a:off x="1219200" y="6010275"/>
            <a:ext cx="5130803" cy="2400300"/>
            <a:chOff x="0" y="0"/>
            <a:chExt cx="6841071" cy="3200400"/>
          </a:xfrm>
        </p:grpSpPr>
        <p:sp>
          <p:nvSpPr>
            <p:cNvPr name="Freeform 20" id="20"/>
            <p:cNvSpPr/>
            <p:nvPr/>
          </p:nvSpPr>
          <p:spPr>
            <a:xfrm flipH="false" flipV="false" rot="0">
              <a:off x="0" y="0"/>
              <a:ext cx="6841110" cy="3200400"/>
            </a:xfrm>
            <a:custGeom>
              <a:avLst/>
              <a:gdLst/>
              <a:ahLst/>
              <a:cxnLst/>
              <a:rect r="r" b="b" t="t" l="l"/>
              <a:pathLst>
                <a:path h="3200400" w="6841110">
                  <a:moveTo>
                    <a:pt x="0" y="140843"/>
                  </a:moveTo>
                  <a:cubicBezTo>
                    <a:pt x="0" y="62992"/>
                    <a:pt x="62992" y="0"/>
                    <a:pt x="140843" y="0"/>
                  </a:cubicBezTo>
                  <a:lnTo>
                    <a:pt x="6700266" y="0"/>
                  </a:lnTo>
                  <a:cubicBezTo>
                    <a:pt x="6777990" y="0"/>
                    <a:pt x="6841110" y="62992"/>
                    <a:pt x="6841110" y="140843"/>
                  </a:cubicBezTo>
                  <a:lnTo>
                    <a:pt x="6841110" y="3059557"/>
                  </a:lnTo>
                  <a:cubicBezTo>
                    <a:pt x="6841110" y="3137281"/>
                    <a:pt x="6778117" y="3200400"/>
                    <a:pt x="6700266" y="3200400"/>
                  </a:cubicBezTo>
                  <a:lnTo>
                    <a:pt x="140843" y="3200400"/>
                  </a:lnTo>
                  <a:cubicBezTo>
                    <a:pt x="62992" y="3200400"/>
                    <a:pt x="0" y="3137408"/>
                    <a:pt x="0" y="3059557"/>
                  </a:cubicBezTo>
                  <a:close/>
                </a:path>
              </a:pathLst>
            </a:custGeom>
            <a:blipFill>
              <a:blip r:embed="rId3">
                <a:alphaModFix amt="0"/>
              </a:blip>
              <a:stretch>
                <a:fillRect l="-10023" t="0" r="-10022" b="0"/>
              </a:stretch>
            </a:blipFill>
            <a:ln w="19050" cap="sq">
              <a:solidFill>
                <a:srgbClr val="1F1E1C"/>
              </a:solidFill>
              <a:prstDash val="solid"/>
              <a:miter/>
            </a:ln>
          </p:spPr>
        </p:sp>
      </p:grpSp>
      <p:sp>
        <p:nvSpPr>
          <p:cNvPr name="TextBox 21" id="21"/>
          <p:cNvSpPr txBox="true"/>
          <p:nvPr/>
        </p:nvSpPr>
        <p:spPr>
          <a:xfrm rot="0">
            <a:off x="1539240" y="6244590"/>
            <a:ext cx="4625445" cy="405765"/>
          </a:xfrm>
          <a:prstGeom prst="rect">
            <a:avLst/>
          </a:prstGeom>
        </p:spPr>
        <p:txBody>
          <a:bodyPr anchor="t" rtlCol="false" tIns="0" lIns="0" bIns="0" rIns="0">
            <a:spAutoFit/>
          </a:bodyPr>
          <a:lstStyle/>
          <a:p>
            <a:pPr algn="l">
              <a:lnSpc>
                <a:spcPts val="2520"/>
              </a:lnSpc>
            </a:pPr>
            <a:r>
              <a:rPr lang="en-US" sz="1800" spc="149">
                <a:solidFill>
                  <a:srgbClr val="4A453F"/>
                </a:solidFill>
                <a:latin typeface="Archivo Narrow"/>
                <a:ea typeface="Archivo Narrow"/>
                <a:cs typeface="Archivo Narrow"/>
                <a:sym typeface="Archivo Narrow"/>
              </a:rPr>
              <a:t>ERROR</a:t>
            </a:r>
          </a:p>
        </p:txBody>
      </p:sp>
      <p:sp>
        <p:nvSpPr>
          <p:cNvPr name="TextBox 22" id="22"/>
          <p:cNvSpPr txBox="true"/>
          <p:nvPr/>
        </p:nvSpPr>
        <p:spPr>
          <a:xfrm rot="0">
            <a:off x="1539240" y="6640830"/>
            <a:ext cx="4625445" cy="459105"/>
          </a:xfrm>
          <a:prstGeom prst="rect">
            <a:avLst/>
          </a:prstGeom>
        </p:spPr>
        <p:txBody>
          <a:bodyPr anchor="t" rtlCol="false" tIns="0" lIns="0" bIns="0" rIns="0">
            <a:spAutoFit/>
          </a:bodyPr>
          <a:lstStyle/>
          <a:p>
            <a:pPr algn="l">
              <a:lnSpc>
                <a:spcPts val="2940"/>
              </a:lnSpc>
            </a:pPr>
            <a:r>
              <a:rPr lang="en-US" sz="2100" b="true">
                <a:solidFill>
                  <a:srgbClr val="1F1E1C"/>
                </a:solidFill>
                <a:latin typeface="Archivo Narrow Bold"/>
                <a:ea typeface="Archivo Narrow Bold"/>
                <a:cs typeface="Archivo Narrow Bold"/>
                <a:sym typeface="Archivo Narrow Bold"/>
              </a:rPr>
              <a:t>MAPE</a:t>
            </a:r>
          </a:p>
        </p:txBody>
      </p:sp>
      <p:sp>
        <p:nvSpPr>
          <p:cNvPr name="TextBox 23" id="23"/>
          <p:cNvSpPr txBox="true"/>
          <p:nvPr/>
        </p:nvSpPr>
        <p:spPr>
          <a:xfrm rot="0">
            <a:off x="1539240" y="7280910"/>
            <a:ext cx="4625445" cy="885825"/>
          </a:xfrm>
          <a:prstGeom prst="rect">
            <a:avLst/>
          </a:prstGeom>
        </p:spPr>
        <p:txBody>
          <a:bodyPr anchor="t" rtlCol="false" tIns="0" lIns="0" bIns="0" rIns="0">
            <a:spAutoFit/>
          </a:bodyPr>
          <a:lstStyle/>
          <a:p>
            <a:pPr algn="l">
              <a:lnSpc>
                <a:spcPts val="7800"/>
              </a:lnSpc>
            </a:pPr>
            <a:r>
              <a:rPr lang="en-US" sz="7800">
                <a:solidFill>
                  <a:srgbClr val="1F1E1C"/>
                </a:solidFill>
                <a:latin typeface="Anton"/>
                <a:ea typeface="Anton"/>
                <a:cs typeface="Anton"/>
                <a:sym typeface="Anton"/>
              </a:rPr>
              <a:t>≤ 12 %</a:t>
            </a:r>
          </a:p>
        </p:txBody>
      </p:sp>
      <p:grpSp>
        <p:nvGrpSpPr>
          <p:cNvPr name="Group 24" id="24"/>
          <p:cNvGrpSpPr/>
          <p:nvPr/>
        </p:nvGrpSpPr>
        <p:grpSpPr>
          <a:xfrm rot="0">
            <a:off x="6578603" y="6010275"/>
            <a:ext cx="5130803" cy="2400300"/>
            <a:chOff x="0" y="0"/>
            <a:chExt cx="6841071" cy="3200400"/>
          </a:xfrm>
        </p:grpSpPr>
        <p:sp>
          <p:nvSpPr>
            <p:cNvPr name="Freeform 25" id="25"/>
            <p:cNvSpPr/>
            <p:nvPr/>
          </p:nvSpPr>
          <p:spPr>
            <a:xfrm flipH="false" flipV="false" rot="0">
              <a:off x="0" y="0"/>
              <a:ext cx="6841110" cy="3200400"/>
            </a:xfrm>
            <a:custGeom>
              <a:avLst/>
              <a:gdLst/>
              <a:ahLst/>
              <a:cxnLst/>
              <a:rect r="r" b="b" t="t" l="l"/>
              <a:pathLst>
                <a:path h="3200400" w="6841110">
                  <a:moveTo>
                    <a:pt x="0" y="140843"/>
                  </a:moveTo>
                  <a:cubicBezTo>
                    <a:pt x="0" y="62992"/>
                    <a:pt x="62992" y="0"/>
                    <a:pt x="140843" y="0"/>
                  </a:cubicBezTo>
                  <a:lnTo>
                    <a:pt x="6700266" y="0"/>
                  </a:lnTo>
                  <a:cubicBezTo>
                    <a:pt x="6777990" y="0"/>
                    <a:pt x="6841110" y="62992"/>
                    <a:pt x="6841110" y="140843"/>
                  </a:cubicBezTo>
                  <a:lnTo>
                    <a:pt x="6841110" y="3059557"/>
                  </a:lnTo>
                  <a:cubicBezTo>
                    <a:pt x="6841110" y="3137281"/>
                    <a:pt x="6778117" y="3200400"/>
                    <a:pt x="6700266" y="3200400"/>
                  </a:cubicBezTo>
                  <a:lnTo>
                    <a:pt x="140843" y="3200400"/>
                  </a:lnTo>
                  <a:cubicBezTo>
                    <a:pt x="62992" y="3200400"/>
                    <a:pt x="0" y="3137408"/>
                    <a:pt x="0" y="3059557"/>
                  </a:cubicBezTo>
                  <a:close/>
                </a:path>
              </a:pathLst>
            </a:custGeom>
            <a:solidFill>
              <a:srgbClr val="1F1E1C"/>
            </a:solidFill>
            <a:ln w="19050" cap="sq">
              <a:solidFill>
                <a:srgbClr val="1F1E1C"/>
              </a:solidFill>
              <a:prstDash val="solid"/>
              <a:miter/>
            </a:ln>
          </p:spPr>
        </p:sp>
      </p:grpSp>
      <p:sp>
        <p:nvSpPr>
          <p:cNvPr name="TextBox 26" id="26"/>
          <p:cNvSpPr txBox="true"/>
          <p:nvPr/>
        </p:nvSpPr>
        <p:spPr>
          <a:xfrm rot="0">
            <a:off x="6898643" y="6244590"/>
            <a:ext cx="4625445" cy="405765"/>
          </a:xfrm>
          <a:prstGeom prst="rect">
            <a:avLst/>
          </a:prstGeom>
        </p:spPr>
        <p:txBody>
          <a:bodyPr anchor="t" rtlCol="false" tIns="0" lIns="0" bIns="0" rIns="0">
            <a:spAutoFit/>
          </a:bodyPr>
          <a:lstStyle/>
          <a:p>
            <a:pPr algn="l">
              <a:lnSpc>
                <a:spcPts val="2520"/>
              </a:lnSpc>
            </a:pPr>
            <a:r>
              <a:rPr lang="en-US" sz="1800" spc="149">
                <a:solidFill>
                  <a:srgbClr val="A39B8B"/>
                </a:solidFill>
                <a:latin typeface="Archivo Narrow"/>
                <a:ea typeface="Archivo Narrow"/>
                <a:cs typeface="Archivo Narrow"/>
                <a:sym typeface="Archivo Narrow"/>
              </a:rPr>
              <a:t>SOBREAJUSTE</a:t>
            </a:r>
          </a:p>
        </p:txBody>
      </p:sp>
      <p:sp>
        <p:nvSpPr>
          <p:cNvPr name="TextBox 27" id="27"/>
          <p:cNvSpPr txBox="true"/>
          <p:nvPr/>
        </p:nvSpPr>
        <p:spPr>
          <a:xfrm rot="0">
            <a:off x="6898643" y="6640830"/>
            <a:ext cx="4625445" cy="459105"/>
          </a:xfrm>
          <a:prstGeom prst="rect">
            <a:avLst/>
          </a:prstGeom>
        </p:spPr>
        <p:txBody>
          <a:bodyPr anchor="t" rtlCol="false" tIns="0" lIns="0" bIns="0" rIns="0">
            <a:spAutoFit/>
          </a:bodyPr>
          <a:lstStyle/>
          <a:p>
            <a:pPr algn="l">
              <a:lnSpc>
                <a:spcPts val="2940"/>
              </a:lnSpc>
            </a:pPr>
            <a:r>
              <a:rPr lang="en-US" sz="2100" b="true">
                <a:solidFill>
                  <a:srgbClr val="DCD3C3"/>
                </a:solidFill>
                <a:latin typeface="Archivo Narrow Bold"/>
                <a:ea typeface="Archivo Narrow Bold"/>
                <a:cs typeface="Archivo Narrow Bold"/>
                <a:sym typeface="Archivo Narrow Bold"/>
              </a:rPr>
              <a:t>Brecha R² train-test (pts)</a:t>
            </a:r>
          </a:p>
        </p:txBody>
      </p:sp>
      <p:sp>
        <p:nvSpPr>
          <p:cNvPr name="TextBox 28" id="28"/>
          <p:cNvSpPr txBox="true"/>
          <p:nvPr/>
        </p:nvSpPr>
        <p:spPr>
          <a:xfrm rot="0">
            <a:off x="6898643" y="7280910"/>
            <a:ext cx="4625445" cy="885825"/>
          </a:xfrm>
          <a:prstGeom prst="rect">
            <a:avLst/>
          </a:prstGeom>
        </p:spPr>
        <p:txBody>
          <a:bodyPr anchor="t" rtlCol="false" tIns="0" lIns="0" bIns="0" rIns="0">
            <a:spAutoFit/>
          </a:bodyPr>
          <a:lstStyle/>
          <a:p>
            <a:pPr algn="l">
              <a:lnSpc>
                <a:spcPts val="7800"/>
              </a:lnSpc>
            </a:pPr>
            <a:r>
              <a:rPr lang="en-US" sz="7800">
                <a:solidFill>
                  <a:srgbClr val="DCD3C3"/>
                </a:solidFill>
                <a:latin typeface="Anton"/>
                <a:ea typeface="Anton"/>
                <a:cs typeface="Anton"/>
                <a:sym typeface="Anton"/>
              </a:rPr>
              <a:t>≤ 5</a:t>
            </a:r>
          </a:p>
        </p:txBody>
      </p:sp>
      <p:grpSp>
        <p:nvGrpSpPr>
          <p:cNvPr name="Group 29" id="29"/>
          <p:cNvGrpSpPr/>
          <p:nvPr/>
        </p:nvGrpSpPr>
        <p:grpSpPr>
          <a:xfrm rot="0">
            <a:off x="11937997" y="6010275"/>
            <a:ext cx="5130803" cy="2400300"/>
            <a:chOff x="0" y="0"/>
            <a:chExt cx="6841071" cy="3200400"/>
          </a:xfrm>
        </p:grpSpPr>
        <p:sp>
          <p:nvSpPr>
            <p:cNvPr name="Freeform 30" id="30"/>
            <p:cNvSpPr/>
            <p:nvPr/>
          </p:nvSpPr>
          <p:spPr>
            <a:xfrm flipH="false" flipV="false" rot="0">
              <a:off x="0" y="0"/>
              <a:ext cx="6841110" cy="3200400"/>
            </a:xfrm>
            <a:custGeom>
              <a:avLst/>
              <a:gdLst/>
              <a:ahLst/>
              <a:cxnLst/>
              <a:rect r="r" b="b" t="t" l="l"/>
              <a:pathLst>
                <a:path h="3200400" w="6841110">
                  <a:moveTo>
                    <a:pt x="0" y="140843"/>
                  </a:moveTo>
                  <a:cubicBezTo>
                    <a:pt x="0" y="62992"/>
                    <a:pt x="62992" y="0"/>
                    <a:pt x="140843" y="0"/>
                  </a:cubicBezTo>
                  <a:lnTo>
                    <a:pt x="6700266" y="0"/>
                  </a:lnTo>
                  <a:cubicBezTo>
                    <a:pt x="6777990" y="0"/>
                    <a:pt x="6841110" y="62992"/>
                    <a:pt x="6841110" y="140843"/>
                  </a:cubicBezTo>
                  <a:lnTo>
                    <a:pt x="6841110" y="3059557"/>
                  </a:lnTo>
                  <a:cubicBezTo>
                    <a:pt x="6841110" y="3137281"/>
                    <a:pt x="6778117" y="3200400"/>
                    <a:pt x="6700266" y="3200400"/>
                  </a:cubicBezTo>
                  <a:lnTo>
                    <a:pt x="140843" y="3200400"/>
                  </a:lnTo>
                  <a:cubicBezTo>
                    <a:pt x="62992" y="3200400"/>
                    <a:pt x="0" y="3137408"/>
                    <a:pt x="0" y="3059557"/>
                  </a:cubicBezTo>
                  <a:close/>
                </a:path>
              </a:pathLst>
            </a:custGeom>
            <a:solidFill>
              <a:srgbClr val="1F1E1C"/>
            </a:solidFill>
            <a:ln w="19050" cap="sq">
              <a:solidFill>
                <a:srgbClr val="1F1E1C"/>
              </a:solidFill>
              <a:prstDash val="solid"/>
              <a:miter/>
            </a:ln>
          </p:spPr>
        </p:sp>
      </p:grpSp>
      <p:sp>
        <p:nvSpPr>
          <p:cNvPr name="TextBox 31" id="31"/>
          <p:cNvSpPr txBox="true"/>
          <p:nvPr/>
        </p:nvSpPr>
        <p:spPr>
          <a:xfrm rot="0">
            <a:off x="12258037" y="6244590"/>
            <a:ext cx="4625445" cy="405765"/>
          </a:xfrm>
          <a:prstGeom prst="rect">
            <a:avLst/>
          </a:prstGeom>
        </p:spPr>
        <p:txBody>
          <a:bodyPr anchor="t" rtlCol="false" tIns="0" lIns="0" bIns="0" rIns="0">
            <a:spAutoFit/>
          </a:bodyPr>
          <a:lstStyle/>
          <a:p>
            <a:pPr algn="l">
              <a:lnSpc>
                <a:spcPts val="2520"/>
              </a:lnSpc>
            </a:pPr>
            <a:r>
              <a:rPr lang="en-US" sz="1800" spc="149">
                <a:solidFill>
                  <a:srgbClr val="A39B8B"/>
                </a:solidFill>
                <a:latin typeface="Archivo Narrow"/>
                <a:ea typeface="Archivo Narrow"/>
                <a:cs typeface="Archivo Narrow"/>
                <a:sym typeface="Archivo Narrow"/>
              </a:rPr>
              <a:t>EQUIDAD</a:t>
            </a:r>
          </a:p>
        </p:txBody>
      </p:sp>
      <p:sp>
        <p:nvSpPr>
          <p:cNvPr name="TextBox 32" id="32"/>
          <p:cNvSpPr txBox="true"/>
          <p:nvPr/>
        </p:nvSpPr>
        <p:spPr>
          <a:xfrm rot="0">
            <a:off x="12258037" y="6640830"/>
            <a:ext cx="4625445" cy="459105"/>
          </a:xfrm>
          <a:prstGeom prst="rect">
            <a:avLst/>
          </a:prstGeom>
        </p:spPr>
        <p:txBody>
          <a:bodyPr anchor="t" rtlCol="false" tIns="0" lIns="0" bIns="0" rIns="0">
            <a:spAutoFit/>
          </a:bodyPr>
          <a:lstStyle/>
          <a:p>
            <a:pPr algn="l">
              <a:lnSpc>
                <a:spcPts val="2940"/>
              </a:lnSpc>
            </a:pPr>
            <a:r>
              <a:rPr lang="en-US" sz="2100" b="true">
                <a:solidFill>
                  <a:srgbClr val="DCD3C3"/>
                </a:solidFill>
                <a:latin typeface="Archivo Narrow Bold"/>
                <a:ea typeface="Archivo Narrow Bold"/>
                <a:cs typeface="Archivo Narrow Bold"/>
                <a:sym typeface="Archivo Narrow Bold"/>
              </a:rPr>
              <a:t>Brecha MAPE barrios (pts)</a:t>
            </a:r>
          </a:p>
        </p:txBody>
      </p:sp>
      <p:sp>
        <p:nvSpPr>
          <p:cNvPr name="TextBox 33" id="33"/>
          <p:cNvSpPr txBox="true"/>
          <p:nvPr/>
        </p:nvSpPr>
        <p:spPr>
          <a:xfrm rot="0">
            <a:off x="12258037" y="7280910"/>
            <a:ext cx="4625445" cy="885825"/>
          </a:xfrm>
          <a:prstGeom prst="rect">
            <a:avLst/>
          </a:prstGeom>
        </p:spPr>
        <p:txBody>
          <a:bodyPr anchor="t" rtlCol="false" tIns="0" lIns="0" bIns="0" rIns="0">
            <a:spAutoFit/>
          </a:bodyPr>
          <a:lstStyle/>
          <a:p>
            <a:pPr algn="l">
              <a:lnSpc>
                <a:spcPts val="7800"/>
              </a:lnSpc>
            </a:pPr>
            <a:r>
              <a:rPr lang="en-US" sz="7800">
                <a:solidFill>
                  <a:srgbClr val="DCD3C3"/>
                </a:solidFill>
                <a:latin typeface="Anton"/>
                <a:ea typeface="Anton"/>
                <a:cs typeface="Anton"/>
                <a:sym typeface="Anton"/>
              </a:rPr>
              <a:t>≤ 8</a:t>
            </a:r>
          </a:p>
        </p:txBody>
      </p:sp>
      <p:sp>
        <p:nvSpPr>
          <p:cNvPr name="TextBox 34" id="34"/>
          <p:cNvSpPr txBox="true"/>
          <p:nvPr/>
        </p:nvSpPr>
        <p:spPr>
          <a:xfrm rot="0">
            <a:off x="1219200" y="9309735"/>
            <a:ext cx="7848600" cy="405765"/>
          </a:xfrm>
          <a:prstGeom prst="rect">
            <a:avLst/>
          </a:prstGeom>
        </p:spPr>
        <p:txBody>
          <a:bodyPr anchor="t" rtlCol="false" tIns="0" lIns="0" bIns="0" rIns="0">
            <a:spAutoFit/>
          </a:bodyPr>
          <a:lstStyle/>
          <a:p>
            <a:pPr algn="l">
              <a:lnSpc>
                <a:spcPts val="2520"/>
              </a:lnSpc>
            </a:pPr>
            <a:r>
              <a:rPr lang="en-US" sz="1800">
                <a:solidFill>
                  <a:srgbClr val="4A453F"/>
                </a:solidFill>
                <a:latin typeface="Archivo Narrow"/>
                <a:ea typeface="Archivo Narrow"/>
                <a:cs typeface="Archivo Narrow"/>
                <a:sym typeface="Archivo Narrow"/>
              </a:rPr>
              <a:t>03 · Housing Prices · EP2</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F1E1C"/>
        </a:solidFill>
      </p:bgPr>
    </p:bg>
    <p:spTree>
      <p:nvGrpSpPr>
        <p:cNvPr id="1" name=""/>
        <p:cNvGrpSpPr/>
        <p:nvPr/>
      </p:nvGrpSpPr>
      <p:grpSpPr>
        <a:xfrm>
          <a:off x="0" y="0"/>
          <a:ext cx="0" cy="0"/>
          <a:chOff x="0" y="0"/>
          <a:chExt cx="0" cy="0"/>
        </a:xfrm>
      </p:grpSpPr>
      <p:sp>
        <p:nvSpPr>
          <p:cNvPr name="TextBox 2" id="2"/>
          <p:cNvSpPr txBox="true"/>
          <p:nvPr/>
        </p:nvSpPr>
        <p:spPr>
          <a:xfrm rot="0">
            <a:off x="1219200" y="1333500"/>
            <a:ext cx="16325088" cy="963930"/>
          </a:xfrm>
          <a:prstGeom prst="rect">
            <a:avLst/>
          </a:prstGeom>
        </p:spPr>
        <p:txBody>
          <a:bodyPr anchor="t" rtlCol="false" tIns="0" lIns="0" bIns="0" rIns="0">
            <a:spAutoFit/>
          </a:bodyPr>
          <a:lstStyle/>
          <a:p>
            <a:pPr algn="l">
              <a:lnSpc>
                <a:spcPts val="8190"/>
              </a:lnSpc>
            </a:pPr>
            <a:r>
              <a:rPr lang="en-US" sz="7800">
                <a:solidFill>
                  <a:srgbClr val="DCD3C3"/>
                </a:solidFill>
                <a:latin typeface="Anton"/>
                <a:ea typeface="Anton"/>
                <a:cs typeface="Anton"/>
                <a:sym typeface="Anton"/>
              </a:rPr>
              <a:t>LOS DATOS</a:t>
            </a:r>
          </a:p>
        </p:txBody>
      </p:sp>
      <p:sp>
        <p:nvSpPr>
          <p:cNvPr name="TextBox 3" id="3"/>
          <p:cNvSpPr txBox="true"/>
          <p:nvPr/>
        </p:nvSpPr>
        <p:spPr>
          <a:xfrm rot="0">
            <a:off x="1219200" y="2602230"/>
            <a:ext cx="16325088" cy="436245"/>
          </a:xfrm>
          <a:prstGeom prst="rect">
            <a:avLst/>
          </a:prstGeom>
        </p:spPr>
        <p:txBody>
          <a:bodyPr anchor="t" rtlCol="false" tIns="0" lIns="0" bIns="0" rIns="0">
            <a:spAutoFit/>
          </a:bodyPr>
          <a:lstStyle/>
          <a:p>
            <a:pPr algn="l">
              <a:lnSpc>
                <a:spcPts val="2835"/>
              </a:lnSpc>
            </a:pPr>
            <a:r>
              <a:rPr lang="en-US" sz="2100">
                <a:solidFill>
                  <a:srgbClr val="A39B8B"/>
                </a:solidFill>
                <a:latin typeface="Archivo Narrow"/>
                <a:ea typeface="Archivo Narrow"/>
                <a:cs typeface="Archivo Narrow"/>
                <a:sym typeface="Archivo Narrow"/>
              </a:rPr>
              <a:t>Ventas de viviendas en Ames, Iowa: 28 barrios, precio mediano de 160.000 USD.</a:t>
            </a:r>
          </a:p>
        </p:txBody>
      </p:sp>
      <p:sp>
        <p:nvSpPr>
          <p:cNvPr name="TextBox 4" id="4"/>
          <p:cNvSpPr txBox="true"/>
          <p:nvPr/>
        </p:nvSpPr>
        <p:spPr>
          <a:xfrm rot="0">
            <a:off x="1159764" y="4137660"/>
            <a:ext cx="3767328" cy="405765"/>
          </a:xfrm>
          <a:prstGeom prst="rect">
            <a:avLst/>
          </a:prstGeom>
        </p:spPr>
        <p:txBody>
          <a:bodyPr anchor="t" rtlCol="false" tIns="0" lIns="0" bIns="0" rIns="0">
            <a:spAutoFit/>
          </a:bodyPr>
          <a:lstStyle/>
          <a:p>
            <a:pPr algn="l">
              <a:lnSpc>
                <a:spcPts val="2520"/>
              </a:lnSpc>
            </a:pPr>
            <a:r>
              <a:rPr lang="en-US" sz="1800" spc="149">
                <a:solidFill>
                  <a:srgbClr val="A39B8B"/>
                </a:solidFill>
                <a:latin typeface="Archivo Narrow"/>
                <a:ea typeface="Archivo Narrow"/>
                <a:cs typeface="Archivo Narrow"/>
                <a:sym typeface="Archivo Narrow"/>
              </a:rPr>
              <a:t>01 · DATASET ORIGINAL</a:t>
            </a:r>
          </a:p>
        </p:txBody>
      </p:sp>
      <p:sp>
        <p:nvSpPr>
          <p:cNvPr name="TextBox 5" id="5"/>
          <p:cNvSpPr txBox="true"/>
          <p:nvPr/>
        </p:nvSpPr>
        <p:spPr>
          <a:xfrm rot="0">
            <a:off x="5122164" y="4137660"/>
            <a:ext cx="3767328" cy="405765"/>
          </a:xfrm>
          <a:prstGeom prst="rect">
            <a:avLst/>
          </a:prstGeom>
        </p:spPr>
        <p:txBody>
          <a:bodyPr anchor="t" rtlCol="false" tIns="0" lIns="0" bIns="0" rIns="0">
            <a:spAutoFit/>
          </a:bodyPr>
          <a:lstStyle/>
          <a:p>
            <a:pPr algn="l">
              <a:lnSpc>
                <a:spcPts val="2520"/>
              </a:lnSpc>
            </a:pPr>
            <a:r>
              <a:rPr lang="en-US" sz="1800" spc="149">
                <a:solidFill>
                  <a:srgbClr val="A39B8B"/>
                </a:solidFill>
                <a:latin typeface="Archivo Narrow"/>
                <a:ea typeface="Archivo Narrow"/>
                <a:cs typeface="Archivo Narrow"/>
                <a:sym typeface="Archivo Narrow"/>
              </a:rPr>
              <a:t>02 · LIMPIEZA EP1</a:t>
            </a:r>
          </a:p>
        </p:txBody>
      </p:sp>
      <p:sp>
        <p:nvSpPr>
          <p:cNvPr name="TextBox 6" id="6"/>
          <p:cNvSpPr txBox="true"/>
          <p:nvPr/>
        </p:nvSpPr>
        <p:spPr>
          <a:xfrm rot="0">
            <a:off x="9084564" y="4137660"/>
            <a:ext cx="3767328" cy="405765"/>
          </a:xfrm>
          <a:prstGeom prst="rect">
            <a:avLst/>
          </a:prstGeom>
        </p:spPr>
        <p:txBody>
          <a:bodyPr anchor="t" rtlCol="false" tIns="0" lIns="0" bIns="0" rIns="0">
            <a:spAutoFit/>
          </a:bodyPr>
          <a:lstStyle/>
          <a:p>
            <a:pPr algn="l">
              <a:lnSpc>
                <a:spcPts val="2520"/>
              </a:lnSpc>
            </a:pPr>
            <a:r>
              <a:rPr lang="en-US" sz="1800" spc="149">
                <a:solidFill>
                  <a:srgbClr val="A39B8B"/>
                </a:solidFill>
                <a:latin typeface="Archivo Narrow"/>
                <a:ea typeface="Archivo Narrow"/>
                <a:cs typeface="Archivo Narrow"/>
                <a:sym typeface="Archivo Narrow"/>
              </a:rPr>
              <a:t>03 · ZONA RESIDENCIAL</a:t>
            </a:r>
          </a:p>
        </p:txBody>
      </p:sp>
      <p:sp>
        <p:nvSpPr>
          <p:cNvPr name="TextBox 7" id="7"/>
          <p:cNvSpPr txBox="true"/>
          <p:nvPr/>
        </p:nvSpPr>
        <p:spPr>
          <a:xfrm rot="0">
            <a:off x="13046964" y="4137660"/>
            <a:ext cx="3767328" cy="405765"/>
          </a:xfrm>
          <a:prstGeom prst="rect">
            <a:avLst/>
          </a:prstGeom>
        </p:spPr>
        <p:txBody>
          <a:bodyPr anchor="t" rtlCol="false" tIns="0" lIns="0" bIns="0" rIns="0">
            <a:spAutoFit/>
          </a:bodyPr>
          <a:lstStyle/>
          <a:p>
            <a:pPr algn="l">
              <a:lnSpc>
                <a:spcPts val="2520"/>
              </a:lnSpc>
            </a:pPr>
            <a:r>
              <a:rPr lang="en-US" sz="1800" spc="149">
                <a:solidFill>
                  <a:srgbClr val="A39B8B"/>
                </a:solidFill>
                <a:latin typeface="Archivo Narrow"/>
                <a:ea typeface="Archivo Narrow"/>
                <a:cs typeface="Archivo Narrow"/>
                <a:sym typeface="Archivo Narrow"/>
              </a:rPr>
              <a:t>04 · TRAIN / TEST</a:t>
            </a:r>
          </a:p>
        </p:txBody>
      </p:sp>
      <p:grpSp>
        <p:nvGrpSpPr>
          <p:cNvPr name="Group 8" id="8"/>
          <p:cNvGrpSpPr/>
          <p:nvPr/>
        </p:nvGrpSpPr>
        <p:grpSpPr>
          <a:xfrm rot="0">
            <a:off x="1159764" y="4733925"/>
            <a:ext cx="609600" cy="609600"/>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0" y="406400"/>
                  </a:moveTo>
                  <a:cubicBezTo>
                    <a:pt x="0" y="181991"/>
                    <a:pt x="181991" y="0"/>
                    <a:pt x="406400" y="0"/>
                  </a:cubicBezTo>
                  <a:cubicBezTo>
                    <a:pt x="630809" y="0"/>
                    <a:pt x="812800" y="181991"/>
                    <a:pt x="812800" y="406400"/>
                  </a:cubicBezTo>
                  <a:cubicBezTo>
                    <a:pt x="812800" y="630809"/>
                    <a:pt x="630809" y="812800"/>
                    <a:pt x="406400" y="812800"/>
                  </a:cubicBezTo>
                  <a:cubicBezTo>
                    <a:pt x="181991" y="812800"/>
                    <a:pt x="0" y="630809"/>
                    <a:pt x="0" y="406400"/>
                  </a:cubicBezTo>
                  <a:close/>
                </a:path>
              </a:pathLst>
            </a:custGeom>
            <a:solidFill>
              <a:srgbClr val="DCD3C3"/>
            </a:solidFill>
          </p:spPr>
        </p:sp>
      </p:grpSp>
      <p:grpSp>
        <p:nvGrpSpPr>
          <p:cNvPr name="Group 10" id="10"/>
          <p:cNvGrpSpPr/>
          <p:nvPr/>
        </p:nvGrpSpPr>
        <p:grpSpPr>
          <a:xfrm rot="0">
            <a:off x="1293114" y="4867275"/>
            <a:ext cx="342900" cy="342900"/>
            <a:chOff x="0" y="0"/>
            <a:chExt cx="457200" cy="457200"/>
          </a:xfrm>
        </p:grpSpPr>
        <p:sp>
          <p:nvSpPr>
            <p:cNvPr name="Freeform 11" id="11" descr="Database"/>
            <p:cNvSpPr/>
            <p:nvPr/>
          </p:nvSpPr>
          <p:spPr>
            <a:xfrm flipH="false" flipV="false" rot="0">
              <a:off x="0" y="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stretch>
                <a:fillRect l="0" t="0" r="0" b="0"/>
              </a:stretch>
            </a:blipFill>
          </p:spPr>
        </p:sp>
      </p:grpSp>
      <p:grpSp>
        <p:nvGrpSpPr>
          <p:cNvPr name="Group 12" id="12"/>
          <p:cNvGrpSpPr/>
          <p:nvPr/>
        </p:nvGrpSpPr>
        <p:grpSpPr>
          <a:xfrm rot="0">
            <a:off x="1769364" y="5029200"/>
            <a:ext cx="3352800" cy="19050"/>
            <a:chOff x="0" y="0"/>
            <a:chExt cx="4470400" cy="25400"/>
          </a:xfrm>
        </p:grpSpPr>
        <p:sp>
          <p:nvSpPr>
            <p:cNvPr name="Freeform 13" id="13"/>
            <p:cNvSpPr/>
            <p:nvPr/>
          </p:nvSpPr>
          <p:spPr>
            <a:xfrm flipH="false" flipV="false" rot="0">
              <a:off x="0" y="0"/>
              <a:ext cx="4470400" cy="25400"/>
            </a:xfrm>
            <a:custGeom>
              <a:avLst/>
              <a:gdLst/>
              <a:ahLst/>
              <a:cxnLst/>
              <a:rect r="r" b="b" t="t" l="l"/>
              <a:pathLst>
                <a:path h="25400" w="4470400">
                  <a:moveTo>
                    <a:pt x="0" y="0"/>
                  </a:moveTo>
                  <a:lnTo>
                    <a:pt x="4470400" y="0"/>
                  </a:lnTo>
                  <a:lnTo>
                    <a:pt x="4470400" y="25400"/>
                  </a:lnTo>
                  <a:lnTo>
                    <a:pt x="0" y="25400"/>
                  </a:lnTo>
                  <a:close/>
                </a:path>
              </a:pathLst>
            </a:custGeom>
            <a:solidFill>
              <a:srgbClr val="6E685E"/>
            </a:solidFill>
          </p:spPr>
        </p:sp>
      </p:grpSp>
      <p:grpSp>
        <p:nvGrpSpPr>
          <p:cNvPr name="Group 14" id="14"/>
          <p:cNvGrpSpPr/>
          <p:nvPr/>
        </p:nvGrpSpPr>
        <p:grpSpPr>
          <a:xfrm rot="0">
            <a:off x="5122164" y="4733925"/>
            <a:ext cx="609600" cy="609600"/>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0" y="406400"/>
                  </a:moveTo>
                  <a:cubicBezTo>
                    <a:pt x="0" y="181991"/>
                    <a:pt x="181991" y="0"/>
                    <a:pt x="406400" y="0"/>
                  </a:cubicBezTo>
                  <a:cubicBezTo>
                    <a:pt x="630809" y="0"/>
                    <a:pt x="812800" y="181991"/>
                    <a:pt x="812800" y="406400"/>
                  </a:cubicBezTo>
                  <a:cubicBezTo>
                    <a:pt x="812800" y="630809"/>
                    <a:pt x="630809" y="812800"/>
                    <a:pt x="406400" y="812800"/>
                  </a:cubicBezTo>
                  <a:cubicBezTo>
                    <a:pt x="181991" y="812800"/>
                    <a:pt x="0" y="630809"/>
                    <a:pt x="0" y="406400"/>
                  </a:cubicBezTo>
                  <a:close/>
                </a:path>
              </a:pathLst>
            </a:custGeom>
            <a:solidFill>
              <a:srgbClr val="DCD3C3"/>
            </a:solidFill>
          </p:spPr>
        </p:sp>
      </p:grpSp>
      <p:grpSp>
        <p:nvGrpSpPr>
          <p:cNvPr name="Group 16" id="16"/>
          <p:cNvGrpSpPr/>
          <p:nvPr/>
        </p:nvGrpSpPr>
        <p:grpSpPr>
          <a:xfrm rot="0">
            <a:off x="5255514" y="4867275"/>
            <a:ext cx="342900" cy="342900"/>
            <a:chOff x="0" y="0"/>
            <a:chExt cx="457200" cy="457200"/>
          </a:xfrm>
        </p:grpSpPr>
        <p:sp>
          <p:nvSpPr>
            <p:cNvPr name="Freeform 17" id="17" descr="Wrench"/>
            <p:cNvSpPr/>
            <p:nvPr/>
          </p:nvSpPr>
          <p:spPr>
            <a:xfrm flipH="false" flipV="false" rot="0">
              <a:off x="0" y="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4"/>
              <a:stretch>
                <a:fillRect l="0" t="0" r="0" b="0"/>
              </a:stretch>
            </a:blipFill>
          </p:spPr>
        </p:sp>
      </p:grpSp>
      <p:grpSp>
        <p:nvGrpSpPr>
          <p:cNvPr name="Group 18" id="18"/>
          <p:cNvGrpSpPr/>
          <p:nvPr/>
        </p:nvGrpSpPr>
        <p:grpSpPr>
          <a:xfrm rot="0">
            <a:off x="5731764" y="5029200"/>
            <a:ext cx="3352800" cy="19050"/>
            <a:chOff x="0" y="0"/>
            <a:chExt cx="4470400" cy="25400"/>
          </a:xfrm>
        </p:grpSpPr>
        <p:sp>
          <p:nvSpPr>
            <p:cNvPr name="Freeform 19" id="19"/>
            <p:cNvSpPr/>
            <p:nvPr/>
          </p:nvSpPr>
          <p:spPr>
            <a:xfrm flipH="false" flipV="false" rot="0">
              <a:off x="0" y="0"/>
              <a:ext cx="4470400" cy="25400"/>
            </a:xfrm>
            <a:custGeom>
              <a:avLst/>
              <a:gdLst/>
              <a:ahLst/>
              <a:cxnLst/>
              <a:rect r="r" b="b" t="t" l="l"/>
              <a:pathLst>
                <a:path h="25400" w="4470400">
                  <a:moveTo>
                    <a:pt x="0" y="0"/>
                  </a:moveTo>
                  <a:lnTo>
                    <a:pt x="4470400" y="0"/>
                  </a:lnTo>
                  <a:lnTo>
                    <a:pt x="4470400" y="25400"/>
                  </a:lnTo>
                  <a:lnTo>
                    <a:pt x="0" y="25400"/>
                  </a:lnTo>
                  <a:close/>
                </a:path>
              </a:pathLst>
            </a:custGeom>
            <a:solidFill>
              <a:srgbClr val="6E685E"/>
            </a:solidFill>
          </p:spPr>
        </p:sp>
      </p:grpSp>
      <p:grpSp>
        <p:nvGrpSpPr>
          <p:cNvPr name="Group 20" id="20"/>
          <p:cNvGrpSpPr/>
          <p:nvPr/>
        </p:nvGrpSpPr>
        <p:grpSpPr>
          <a:xfrm rot="0">
            <a:off x="9084564" y="4733925"/>
            <a:ext cx="609600" cy="609600"/>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0" y="406400"/>
                  </a:moveTo>
                  <a:cubicBezTo>
                    <a:pt x="0" y="181991"/>
                    <a:pt x="181991" y="0"/>
                    <a:pt x="406400" y="0"/>
                  </a:cubicBezTo>
                  <a:cubicBezTo>
                    <a:pt x="630809" y="0"/>
                    <a:pt x="812800" y="181991"/>
                    <a:pt x="812800" y="406400"/>
                  </a:cubicBezTo>
                  <a:cubicBezTo>
                    <a:pt x="812800" y="630809"/>
                    <a:pt x="630809" y="812800"/>
                    <a:pt x="406400" y="812800"/>
                  </a:cubicBezTo>
                  <a:cubicBezTo>
                    <a:pt x="181991" y="812800"/>
                    <a:pt x="0" y="630809"/>
                    <a:pt x="0" y="406400"/>
                  </a:cubicBezTo>
                  <a:close/>
                </a:path>
              </a:pathLst>
            </a:custGeom>
            <a:solidFill>
              <a:srgbClr val="DCD3C3"/>
            </a:solidFill>
          </p:spPr>
        </p:sp>
      </p:grpSp>
      <p:grpSp>
        <p:nvGrpSpPr>
          <p:cNvPr name="Group 22" id="22"/>
          <p:cNvGrpSpPr/>
          <p:nvPr/>
        </p:nvGrpSpPr>
        <p:grpSpPr>
          <a:xfrm rot="0">
            <a:off x="9217914" y="4867275"/>
            <a:ext cx="342900" cy="342900"/>
            <a:chOff x="0" y="0"/>
            <a:chExt cx="457200" cy="457200"/>
          </a:xfrm>
        </p:grpSpPr>
        <p:sp>
          <p:nvSpPr>
            <p:cNvPr name="Freeform 23" id="23" descr="Home"/>
            <p:cNvSpPr/>
            <p:nvPr/>
          </p:nvSpPr>
          <p:spPr>
            <a:xfrm flipH="false" flipV="false" rot="0">
              <a:off x="0" y="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stretch>
                <a:fillRect l="0" t="0" r="0" b="0"/>
              </a:stretch>
            </a:blipFill>
          </p:spPr>
        </p:sp>
      </p:grpSp>
      <p:grpSp>
        <p:nvGrpSpPr>
          <p:cNvPr name="Group 24" id="24"/>
          <p:cNvGrpSpPr/>
          <p:nvPr/>
        </p:nvGrpSpPr>
        <p:grpSpPr>
          <a:xfrm rot="0">
            <a:off x="9694164" y="5029200"/>
            <a:ext cx="3352800" cy="19050"/>
            <a:chOff x="0" y="0"/>
            <a:chExt cx="4470400" cy="25400"/>
          </a:xfrm>
        </p:grpSpPr>
        <p:sp>
          <p:nvSpPr>
            <p:cNvPr name="Freeform 25" id="25"/>
            <p:cNvSpPr/>
            <p:nvPr/>
          </p:nvSpPr>
          <p:spPr>
            <a:xfrm flipH="false" flipV="false" rot="0">
              <a:off x="0" y="0"/>
              <a:ext cx="4470400" cy="25400"/>
            </a:xfrm>
            <a:custGeom>
              <a:avLst/>
              <a:gdLst/>
              <a:ahLst/>
              <a:cxnLst/>
              <a:rect r="r" b="b" t="t" l="l"/>
              <a:pathLst>
                <a:path h="25400" w="4470400">
                  <a:moveTo>
                    <a:pt x="0" y="0"/>
                  </a:moveTo>
                  <a:lnTo>
                    <a:pt x="4470400" y="0"/>
                  </a:lnTo>
                  <a:lnTo>
                    <a:pt x="4470400" y="25400"/>
                  </a:lnTo>
                  <a:lnTo>
                    <a:pt x="0" y="25400"/>
                  </a:lnTo>
                  <a:close/>
                </a:path>
              </a:pathLst>
            </a:custGeom>
            <a:solidFill>
              <a:srgbClr val="6E685E"/>
            </a:solidFill>
          </p:spPr>
        </p:sp>
      </p:grpSp>
      <p:grpSp>
        <p:nvGrpSpPr>
          <p:cNvPr name="Group 26" id="26"/>
          <p:cNvGrpSpPr/>
          <p:nvPr/>
        </p:nvGrpSpPr>
        <p:grpSpPr>
          <a:xfrm rot="0">
            <a:off x="13046964" y="4733925"/>
            <a:ext cx="609600" cy="609600"/>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0" y="406400"/>
                  </a:moveTo>
                  <a:cubicBezTo>
                    <a:pt x="0" y="181991"/>
                    <a:pt x="181991" y="0"/>
                    <a:pt x="406400" y="0"/>
                  </a:cubicBezTo>
                  <a:cubicBezTo>
                    <a:pt x="630809" y="0"/>
                    <a:pt x="812800" y="181991"/>
                    <a:pt x="812800" y="406400"/>
                  </a:cubicBezTo>
                  <a:cubicBezTo>
                    <a:pt x="812800" y="630809"/>
                    <a:pt x="630809" y="812800"/>
                    <a:pt x="406400" y="812800"/>
                  </a:cubicBezTo>
                  <a:cubicBezTo>
                    <a:pt x="181991" y="812800"/>
                    <a:pt x="0" y="630809"/>
                    <a:pt x="0" y="406400"/>
                  </a:cubicBezTo>
                  <a:close/>
                </a:path>
              </a:pathLst>
            </a:custGeom>
            <a:solidFill>
              <a:srgbClr val="DCD3C3"/>
            </a:solidFill>
          </p:spPr>
        </p:sp>
      </p:grpSp>
      <p:grpSp>
        <p:nvGrpSpPr>
          <p:cNvPr name="Group 28" id="28"/>
          <p:cNvGrpSpPr/>
          <p:nvPr/>
        </p:nvGrpSpPr>
        <p:grpSpPr>
          <a:xfrm rot="0">
            <a:off x="13180314" y="4867275"/>
            <a:ext cx="342900" cy="342900"/>
            <a:chOff x="0" y="0"/>
            <a:chExt cx="457200" cy="457200"/>
          </a:xfrm>
        </p:grpSpPr>
        <p:sp>
          <p:nvSpPr>
            <p:cNvPr name="Freeform 29" id="29" descr="Lock"/>
            <p:cNvSpPr/>
            <p:nvPr/>
          </p:nvSpPr>
          <p:spPr>
            <a:xfrm flipH="false" flipV="false" rot="0">
              <a:off x="0" y="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6"/>
              <a:stretch>
                <a:fillRect l="0" t="0" r="0" b="0"/>
              </a:stretch>
            </a:blipFill>
          </p:spPr>
        </p:sp>
      </p:grpSp>
      <p:sp>
        <p:nvSpPr>
          <p:cNvPr name="TextBox 30" id="30"/>
          <p:cNvSpPr txBox="true"/>
          <p:nvPr/>
        </p:nvSpPr>
        <p:spPr>
          <a:xfrm rot="0">
            <a:off x="1159764" y="5715000"/>
            <a:ext cx="4081272" cy="885825"/>
          </a:xfrm>
          <a:prstGeom prst="rect">
            <a:avLst/>
          </a:prstGeom>
        </p:spPr>
        <p:txBody>
          <a:bodyPr anchor="t" rtlCol="false" tIns="0" lIns="0" bIns="0" rIns="0">
            <a:spAutoFit/>
          </a:bodyPr>
          <a:lstStyle/>
          <a:p>
            <a:pPr algn="l">
              <a:lnSpc>
                <a:spcPts val="7800"/>
              </a:lnSpc>
            </a:pPr>
            <a:r>
              <a:rPr lang="en-US" sz="7800">
                <a:solidFill>
                  <a:srgbClr val="DCD3C3"/>
                </a:solidFill>
                <a:latin typeface="Anton"/>
                <a:ea typeface="Anton"/>
                <a:cs typeface="Anton"/>
                <a:sym typeface="Anton"/>
              </a:rPr>
              <a:t>2.930</a:t>
            </a:r>
          </a:p>
        </p:txBody>
      </p:sp>
      <p:sp>
        <p:nvSpPr>
          <p:cNvPr name="TextBox 31" id="31"/>
          <p:cNvSpPr txBox="true"/>
          <p:nvPr/>
        </p:nvSpPr>
        <p:spPr>
          <a:xfrm rot="0">
            <a:off x="5122164" y="5715000"/>
            <a:ext cx="4081272" cy="885825"/>
          </a:xfrm>
          <a:prstGeom prst="rect">
            <a:avLst/>
          </a:prstGeom>
        </p:spPr>
        <p:txBody>
          <a:bodyPr anchor="t" rtlCol="false" tIns="0" lIns="0" bIns="0" rIns="0">
            <a:spAutoFit/>
          </a:bodyPr>
          <a:lstStyle/>
          <a:p>
            <a:pPr algn="l">
              <a:lnSpc>
                <a:spcPts val="7800"/>
              </a:lnSpc>
            </a:pPr>
            <a:r>
              <a:rPr lang="en-US" sz="7800">
                <a:solidFill>
                  <a:srgbClr val="DCD3C3"/>
                </a:solidFill>
                <a:latin typeface="Anton"/>
                <a:ea typeface="Anton"/>
                <a:cs typeface="Anton"/>
                <a:sym typeface="Anton"/>
              </a:rPr>
              <a:t>2.925</a:t>
            </a:r>
          </a:p>
        </p:txBody>
      </p:sp>
      <p:sp>
        <p:nvSpPr>
          <p:cNvPr name="TextBox 32" id="32"/>
          <p:cNvSpPr txBox="true"/>
          <p:nvPr/>
        </p:nvSpPr>
        <p:spPr>
          <a:xfrm rot="0">
            <a:off x="9084564" y="5715000"/>
            <a:ext cx="4081272" cy="885825"/>
          </a:xfrm>
          <a:prstGeom prst="rect">
            <a:avLst/>
          </a:prstGeom>
        </p:spPr>
        <p:txBody>
          <a:bodyPr anchor="t" rtlCol="false" tIns="0" lIns="0" bIns="0" rIns="0">
            <a:spAutoFit/>
          </a:bodyPr>
          <a:lstStyle/>
          <a:p>
            <a:pPr algn="l">
              <a:lnSpc>
                <a:spcPts val="7800"/>
              </a:lnSpc>
            </a:pPr>
            <a:r>
              <a:rPr lang="en-US" sz="7800">
                <a:solidFill>
                  <a:srgbClr val="DCD3C3"/>
                </a:solidFill>
                <a:latin typeface="Anton"/>
                <a:ea typeface="Anton"/>
                <a:cs typeface="Anton"/>
                <a:sym typeface="Anton"/>
              </a:rPr>
              <a:t>2.896</a:t>
            </a:r>
          </a:p>
        </p:txBody>
      </p:sp>
      <p:sp>
        <p:nvSpPr>
          <p:cNvPr name="TextBox 33" id="33"/>
          <p:cNvSpPr txBox="true"/>
          <p:nvPr/>
        </p:nvSpPr>
        <p:spPr>
          <a:xfrm rot="0">
            <a:off x="13046964" y="5715000"/>
            <a:ext cx="4081272" cy="885825"/>
          </a:xfrm>
          <a:prstGeom prst="rect">
            <a:avLst/>
          </a:prstGeom>
        </p:spPr>
        <p:txBody>
          <a:bodyPr anchor="t" rtlCol="false" tIns="0" lIns="0" bIns="0" rIns="0">
            <a:spAutoFit/>
          </a:bodyPr>
          <a:lstStyle/>
          <a:p>
            <a:pPr algn="l">
              <a:lnSpc>
                <a:spcPts val="7800"/>
              </a:lnSpc>
            </a:pPr>
            <a:r>
              <a:rPr lang="en-US" sz="7800">
                <a:solidFill>
                  <a:srgbClr val="DCD3C3"/>
                </a:solidFill>
                <a:latin typeface="Anton"/>
                <a:ea typeface="Anton"/>
                <a:cs typeface="Anton"/>
                <a:sym typeface="Anton"/>
              </a:rPr>
              <a:t>2.314</a:t>
            </a:r>
          </a:p>
        </p:txBody>
      </p:sp>
      <p:sp>
        <p:nvSpPr>
          <p:cNvPr name="TextBox 34" id="34"/>
          <p:cNvSpPr txBox="true"/>
          <p:nvPr/>
        </p:nvSpPr>
        <p:spPr>
          <a:xfrm rot="0">
            <a:off x="1159764" y="6743700"/>
            <a:ext cx="3688842" cy="725805"/>
          </a:xfrm>
          <a:prstGeom prst="rect">
            <a:avLst/>
          </a:prstGeom>
        </p:spPr>
        <p:txBody>
          <a:bodyPr anchor="t" rtlCol="false" tIns="0" lIns="0" bIns="0" rIns="0">
            <a:spAutoFit/>
          </a:bodyPr>
          <a:lstStyle/>
          <a:p>
            <a:pPr algn="l">
              <a:lnSpc>
                <a:spcPts val="2520"/>
              </a:lnSpc>
            </a:pPr>
            <a:r>
              <a:rPr lang="en-US" sz="1800">
                <a:solidFill>
                  <a:srgbClr val="A39B8B"/>
                </a:solidFill>
                <a:latin typeface="Archivo Narrow"/>
                <a:ea typeface="Archivo Narrow"/>
                <a:cs typeface="Archivo Narrow"/>
                <a:sym typeface="Archivo Narrow"/>
              </a:rPr>
              <a:t>ventas, 82 variables, de 2006 a 2010</a:t>
            </a:r>
          </a:p>
        </p:txBody>
      </p:sp>
      <p:sp>
        <p:nvSpPr>
          <p:cNvPr name="TextBox 35" id="35"/>
          <p:cNvSpPr txBox="true"/>
          <p:nvPr/>
        </p:nvSpPr>
        <p:spPr>
          <a:xfrm rot="0">
            <a:off x="5122164" y="6743700"/>
            <a:ext cx="3688842" cy="725805"/>
          </a:xfrm>
          <a:prstGeom prst="rect">
            <a:avLst/>
          </a:prstGeom>
        </p:spPr>
        <p:txBody>
          <a:bodyPr anchor="t" rtlCol="false" tIns="0" lIns="0" bIns="0" rIns="0">
            <a:spAutoFit/>
          </a:bodyPr>
          <a:lstStyle/>
          <a:p>
            <a:pPr algn="l">
              <a:lnSpc>
                <a:spcPts val="2520"/>
              </a:lnSpc>
            </a:pPr>
            <a:r>
              <a:rPr lang="en-US" sz="1800">
                <a:solidFill>
                  <a:srgbClr val="A39B8B"/>
                </a:solidFill>
                <a:latin typeface="Archivo Narrow"/>
                <a:ea typeface="Archivo Narrow"/>
                <a:cs typeface="Archivo Narrow"/>
                <a:sym typeface="Archivo Narrow"/>
              </a:rPr>
              <a:t>−5 casas de más de 4.000 pies²</a:t>
            </a:r>
          </a:p>
        </p:txBody>
      </p:sp>
      <p:sp>
        <p:nvSpPr>
          <p:cNvPr name="TextBox 36" id="36"/>
          <p:cNvSpPr txBox="true"/>
          <p:nvPr/>
        </p:nvSpPr>
        <p:spPr>
          <a:xfrm rot="0">
            <a:off x="9084564" y="6743700"/>
            <a:ext cx="3688842" cy="725805"/>
          </a:xfrm>
          <a:prstGeom prst="rect">
            <a:avLst/>
          </a:prstGeom>
        </p:spPr>
        <p:txBody>
          <a:bodyPr anchor="t" rtlCol="false" tIns="0" lIns="0" bIns="0" rIns="0">
            <a:spAutoFit/>
          </a:bodyPr>
          <a:lstStyle/>
          <a:p>
            <a:pPr algn="l">
              <a:lnSpc>
                <a:spcPts val="2520"/>
              </a:lnSpc>
            </a:pPr>
            <a:r>
              <a:rPr lang="en-US" sz="1800">
                <a:solidFill>
                  <a:srgbClr val="A39B8B"/>
                </a:solidFill>
                <a:latin typeface="Archivo Narrow"/>
                <a:ea typeface="Archivo Narrow"/>
                <a:cs typeface="Archivo Narrow"/>
                <a:sym typeface="Archivo Narrow"/>
              </a:rPr>
              <a:t>−29 casas en zonas no residenciales</a:t>
            </a:r>
          </a:p>
        </p:txBody>
      </p:sp>
      <p:sp>
        <p:nvSpPr>
          <p:cNvPr name="TextBox 37" id="37"/>
          <p:cNvSpPr txBox="true"/>
          <p:nvPr/>
        </p:nvSpPr>
        <p:spPr>
          <a:xfrm rot="0">
            <a:off x="13046964" y="6743700"/>
            <a:ext cx="3688842" cy="725805"/>
          </a:xfrm>
          <a:prstGeom prst="rect">
            <a:avLst/>
          </a:prstGeom>
        </p:spPr>
        <p:txBody>
          <a:bodyPr anchor="t" rtlCol="false" tIns="0" lIns="0" bIns="0" rIns="0">
            <a:spAutoFit/>
          </a:bodyPr>
          <a:lstStyle/>
          <a:p>
            <a:pPr algn="l">
              <a:lnSpc>
                <a:spcPts val="2520"/>
              </a:lnSpc>
            </a:pPr>
            <a:r>
              <a:rPr lang="en-US" sz="1800">
                <a:solidFill>
                  <a:srgbClr val="A39B8B"/>
                </a:solidFill>
                <a:latin typeface="Archivo Narrow"/>
                <a:ea typeface="Archivo Narrow"/>
                <a:cs typeface="Archivo Narrow"/>
                <a:sym typeface="Archivo Narrow"/>
              </a:rPr>
              <a:t>en train (80 %) y 582 en test, apartado desde el inicio</a:t>
            </a:r>
          </a:p>
        </p:txBody>
      </p:sp>
      <p:sp>
        <p:nvSpPr>
          <p:cNvPr name="TextBox 38" id="38"/>
          <p:cNvSpPr txBox="true"/>
          <p:nvPr/>
        </p:nvSpPr>
        <p:spPr>
          <a:xfrm rot="0">
            <a:off x="1219200" y="9309735"/>
            <a:ext cx="7848600" cy="405765"/>
          </a:xfrm>
          <a:prstGeom prst="rect">
            <a:avLst/>
          </a:prstGeom>
        </p:spPr>
        <p:txBody>
          <a:bodyPr anchor="t" rtlCol="false" tIns="0" lIns="0" bIns="0" rIns="0">
            <a:spAutoFit/>
          </a:bodyPr>
          <a:lstStyle/>
          <a:p>
            <a:pPr algn="l">
              <a:lnSpc>
                <a:spcPts val="2520"/>
              </a:lnSpc>
            </a:pPr>
            <a:r>
              <a:rPr lang="en-US" sz="1800">
                <a:solidFill>
                  <a:srgbClr val="A39B8B"/>
                </a:solidFill>
                <a:latin typeface="Archivo Narrow"/>
                <a:ea typeface="Archivo Narrow"/>
                <a:cs typeface="Archivo Narrow"/>
                <a:sym typeface="Archivo Narrow"/>
              </a:rPr>
              <a:t>04 · Housing Prices · EP2</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DCD3C3"/>
        </a:solidFill>
      </p:bgPr>
    </p:bg>
    <p:spTree>
      <p:nvGrpSpPr>
        <p:cNvPr id="1" name=""/>
        <p:cNvGrpSpPr/>
        <p:nvPr/>
      </p:nvGrpSpPr>
      <p:grpSpPr>
        <a:xfrm>
          <a:off x="0" y="0"/>
          <a:ext cx="0" cy="0"/>
          <a:chOff x="0" y="0"/>
          <a:chExt cx="0" cy="0"/>
        </a:xfrm>
      </p:grpSpPr>
      <p:sp>
        <p:nvSpPr>
          <p:cNvPr name="TextBox 2" id="2"/>
          <p:cNvSpPr txBox="true"/>
          <p:nvPr/>
        </p:nvSpPr>
        <p:spPr>
          <a:xfrm rot="0">
            <a:off x="1219200" y="1333500"/>
            <a:ext cx="16325088" cy="963930"/>
          </a:xfrm>
          <a:prstGeom prst="rect">
            <a:avLst/>
          </a:prstGeom>
        </p:spPr>
        <p:txBody>
          <a:bodyPr anchor="t" rtlCol="false" tIns="0" lIns="0" bIns="0" rIns="0">
            <a:spAutoFit/>
          </a:bodyPr>
          <a:lstStyle/>
          <a:p>
            <a:pPr algn="l">
              <a:lnSpc>
                <a:spcPts val="8190"/>
              </a:lnSpc>
            </a:pPr>
            <a:r>
              <a:rPr lang="en-US" sz="7800">
                <a:solidFill>
                  <a:srgbClr val="1F1E1C"/>
                </a:solidFill>
                <a:latin typeface="Anton"/>
                <a:ea typeface="Anton"/>
                <a:cs typeface="Anton"/>
                <a:sym typeface="Anton"/>
              </a:rPr>
              <a:t>VALIDACIÓN CRUZADA</a:t>
            </a:r>
          </a:p>
        </p:txBody>
      </p:sp>
      <p:sp>
        <p:nvSpPr>
          <p:cNvPr name="TextBox 3" id="3"/>
          <p:cNvSpPr txBox="true"/>
          <p:nvPr/>
        </p:nvSpPr>
        <p:spPr>
          <a:xfrm rot="0">
            <a:off x="1219200" y="2602230"/>
            <a:ext cx="16325088" cy="436245"/>
          </a:xfrm>
          <a:prstGeom prst="rect">
            <a:avLst/>
          </a:prstGeom>
        </p:spPr>
        <p:txBody>
          <a:bodyPr anchor="t" rtlCol="false" tIns="0" lIns="0" bIns="0" rIns="0">
            <a:spAutoFit/>
          </a:bodyPr>
          <a:lstStyle/>
          <a:p>
            <a:pPr algn="l">
              <a:lnSpc>
                <a:spcPts val="2835"/>
              </a:lnSpc>
            </a:pPr>
            <a:r>
              <a:rPr lang="en-US" sz="2100">
                <a:solidFill>
                  <a:srgbClr val="4A453F"/>
                </a:solidFill>
                <a:latin typeface="Archivo Narrow"/>
                <a:ea typeface="Archivo Narrow"/>
                <a:cs typeface="Archivo Narrow"/>
                <a:sym typeface="Archivo Narrow"/>
              </a:rPr>
              <a:t>Cómo se tomaron todas las decisiones sin tocar el test: 5 rondas dentro de train.</a:t>
            </a:r>
          </a:p>
        </p:txBody>
      </p:sp>
      <p:sp>
        <p:nvSpPr>
          <p:cNvPr name="TextBox 4" id="4"/>
          <p:cNvSpPr txBox="true"/>
          <p:nvPr/>
        </p:nvSpPr>
        <p:spPr>
          <a:xfrm rot="0">
            <a:off x="1219200" y="3477377"/>
            <a:ext cx="1676400" cy="405765"/>
          </a:xfrm>
          <a:prstGeom prst="rect">
            <a:avLst/>
          </a:prstGeom>
        </p:spPr>
        <p:txBody>
          <a:bodyPr anchor="t" rtlCol="false" tIns="0" lIns="0" bIns="0" rIns="0">
            <a:spAutoFit/>
          </a:bodyPr>
          <a:lstStyle/>
          <a:p>
            <a:pPr algn="l">
              <a:lnSpc>
                <a:spcPts val="2520"/>
              </a:lnSpc>
            </a:pPr>
            <a:r>
              <a:rPr lang="en-US" sz="1800" spc="149">
                <a:solidFill>
                  <a:srgbClr val="1F1E1C"/>
                </a:solidFill>
                <a:latin typeface="Archivo Narrow"/>
                <a:ea typeface="Archivo Narrow"/>
                <a:cs typeface="Archivo Narrow"/>
                <a:sym typeface="Archivo Narrow"/>
              </a:rPr>
              <a:t>RONDA</a:t>
            </a:r>
          </a:p>
        </p:txBody>
      </p:sp>
      <p:sp>
        <p:nvSpPr>
          <p:cNvPr name="TextBox 5" id="5"/>
          <p:cNvSpPr txBox="true"/>
          <p:nvPr/>
        </p:nvSpPr>
        <p:spPr>
          <a:xfrm rot="0">
            <a:off x="2895600" y="3477377"/>
            <a:ext cx="12649200" cy="405765"/>
          </a:xfrm>
          <a:prstGeom prst="rect">
            <a:avLst/>
          </a:prstGeom>
        </p:spPr>
        <p:txBody>
          <a:bodyPr anchor="t" rtlCol="false" tIns="0" lIns="0" bIns="0" rIns="0">
            <a:spAutoFit/>
          </a:bodyPr>
          <a:lstStyle/>
          <a:p>
            <a:pPr algn="l">
              <a:lnSpc>
                <a:spcPts val="2520"/>
              </a:lnSpc>
            </a:pPr>
            <a:r>
              <a:rPr lang="en-US" sz="1800" spc="149">
                <a:solidFill>
                  <a:srgbClr val="1F1E1C"/>
                </a:solidFill>
                <a:latin typeface="Archivo Narrow"/>
                <a:ea typeface="Archivo Narrow"/>
                <a:cs typeface="Archivo Narrow"/>
                <a:sym typeface="Archivo Narrow"/>
              </a:rPr>
              <a:t>TRAIN · 2.314 CASAS EN 5 PARTES DE ~463</a:t>
            </a:r>
          </a:p>
        </p:txBody>
      </p:sp>
      <p:sp>
        <p:nvSpPr>
          <p:cNvPr name="TextBox 6" id="6"/>
          <p:cNvSpPr txBox="true"/>
          <p:nvPr/>
        </p:nvSpPr>
        <p:spPr>
          <a:xfrm rot="0">
            <a:off x="15659100" y="3477377"/>
            <a:ext cx="1409700" cy="405765"/>
          </a:xfrm>
          <a:prstGeom prst="rect">
            <a:avLst/>
          </a:prstGeom>
        </p:spPr>
        <p:txBody>
          <a:bodyPr anchor="t" rtlCol="false" tIns="0" lIns="0" bIns="0" rIns="0">
            <a:spAutoFit/>
          </a:bodyPr>
          <a:lstStyle/>
          <a:p>
            <a:pPr algn="ctr">
              <a:lnSpc>
                <a:spcPts val="2520"/>
              </a:lnSpc>
            </a:pPr>
            <a:r>
              <a:rPr lang="en-US" sz="1800" spc="149">
                <a:solidFill>
                  <a:srgbClr val="1F1E1C"/>
                </a:solidFill>
                <a:latin typeface="Archivo Narrow"/>
                <a:ea typeface="Archivo Narrow"/>
                <a:cs typeface="Archivo Narrow"/>
                <a:sym typeface="Archivo Narrow"/>
              </a:rPr>
              <a:t>TEST · 582</a:t>
            </a:r>
          </a:p>
        </p:txBody>
      </p:sp>
      <p:sp>
        <p:nvSpPr>
          <p:cNvPr name="AutoShape 7" id="7"/>
          <p:cNvSpPr/>
          <p:nvPr/>
        </p:nvSpPr>
        <p:spPr>
          <a:xfrm rot="4140">
            <a:off x="1209665" y="4015235"/>
            <a:ext cx="15868660" cy="0"/>
          </a:xfrm>
          <a:prstGeom prst="line">
            <a:avLst/>
          </a:prstGeom>
          <a:ln cap="rnd" w="9525">
            <a:solidFill>
              <a:srgbClr val="1F1E1C"/>
            </a:solidFill>
            <a:prstDash val="solid"/>
            <a:headEnd type="none" len="sm" w="sm"/>
            <a:tailEnd type="none" len="sm" w="sm"/>
          </a:ln>
        </p:spPr>
      </p:sp>
      <p:sp>
        <p:nvSpPr>
          <p:cNvPr name="TextBox 8" id="8"/>
          <p:cNvSpPr txBox="true"/>
          <p:nvPr/>
        </p:nvSpPr>
        <p:spPr>
          <a:xfrm rot="0">
            <a:off x="1219200" y="4251903"/>
            <a:ext cx="1676400" cy="449580"/>
          </a:xfrm>
          <a:prstGeom prst="rect">
            <a:avLst/>
          </a:prstGeom>
        </p:spPr>
        <p:txBody>
          <a:bodyPr anchor="t" rtlCol="false" tIns="0" lIns="0" bIns="0" rIns="0">
            <a:spAutoFit/>
          </a:bodyPr>
          <a:lstStyle/>
          <a:p>
            <a:pPr algn="l">
              <a:lnSpc>
                <a:spcPts val="2835"/>
              </a:lnSpc>
            </a:pPr>
            <a:r>
              <a:rPr lang="en-US" sz="2100">
                <a:solidFill>
                  <a:srgbClr val="4A453F"/>
                </a:solidFill>
                <a:latin typeface="Archivo Narrow"/>
                <a:ea typeface="Archivo Narrow"/>
                <a:cs typeface="Archivo Narrow"/>
                <a:sym typeface="Archivo Narrow"/>
              </a:rPr>
              <a:t>Ronda 1</a:t>
            </a:r>
          </a:p>
        </p:txBody>
      </p:sp>
      <p:grpSp>
        <p:nvGrpSpPr>
          <p:cNvPr name="Group 9" id="9"/>
          <p:cNvGrpSpPr/>
          <p:nvPr/>
        </p:nvGrpSpPr>
        <p:grpSpPr>
          <a:xfrm rot="0">
            <a:off x="2886075" y="4190476"/>
            <a:ext cx="2457450" cy="559051"/>
            <a:chOff x="0" y="0"/>
            <a:chExt cx="3276600" cy="745401"/>
          </a:xfrm>
        </p:grpSpPr>
        <p:sp>
          <p:nvSpPr>
            <p:cNvPr name="Freeform 10" id="10"/>
            <p:cNvSpPr/>
            <p:nvPr/>
          </p:nvSpPr>
          <p:spPr>
            <a:xfrm flipH="false" flipV="false" rot="0">
              <a:off x="0" y="0"/>
              <a:ext cx="3276600" cy="745363"/>
            </a:xfrm>
            <a:custGeom>
              <a:avLst/>
              <a:gdLst/>
              <a:ahLst/>
              <a:cxnLst/>
              <a:rect r="r" b="b" t="t" l="l"/>
              <a:pathLst>
                <a:path h="745363" w="3276600">
                  <a:moveTo>
                    <a:pt x="0" y="89408"/>
                  </a:moveTo>
                  <a:cubicBezTo>
                    <a:pt x="0" y="40005"/>
                    <a:pt x="40005" y="0"/>
                    <a:pt x="89408" y="0"/>
                  </a:cubicBezTo>
                  <a:lnTo>
                    <a:pt x="3187192" y="0"/>
                  </a:lnTo>
                  <a:cubicBezTo>
                    <a:pt x="3236595" y="0"/>
                    <a:pt x="3276600" y="40005"/>
                    <a:pt x="3276600" y="89408"/>
                  </a:cubicBezTo>
                  <a:lnTo>
                    <a:pt x="3276600" y="655955"/>
                  </a:lnTo>
                  <a:cubicBezTo>
                    <a:pt x="3276600" y="705358"/>
                    <a:pt x="3236595" y="745363"/>
                    <a:pt x="3187192" y="745363"/>
                  </a:cubicBezTo>
                  <a:lnTo>
                    <a:pt x="89408" y="745363"/>
                  </a:lnTo>
                  <a:cubicBezTo>
                    <a:pt x="40005" y="745363"/>
                    <a:pt x="0" y="705358"/>
                    <a:pt x="0" y="655955"/>
                  </a:cubicBezTo>
                  <a:close/>
                </a:path>
              </a:pathLst>
            </a:custGeom>
            <a:solidFill>
              <a:srgbClr val="1F1E1C"/>
            </a:solidFill>
            <a:ln w="19050" cap="sq">
              <a:solidFill>
                <a:srgbClr val="1F1E1C"/>
              </a:solidFill>
              <a:prstDash val="solid"/>
              <a:miter/>
            </a:ln>
          </p:spPr>
        </p:sp>
        <p:sp>
          <p:nvSpPr>
            <p:cNvPr name="TextBox 11" id="11"/>
            <p:cNvSpPr txBox="true"/>
            <p:nvPr/>
          </p:nvSpPr>
          <p:spPr>
            <a:xfrm>
              <a:off x="0" y="-9525"/>
              <a:ext cx="3276600" cy="754926"/>
            </a:xfrm>
            <a:prstGeom prst="rect">
              <a:avLst/>
            </a:prstGeom>
          </p:spPr>
          <p:txBody>
            <a:bodyPr anchor="ctr" rtlCol="false" tIns="50800" lIns="50800" bIns="50800" rIns="50800"/>
            <a:lstStyle/>
            <a:p>
              <a:pPr algn="ctr">
                <a:lnSpc>
                  <a:spcPts val="2160"/>
                </a:lnSpc>
              </a:pPr>
              <a:r>
                <a:rPr lang="en-US" sz="1800" b="true">
                  <a:solidFill>
                    <a:srgbClr val="DCD3C3"/>
                  </a:solidFill>
                  <a:latin typeface="Archivo Narrow Bold"/>
                  <a:ea typeface="Archivo Narrow Bold"/>
                  <a:cs typeface="Archivo Narrow Bold"/>
                  <a:sym typeface="Archivo Narrow Bold"/>
                </a:rPr>
                <a:t>valida</a:t>
              </a:r>
            </a:p>
          </p:txBody>
        </p:sp>
      </p:grpSp>
      <p:grpSp>
        <p:nvGrpSpPr>
          <p:cNvPr name="Group 12" id="12"/>
          <p:cNvGrpSpPr/>
          <p:nvPr/>
        </p:nvGrpSpPr>
        <p:grpSpPr>
          <a:xfrm rot="0">
            <a:off x="5438775" y="4190476"/>
            <a:ext cx="2457450" cy="559051"/>
            <a:chOff x="0" y="0"/>
            <a:chExt cx="3276600" cy="745401"/>
          </a:xfrm>
        </p:grpSpPr>
        <p:sp>
          <p:nvSpPr>
            <p:cNvPr name="Freeform 13" id="13"/>
            <p:cNvSpPr/>
            <p:nvPr/>
          </p:nvSpPr>
          <p:spPr>
            <a:xfrm flipH="false" flipV="false" rot="0">
              <a:off x="0" y="0"/>
              <a:ext cx="3276600" cy="745363"/>
            </a:xfrm>
            <a:custGeom>
              <a:avLst/>
              <a:gdLst/>
              <a:ahLst/>
              <a:cxnLst/>
              <a:rect r="r" b="b" t="t" l="l"/>
              <a:pathLst>
                <a:path h="745363" w="3276600">
                  <a:moveTo>
                    <a:pt x="0" y="89408"/>
                  </a:moveTo>
                  <a:cubicBezTo>
                    <a:pt x="0" y="40005"/>
                    <a:pt x="40005" y="0"/>
                    <a:pt x="89408" y="0"/>
                  </a:cubicBezTo>
                  <a:lnTo>
                    <a:pt x="3187192" y="0"/>
                  </a:lnTo>
                  <a:cubicBezTo>
                    <a:pt x="3236595" y="0"/>
                    <a:pt x="3276600" y="40005"/>
                    <a:pt x="3276600" y="89408"/>
                  </a:cubicBezTo>
                  <a:lnTo>
                    <a:pt x="3276600" y="655955"/>
                  </a:lnTo>
                  <a:cubicBezTo>
                    <a:pt x="3276600" y="705358"/>
                    <a:pt x="3236595" y="745363"/>
                    <a:pt x="3187192" y="745363"/>
                  </a:cubicBezTo>
                  <a:lnTo>
                    <a:pt x="89408" y="745363"/>
                  </a:lnTo>
                  <a:cubicBezTo>
                    <a:pt x="40005" y="745363"/>
                    <a:pt x="0" y="705358"/>
                    <a:pt x="0" y="655955"/>
                  </a:cubicBezTo>
                  <a:close/>
                </a:path>
              </a:pathLst>
            </a:custGeom>
            <a:blipFill>
              <a:blip r:embed="rId3">
                <a:alphaModFix amt="0"/>
              </a:blip>
              <a:stretch>
                <a:fillRect l="0" t="-35653" r="0" b="-35658"/>
              </a:stretch>
            </a:blipFill>
            <a:ln w="19050" cap="sq">
              <a:solidFill>
                <a:srgbClr val="1F1E1C"/>
              </a:solidFill>
              <a:prstDash val="solid"/>
              <a:miter/>
            </a:ln>
          </p:spPr>
        </p:sp>
        <p:sp>
          <p:nvSpPr>
            <p:cNvPr name="TextBox 14" id="14"/>
            <p:cNvSpPr txBox="true"/>
            <p:nvPr/>
          </p:nvSpPr>
          <p:spPr>
            <a:xfrm>
              <a:off x="0" y="-9525"/>
              <a:ext cx="3276600" cy="754926"/>
            </a:xfrm>
            <a:prstGeom prst="rect">
              <a:avLst/>
            </a:prstGeom>
          </p:spPr>
          <p:txBody>
            <a:bodyPr anchor="ctr" rtlCol="false" tIns="50800" lIns="50800" bIns="50800" rIns="50800"/>
            <a:lstStyle/>
            <a:p>
              <a:pPr algn="ctr">
                <a:lnSpc>
                  <a:spcPts val="2160"/>
                </a:lnSpc>
              </a:pPr>
              <a:r>
                <a:rPr lang="en-US" sz="1800">
                  <a:solidFill>
                    <a:srgbClr val="1F1E1C"/>
                  </a:solidFill>
                  <a:latin typeface="Archivo Narrow"/>
                  <a:ea typeface="Archivo Narrow"/>
                  <a:cs typeface="Archivo Narrow"/>
                  <a:sym typeface="Archivo Narrow"/>
                </a:rPr>
                <a:t>entrena</a:t>
              </a:r>
            </a:p>
          </p:txBody>
        </p:sp>
      </p:grpSp>
      <p:grpSp>
        <p:nvGrpSpPr>
          <p:cNvPr name="Group 15" id="15"/>
          <p:cNvGrpSpPr/>
          <p:nvPr/>
        </p:nvGrpSpPr>
        <p:grpSpPr>
          <a:xfrm rot="0">
            <a:off x="7991475" y="4190476"/>
            <a:ext cx="2457450" cy="559051"/>
            <a:chOff x="0" y="0"/>
            <a:chExt cx="3276600" cy="745401"/>
          </a:xfrm>
        </p:grpSpPr>
        <p:sp>
          <p:nvSpPr>
            <p:cNvPr name="Freeform 16" id="16"/>
            <p:cNvSpPr/>
            <p:nvPr/>
          </p:nvSpPr>
          <p:spPr>
            <a:xfrm flipH="false" flipV="false" rot="0">
              <a:off x="0" y="0"/>
              <a:ext cx="3276600" cy="745363"/>
            </a:xfrm>
            <a:custGeom>
              <a:avLst/>
              <a:gdLst/>
              <a:ahLst/>
              <a:cxnLst/>
              <a:rect r="r" b="b" t="t" l="l"/>
              <a:pathLst>
                <a:path h="745363" w="3276600">
                  <a:moveTo>
                    <a:pt x="0" y="89408"/>
                  </a:moveTo>
                  <a:cubicBezTo>
                    <a:pt x="0" y="40005"/>
                    <a:pt x="40005" y="0"/>
                    <a:pt x="89408" y="0"/>
                  </a:cubicBezTo>
                  <a:lnTo>
                    <a:pt x="3187192" y="0"/>
                  </a:lnTo>
                  <a:cubicBezTo>
                    <a:pt x="3236595" y="0"/>
                    <a:pt x="3276600" y="40005"/>
                    <a:pt x="3276600" y="89408"/>
                  </a:cubicBezTo>
                  <a:lnTo>
                    <a:pt x="3276600" y="655955"/>
                  </a:lnTo>
                  <a:cubicBezTo>
                    <a:pt x="3276600" y="705358"/>
                    <a:pt x="3236595" y="745363"/>
                    <a:pt x="3187192" y="745363"/>
                  </a:cubicBezTo>
                  <a:lnTo>
                    <a:pt x="89408" y="745363"/>
                  </a:lnTo>
                  <a:cubicBezTo>
                    <a:pt x="40005" y="745363"/>
                    <a:pt x="0" y="705358"/>
                    <a:pt x="0" y="655955"/>
                  </a:cubicBezTo>
                  <a:close/>
                </a:path>
              </a:pathLst>
            </a:custGeom>
            <a:blipFill>
              <a:blip r:embed="rId3">
                <a:alphaModFix amt="0"/>
              </a:blip>
              <a:stretch>
                <a:fillRect l="0" t="-35653" r="0" b="-35658"/>
              </a:stretch>
            </a:blipFill>
            <a:ln w="19050" cap="sq">
              <a:solidFill>
                <a:srgbClr val="1F1E1C"/>
              </a:solidFill>
              <a:prstDash val="solid"/>
              <a:miter/>
            </a:ln>
          </p:spPr>
        </p:sp>
        <p:sp>
          <p:nvSpPr>
            <p:cNvPr name="TextBox 17" id="17"/>
            <p:cNvSpPr txBox="true"/>
            <p:nvPr/>
          </p:nvSpPr>
          <p:spPr>
            <a:xfrm>
              <a:off x="0" y="-9525"/>
              <a:ext cx="3276600" cy="754926"/>
            </a:xfrm>
            <a:prstGeom prst="rect">
              <a:avLst/>
            </a:prstGeom>
          </p:spPr>
          <p:txBody>
            <a:bodyPr anchor="ctr" rtlCol="false" tIns="50800" lIns="50800" bIns="50800" rIns="50800"/>
            <a:lstStyle/>
            <a:p>
              <a:pPr algn="ctr">
                <a:lnSpc>
                  <a:spcPts val="2160"/>
                </a:lnSpc>
              </a:pPr>
              <a:r>
                <a:rPr lang="en-US" sz="1800">
                  <a:solidFill>
                    <a:srgbClr val="1F1E1C"/>
                  </a:solidFill>
                  <a:latin typeface="Archivo Narrow"/>
                  <a:ea typeface="Archivo Narrow"/>
                  <a:cs typeface="Archivo Narrow"/>
                  <a:sym typeface="Archivo Narrow"/>
                </a:rPr>
                <a:t>entrena</a:t>
              </a:r>
            </a:p>
          </p:txBody>
        </p:sp>
      </p:grpSp>
      <p:grpSp>
        <p:nvGrpSpPr>
          <p:cNvPr name="Group 18" id="18"/>
          <p:cNvGrpSpPr/>
          <p:nvPr/>
        </p:nvGrpSpPr>
        <p:grpSpPr>
          <a:xfrm rot="0">
            <a:off x="10544175" y="4190476"/>
            <a:ext cx="2457450" cy="559051"/>
            <a:chOff x="0" y="0"/>
            <a:chExt cx="3276600" cy="745401"/>
          </a:xfrm>
        </p:grpSpPr>
        <p:sp>
          <p:nvSpPr>
            <p:cNvPr name="Freeform 19" id="19"/>
            <p:cNvSpPr/>
            <p:nvPr/>
          </p:nvSpPr>
          <p:spPr>
            <a:xfrm flipH="false" flipV="false" rot="0">
              <a:off x="0" y="0"/>
              <a:ext cx="3276600" cy="745363"/>
            </a:xfrm>
            <a:custGeom>
              <a:avLst/>
              <a:gdLst/>
              <a:ahLst/>
              <a:cxnLst/>
              <a:rect r="r" b="b" t="t" l="l"/>
              <a:pathLst>
                <a:path h="745363" w="3276600">
                  <a:moveTo>
                    <a:pt x="0" y="89408"/>
                  </a:moveTo>
                  <a:cubicBezTo>
                    <a:pt x="0" y="40005"/>
                    <a:pt x="40005" y="0"/>
                    <a:pt x="89408" y="0"/>
                  </a:cubicBezTo>
                  <a:lnTo>
                    <a:pt x="3187192" y="0"/>
                  </a:lnTo>
                  <a:cubicBezTo>
                    <a:pt x="3236595" y="0"/>
                    <a:pt x="3276600" y="40005"/>
                    <a:pt x="3276600" y="89408"/>
                  </a:cubicBezTo>
                  <a:lnTo>
                    <a:pt x="3276600" y="655955"/>
                  </a:lnTo>
                  <a:cubicBezTo>
                    <a:pt x="3276600" y="705358"/>
                    <a:pt x="3236595" y="745363"/>
                    <a:pt x="3187192" y="745363"/>
                  </a:cubicBezTo>
                  <a:lnTo>
                    <a:pt x="89408" y="745363"/>
                  </a:lnTo>
                  <a:cubicBezTo>
                    <a:pt x="40005" y="745363"/>
                    <a:pt x="0" y="705358"/>
                    <a:pt x="0" y="655955"/>
                  </a:cubicBezTo>
                  <a:close/>
                </a:path>
              </a:pathLst>
            </a:custGeom>
            <a:blipFill>
              <a:blip r:embed="rId3">
                <a:alphaModFix amt="0"/>
              </a:blip>
              <a:stretch>
                <a:fillRect l="0" t="-35653" r="0" b="-35658"/>
              </a:stretch>
            </a:blipFill>
            <a:ln w="19050" cap="sq">
              <a:solidFill>
                <a:srgbClr val="1F1E1C"/>
              </a:solidFill>
              <a:prstDash val="solid"/>
              <a:miter/>
            </a:ln>
          </p:spPr>
        </p:sp>
        <p:sp>
          <p:nvSpPr>
            <p:cNvPr name="TextBox 20" id="20"/>
            <p:cNvSpPr txBox="true"/>
            <p:nvPr/>
          </p:nvSpPr>
          <p:spPr>
            <a:xfrm>
              <a:off x="0" y="-9525"/>
              <a:ext cx="3276600" cy="754926"/>
            </a:xfrm>
            <a:prstGeom prst="rect">
              <a:avLst/>
            </a:prstGeom>
          </p:spPr>
          <p:txBody>
            <a:bodyPr anchor="ctr" rtlCol="false" tIns="50800" lIns="50800" bIns="50800" rIns="50800"/>
            <a:lstStyle/>
            <a:p>
              <a:pPr algn="ctr">
                <a:lnSpc>
                  <a:spcPts val="2160"/>
                </a:lnSpc>
              </a:pPr>
              <a:r>
                <a:rPr lang="en-US" sz="1800">
                  <a:solidFill>
                    <a:srgbClr val="1F1E1C"/>
                  </a:solidFill>
                  <a:latin typeface="Archivo Narrow"/>
                  <a:ea typeface="Archivo Narrow"/>
                  <a:cs typeface="Archivo Narrow"/>
                  <a:sym typeface="Archivo Narrow"/>
                </a:rPr>
                <a:t>entrena</a:t>
              </a:r>
            </a:p>
          </p:txBody>
        </p:sp>
      </p:grpSp>
      <p:grpSp>
        <p:nvGrpSpPr>
          <p:cNvPr name="Group 21" id="21"/>
          <p:cNvGrpSpPr/>
          <p:nvPr/>
        </p:nvGrpSpPr>
        <p:grpSpPr>
          <a:xfrm rot="0">
            <a:off x="13096875" y="4190476"/>
            <a:ext cx="2457450" cy="559051"/>
            <a:chOff x="0" y="0"/>
            <a:chExt cx="3276600" cy="745401"/>
          </a:xfrm>
        </p:grpSpPr>
        <p:sp>
          <p:nvSpPr>
            <p:cNvPr name="Freeform 22" id="22"/>
            <p:cNvSpPr/>
            <p:nvPr/>
          </p:nvSpPr>
          <p:spPr>
            <a:xfrm flipH="false" flipV="false" rot="0">
              <a:off x="0" y="0"/>
              <a:ext cx="3276600" cy="745363"/>
            </a:xfrm>
            <a:custGeom>
              <a:avLst/>
              <a:gdLst/>
              <a:ahLst/>
              <a:cxnLst/>
              <a:rect r="r" b="b" t="t" l="l"/>
              <a:pathLst>
                <a:path h="745363" w="3276600">
                  <a:moveTo>
                    <a:pt x="0" y="89408"/>
                  </a:moveTo>
                  <a:cubicBezTo>
                    <a:pt x="0" y="40005"/>
                    <a:pt x="40005" y="0"/>
                    <a:pt x="89408" y="0"/>
                  </a:cubicBezTo>
                  <a:lnTo>
                    <a:pt x="3187192" y="0"/>
                  </a:lnTo>
                  <a:cubicBezTo>
                    <a:pt x="3236595" y="0"/>
                    <a:pt x="3276600" y="40005"/>
                    <a:pt x="3276600" y="89408"/>
                  </a:cubicBezTo>
                  <a:lnTo>
                    <a:pt x="3276600" y="655955"/>
                  </a:lnTo>
                  <a:cubicBezTo>
                    <a:pt x="3276600" y="705358"/>
                    <a:pt x="3236595" y="745363"/>
                    <a:pt x="3187192" y="745363"/>
                  </a:cubicBezTo>
                  <a:lnTo>
                    <a:pt x="89408" y="745363"/>
                  </a:lnTo>
                  <a:cubicBezTo>
                    <a:pt x="40005" y="745363"/>
                    <a:pt x="0" y="705358"/>
                    <a:pt x="0" y="655955"/>
                  </a:cubicBezTo>
                  <a:close/>
                </a:path>
              </a:pathLst>
            </a:custGeom>
            <a:blipFill>
              <a:blip r:embed="rId3">
                <a:alphaModFix amt="0"/>
              </a:blip>
              <a:stretch>
                <a:fillRect l="0" t="-35653" r="0" b="-35658"/>
              </a:stretch>
            </a:blipFill>
            <a:ln w="19050" cap="sq">
              <a:solidFill>
                <a:srgbClr val="1F1E1C"/>
              </a:solidFill>
              <a:prstDash val="solid"/>
              <a:miter/>
            </a:ln>
          </p:spPr>
        </p:sp>
        <p:sp>
          <p:nvSpPr>
            <p:cNvPr name="TextBox 23" id="23"/>
            <p:cNvSpPr txBox="true"/>
            <p:nvPr/>
          </p:nvSpPr>
          <p:spPr>
            <a:xfrm>
              <a:off x="0" y="-9525"/>
              <a:ext cx="3276600" cy="754926"/>
            </a:xfrm>
            <a:prstGeom prst="rect">
              <a:avLst/>
            </a:prstGeom>
          </p:spPr>
          <p:txBody>
            <a:bodyPr anchor="ctr" rtlCol="false" tIns="50800" lIns="50800" bIns="50800" rIns="50800"/>
            <a:lstStyle/>
            <a:p>
              <a:pPr algn="ctr">
                <a:lnSpc>
                  <a:spcPts val="2160"/>
                </a:lnSpc>
              </a:pPr>
              <a:r>
                <a:rPr lang="en-US" sz="1800">
                  <a:solidFill>
                    <a:srgbClr val="1F1E1C"/>
                  </a:solidFill>
                  <a:latin typeface="Archivo Narrow"/>
                  <a:ea typeface="Archivo Narrow"/>
                  <a:cs typeface="Archivo Narrow"/>
                  <a:sym typeface="Archivo Narrow"/>
                </a:rPr>
                <a:t>entrena</a:t>
              </a:r>
            </a:p>
          </p:txBody>
        </p:sp>
      </p:grpSp>
      <p:grpSp>
        <p:nvGrpSpPr>
          <p:cNvPr name="Group 24" id="24"/>
          <p:cNvGrpSpPr/>
          <p:nvPr/>
        </p:nvGrpSpPr>
        <p:grpSpPr>
          <a:xfrm rot="0">
            <a:off x="15649575" y="4190476"/>
            <a:ext cx="1428750" cy="559051"/>
            <a:chOff x="0" y="0"/>
            <a:chExt cx="1905000" cy="745401"/>
          </a:xfrm>
        </p:grpSpPr>
        <p:sp>
          <p:nvSpPr>
            <p:cNvPr name="Freeform 25" id="25"/>
            <p:cNvSpPr/>
            <p:nvPr/>
          </p:nvSpPr>
          <p:spPr>
            <a:xfrm flipH="false" flipV="false" rot="0">
              <a:off x="0" y="0"/>
              <a:ext cx="1905000" cy="745363"/>
            </a:xfrm>
            <a:custGeom>
              <a:avLst/>
              <a:gdLst/>
              <a:ahLst/>
              <a:cxnLst/>
              <a:rect r="r" b="b" t="t" l="l"/>
              <a:pathLst>
                <a:path h="745363" w="1905000">
                  <a:moveTo>
                    <a:pt x="0" y="89408"/>
                  </a:moveTo>
                  <a:cubicBezTo>
                    <a:pt x="0" y="40005"/>
                    <a:pt x="40005" y="0"/>
                    <a:pt x="89408" y="0"/>
                  </a:cubicBezTo>
                  <a:lnTo>
                    <a:pt x="1815592" y="0"/>
                  </a:lnTo>
                  <a:cubicBezTo>
                    <a:pt x="1864995" y="0"/>
                    <a:pt x="1905000" y="40005"/>
                    <a:pt x="1905000" y="89408"/>
                  </a:cubicBezTo>
                  <a:lnTo>
                    <a:pt x="1905000" y="655955"/>
                  </a:lnTo>
                  <a:cubicBezTo>
                    <a:pt x="1905000" y="705358"/>
                    <a:pt x="1864995" y="745363"/>
                    <a:pt x="1815592" y="745363"/>
                  </a:cubicBezTo>
                  <a:lnTo>
                    <a:pt x="89408" y="745363"/>
                  </a:lnTo>
                  <a:cubicBezTo>
                    <a:pt x="40005" y="745363"/>
                    <a:pt x="0" y="705358"/>
                    <a:pt x="0" y="655955"/>
                  </a:cubicBezTo>
                  <a:close/>
                </a:path>
              </a:pathLst>
            </a:custGeom>
            <a:blipFill>
              <a:blip r:embed="rId3">
                <a:alphaModFix amt="0"/>
              </a:blip>
              <a:stretch>
                <a:fillRect l="-203" t="0" r="-203" b="-5"/>
              </a:stretch>
            </a:blipFill>
            <a:ln w="19050" cap="sq">
              <a:solidFill>
                <a:srgbClr val="8C8476"/>
              </a:solidFill>
              <a:prstDash val="dash"/>
              <a:miter/>
            </a:ln>
          </p:spPr>
        </p:sp>
        <p:sp>
          <p:nvSpPr>
            <p:cNvPr name="TextBox 26" id="26"/>
            <p:cNvSpPr txBox="true"/>
            <p:nvPr/>
          </p:nvSpPr>
          <p:spPr>
            <a:xfrm>
              <a:off x="0" y="-9525"/>
              <a:ext cx="1905000" cy="754926"/>
            </a:xfrm>
            <a:prstGeom prst="rect">
              <a:avLst/>
            </a:prstGeom>
          </p:spPr>
          <p:txBody>
            <a:bodyPr anchor="ctr" rtlCol="false" tIns="50800" lIns="50800" bIns="50800" rIns="50800"/>
            <a:lstStyle/>
            <a:p>
              <a:pPr algn="ctr">
                <a:lnSpc>
                  <a:spcPts val="2160"/>
                </a:lnSpc>
              </a:pPr>
              <a:r>
                <a:rPr lang="en-US" sz="1800">
                  <a:solidFill>
                    <a:srgbClr val="8C8476"/>
                  </a:solidFill>
                  <a:latin typeface="Archivo Narrow"/>
                  <a:ea typeface="Archivo Narrow"/>
                  <a:cs typeface="Archivo Narrow"/>
                  <a:sym typeface="Archivo Narrow"/>
                </a:rPr>
                <a:t>aparte</a:t>
              </a:r>
            </a:p>
          </p:txBody>
        </p:sp>
      </p:grpSp>
      <p:sp>
        <p:nvSpPr>
          <p:cNvPr name="TextBox 27" id="27"/>
          <p:cNvSpPr txBox="true"/>
          <p:nvPr/>
        </p:nvSpPr>
        <p:spPr>
          <a:xfrm rot="0">
            <a:off x="1219200" y="4911900"/>
            <a:ext cx="1676400" cy="449580"/>
          </a:xfrm>
          <a:prstGeom prst="rect">
            <a:avLst/>
          </a:prstGeom>
        </p:spPr>
        <p:txBody>
          <a:bodyPr anchor="t" rtlCol="false" tIns="0" lIns="0" bIns="0" rIns="0">
            <a:spAutoFit/>
          </a:bodyPr>
          <a:lstStyle/>
          <a:p>
            <a:pPr algn="l">
              <a:lnSpc>
                <a:spcPts val="2835"/>
              </a:lnSpc>
            </a:pPr>
            <a:r>
              <a:rPr lang="en-US" sz="2100">
                <a:solidFill>
                  <a:srgbClr val="4A453F"/>
                </a:solidFill>
                <a:latin typeface="Archivo Narrow"/>
                <a:ea typeface="Archivo Narrow"/>
                <a:cs typeface="Archivo Narrow"/>
                <a:sym typeface="Archivo Narrow"/>
              </a:rPr>
              <a:t>Ronda 2</a:t>
            </a:r>
          </a:p>
        </p:txBody>
      </p:sp>
      <p:grpSp>
        <p:nvGrpSpPr>
          <p:cNvPr name="Group 28" id="28"/>
          <p:cNvGrpSpPr/>
          <p:nvPr/>
        </p:nvGrpSpPr>
        <p:grpSpPr>
          <a:xfrm rot="0">
            <a:off x="2886075" y="4850473"/>
            <a:ext cx="2457450" cy="559051"/>
            <a:chOff x="0" y="0"/>
            <a:chExt cx="3276600" cy="745401"/>
          </a:xfrm>
        </p:grpSpPr>
        <p:sp>
          <p:nvSpPr>
            <p:cNvPr name="Freeform 29" id="29"/>
            <p:cNvSpPr/>
            <p:nvPr/>
          </p:nvSpPr>
          <p:spPr>
            <a:xfrm flipH="false" flipV="false" rot="0">
              <a:off x="0" y="0"/>
              <a:ext cx="3276600" cy="745363"/>
            </a:xfrm>
            <a:custGeom>
              <a:avLst/>
              <a:gdLst/>
              <a:ahLst/>
              <a:cxnLst/>
              <a:rect r="r" b="b" t="t" l="l"/>
              <a:pathLst>
                <a:path h="745363" w="3276600">
                  <a:moveTo>
                    <a:pt x="0" y="89408"/>
                  </a:moveTo>
                  <a:cubicBezTo>
                    <a:pt x="0" y="40005"/>
                    <a:pt x="40005" y="0"/>
                    <a:pt x="89408" y="0"/>
                  </a:cubicBezTo>
                  <a:lnTo>
                    <a:pt x="3187192" y="0"/>
                  </a:lnTo>
                  <a:cubicBezTo>
                    <a:pt x="3236595" y="0"/>
                    <a:pt x="3276600" y="40005"/>
                    <a:pt x="3276600" y="89408"/>
                  </a:cubicBezTo>
                  <a:lnTo>
                    <a:pt x="3276600" y="655955"/>
                  </a:lnTo>
                  <a:cubicBezTo>
                    <a:pt x="3276600" y="705358"/>
                    <a:pt x="3236595" y="745363"/>
                    <a:pt x="3187192" y="745363"/>
                  </a:cubicBezTo>
                  <a:lnTo>
                    <a:pt x="89408" y="745363"/>
                  </a:lnTo>
                  <a:cubicBezTo>
                    <a:pt x="40005" y="745363"/>
                    <a:pt x="0" y="705358"/>
                    <a:pt x="0" y="655955"/>
                  </a:cubicBezTo>
                  <a:close/>
                </a:path>
              </a:pathLst>
            </a:custGeom>
            <a:blipFill>
              <a:blip r:embed="rId3">
                <a:alphaModFix amt="0"/>
              </a:blip>
              <a:stretch>
                <a:fillRect l="0" t="-35653" r="0" b="-35658"/>
              </a:stretch>
            </a:blipFill>
            <a:ln w="19050" cap="sq">
              <a:solidFill>
                <a:srgbClr val="1F1E1C"/>
              </a:solidFill>
              <a:prstDash val="solid"/>
              <a:miter/>
            </a:ln>
          </p:spPr>
        </p:sp>
        <p:sp>
          <p:nvSpPr>
            <p:cNvPr name="TextBox 30" id="30"/>
            <p:cNvSpPr txBox="true"/>
            <p:nvPr/>
          </p:nvSpPr>
          <p:spPr>
            <a:xfrm>
              <a:off x="0" y="-9525"/>
              <a:ext cx="3276600" cy="754926"/>
            </a:xfrm>
            <a:prstGeom prst="rect">
              <a:avLst/>
            </a:prstGeom>
          </p:spPr>
          <p:txBody>
            <a:bodyPr anchor="ctr" rtlCol="false" tIns="50800" lIns="50800" bIns="50800" rIns="50800"/>
            <a:lstStyle/>
            <a:p>
              <a:pPr algn="ctr">
                <a:lnSpc>
                  <a:spcPts val="2160"/>
                </a:lnSpc>
              </a:pPr>
              <a:r>
                <a:rPr lang="en-US" sz="1800">
                  <a:solidFill>
                    <a:srgbClr val="1F1E1C"/>
                  </a:solidFill>
                  <a:latin typeface="Archivo Narrow"/>
                  <a:ea typeface="Archivo Narrow"/>
                  <a:cs typeface="Archivo Narrow"/>
                  <a:sym typeface="Archivo Narrow"/>
                </a:rPr>
                <a:t>entrena</a:t>
              </a:r>
            </a:p>
          </p:txBody>
        </p:sp>
      </p:grpSp>
      <p:grpSp>
        <p:nvGrpSpPr>
          <p:cNvPr name="Group 31" id="31"/>
          <p:cNvGrpSpPr/>
          <p:nvPr/>
        </p:nvGrpSpPr>
        <p:grpSpPr>
          <a:xfrm rot="0">
            <a:off x="5438775" y="4850473"/>
            <a:ext cx="2457450" cy="559051"/>
            <a:chOff x="0" y="0"/>
            <a:chExt cx="3276600" cy="745401"/>
          </a:xfrm>
        </p:grpSpPr>
        <p:sp>
          <p:nvSpPr>
            <p:cNvPr name="Freeform 32" id="32"/>
            <p:cNvSpPr/>
            <p:nvPr/>
          </p:nvSpPr>
          <p:spPr>
            <a:xfrm flipH="false" flipV="false" rot="0">
              <a:off x="0" y="0"/>
              <a:ext cx="3276600" cy="745363"/>
            </a:xfrm>
            <a:custGeom>
              <a:avLst/>
              <a:gdLst/>
              <a:ahLst/>
              <a:cxnLst/>
              <a:rect r="r" b="b" t="t" l="l"/>
              <a:pathLst>
                <a:path h="745363" w="3276600">
                  <a:moveTo>
                    <a:pt x="0" y="89408"/>
                  </a:moveTo>
                  <a:cubicBezTo>
                    <a:pt x="0" y="40005"/>
                    <a:pt x="40005" y="0"/>
                    <a:pt x="89408" y="0"/>
                  </a:cubicBezTo>
                  <a:lnTo>
                    <a:pt x="3187192" y="0"/>
                  </a:lnTo>
                  <a:cubicBezTo>
                    <a:pt x="3236595" y="0"/>
                    <a:pt x="3276600" y="40005"/>
                    <a:pt x="3276600" y="89408"/>
                  </a:cubicBezTo>
                  <a:lnTo>
                    <a:pt x="3276600" y="655955"/>
                  </a:lnTo>
                  <a:cubicBezTo>
                    <a:pt x="3276600" y="705358"/>
                    <a:pt x="3236595" y="745363"/>
                    <a:pt x="3187192" y="745363"/>
                  </a:cubicBezTo>
                  <a:lnTo>
                    <a:pt x="89408" y="745363"/>
                  </a:lnTo>
                  <a:cubicBezTo>
                    <a:pt x="40005" y="745363"/>
                    <a:pt x="0" y="705358"/>
                    <a:pt x="0" y="655955"/>
                  </a:cubicBezTo>
                  <a:close/>
                </a:path>
              </a:pathLst>
            </a:custGeom>
            <a:solidFill>
              <a:srgbClr val="1F1E1C"/>
            </a:solidFill>
            <a:ln w="19050" cap="sq">
              <a:solidFill>
                <a:srgbClr val="1F1E1C"/>
              </a:solidFill>
              <a:prstDash val="solid"/>
              <a:miter/>
            </a:ln>
          </p:spPr>
        </p:sp>
        <p:sp>
          <p:nvSpPr>
            <p:cNvPr name="TextBox 33" id="33"/>
            <p:cNvSpPr txBox="true"/>
            <p:nvPr/>
          </p:nvSpPr>
          <p:spPr>
            <a:xfrm>
              <a:off x="0" y="-9525"/>
              <a:ext cx="3276600" cy="754926"/>
            </a:xfrm>
            <a:prstGeom prst="rect">
              <a:avLst/>
            </a:prstGeom>
          </p:spPr>
          <p:txBody>
            <a:bodyPr anchor="ctr" rtlCol="false" tIns="50800" lIns="50800" bIns="50800" rIns="50800"/>
            <a:lstStyle/>
            <a:p>
              <a:pPr algn="ctr">
                <a:lnSpc>
                  <a:spcPts val="2160"/>
                </a:lnSpc>
              </a:pPr>
              <a:r>
                <a:rPr lang="en-US" sz="1800" b="true">
                  <a:solidFill>
                    <a:srgbClr val="DCD3C3"/>
                  </a:solidFill>
                  <a:latin typeface="Archivo Narrow Bold"/>
                  <a:ea typeface="Archivo Narrow Bold"/>
                  <a:cs typeface="Archivo Narrow Bold"/>
                  <a:sym typeface="Archivo Narrow Bold"/>
                </a:rPr>
                <a:t>valida</a:t>
              </a:r>
            </a:p>
          </p:txBody>
        </p:sp>
      </p:grpSp>
      <p:grpSp>
        <p:nvGrpSpPr>
          <p:cNvPr name="Group 34" id="34"/>
          <p:cNvGrpSpPr/>
          <p:nvPr/>
        </p:nvGrpSpPr>
        <p:grpSpPr>
          <a:xfrm rot="0">
            <a:off x="7991475" y="4850473"/>
            <a:ext cx="2457450" cy="559051"/>
            <a:chOff x="0" y="0"/>
            <a:chExt cx="3276600" cy="745401"/>
          </a:xfrm>
        </p:grpSpPr>
        <p:sp>
          <p:nvSpPr>
            <p:cNvPr name="Freeform 35" id="35"/>
            <p:cNvSpPr/>
            <p:nvPr/>
          </p:nvSpPr>
          <p:spPr>
            <a:xfrm flipH="false" flipV="false" rot="0">
              <a:off x="0" y="0"/>
              <a:ext cx="3276600" cy="745363"/>
            </a:xfrm>
            <a:custGeom>
              <a:avLst/>
              <a:gdLst/>
              <a:ahLst/>
              <a:cxnLst/>
              <a:rect r="r" b="b" t="t" l="l"/>
              <a:pathLst>
                <a:path h="745363" w="3276600">
                  <a:moveTo>
                    <a:pt x="0" y="89408"/>
                  </a:moveTo>
                  <a:cubicBezTo>
                    <a:pt x="0" y="40005"/>
                    <a:pt x="40005" y="0"/>
                    <a:pt x="89408" y="0"/>
                  </a:cubicBezTo>
                  <a:lnTo>
                    <a:pt x="3187192" y="0"/>
                  </a:lnTo>
                  <a:cubicBezTo>
                    <a:pt x="3236595" y="0"/>
                    <a:pt x="3276600" y="40005"/>
                    <a:pt x="3276600" y="89408"/>
                  </a:cubicBezTo>
                  <a:lnTo>
                    <a:pt x="3276600" y="655955"/>
                  </a:lnTo>
                  <a:cubicBezTo>
                    <a:pt x="3276600" y="705358"/>
                    <a:pt x="3236595" y="745363"/>
                    <a:pt x="3187192" y="745363"/>
                  </a:cubicBezTo>
                  <a:lnTo>
                    <a:pt x="89408" y="745363"/>
                  </a:lnTo>
                  <a:cubicBezTo>
                    <a:pt x="40005" y="745363"/>
                    <a:pt x="0" y="705358"/>
                    <a:pt x="0" y="655955"/>
                  </a:cubicBezTo>
                  <a:close/>
                </a:path>
              </a:pathLst>
            </a:custGeom>
            <a:blipFill>
              <a:blip r:embed="rId3">
                <a:alphaModFix amt="0"/>
              </a:blip>
              <a:stretch>
                <a:fillRect l="0" t="-35653" r="0" b="-35658"/>
              </a:stretch>
            </a:blipFill>
            <a:ln w="19050" cap="sq">
              <a:solidFill>
                <a:srgbClr val="1F1E1C"/>
              </a:solidFill>
              <a:prstDash val="solid"/>
              <a:miter/>
            </a:ln>
          </p:spPr>
        </p:sp>
        <p:sp>
          <p:nvSpPr>
            <p:cNvPr name="TextBox 36" id="36"/>
            <p:cNvSpPr txBox="true"/>
            <p:nvPr/>
          </p:nvSpPr>
          <p:spPr>
            <a:xfrm>
              <a:off x="0" y="-9525"/>
              <a:ext cx="3276600" cy="754926"/>
            </a:xfrm>
            <a:prstGeom prst="rect">
              <a:avLst/>
            </a:prstGeom>
          </p:spPr>
          <p:txBody>
            <a:bodyPr anchor="ctr" rtlCol="false" tIns="50800" lIns="50800" bIns="50800" rIns="50800"/>
            <a:lstStyle/>
            <a:p>
              <a:pPr algn="ctr">
                <a:lnSpc>
                  <a:spcPts val="2160"/>
                </a:lnSpc>
              </a:pPr>
              <a:r>
                <a:rPr lang="en-US" sz="1800">
                  <a:solidFill>
                    <a:srgbClr val="1F1E1C"/>
                  </a:solidFill>
                  <a:latin typeface="Archivo Narrow"/>
                  <a:ea typeface="Archivo Narrow"/>
                  <a:cs typeface="Archivo Narrow"/>
                  <a:sym typeface="Archivo Narrow"/>
                </a:rPr>
                <a:t>entrena</a:t>
              </a:r>
            </a:p>
          </p:txBody>
        </p:sp>
      </p:grpSp>
      <p:grpSp>
        <p:nvGrpSpPr>
          <p:cNvPr name="Group 37" id="37"/>
          <p:cNvGrpSpPr/>
          <p:nvPr/>
        </p:nvGrpSpPr>
        <p:grpSpPr>
          <a:xfrm rot="0">
            <a:off x="10544175" y="4850473"/>
            <a:ext cx="2457450" cy="559051"/>
            <a:chOff x="0" y="0"/>
            <a:chExt cx="3276600" cy="745401"/>
          </a:xfrm>
        </p:grpSpPr>
        <p:sp>
          <p:nvSpPr>
            <p:cNvPr name="Freeform 38" id="38"/>
            <p:cNvSpPr/>
            <p:nvPr/>
          </p:nvSpPr>
          <p:spPr>
            <a:xfrm flipH="false" flipV="false" rot="0">
              <a:off x="0" y="0"/>
              <a:ext cx="3276600" cy="745363"/>
            </a:xfrm>
            <a:custGeom>
              <a:avLst/>
              <a:gdLst/>
              <a:ahLst/>
              <a:cxnLst/>
              <a:rect r="r" b="b" t="t" l="l"/>
              <a:pathLst>
                <a:path h="745363" w="3276600">
                  <a:moveTo>
                    <a:pt x="0" y="89408"/>
                  </a:moveTo>
                  <a:cubicBezTo>
                    <a:pt x="0" y="40005"/>
                    <a:pt x="40005" y="0"/>
                    <a:pt x="89408" y="0"/>
                  </a:cubicBezTo>
                  <a:lnTo>
                    <a:pt x="3187192" y="0"/>
                  </a:lnTo>
                  <a:cubicBezTo>
                    <a:pt x="3236595" y="0"/>
                    <a:pt x="3276600" y="40005"/>
                    <a:pt x="3276600" y="89408"/>
                  </a:cubicBezTo>
                  <a:lnTo>
                    <a:pt x="3276600" y="655955"/>
                  </a:lnTo>
                  <a:cubicBezTo>
                    <a:pt x="3276600" y="705358"/>
                    <a:pt x="3236595" y="745363"/>
                    <a:pt x="3187192" y="745363"/>
                  </a:cubicBezTo>
                  <a:lnTo>
                    <a:pt x="89408" y="745363"/>
                  </a:lnTo>
                  <a:cubicBezTo>
                    <a:pt x="40005" y="745363"/>
                    <a:pt x="0" y="705358"/>
                    <a:pt x="0" y="655955"/>
                  </a:cubicBezTo>
                  <a:close/>
                </a:path>
              </a:pathLst>
            </a:custGeom>
            <a:blipFill>
              <a:blip r:embed="rId3">
                <a:alphaModFix amt="0"/>
              </a:blip>
              <a:stretch>
                <a:fillRect l="0" t="-35653" r="0" b="-35658"/>
              </a:stretch>
            </a:blipFill>
            <a:ln w="19050" cap="sq">
              <a:solidFill>
                <a:srgbClr val="1F1E1C"/>
              </a:solidFill>
              <a:prstDash val="solid"/>
              <a:miter/>
            </a:ln>
          </p:spPr>
        </p:sp>
        <p:sp>
          <p:nvSpPr>
            <p:cNvPr name="TextBox 39" id="39"/>
            <p:cNvSpPr txBox="true"/>
            <p:nvPr/>
          </p:nvSpPr>
          <p:spPr>
            <a:xfrm>
              <a:off x="0" y="-9525"/>
              <a:ext cx="3276600" cy="754926"/>
            </a:xfrm>
            <a:prstGeom prst="rect">
              <a:avLst/>
            </a:prstGeom>
          </p:spPr>
          <p:txBody>
            <a:bodyPr anchor="ctr" rtlCol="false" tIns="50800" lIns="50800" bIns="50800" rIns="50800"/>
            <a:lstStyle/>
            <a:p>
              <a:pPr algn="ctr">
                <a:lnSpc>
                  <a:spcPts val="2160"/>
                </a:lnSpc>
              </a:pPr>
              <a:r>
                <a:rPr lang="en-US" sz="1800">
                  <a:solidFill>
                    <a:srgbClr val="1F1E1C"/>
                  </a:solidFill>
                  <a:latin typeface="Archivo Narrow"/>
                  <a:ea typeface="Archivo Narrow"/>
                  <a:cs typeface="Archivo Narrow"/>
                  <a:sym typeface="Archivo Narrow"/>
                </a:rPr>
                <a:t>entrena</a:t>
              </a:r>
            </a:p>
          </p:txBody>
        </p:sp>
      </p:grpSp>
      <p:grpSp>
        <p:nvGrpSpPr>
          <p:cNvPr name="Group 40" id="40"/>
          <p:cNvGrpSpPr/>
          <p:nvPr/>
        </p:nvGrpSpPr>
        <p:grpSpPr>
          <a:xfrm rot="0">
            <a:off x="13096875" y="4850473"/>
            <a:ext cx="2457450" cy="559051"/>
            <a:chOff x="0" y="0"/>
            <a:chExt cx="3276600" cy="745401"/>
          </a:xfrm>
        </p:grpSpPr>
        <p:sp>
          <p:nvSpPr>
            <p:cNvPr name="Freeform 41" id="41"/>
            <p:cNvSpPr/>
            <p:nvPr/>
          </p:nvSpPr>
          <p:spPr>
            <a:xfrm flipH="false" flipV="false" rot="0">
              <a:off x="0" y="0"/>
              <a:ext cx="3276600" cy="745363"/>
            </a:xfrm>
            <a:custGeom>
              <a:avLst/>
              <a:gdLst/>
              <a:ahLst/>
              <a:cxnLst/>
              <a:rect r="r" b="b" t="t" l="l"/>
              <a:pathLst>
                <a:path h="745363" w="3276600">
                  <a:moveTo>
                    <a:pt x="0" y="89408"/>
                  </a:moveTo>
                  <a:cubicBezTo>
                    <a:pt x="0" y="40005"/>
                    <a:pt x="40005" y="0"/>
                    <a:pt x="89408" y="0"/>
                  </a:cubicBezTo>
                  <a:lnTo>
                    <a:pt x="3187192" y="0"/>
                  </a:lnTo>
                  <a:cubicBezTo>
                    <a:pt x="3236595" y="0"/>
                    <a:pt x="3276600" y="40005"/>
                    <a:pt x="3276600" y="89408"/>
                  </a:cubicBezTo>
                  <a:lnTo>
                    <a:pt x="3276600" y="655955"/>
                  </a:lnTo>
                  <a:cubicBezTo>
                    <a:pt x="3276600" y="705358"/>
                    <a:pt x="3236595" y="745363"/>
                    <a:pt x="3187192" y="745363"/>
                  </a:cubicBezTo>
                  <a:lnTo>
                    <a:pt x="89408" y="745363"/>
                  </a:lnTo>
                  <a:cubicBezTo>
                    <a:pt x="40005" y="745363"/>
                    <a:pt x="0" y="705358"/>
                    <a:pt x="0" y="655955"/>
                  </a:cubicBezTo>
                  <a:close/>
                </a:path>
              </a:pathLst>
            </a:custGeom>
            <a:blipFill>
              <a:blip r:embed="rId3">
                <a:alphaModFix amt="0"/>
              </a:blip>
              <a:stretch>
                <a:fillRect l="0" t="-35653" r="0" b="-35658"/>
              </a:stretch>
            </a:blipFill>
            <a:ln w="19050" cap="sq">
              <a:solidFill>
                <a:srgbClr val="1F1E1C"/>
              </a:solidFill>
              <a:prstDash val="solid"/>
              <a:miter/>
            </a:ln>
          </p:spPr>
        </p:sp>
        <p:sp>
          <p:nvSpPr>
            <p:cNvPr name="TextBox 42" id="42"/>
            <p:cNvSpPr txBox="true"/>
            <p:nvPr/>
          </p:nvSpPr>
          <p:spPr>
            <a:xfrm>
              <a:off x="0" y="-9525"/>
              <a:ext cx="3276600" cy="754926"/>
            </a:xfrm>
            <a:prstGeom prst="rect">
              <a:avLst/>
            </a:prstGeom>
          </p:spPr>
          <p:txBody>
            <a:bodyPr anchor="ctr" rtlCol="false" tIns="50800" lIns="50800" bIns="50800" rIns="50800"/>
            <a:lstStyle/>
            <a:p>
              <a:pPr algn="ctr">
                <a:lnSpc>
                  <a:spcPts val="2160"/>
                </a:lnSpc>
              </a:pPr>
              <a:r>
                <a:rPr lang="en-US" sz="1800">
                  <a:solidFill>
                    <a:srgbClr val="1F1E1C"/>
                  </a:solidFill>
                  <a:latin typeface="Archivo Narrow"/>
                  <a:ea typeface="Archivo Narrow"/>
                  <a:cs typeface="Archivo Narrow"/>
                  <a:sym typeface="Archivo Narrow"/>
                </a:rPr>
                <a:t>entrena</a:t>
              </a:r>
            </a:p>
          </p:txBody>
        </p:sp>
      </p:grpSp>
      <p:grpSp>
        <p:nvGrpSpPr>
          <p:cNvPr name="Group 43" id="43"/>
          <p:cNvGrpSpPr/>
          <p:nvPr/>
        </p:nvGrpSpPr>
        <p:grpSpPr>
          <a:xfrm rot="0">
            <a:off x="15649575" y="4850473"/>
            <a:ext cx="1428750" cy="559051"/>
            <a:chOff x="0" y="0"/>
            <a:chExt cx="1905000" cy="745401"/>
          </a:xfrm>
        </p:grpSpPr>
        <p:sp>
          <p:nvSpPr>
            <p:cNvPr name="Freeform 44" id="44"/>
            <p:cNvSpPr/>
            <p:nvPr/>
          </p:nvSpPr>
          <p:spPr>
            <a:xfrm flipH="false" flipV="false" rot="0">
              <a:off x="0" y="0"/>
              <a:ext cx="1905000" cy="745363"/>
            </a:xfrm>
            <a:custGeom>
              <a:avLst/>
              <a:gdLst/>
              <a:ahLst/>
              <a:cxnLst/>
              <a:rect r="r" b="b" t="t" l="l"/>
              <a:pathLst>
                <a:path h="745363" w="1905000">
                  <a:moveTo>
                    <a:pt x="0" y="89408"/>
                  </a:moveTo>
                  <a:cubicBezTo>
                    <a:pt x="0" y="40005"/>
                    <a:pt x="40005" y="0"/>
                    <a:pt x="89408" y="0"/>
                  </a:cubicBezTo>
                  <a:lnTo>
                    <a:pt x="1815592" y="0"/>
                  </a:lnTo>
                  <a:cubicBezTo>
                    <a:pt x="1864995" y="0"/>
                    <a:pt x="1905000" y="40005"/>
                    <a:pt x="1905000" y="89408"/>
                  </a:cubicBezTo>
                  <a:lnTo>
                    <a:pt x="1905000" y="655955"/>
                  </a:lnTo>
                  <a:cubicBezTo>
                    <a:pt x="1905000" y="705358"/>
                    <a:pt x="1864995" y="745363"/>
                    <a:pt x="1815592" y="745363"/>
                  </a:cubicBezTo>
                  <a:lnTo>
                    <a:pt x="89408" y="745363"/>
                  </a:lnTo>
                  <a:cubicBezTo>
                    <a:pt x="40005" y="745363"/>
                    <a:pt x="0" y="705358"/>
                    <a:pt x="0" y="655955"/>
                  </a:cubicBezTo>
                  <a:close/>
                </a:path>
              </a:pathLst>
            </a:custGeom>
            <a:blipFill>
              <a:blip r:embed="rId3">
                <a:alphaModFix amt="0"/>
              </a:blip>
              <a:stretch>
                <a:fillRect l="-203" t="0" r="-203" b="-5"/>
              </a:stretch>
            </a:blipFill>
            <a:ln w="19050" cap="sq">
              <a:solidFill>
                <a:srgbClr val="8C8476"/>
              </a:solidFill>
              <a:prstDash val="dash"/>
              <a:miter/>
            </a:ln>
          </p:spPr>
        </p:sp>
        <p:sp>
          <p:nvSpPr>
            <p:cNvPr name="TextBox 45" id="45"/>
            <p:cNvSpPr txBox="true"/>
            <p:nvPr/>
          </p:nvSpPr>
          <p:spPr>
            <a:xfrm>
              <a:off x="0" y="-9525"/>
              <a:ext cx="1905000" cy="754926"/>
            </a:xfrm>
            <a:prstGeom prst="rect">
              <a:avLst/>
            </a:prstGeom>
          </p:spPr>
          <p:txBody>
            <a:bodyPr anchor="ctr" rtlCol="false" tIns="50800" lIns="50800" bIns="50800" rIns="50800"/>
            <a:lstStyle/>
            <a:p>
              <a:pPr algn="ctr">
                <a:lnSpc>
                  <a:spcPts val="2160"/>
                </a:lnSpc>
              </a:pPr>
              <a:r>
                <a:rPr lang="en-US" sz="1800">
                  <a:solidFill>
                    <a:srgbClr val="8C8476"/>
                  </a:solidFill>
                  <a:latin typeface="Archivo Narrow"/>
                  <a:ea typeface="Archivo Narrow"/>
                  <a:cs typeface="Archivo Narrow"/>
                  <a:sym typeface="Archivo Narrow"/>
                </a:rPr>
                <a:t>aparte</a:t>
              </a:r>
            </a:p>
          </p:txBody>
        </p:sp>
      </p:grpSp>
      <p:sp>
        <p:nvSpPr>
          <p:cNvPr name="TextBox 46" id="46"/>
          <p:cNvSpPr txBox="true"/>
          <p:nvPr/>
        </p:nvSpPr>
        <p:spPr>
          <a:xfrm rot="0">
            <a:off x="1219200" y="5571896"/>
            <a:ext cx="1676400" cy="449580"/>
          </a:xfrm>
          <a:prstGeom prst="rect">
            <a:avLst/>
          </a:prstGeom>
        </p:spPr>
        <p:txBody>
          <a:bodyPr anchor="t" rtlCol="false" tIns="0" lIns="0" bIns="0" rIns="0">
            <a:spAutoFit/>
          </a:bodyPr>
          <a:lstStyle/>
          <a:p>
            <a:pPr algn="l">
              <a:lnSpc>
                <a:spcPts val="2835"/>
              </a:lnSpc>
            </a:pPr>
            <a:r>
              <a:rPr lang="en-US" sz="2100">
                <a:solidFill>
                  <a:srgbClr val="4A453F"/>
                </a:solidFill>
                <a:latin typeface="Archivo Narrow"/>
                <a:ea typeface="Archivo Narrow"/>
                <a:cs typeface="Archivo Narrow"/>
                <a:sym typeface="Archivo Narrow"/>
              </a:rPr>
              <a:t>Ronda 3</a:t>
            </a:r>
          </a:p>
        </p:txBody>
      </p:sp>
      <p:grpSp>
        <p:nvGrpSpPr>
          <p:cNvPr name="Group 47" id="47"/>
          <p:cNvGrpSpPr/>
          <p:nvPr/>
        </p:nvGrpSpPr>
        <p:grpSpPr>
          <a:xfrm rot="0">
            <a:off x="2886075" y="5510479"/>
            <a:ext cx="2457450" cy="559051"/>
            <a:chOff x="0" y="0"/>
            <a:chExt cx="3276600" cy="745401"/>
          </a:xfrm>
        </p:grpSpPr>
        <p:sp>
          <p:nvSpPr>
            <p:cNvPr name="Freeform 48" id="48"/>
            <p:cNvSpPr/>
            <p:nvPr/>
          </p:nvSpPr>
          <p:spPr>
            <a:xfrm flipH="false" flipV="false" rot="0">
              <a:off x="0" y="0"/>
              <a:ext cx="3276600" cy="745363"/>
            </a:xfrm>
            <a:custGeom>
              <a:avLst/>
              <a:gdLst/>
              <a:ahLst/>
              <a:cxnLst/>
              <a:rect r="r" b="b" t="t" l="l"/>
              <a:pathLst>
                <a:path h="745363" w="3276600">
                  <a:moveTo>
                    <a:pt x="0" y="89408"/>
                  </a:moveTo>
                  <a:cubicBezTo>
                    <a:pt x="0" y="40005"/>
                    <a:pt x="40005" y="0"/>
                    <a:pt x="89408" y="0"/>
                  </a:cubicBezTo>
                  <a:lnTo>
                    <a:pt x="3187192" y="0"/>
                  </a:lnTo>
                  <a:cubicBezTo>
                    <a:pt x="3236595" y="0"/>
                    <a:pt x="3276600" y="40005"/>
                    <a:pt x="3276600" y="89408"/>
                  </a:cubicBezTo>
                  <a:lnTo>
                    <a:pt x="3276600" y="655955"/>
                  </a:lnTo>
                  <a:cubicBezTo>
                    <a:pt x="3276600" y="705358"/>
                    <a:pt x="3236595" y="745363"/>
                    <a:pt x="3187192" y="745363"/>
                  </a:cubicBezTo>
                  <a:lnTo>
                    <a:pt x="89408" y="745363"/>
                  </a:lnTo>
                  <a:cubicBezTo>
                    <a:pt x="40005" y="745363"/>
                    <a:pt x="0" y="705358"/>
                    <a:pt x="0" y="655955"/>
                  </a:cubicBezTo>
                  <a:close/>
                </a:path>
              </a:pathLst>
            </a:custGeom>
            <a:blipFill>
              <a:blip r:embed="rId3">
                <a:alphaModFix amt="0"/>
              </a:blip>
              <a:stretch>
                <a:fillRect l="0" t="-35653" r="0" b="-35658"/>
              </a:stretch>
            </a:blipFill>
            <a:ln w="19050" cap="sq">
              <a:solidFill>
                <a:srgbClr val="1F1E1C"/>
              </a:solidFill>
              <a:prstDash val="solid"/>
              <a:miter/>
            </a:ln>
          </p:spPr>
        </p:sp>
        <p:sp>
          <p:nvSpPr>
            <p:cNvPr name="TextBox 49" id="49"/>
            <p:cNvSpPr txBox="true"/>
            <p:nvPr/>
          </p:nvSpPr>
          <p:spPr>
            <a:xfrm>
              <a:off x="0" y="-9525"/>
              <a:ext cx="3276600" cy="754926"/>
            </a:xfrm>
            <a:prstGeom prst="rect">
              <a:avLst/>
            </a:prstGeom>
          </p:spPr>
          <p:txBody>
            <a:bodyPr anchor="ctr" rtlCol="false" tIns="50800" lIns="50800" bIns="50800" rIns="50800"/>
            <a:lstStyle/>
            <a:p>
              <a:pPr algn="ctr">
                <a:lnSpc>
                  <a:spcPts val="2160"/>
                </a:lnSpc>
              </a:pPr>
              <a:r>
                <a:rPr lang="en-US" sz="1800">
                  <a:solidFill>
                    <a:srgbClr val="1F1E1C"/>
                  </a:solidFill>
                  <a:latin typeface="Archivo Narrow"/>
                  <a:ea typeface="Archivo Narrow"/>
                  <a:cs typeface="Archivo Narrow"/>
                  <a:sym typeface="Archivo Narrow"/>
                </a:rPr>
                <a:t>entrena</a:t>
              </a:r>
            </a:p>
          </p:txBody>
        </p:sp>
      </p:grpSp>
      <p:grpSp>
        <p:nvGrpSpPr>
          <p:cNvPr name="Group 50" id="50"/>
          <p:cNvGrpSpPr/>
          <p:nvPr/>
        </p:nvGrpSpPr>
        <p:grpSpPr>
          <a:xfrm rot="0">
            <a:off x="5438775" y="5510479"/>
            <a:ext cx="2457450" cy="559051"/>
            <a:chOff x="0" y="0"/>
            <a:chExt cx="3276600" cy="745401"/>
          </a:xfrm>
        </p:grpSpPr>
        <p:sp>
          <p:nvSpPr>
            <p:cNvPr name="Freeform 51" id="51"/>
            <p:cNvSpPr/>
            <p:nvPr/>
          </p:nvSpPr>
          <p:spPr>
            <a:xfrm flipH="false" flipV="false" rot="0">
              <a:off x="0" y="0"/>
              <a:ext cx="3276600" cy="745363"/>
            </a:xfrm>
            <a:custGeom>
              <a:avLst/>
              <a:gdLst/>
              <a:ahLst/>
              <a:cxnLst/>
              <a:rect r="r" b="b" t="t" l="l"/>
              <a:pathLst>
                <a:path h="745363" w="3276600">
                  <a:moveTo>
                    <a:pt x="0" y="89408"/>
                  </a:moveTo>
                  <a:cubicBezTo>
                    <a:pt x="0" y="40005"/>
                    <a:pt x="40005" y="0"/>
                    <a:pt x="89408" y="0"/>
                  </a:cubicBezTo>
                  <a:lnTo>
                    <a:pt x="3187192" y="0"/>
                  </a:lnTo>
                  <a:cubicBezTo>
                    <a:pt x="3236595" y="0"/>
                    <a:pt x="3276600" y="40005"/>
                    <a:pt x="3276600" y="89408"/>
                  </a:cubicBezTo>
                  <a:lnTo>
                    <a:pt x="3276600" y="655955"/>
                  </a:lnTo>
                  <a:cubicBezTo>
                    <a:pt x="3276600" y="705358"/>
                    <a:pt x="3236595" y="745363"/>
                    <a:pt x="3187192" y="745363"/>
                  </a:cubicBezTo>
                  <a:lnTo>
                    <a:pt x="89408" y="745363"/>
                  </a:lnTo>
                  <a:cubicBezTo>
                    <a:pt x="40005" y="745363"/>
                    <a:pt x="0" y="705358"/>
                    <a:pt x="0" y="655955"/>
                  </a:cubicBezTo>
                  <a:close/>
                </a:path>
              </a:pathLst>
            </a:custGeom>
            <a:blipFill>
              <a:blip r:embed="rId3">
                <a:alphaModFix amt="0"/>
              </a:blip>
              <a:stretch>
                <a:fillRect l="0" t="-35653" r="0" b="-35658"/>
              </a:stretch>
            </a:blipFill>
            <a:ln w="19050" cap="sq">
              <a:solidFill>
                <a:srgbClr val="1F1E1C"/>
              </a:solidFill>
              <a:prstDash val="solid"/>
              <a:miter/>
            </a:ln>
          </p:spPr>
        </p:sp>
        <p:sp>
          <p:nvSpPr>
            <p:cNvPr name="TextBox 52" id="52"/>
            <p:cNvSpPr txBox="true"/>
            <p:nvPr/>
          </p:nvSpPr>
          <p:spPr>
            <a:xfrm>
              <a:off x="0" y="-9525"/>
              <a:ext cx="3276600" cy="754926"/>
            </a:xfrm>
            <a:prstGeom prst="rect">
              <a:avLst/>
            </a:prstGeom>
          </p:spPr>
          <p:txBody>
            <a:bodyPr anchor="ctr" rtlCol="false" tIns="50800" lIns="50800" bIns="50800" rIns="50800"/>
            <a:lstStyle/>
            <a:p>
              <a:pPr algn="ctr">
                <a:lnSpc>
                  <a:spcPts val="2160"/>
                </a:lnSpc>
              </a:pPr>
              <a:r>
                <a:rPr lang="en-US" sz="1800">
                  <a:solidFill>
                    <a:srgbClr val="1F1E1C"/>
                  </a:solidFill>
                  <a:latin typeface="Archivo Narrow"/>
                  <a:ea typeface="Archivo Narrow"/>
                  <a:cs typeface="Archivo Narrow"/>
                  <a:sym typeface="Archivo Narrow"/>
                </a:rPr>
                <a:t>entrena</a:t>
              </a:r>
            </a:p>
          </p:txBody>
        </p:sp>
      </p:grpSp>
      <p:grpSp>
        <p:nvGrpSpPr>
          <p:cNvPr name="Group 53" id="53"/>
          <p:cNvGrpSpPr/>
          <p:nvPr/>
        </p:nvGrpSpPr>
        <p:grpSpPr>
          <a:xfrm rot="0">
            <a:off x="7991475" y="5510479"/>
            <a:ext cx="2457450" cy="559051"/>
            <a:chOff x="0" y="0"/>
            <a:chExt cx="3276600" cy="745401"/>
          </a:xfrm>
        </p:grpSpPr>
        <p:sp>
          <p:nvSpPr>
            <p:cNvPr name="Freeform 54" id="54"/>
            <p:cNvSpPr/>
            <p:nvPr/>
          </p:nvSpPr>
          <p:spPr>
            <a:xfrm flipH="false" flipV="false" rot="0">
              <a:off x="0" y="0"/>
              <a:ext cx="3276600" cy="745363"/>
            </a:xfrm>
            <a:custGeom>
              <a:avLst/>
              <a:gdLst/>
              <a:ahLst/>
              <a:cxnLst/>
              <a:rect r="r" b="b" t="t" l="l"/>
              <a:pathLst>
                <a:path h="745363" w="3276600">
                  <a:moveTo>
                    <a:pt x="0" y="89408"/>
                  </a:moveTo>
                  <a:cubicBezTo>
                    <a:pt x="0" y="40005"/>
                    <a:pt x="40005" y="0"/>
                    <a:pt x="89408" y="0"/>
                  </a:cubicBezTo>
                  <a:lnTo>
                    <a:pt x="3187192" y="0"/>
                  </a:lnTo>
                  <a:cubicBezTo>
                    <a:pt x="3236595" y="0"/>
                    <a:pt x="3276600" y="40005"/>
                    <a:pt x="3276600" y="89408"/>
                  </a:cubicBezTo>
                  <a:lnTo>
                    <a:pt x="3276600" y="655955"/>
                  </a:lnTo>
                  <a:cubicBezTo>
                    <a:pt x="3276600" y="705358"/>
                    <a:pt x="3236595" y="745363"/>
                    <a:pt x="3187192" y="745363"/>
                  </a:cubicBezTo>
                  <a:lnTo>
                    <a:pt x="89408" y="745363"/>
                  </a:lnTo>
                  <a:cubicBezTo>
                    <a:pt x="40005" y="745363"/>
                    <a:pt x="0" y="705358"/>
                    <a:pt x="0" y="655955"/>
                  </a:cubicBezTo>
                  <a:close/>
                </a:path>
              </a:pathLst>
            </a:custGeom>
            <a:solidFill>
              <a:srgbClr val="1F1E1C"/>
            </a:solidFill>
            <a:ln w="19050" cap="sq">
              <a:solidFill>
                <a:srgbClr val="1F1E1C"/>
              </a:solidFill>
              <a:prstDash val="solid"/>
              <a:miter/>
            </a:ln>
          </p:spPr>
        </p:sp>
        <p:sp>
          <p:nvSpPr>
            <p:cNvPr name="TextBox 55" id="55"/>
            <p:cNvSpPr txBox="true"/>
            <p:nvPr/>
          </p:nvSpPr>
          <p:spPr>
            <a:xfrm>
              <a:off x="0" y="-9525"/>
              <a:ext cx="3276600" cy="754926"/>
            </a:xfrm>
            <a:prstGeom prst="rect">
              <a:avLst/>
            </a:prstGeom>
          </p:spPr>
          <p:txBody>
            <a:bodyPr anchor="ctr" rtlCol="false" tIns="50800" lIns="50800" bIns="50800" rIns="50800"/>
            <a:lstStyle/>
            <a:p>
              <a:pPr algn="ctr">
                <a:lnSpc>
                  <a:spcPts val="2160"/>
                </a:lnSpc>
              </a:pPr>
              <a:r>
                <a:rPr lang="en-US" sz="1800" b="true">
                  <a:solidFill>
                    <a:srgbClr val="DCD3C3"/>
                  </a:solidFill>
                  <a:latin typeface="Archivo Narrow Bold"/>
                  <a:ea typeface="Archivo Narrow Bold"/>
                  <a:cs typeface="Archivo Narrow Bold"/>
                  <a:sym typeface="Archivo Narrow Bold"/>
                </a:rPr>
                <a:t>valida</a:t>
              </a:r>
            </a:p>
          </p:txBody>
        </p:sp>
      </p:grpSp>
      <p:grpSp>
        <p:nvGrpSpPr>
          <p:cNvPr name="Group 56" id="56"/>
          <p:cNvGrpSpPr/>
          <p:nvPr/>
        </p:nvGrpSpPr>
        <p:grpSpPr>
          <a:xfrm rot="0">
            <a:off x="10544175" y="5510479"/>
            <a:ext cx="2457450" cy="559051"/>
            <a:chOff x="0" y="0"/>
            <a:chExt cx="3276600" cy="745401"/>
          </a:xfrm>
        </p:grpSpPr>
        <p:sp>
          <p:nvSpPr>
            <p:cNvPr name="Freeform 57" id="57"/>
            <p:cNvSpPr/>
            <p:nvPr/>
          </p:nvSpPr>
          <p:spPr>
            <a:xfrm flipH="false" flipV="false" rot="0">
              <a:off x="0" y="0"/>
              <a:ext cx="3276600" cy="745363"/>
            </a:xfrm>
            <a:custGeom>
              <a:avLst/>
              <a:gdLst/>
              <a:ahLst/>
              <a:cxnLst/>
              <a:rect r="r" b="b" t="t" l="l"/>
              <a:pathLst>
                <a:path h="745363" w="3276600">
                  <a:moveTo>
                    <a:pt x="0" y="89408"/>
                  </a:moveTo>
                  <a:cubicBezTo>
                    <a:pt x="0" y="40005"/>
                    <a:pt x="40005" y="0"/>
                    <a:pt x="89408" y="0"/>
                  </a:cubicBezTo>
                  <a:lnTo>
                    <a:pt x="3187192" y="0"/>
                  </a:lnTo>
                  <a:cubicBezTo>
                    <a:pt x="3236595" y="0"/>
                    <a:pt x="3276600" y="40005"/>
                    <a:pt x="3276600" y="89408"/>
                  </a:cubicBezTo>
                  <a:lnTo>
                    <a:pt x="3276600" y="655955"/>
                  </a:lnTo>
                  <a:cubicBezTo>
                    <a:pt x="3276600" y="705358"/>
                    <a:pt x="3236595" y="745363"/>
                    <a:pt x="3187192" y="745363"/>
                  </a:cubicBezTo>
                  <a:lnTo>
                    <a:pt x="89408" y="745363"/>
                  </a:lnTo>
                  <a:cubicBezTo>
                    <a:pt x="40005" y="745363"/>
                    <a:pt x="0" y="705358"/>
                    <a:pt x="0" y="655955"/>
                  </a:cubicBezTo>
                  <a:close/>
                </a:path>
              </a:pathLst>
            </a:custGeom>
            <a:blipFill>
              <a:blip r:embed="rId3">
                <a:alphaModFix amt="0"/>
              </a:blip>
              <a:stretch>
                <a:fillRect l="0" t="-35653" r="0" b="-35658"/>
              </a:stretch>
            </a:blipFill>
            <a:ln w="19050" cap="sq">
              <a:solidFill>
                <a:srgbClr val="1F1E1C"/>
              </a:solidFill>
              <a:prstDash val="solid"/>
              <a:miter/>
            </a:ln>
          </p:spPr>
        </p:sp>
        <p:sp>
          <p:nvSpPr>
            <p:cNvPr name="TextBox 58" id="58"/>
            <p:cNvSpPr txBox="true"/>
            <p:nvPr/>
          </p:nvSpPr>
          <p:spPr>
            <a:xfrm>
              <a:off x="0" y="-9525"/>
              <a:ext cx="3276600" cy="754926"/>
            </a:xfrm>
            <a:prstGeom prst="rect">
              <a:avLst/>
            </a:prstGeom>
          </p:spPr>
          <p:txBody>
            <a:bodyPr anchor="ctr" rtlCol="false" tIns="50800" lIns="50800" bIns="50800" rIns="50800"/>
            <a:lstStyle/>
            <a:p>
              <a:pPr algn="ctr">
                <a:lnSpc>
                  <a:spcPts val="2160"/>
                </a:lnSpc>
              </a:pPr>
              <a:r>
                <a:rPr lang="en-US" sz="1800">
                  <a:solidFill>
                    <a:srgbClr val="1F1E1C"/>
                  </a:solidFill>
                  <a:latin typeface="Archivo Narrow"/>
                  <a:ea typeface="Archivo Narrow"/>
                  <a:cs typeface="Archivo Narrow"/>
                  <a:sym typeface="Archivo Narrow"/>
                </a:rPr>
                <a:t>entrena</a:t>
              </a:r>
            </a:p>
          </p:txBody>
        </p:sp>
      </p:grpSp>
      <p:grpSp>
        <p:nvGrpSpPr>
          <p:cNvPr name="Group 59" id="59"/>
          <p:cNvGrpSpPr/>
          <p:nvPr/>
        </p:nvGrpSpPr>
        <p:grpSpPr>
          <a:xfrm rot="0">
            <a:off x="13096875" y="5510479"/>
            <a:ext cx="2457450" cy="559051"/>
            <a:chOff x="0" y="0"/>
            <a:chExt cx="3276600" cy="745401"/>
          </a:xfrm>
        </p:grpSpPr>
        <p:sp>
          <p:nvSpPr>
            <p:cNvPr name="Freeform 60" id="60"/>
            <p:cNvSpPr/>
            <p:nvPr/>
          </p:nvSpPr>
          <p:spPr>
            <a:xfrm flipH="false" flipV="false" rot="0">
              <a:off x="0" y="0"/>
              <a:ext cx="3276600" cy="745363"/>
            </a:xfrm>
            <a:custGeom>
              <a:avLst/>
              <a:gdLst/>
              <a:ahLst/>
              <a:cxnLst/>
              <a:rect r="r" b="b" t="t" l="l"/>
              <a:pathLst>
                <a:path h="745363" w="3276600">
                  <a:moveTo>
                    <a:pt x="0" y="89408"/>
                  </a:moveTo>
                  <a:cubicBezTo>
                    <a:pt x="0" y="40005"/>
                    <a:pt x="40005" y="0"/>
                    <a:pt x="89408" y="0"/>
                  </a:cubicBezTo>
                  <a:lnTo>
                    <a:pt x="3187192" y="0"/>
                  </a:lnTo>
                  <a:cubicBezTo>
                    <a:pt x="3236595" y="0"/>
                    <a:pt x="3276600" y="40005"/>
                    <a:pt x="3276600" y="89408"/>
                  </a:cubicBezTo>
                  <a:lnTo>
                    <a:pt x="3276600" y="655955"/>
                  </a:lnTo>
                  <a:cubicBezTo>
                    <a:pt x="3276600" y="705358"/>
                    <a:pt x="3236595" y="745363"/>
                    <a:pt x="3187192" y="745363"/>
                  </a:cubicBezTo>
                  <a:lnTo>
                    <a:pt x="89408" y="745363"/>
                  </a:lnTo>
                  <a:cubicBezTo>
                    <a:pt x="40005" y="745363"/>
                    <a:pt x="0" y="705358"/>
                    <a:pt x="0" y="655955"/>
                  </a:cubicBezTo>
                  <a:close/>
                </a:path>
              </a:pathLst>
            </a:custGeom>
            <a:blipFill>
              <a:blip r:embed="rId3">
                <a:alphaModFix amt="0"/>
              </a:blip>
              <a:stretch>
                <a:fillRect l="0" t="-35653" r="0" b="-35658"/>
              </a:stretch>
            </a:blipFill>
            <a:ln w="19050" cap="sq">
              <a:solidFill>
                <a:srgbClr val="1F1E1C"/>
              </a:solidFill>
              <a:prstDash val="solid"/>
              <a:miter/>
            </a:ln>
          </p:spPr>
        </p:sp>
        <p:sp>
          <p:nvSpPr>
            <p:cNvPr name="TextBox 61" id="61"/>
            <p:cNvSpPr txBox="true"/>
            <p:nvPr/>
          </p:nvSpPr>
          <p:spPr>
            <a:xfrm>
              <a:off x="0" y="-9525"/>
              <a:ext cx="3276600" cy="754926"/>
            </a:xfrm>
            <a:prstGeom prst="rect">
              <a:avLst/>
            </a:prstGeom>
          </p:spPr>
          <p:txBody>
            <a:bodyPr anchor="ctr" rtlCol="false" tIns="50800" lIns="50800" bIns="50800" rIns="50800"/>
            <a:lstStyle/>
            <a:p>
              <a:pPr algn="ctr">
                <a:lnSpc>
                  <a:spcPts val="2160"/>
                </a:lnSpc>
              </a:pPr>
              <a:r>
                <a:rPr lang="en-US" sz="1800">
                  <a:solidFill>
                    <a:srgbClr val="1F1E1C"/>
                  </a:solidFill>
                  <a:latin typeface="Archivo Narrow"/>
                  <a:ea typeface="Archivo Narrow"/>
                  <a:cs typeface="Archivo Narrow"/>
                  <a:sym typeface="Archivo Narrow"/>
                </a:rPr>
                <a:t>entrena</a:t>
              </a:r>
            </a:p>
          </p:txBody>
        </p:sp>
      </p:grpSp>
      <p:grpSp>
        <p:nvGrpSpPr>
          <p:cNvPr name="Group 62" id="62"/>
          <p:cNvGrpSpPr/>
          <p:nvPr/>
        </p:nvGrpSpPr>
        <p:grpSpPr>
          <a:xfrm rot="0">
            <a:off x="15649575" y="5510479"/>
            <a:ext cx="1428750" cy="559051"/>
            <a:chOff x="0" y="0"/>
            <a:chExt cx="1905000" cy="745401"/>
          </a:xfrm>
        </p:grpSpPr>
        <p:sp>
          <p:nvSpPr>
            <p:cNvPr name="Freeform 63" id="63"/>
            <p:cNvSpPr/>
            <p:nvPr/>
          </p:nvSpPr>
          <p:spPr>
            <a:xfrm flipH="false" flipV="false" rot="0">
              <a:off x="0" y="0"/>
              <a:ext cx="1905000" cy="745363"/>
            </a:xfrm>
            <a:custGeom>
              <a:avLst/>
              <a:gdLst/>
              <a:ahLst/>
              <a:cxnLst/>
              <a:rect r="r" b="b" t="t" l="l"/>
              <a:pathLst>
                <a:path h="745363" w="1905000">
                  <a:moveTo>
                    <a:pt x="0" y="89408"/>
                  </a:moveTo>
                  <a:cubicBezTo>
                    <a:pt x="0" y="40005"/>
                    <a:pt x="40005" y="0"/>
                    <a:pt x="89408" y="0"/>
                  </a:cubicBezTo>
                  <a:lnTo>
                    <a:pt x="1815592" y="0"/>
                  </a:lnTo>
                  <a:cubicBezTo>
                    <a:pt x="1864995" y="0"/>
                    <a:pt x="1905000" y="40005"/>
                    <a:pt x="1905000" y="89408"/>
                  </a:cubicBezTo>
                  <a:lnTo>
                    <a:pt x="1905000" y="655955"/>
                  </a:lnTo>
                  <a:cubicBezTo>
                    <a:pt x="1905000" y="705358"/>
                    <a:pt x="1864995" y="745363"/>
                    <a:pt x="1815592" y="745363"/>
                  </a:cubicBezTo>
                  <a:lnTo>
                    <a:pt x="89408" y="745363"/>
                  </a:lnTo>
                  <a:cubicBezTo>
                    <a:pt x="40005" y="745363"/>
                    <a:pt x="0" y="705358"/>
                    <a:pt x="0" y="655955"/>
                  </a:cubicBezTo>
                  <a:close/>
                </a:path>
              </a:pathLst>
            </a:custGeom>
            <a:blipFill>
              <a:blip r:embed="rId3">
                <a:alphaModFix amt="0"/>
              </a:blip>
              <a:stretch>
                <a:fillRect l="-203" t="0" r="-203" b="-5"/>
              </a:stretch>
            </a:blipFill>
            <a:ln w="19050" cap="sq">
              <a:solidFill>
                <a:srgbClr val="8C8476"/>
              </a:solidFill>
              <a:prstDash val="dash"/>
              <a:miter/>
            </a:ln>
          </p:spPr>
        </p:sp>
        <p:sp>
          <p:nvSpPr>
            <p:cNvPr name="TextBox 64" id="64"/>
            <p:cNvSpPr txBox="true"/>
            <p:nvPr/>
          </p:nvSpPr>
          <p:spPr>
            <a:xfrm>
              <a:off x="0" y="-9525"/>
              <a:ext cx="1905000" cy="754926"/>
            </a:xfrm>
            <a:prstGeom prst="rect">
              <a:avLst/>
            </a:prstGeom>
          </p:spPr>
          <p:txBody>
            <a:bodyPr anchor="ctr" rtlCol="false" tIns="50800" lIns="50800" bIns="50800" rIns="50800"/>
            <a:lstStyle/>
            <a:p>
              <a:pPr algn="ctr">
                <a:lnSpc>
                  <a:spcPts val="2160"/>
                </a:lnSpc>
              </a:pPr>
              <a:r>
                <a:rPr lang="en-US" sz="1800">
                  <a:solidFill>
                    <a:srgbClr val="8C8476"/>
                  </a:solidFill>
                  <a:latin typeface="Archivo Narrow"/>
                  <a:ea typeface="Archivo Narrow"/>
                  <a:cs typeface="Archivo Narrow"/>
                  <a:sym typeface="Archivo Narrow"/>
                </a:rPr>
                <a:t>aparte</a:t>
              </a:r>
            </a:p>
          </p:txBody>
        </p:sp>
      </p:grpSp>
      <p:sp>
        <p:nvSpPr>
          <p:cNvPr name="TextBox 65" id="65"/>
          <p:cNvSpPr txBox="true"/>
          <p:nvPr/>
        </p:nvSpPr>
        <p:spPr>
          <a:xfrm rot="0">
            <a:off x="1219200" y="6231903"/>
            <a:ext cx="1676400" cy="449580"/>
          </a:xfrm>
          <a:prstGeom prst="rect">
            <a:avLst/>
          </a:prstGeom>
        </p:spPr>
        <p:txBody>
          <a:bodyPr anchor="t" rtlCol="false" tIns="0" lIns="0" bIns="0" rIns="0">
            <a:spAutoFit/>
          </a:bodyPr>
          <a:lstStyle/>
          <a:p>
            <a:pPr algn="l">
              <a:lnSpc>
                <a:spcPts val="2835"/>
              </a:lnSpc>
            </a:pPr>
            <a:r>
              <a:rPr lang="en-US" sz="2100">
                <a:solidFill>
                  <a:srgbClr val="4A453F"/>
                </a:solidFill>
                <a:latin typeface="Archivo Narrow"/>
                <a:ea typeface="Archivo Narrow"/>
                <a:cs typeface="Archivo Narrow"/>
                <a:sym typeface="Archivo Narrow"/>
              </a:rPr>
              <a:t>Ronda 4</a:t>
            </a:r>
          </a:p>
        </p:txBody>
      </p:sp>
      <p:grpSp>
        <p:nvGrpSpPr>
          <p:cNvPr name="Group 66" id="66"/>
          <p:cNvGrpSpPr/>
          <p:nvPr/>
        </p:nvGrpSpPr>
        <p:grpSpPr>
          <a:xfrm rot="0">
            <a:off x="2886075" y="6170476"/>
            <a:ext cx="2457450" cy="559051"/>
            <a:chOff x="0" y="0"/>
            <a:chExt cx="3276600" cy="745401"/>
          </a:xfrm>
        </p:grpSpPr>
        <p:sp>
          <p:nvSpPr>
            <p:cNvPr name="Freeform 67" id="67"/>
            <p:cNvSpPr/>
            <p:nvPr/>
          </p:nvSpPr>
          <p:spPr>
            <a:xfrm flipH="false" flipV="false" rot="0">
              <a:off x="0" y="0"/>
              <a:ext cx="3276600" cy="745363"/>
            </a:xfrm>
            <a:custGeom>
              <a:avLst/>
              <a:gdLst/>
              <a:ahLst/>
              <a:cxnLst/>
              <a:rect r="r" b="b" t="t" l="l"/>
              <a:pathLst>
                <a:path h="745363" w="3276600">
                  <a:moveTo>
                    <a:pt x="0" y="89408"/>
                  </a:moveTo>
                  <a:cubicBezTo>
                    <a:pt x="0" y="40005"/>
                    <a:pt x="40005" y="0"/>
                    <a:pt x="89408" y="0"/>
                  </a:cubicBezTo>
                  <a:lnTo>
                    <a:pt x="3187192" y="0"/>
                  </a:lnTo>
                  <a:cubicBezTo>
                    <a:pt x="3236595" y="0"/>
                    <a:pt x="3276600" y="40005"/>
                    <a:pt x="3276600" y="89408"/>
                  </a:cubicBezTo>
                  <a:lnTo>
                    <a:pt x="3276600" y="655955"/>
                  </a:lnTo>
                  <a:cubicBezTo>
                    <a:pt x="3276600" y="705358"/>
                    <a:pt x="3236595" y="745363"/>
                    <a:pt x="3187192" y="745363"/>
                  </a:cubicBezTo>
                  <a:lnTo>
                    <a:pt x="89408" y="745363"/>
                  </a:lnTo>
                  <a:cubicBezTo>
                    <a:pt x="40005" y="745363"/>
                    <a:pt x="0" y="705358"/>
                    <a:pt x="0" y="655955"/>
                  </a:cubicBezTo>
                  <a:close/>
                </a:path>
              </a:pathLst>
            </a:custGeom>
            <a:blipFill>
              <a:blip r:embed="rId3">
                <a:alphaModFix amt="0"/>
              </a:blip>
              <a:stretch>
                <a:fillRect l="0" t="-35653" r="0" b="-35658"/>
              </a:stretch>
            </a:blipFill>
            <a:ln w="19050" cap="sq">
              <a:solidFill>
                <a:srgbClr val="1F1E1C"/>
              </a:solidFill>
              <a:prstDash val="solid"/>
              <a:miter/>
            </a:ln>
          </p:spPr>
        </p:sp>
        <p:sp>
          <p:nvSpPr>
            <p:cNvPr name="TextBox 68" id="68"/>
            <p:cNvSpPr txBox="true"/>
            <p:nvPr/>
          </p:nvSpPr>
          <p:spPr>
            <a:xfrm>
              <a:off x="0" y="-9525"/>
              <a:ext cx="3276600" cy="754926"/>
            </a:xfrm>
            <a:prstGeom prst="rect">
              <a:avLst/>
            </a:prstGeom>
          </p:spPr>
          <p:txBody>
            <a:bodyPr anchor="ctr" rtlCol="false" tIns="50800" lIns="50800" bIns="50800" rIns="50800"/>
            <a:lstStyle/>
            <a:p>
              <a:pPr algn="ctr">
                <a:lnSpc>
                  <a:spcPts val="2160"/>
                </a:lnSpc>
              </a:pPr>
              <a:r>
                <a:rPr lang="en-US" sz="1800">
                  <a:solidFill>
                    <a:srgbClr val="1F1E1C"/>
                  </a:solidFill>
                  <a:latin typeface="Archivo Narrow"/>
                  <a:ea typeface="Archivo Narrow"/>
                  <a:cs typeface="Archivo Narrow"/>
                  <a:sym typeface="Archivo Narrow"/>
                </a:rPr>
                <a:t>entrena</a:t>
              </a:r>
            </a:p>
          </p:txBody>
        </p:sp>
      </p:grpSp>
      <p:grpSp>
        <p:nvGrpSpPr>
          <p:cNvPr name="Group 69" id="69"/>
          <p:cNvGrpSpPr/>
          <p:nvPr/>
        </p:nvGrpSpPr>
        <p:grpSpPr>
          <a:xfrm rot="0">
            <a:off x="5438775" y="6170476"/>
            <a:ext cx="2457450" cy="559051"/>
            <a:chOff x="0" y="0"/>
            <a:chExt cx="3276600" cy="745401"/>
          </a:xfrm>
        </p:grpSpPr>
        <p:sp>
          <p:nvSpPr>
            <p:cNvPr name="Freeform 70" id="70"/>
            <p:cNvSpPr/>
            <p:nvPr/>
          </p:nvSpPr>
          <p:spPr>
            <a:xfrm flipH="false" flipV="false" rot="0">
              <a:off x="0" y="0"/>
              <a:ext cx="3276600" cy="745363"/>
            </a:xfrm>
            <a:custGeom>
              <a:avLst/>
              <a:gdLst/>
              <a:ahLst/>
              <a:cxnLst/>
              <a:rect r="r" b="b" t="t" l="l"/>
              <a:pathLst>
                <a:path h="745363" w="3276600">
                  <a:moveTo>
                    <a:pt x="0" y="89408"/>
                  </a:moveTo>
                  <a:cubicBezTo>
                    <a:pt x="0" y="40005"/>
                    <a:pt x="40005" y="0"/>
                    <a:pt x="89408" y="0"/>
                  </a:cubicBezTo>
                  <a:lnTo>
                    <a:pt x="3187192" y="0"/>
                  </a:lnTo>
                  <a:cubicBezTo>
                    <a:pt x="3236595" y="0"/>
                    <a:pt x="3276600" y="40005"/>
                    <a:pt x="3276600" y="89408"/>
                  </a:cubicBezTo>
                  <a:lnTo>
                    <a:pt x="3276600" y="655955"/>
                  </a:lnTo>
                  <a:cubicBezTo>
                    <a:pt x="3276600" y="705358"/>
                    <a:pt x="3236595" y="745363"/>
                    <a:pt x="3187192" y="745363"/>
                  </a:cubicBezTo>
                  <a:lnTo>
                    <a:pt x="89408" y="745363"/>
                  </a:lnTo>
                  <a:cubicBezTo>
                    <a:pt x="40005" y="745363"/>
                    <a:pt x="0" y="705358"/>
                    <a:pt x="0" y="655955"/>
                  </a:cubicBezTo>
                  <a:close/>
                </a:path>
              </a:pathLst>
            </a:custGeom>
            <a:blipFill>
              <a:blip r:embed="rId3">
                <a:alphaModFix amt="0"/>
              </a:blip>
              <a:stretch>
                <a:fillRect l="0" t="-35653" r="0" b="-35658"/>
              </a:stretch>
            </a:blipFill>
            <a:ln w="19050" cap="sq">
              <a:solidFill>
                <a:srgbClr val="1F1E1C"/>
              </a:solidFill>
              <a:prstDash val="solid"/>
              <a:miter/>
            </a:ln>
          </p:spPr>
        </p:sp>
        <p:sp>
          <p:nvSpPr>
            <p:cNvPr name="TextBox 71" id="71"/>
            <p:cNvSpPr txBox="true"/>
            <p:nvPr/>
          </p:nvSpPr>
          <p:spPr>
            <a:xfrm>
              <a:off x="0" y="-9525"/>
              <a:ext cx="3276600" cy="754926"/>
            </a:xfrm>
            <a:prstGeom prst="rect">
              <a:avLst/>
            </a:prstGeom>
          </p:spPr>
          <p:txBody>
            <a:bodyPr anchor="ctr" rtlCol="false" tIns="50800" lIns="50800" bIns="50800" rIns="50800"/>
            <a:lstStyle/>
            <a:p>
              <a:pPr algn="ctr">
                <a:lnSpc>
                  <a:spcPts val="2160"/>
                </a:lnSpc>
              </a:pPr>
              <a:r>
                <a:rPr lang="en-US" sz="1800">
                  <a:solidFill>
                    <a:srgbClr val="1F1E1C"/>
                  </a:solidFill>
                  <a:latin typeface="Archivo Narrow"/>
                  <a:ea typeface="Archivo Narrow"/>
                  <a:cs typeface="Archivo Narrow"/>
                  <a:sym typeface="Archivo Narrow"/>
                </a:rPr>
                <a:t>entrena</a:t>
              </a:r>
            </a:p>
          </p:txBody>
        </p:sp>
      </p:grpSp>
      <p:grpSp>
        <p:nvGrpSpPr>
          <p:cNvPr name="Group 72" id="72"/>
          <p:cNvGrpSpPr/>
          <p:nvPr/>
        </p:nvGrpSpPr>
        <p:grpSpPr>
          <a:xfrm rot="0">
            <a:off x="7991475" y="6170476"/>
            <a:ext cx="2457450" cy="559051"/>
            <a:chOff x="0" y="0"/>
            <a:chExt cx="3276600" cy="745401"/>
          </a:xfrm>
        </p:grpSpPr>
        <p:sp>
          <p:nvSpPr>
            <p:cNvPr name="Freeform 73" id="73"/>
            <p:cNvSpPr/>
            <p:nvPr/>
          </p:nvSpPr>
          <p:spPr>
            <a:xfrm flipH="false" flipV="false" rot="0">
              <a:off x="0" y="0"/>
              <a:ext cx="3276600" cy="745363"/>
            </a:xfrm>
            <a:custGeom>
              <a:avLst/>
              <a:gdLst/>
              <a:ahLst/>
              <a:cxnLst/>
              <a:rect r="r" b="b" t="t" l="l"/>
              <a:pathLst>
                <a:path h="745363" w="3276600">
                  <a:moveTo>
                    <a:pt x="0" y="89408"/>
                  </a:moveTo>
                  <a:cubicBezTo>
                    <a:pt x="0" y="40005"/>
                    <a:pt x="40005" y="0"/>
                    <a:pt x="89408" y="0"/>
                  </a:cubicBezTo>
                  <a:lnTo>
                    <a:pt x="3187192" y="0"/>
                  </a:lnTo>
                  <a:cubicBezTo>
                    <a:pt x="3236595" y="0"/>
                    <a:pt x="3276600" y="40005"/>
                    <a:pt x="3276600" y="89408"/>
                  </a:cubicBezTo>
                  <a:lnTo>
                    <a:pt x="3276600" y="655955"/>
                  </a:lnTo>
                  <a:cubicBezTo>
                    <a:pt x="3276600" y="705358"/>
                    <a:pt x="3236595" y="745363"/>
                    <a:pt x="3187192" y="745363"/>
                  </a:cubicBezTo>
                  <a:lnTo>
                    <a:pt x="89408" y="745363"/>
                  </a:lnTo>
                  <a:cubicBezTo>
                    <a:pt x="40005" y="745363"/>
                    <a:pt x="0" y="705358"/>
                    <a:pt x="0" y="655955"/>
                  </a:cubicBezTo>
                  <a:close/>
                </a:path>
              </a:pathLst>
            </a:custGeom>
            <a:blipFill>
              <a:blip r:embed="rId3">
                <a:alphaModFix amt="0"/>
              </a:blip>
              <a:stretch>
                <a:fillRect l="0" t="-35653" r="0" b="-35658"/>
              </a:stretch>
            </a:blipFill>
            <a:ln w="19050" cap="sq">
              <a:solidFill>
                <a:srgbClr val="1F1E1C"/>
              </a:solidFill>
              <a:prstDash val="solid"/>
              <a:miter/>
            </a:ln>
          </p:spPr>
        </p:sp>
        <p:sp>
          <p:nvSpPr>
            <p:cNvPr name="TextBox 74" id="74"/>
            <p:cNvSpPr txBox="true"/>
            <p:nvPr/>
          </p:nvSpPr>
          <p:spPr>
            <a:xfrm>
              <a:off x="0" y="-9525"/>
              <a:ext cx="3276600" cy="754926"/>
            </a:xfrm>
            <a:prstGeom prst="rect">
              <a:avLst/>
            </a:prstGeom>
          </p:spPr>
          <p:txBody>
            <a:bodyPr anchor="ctr" rtlCol="false" tIns="50800" lIns="50800" bIns="50800" rIns="50800"/>
            <a:lstStyle/>
            <a:p>
              <a:pPr algn="ctr">
                <a:lnSpc>
                  <a:spcPts val="2160"/>
                </a:lnSpc>
              </a:pPr>
              <a:r>
                <a:rPr lang="en-US" sz="1800">
                  <a:solidFill>
                    <a:srgbClr val="1F1E1C"/>
                  </a:solidFill>
                  <a:latin typeface="Archivo Narrow"/>
                  <a:ea typeface="Archivo Narrow"/>
                  <a:cs typeface="Archivo Narrow"/>
                  <a:sym typeface="Archivo Narrow"/>
                </a:rPr>
                <a:t>entrena</a:t>
              </a:r>
            </a:p>
          </p:txBody>
        </p:sp>
      </p:grpSp>
      <p:grpSp>
        <p:nvGrpSpPr>
          <p:cNvPr name="Group 75" id="75"/>
          <p:cNvGrpSpPr/>
          <p:nvPr/>
        </p:nvGrpSpPr>
        <p:grpSpPr>
          <a:xfrm rot="0">
            <a:off x="10544175" y="6170476"/>
            <a:ext cx="2457450" cy="559051"/>
            <a:chOff x="0" y="0"/>
            <a:chExt cx="3276600" cy="745401"/>
          </a:xfrm>
        </p:grpSpPr>
        <p:sp>
          <p:nvSpPr>
            <p:cNvPr name="Freeform 76" id="76"/>
            <p:cNvSpPr/>
            <p:nvPr/>
          </p:nvSpPr>
          <p:spPr>
            <a:xfrm flipH="false" flipV="false" rot="0">
              <a:off x="0" y="0"/>
              <a:ext cx="3276600" cy="745363"/>
            </a:xfrm>
            <a:custGeom>
              <a:avLst/>
              <a:gdLst/>
              <a:ahLst/>
              <a:cxnLst/>
              <a:rect r="r" b="b" t="t" l="l"/>
              <a:pathLst>
                <a:path h="745363" w="3276600">
                  <a:moveTo>
                    <a:pt x="0" y="89408"/>
                  </a:moveTo>
                  <a:cubicBezTo>
                    <a:pt x="0" y="40005"/>
                    <a:pt x="40005" y="0"/>
                    <a:pt x="89408" y="0"/>
                  </a:cubicBezTo>
                  <a:lnTo>
                    <a:pt x="3187192" y="0"/>
                  </a:lnTo>
                  <a:cubicBezTo>
                    <a:pt x="3236595" y="0"/>
                    <a:pt x="3276600" y="40005"/>
                    <a:pt x="3276600" y="89408"/>
                  </a:cubicBezTo>
                  <a:lnTo>
                    <a:pt x="3276600" y="655955"/>
                  </a:lnTo>
                  <a:cubicBezTo>
                    <a:pt x="3276600" y="705358"/>
                    <a:pt x="3236595" y="745363"/>
                    <a:pt x="3187192" y="745363"/>
                  </a:cubicBezTo>
                  <a:lnTo>
                    <a:pt x="89408" y="745363"/>
                  </a:lnTo>
                  <a:cubicBezTo>
                    <a:pt x="40005" y="745363"/>
                    <a:pt x="0" y="705358"/>
                    <a:pt x="0" y="655955"/>
                  </a:cubicBezTo>
                  <a:close/>
                </a:path>
              </a:pathLst>
            </a:custGeom>
            <a:solidFill>
              <a:srgbClr val="1F1E1C"/>
            </a:solidFill>
            <a:ln w="19050" cap="sq">
              <a:solidFill>
                <a:srgbClr val="1F1E1C"/>
              </a:solidFill>
              <a:prstDash val="solid"/>
              <a:miter/>
            </a:ln>
          </p:spPr>
        </p:sp>
        <p:sp>
          <p:nvSpPr>
            <p:cNvPr name="TextBox 77" id="77"/>
            <p:cNvSpPr txBox="true"/>
            <p:nvPr/>
          </p:nvSpPr>
          <p:spPr>
            <a:xfrm>
              <a:off x="0" y="-9525"/>
              <a:ext cx="3276600" cy="754926"/>
            </a:xfrm>
            <a:prstGeom prst="rect">
              <a:avLst/>
            </a:prstGeom>
          </p:spPr>
          <p:txBody>
            <a:bodyPr anchor="ctr" rtlCol="false" tIns="50800" lIns="50800" bIns="50800" rIns="50800"/>
            <a:lstStyle/>
            <a:p>
              <a:pPr algn="ctr">
                <a:lnSpc>
                  <a:spcPts val="2160"/>
                </a:lnSpc>
              </a:pPr>
              <a:r>
                <a:rPr lang="en-US" sz="1800" b="true">
                  <a:solidFill>
                    <a:srgbClr val="DCD3C3"/>
                  </a:solidFill>
                  <a:latin typeface="Archivo Narrow Bold"/>
                  <a:ea typeface="Archivo Narrow Bold"/>
                  <a:cs typeface="Archivo Narrow Bold"/>
                  <a:sym typeface="Archivo Narrow Bold"/>
                </a:rPr>
                <a:t>valida</a:t>
              </a:r>
            </a:p>
          </p:txBody>
        </p:sp>
      </p:grpSp>
      <p:grpSp>
        <p:nvGrpSpPr>
          <p:cNvPr name="Group 78" id="78"/>
          <p:cNvGrpSpPr/>
          <p:nvPr/>
        </p:nvGrpSpPr>
        <p:grpSpPr>
          <a:xfrm rot="0">
            <a:off x="13096875" y="6170476"/>
            <a:ext cx="2457450" cy="559051"/>
            <a:chOff x="0" y="0"/>
            <a:chExt cx="3276600" cy="745401"/>
          </a:xfrm>
        </p:grpSpPr>
        <p:sp>
          <p:nvSpPr>
            <p:cNvPr name="Freeform 79" id="79"/>
            <p:cNvSpPr/>
            <p:nvPr/>
          </p:nvSpPr>
          <p:spPr>
            <a:xfrm flipH="false" flipV="false" rot="0">
              <a:off x="0" y="0"/>
              <a:ext cx="3276600" cy="745363"/>
            </a:xfrm>
            <a:custGeom>
              <a:avLst/>
              <a:gdLst/>
              <a:ahLst/>
              <a:cxnLst/>
              <a:rect r="r" b="b" t="t" l="l"/>
              <a:pathLst>
                <a:path h="745363" w="3276600">
                  <a:moveTo>
                    <a:pt x="0" y="89408"/>
                  </a:moveTo>
                  <a:cubicBezTo>
                    <a:pt x="0" y="40005"/>
                    <a:pt x="40005" y="0"/>
                    <a:pt x="89408" y="0"/>
                  </a:cubicBezTo>
                  <a:lnTo>
                    <a:pt x="3187192" y="0"/>
                  </a:lnTo>
                  <a:cubicBezTo>
                    <a:pt x="3236595" y="0"/>
                    <a:pt x="3276600" y="40005"/>
                    <a:pt x="3276600" y="89408"/>
                  </a:cubicBezTo>
                  <a:lnTo>
                    <a:pt x="3276600" y="655955"/>
                  </a:lnTo>
                  <a:cubicBezTo>
                    <a:pt x="3276600" y="705358"/>
                    <a:pt x="3236595" y="745363"/>
                    <a:pt x="3187192" y="745363"/>
                  </a:cubicBezTo>
                  <a:lnTo>
                    <a:pt x="89408" y="745363"/>
                  </a:lnTo>
                  <a:cubicBezTo>
                    <a:pt x="40005" y="745363"/>
                    <a:pt x="0" y="705358"/>
                    <a:pt x="0" y="655955"/>
                  </a:cubicBezTo>
                  <a:close/>
                </a:path>
              </a:pathLst>
            </a:custGeom>
            <a:blipFill>
              <a:blip r:embed="rId3">
                <a:alphaModFix amt="0"/>
              </a:blip>
              <a:stretch>
                <a:fillRect l="0" t="-35653" r="0" b="-35658"/>
              </a:stretch>
            </a:blipFill>
            <a:ln w="19050" cap="sq">
              <a:solidFill>
                <a:srgbClr val="1F1E1C"/>
              </a:solidFill>
              <a:prstDash val="solid"/>
              <a:miter/>
            </a:ln>
          </p:spPr>
        </p:sp>
        <p:sp>
          <p:nvSpPr>
            <p:cNvPr name="TextBox 80" id="80"/>
            <p:cNvSpPr txBox="true"/>
            <p:nvPr/>
          </p:nvSpPr>
          <p:spPr>
            <a:xfrm>
              <a:off x="0" y="-9525"/>
              <a:ext cx="3276600" cy="754926"/>
            </a:xfrm>
            <a:prstGeom prst="rect">
              <a:avLst/>
            </a:prstGeom>
          </p:spPr>
          <p:txBody>
            <a:bodyPr anchor="ctr" rtlCol="false" tIns="50800" lIns="50800" bIns="50800" rIns="50800"/>
            <a:lstStyle/>
            <a:p>
              <a:pPr algn="ctr">
                <a:lnSpc>
                  <a:spcPts val="2160"/>
                </a:lnSpc>
              </a:pPr>
              <a:r>
                <a:rPr lang="en-US" sz="1800">
                  <a:solidFill>
                    <a:srgbClr val="1F1E1C"/>
                  </a:solidFill>
                  <a:latin typeface="Archivo Narrow"/>
                  <a:ea typeface="Archivo Narrow"/>
                  <a:cs typeface="Archivo Narrow"/>
                  <a:sym typeface="Archivo Narrow"/>
                </a:rPr>
                <a:t>entrena</a:t>
              </a:r>
            </a:p>
          </p:txBody>
        </p:sp>
      </p:grpSp>
      <p:grpSp>
        <p:nvGrpSpPr>
          <p:cNvPr name="Group 81" id="81"/>
          <p:cNvGrpSpPr/>
          <p:nvPr/>
        </p:nvGrpSpPr>
        <p:grpSpPr>
          <a:xfrm rot="0">
            <a:off x="15649575" y="6170476"/>
            <a:ext cx="1428750" cy="559051"/>
            <a:chOff x="0" y="0"/>
            <a:chExt cx="1905000" cy="745401"/>
          </a:xfrm>
        </p:grpSpPr>
        <p:sp>
          <p:nvSpPr>
            <p:cNvPr name="Freeform 82" id="82"/>
            <p:cNvSpPr/>
            <p:nvPr/>
          </p:nvSpPr>
          <p:spPr>
            <a:xfrm flipH="false" flipV="false" rot="0">
              <a:off x="0" y="0"/>
              <a:ext cx="1905000" cy="745363"/>
            </a:xfrm>
            <a:custGeom>
              <a:avLst/>
              <a:gdLst/>
              <a:ahLst/>
              <a:cxnLst/>
              <a:rect r="r" b="b" t="t" l="l"/>
              <a:pathLst>
                <a:path h="745363" w="1905000">
                  <a:moveTo>
                    <a:pt x="0" y="89408"/>
                  </a:moveTo>
                  <a:cubicBezTo>
                    <a:pt x="0" y="40005"/>
                    <a:pt x="40005" y="0"/>
                    <a:pt x="89408" y="0"/>
                  </a:cubicBezTo>
                  <a:lnTo>
                    <a:pt x="1815592" y="0"/>
                  </a:lnTo>
                  <a:cubicBezTo>
                    <a:pt x="1864995" y="0"/>
                    <a:pt x="1905000" y="40005"/>
                    <a:pt x="1905000" y="89408"/>
                  </a:cubicBezTo>
                  <a:lnTo>
                    <a:pt x="1905000" y="655955"/>
                  </a:lnTo>
                  <a:cubicBezTo>
                    <a:pt x="1905000" y="705358"/>
                    <a:pt x="1864995" y="745363"/>
                    <a:pt x="1815592" y="745363"/>
                  </a:cubicBezTo>
                  <a:lnTo>
                    <a:pt x="89408" y="745363"/>
                  </a:lnTo>
                  <a:cubicBezTo>
                    <a:pt x="40005" y="745363"/>
                    <a:pt x="0" y="705358"/>
                    <a:pt x="0" y="655955"/>
                  </a:cubicBezTo>
                  <a:close/>
                </a:path>
              </a:pathLst>
            </a:custGeom>
            <a:blipFill>
              <a:blip r:embed="rId3">
                <a:alphaModFix amt="0"/>
              </a:blip>
              <a:stretch>
                <a:fillRect l="-203" t="0" r="-203" b="-5"/>
              </a:stretch>
            </a:blipFill>
            <a:ln w="19050" cap="sq">
              <a:solidFill>
                <a:srgbClr val="8C8476"/>
              </a:solidFill>
              <a:prstDash val="dash"/>
              <a:miter/>
            </a:ln>
          </p:spPr>
        </p:sp>
        <p:sp>
          <p:nvSpPr>
            <p:cNvPr name="TextBox 83" id="83"/>
            <p:cNvSpPr txBox="true"/>
            <p:nvPr/>
          </p:nvSpPr>
          <p:spPr>
            <a:xfrm>
              <a:off x="0" y="-9525"/>
              <a:ext cx="1905000" cy="754926"/>
            </a:xfrm>
            <a:prstGeom prst="rect">
              <a:avLst/>
            </a:prstGeom>
          </p:spPr>
          <p:txBody>
            <a:bodyPr anchor="ctr" rtlCol="false" tIns="50800" lIns="50800" bIns="50800" rIns="50800"/>
            <a:lstStyle/>
            <a:p>
              <a:pPr algn="ctr">
                <a:lnSpc>
                  <a:spcPts val="2160"/>
                </a:lnSpc>
              </a:pPr>
              <a:r>
                <a:rPr lang="en-US" sz="1800">
                  <a:solidFill>
                    <a:srgbClr val="8C8476"/>
                  </a:solidFill>
                  <a:latin typeface="Archivo Narrow"/>
                  <a:ea typeface="Archivo Narrow"/>
                  <a:cs typeface="Archivo Narrow"/>
                  <a:sym typeface="Archivo Narrow"/>
                </a:rPr>
                <a:t>aparte</a:t>
              </a:r>
            </a:p>
          </p:txBody>
        </p:sp>
      </p:grpSp>
      <p:sp>
        <p:nvSpPr>
          <p:cNvPr name="TextBox 84" id="84"/>
          <p:cNvSpPr txBox="true"/>
          <p:nvPr/>
        </p:nvSpPr>
        <p:spPr>
          <a:xfrm rot="0">
            <a:off x="1219200" y="6891899"/>
            <a:ext cx="1676400" cy="449580"/>
          </a:xfrm>
          <a:prstGeom prst="rect">
            <a:avLst/>
          </a:prstGeom>
        </p:spPr>
        <p:txBody>
          <a:bodyPr anchor="t" rtlCol="false" tIns="0" lIns="0" bIns="0" rIns="0">
            <a:spAutoFit/>
          </a:bodyPr>
          <a:lstStyle/>
          <a:p>
            <a:pPr algn="l">
              <a:lnSpc>
                <a:spcPts val="2835"/>
              </a:lnSpc>
            </a:pPr>
            <a:r>
              <a:rPr lang="en-US" sz="2100">
                <a:solidFill>
                  <a:srgbClr val="4A453F"/>
                </a:solidFill>
                <a:latin typeface="Archivo Narrow"/>
                <a:ea typeface="Archivo Narrow"/>
                <a:cs typeface="Archivo Narrow"/>
                <a:sym typeface="Archivo Narrow"/>
              </a:rPr>
              <a:t>Ronda 5</a:t>
            </a:r>
          </a:p>
        </p:txBody>
      </p:sp>
      <p:grpSp>
        <p:nvGrpSpPr>
          <p:cNvPr name="Group 85" id="85"/>
          <p:cNvGrpSpPr/>
          <p:nvPr/>
        </p:nvGrpSpPr>
        <p:grpSpPr>
          <a:xfrm rot="0">
            <a:off x="2886075" y="6830473"/>
            <a:ext cx="2457450" cy="559051"/>
            <a:chOff x="0" y="0"/>
            <a:chExt cx="3276600" cy="745401"/>
          </a:xfrm>
        </p:grpSpPr>
        <p:sp>
          <p:nvSpPr>
            <p:cNvPr name="Freeform 86" id="86"/>
            <p:cNvSpPr/>
            <p:nvPr/>
          </p:nvSpPr>
          <p:spPr>
            <a:xfrm flipH="false" flipV="false" rot="0">
              <a:off x="0" y="0"/>
              <a:ext cx="3276600" cy="745363"/>
            </a:xfrm>
            <a:custGeom>
              <a:avLst/>
              <a:gdLst/>
              <a:ahLst/>
              <a:cxnLst/>
              <a:rect r="r" b="b" t="t" l="l"/>
              <a:pathLst>
                <a:path h="745363" w="3276600">
                  <a:moveTo>
                    <a:pt x="0" y="89408"/>
                  </a:moveTo>
                  <a:cubicBezTo>
                    <a:pt x="0" y="40005"/>
                    <a:pt x="40005" y="0"/>
                    <a:pt x="89408" y="0"/>
                  </a:cubicBezTo>
                  <a:lnTo>
                    <a:pt x="3187192" y="0"/>
                  </a:lnTo>
                  <a:cubicBezTo>
                    <a:pt x="3236595" y="0"/>
                    <a:pt x="3276600" y="40005"/>
                    <a:pt x="3276600" y="89408"/>
                  </a:cubicBezTo>
                  <a:lnTo>
                    <a:pt x="3276600" y="655955"/>
                  </a:lnTo>
                  <a:cubicBezTo>
                    <a:pt x="3276600" y="705358"/>
                    <a:pt x="3236595" y="745363"/>
                    <a:pt x="3187192" y="745363"/>
                  </a:cubicBezTo>
                  <a:lnTo>
                    <a:pt x="89408" y="745363"/>
                  </a:lnTo>
                  <a:cubicBezTo>
                    <a:pt x="40005" y="745363"/>
                    <a:pt x="0" y="705358"/>
                    <a:pt x="0" y="655955"/>
                  </a:cubicBezTo>
                  <a:close/>
                </a:path>
              </a:pathLst>
            </a:custGeom>
            <a:blipFill>
              <a:blip r:embed="rId3">
                <a:alphaModFix amt="0"/>
              </a:blip>
              <a:stretch>
                <a:fillRect l="0" t="-35653" r="0" b="-35658"/>
              </a:stretch>
            </a:blipFill>
            <a:ln w="19050" cap="sq">
              <a:solidFill>
                <a:srgbClr val="1F1E1C"/>
              </a:solidFill>
              <a:prstDash val="solid"/>
              <a:miter/>
            </a:ln>
          </p:spPr>
        </p:sp>
        <p:sp>
          <p:nvSpPr>
            <p:cNvPr name="TextBox 87" id="87"/>
            <p:cNvSpPr txBox="true"/>
            <p:nvPr/>
          </p:nvSpPr>
          <p:spPr>
            <a:xfrm>
              <a:off x="0" y="-9525"/>
              <a:ext cx="3276600" cy="754926"/>
            </a:xfrm>
            <a:prstGeom prst="rect">
              <a:avLst/>
            </a:prstGeom>
          </p:spPr>
          <p:txBody>
            <a:bodyPr anchor="ctr" rtlCol="false" tIns="50800" lIns="50800" bIns="50800" rIns="50800"/>
            <a:lstStyle/>
            <a:p>
              <a:pPr algn="ctr">
                <a:lnSpc>
                  <a:spcPts val="2160"/>
                </a:lnSpc>
              </a:pPr>
              <a:r>
                <a:rPr lang="en-US" sz="1800">
                  <a:solidFill>
                    <a:srgbClr val="1F1E1C"/>
                  </a:solidFill>
                  <a:latin typeface="Archivo Narrow"/>
                  <a:ea typeface="Archivo Narrow"/>
                  <a:cs typeface="Archivo Narrow"/>
                  <a:sym typeface="Archivo Narrow"/>
                </a:rPr>
                <a:t>entrena</a:t>
              </a:r>
            </a:p>
          </p:txBody>
        </p:sp>
      </p:grpSp>
      <p:grpSp>
        <p:nvGrpSpPr>
          <p:cNvPr name="Group 88" id="88"/>
          <p:cNvGrpSpPr/>
          <p:nvPr/>
        </p:nvGrpSpPr>
        <p:grpSpPr>
          <a:xfrm rot="0">
            <a:off x="5438775" y="6830473"/>
            <a:ext cx="2457450" cy="559051"/>
            <a:chOff x="0" y="0"/>
            <a:chExt cx="3276600" cy="745401"/>
          </a:xfrm>
        </p:grpSpPr>
        <p:sp>
          <p:nvSpPr>
            <p:cNvPr name="Freeform 89" id="89"/>
            <p:cNvSpPr/>
            <p:nvPr/>
          </p:nvSpPr>
          <p:spPr>
            <a:xfrm flipH="false" flipV="false" rot="0">
              <a:off x="0" y="0"/>
              <a:ext cx="3276600" cy="745363"/>
            </a:xfrm>
            <a:custGeom>
              <a:avLst/>
              <a:gdLst/>
              <a:ahLst/>
              <a:cxnLst/>
              <a:rect r="r" b="b" t="t" l="l"/>
              <a:pathLst>
                <a:path h="745363" w="3276600">
                  <a:moveTo>
                    <a:pt x="0" y="89408"/>
                  </a:moveTo>
                  <a:cubicBezTo>
                    <a:pt x="0" y="40005"/>
                    <a:pt x="40005" y="0"/>
                    <a:pt x="89408" y="0"/>
                  </a:cubicBezTo>
                  <a:lnTo>
                    <a:pt x="3187192" y="0"/>
                  </a:lnTo>
                  <a:cubicBezTo>
                    <a:pt x="3236595" y="0"/>
                    <a:pt x="3276600" y="40005"/>
                    <a:pt x="3276600" y="89408"/>
                  </a:cubicBezTo>
                  <a:lnTo>
                    <a:pt x="3276600" y="655955"/>
                  </a:lnTo>
                  <a:cubicBezTo>
                    <a:pt x="3276600" y="705358"/>
                    <a:pt x="3236595" y="745363"/>
                    <a:pt x="3187192" y="745363"/>
                  </a:cubicBezTo>
                  <a:lnTo>
                    <a:pt x="89408" y="745363"/>
                  </a:lnTo>
                  <a:cubicBezTo>
                    <a:pt x="40005" y="745363"/>
                    <a:pt x="0" y="705358"/>
                    <a:pt x="0" y="655955"/>
                  </a:cubicBezTo>
                  <a:close/>
                </a:path>
              </a:pathLst>
            </a:custGeom>
            <a:blipFill>
              <a:blip r:embed="rId3">
                <a:alphaModFix amt="0"/>
              </a:blip>
              <a:stretch>
                <a:fillRect l="0" t="-35653" r="0" b="-35658"/>
              </a:stretch>
            </a:blipFill>
            <a:ln w="19050" cap="sq">
              <a:solidFill>
                <a:srgbClr val="1F1E1C"/>
              </a:solidFill>
              <a:prstDash val="solid"/>
              <a:miter/>
            </a:ln>
          </p:spPr>
        </p:sp>
        <p:sp>
          <p:nvSpPr>
            <p:cNvPr name="TextBox 90" id="90"/>
            <p:cNvSpPr txBox="true"/>
            <p:nvPr/>
          </p:nvSpPr>
          <p:spPr>
            <a:xfrm>
              <a:off x="0" y="-9525"/>
              <a:ext cx="3276600" cy="754926"/>
            </a:xfrm>
            <a:prstGeom prst="rect">
              <a:avLst/>
            </a:prstGeom>
          </p:spPr>
          <p:txBody>
            <a:bodyPr anchor="ctr" rtlCol="false" tIns="50800" lIns="50800" bIns="50800" rIns="50800"/>
            <a:lstStyle/>
            <a:p>
              <a:pPr algn="ctr">
                <a:lnSpc>
                  <a:spcPts val="2160"/>
                </a:lnSpc>
              </a:pPr>
              <a:r>
                <a:rPr lang="en-US" sz="1800">
                  <a:solidFill>
                    <a:srgbClr val="1F1E1C"/>
                  </a:solidFill>
                  <a:latin typeface="Archivo Narrow"/>
                  <a:ea typeface="Archivo Narrow"/>
                  <a:cs typeface="Archivo Narrow"/>
                  <a:sym typeface="Archivo Narrow"/>
                </a:rPr>
                <a:t>entrena</a:t>
              </a:r>
            </a:p>
          </p:txBody>
        </p:sp>
      </p:grpSp>
      <p:grpSp>
        <p:nvGrpSpPr>
          <p:cNvPr name="Group 91" id="91"/>
          <p:cNvGrpSpPr/>
          <p:nvPr/>
        </p:nvGrpSpPr>
        <p:grpSpPr>
          <a:xfrm rot="0">
            <a:off x="7991475" y="6830473"/>
            <a:ext cx="2457450" cy="559051"/>
            <a:chOff x="0" y="0"/>
            <a:chExt cx="3276600" cy="745401"/>
          </a:xfrm>
        </p:grpSpPr>
        <p:sp>
          <p:nvSpPr>
            <p:cNvPr name="Freeform 92" id="92"/>
            <p:cNvSpPr/>
            <p:nvPr/>
          </p:nvSpPr>
          <p:spPr>
            <a:xfrm flipH="false" flipV="false" rot="0">
              <a:off x="0" y="0"/>
              <a:ext cx="3276600" cy="745363"/>
            </a:xfrm>
            <a:custGeom>
              <a:avLst/>
              <a:gdLst/>
              <a:ahLst/>
              <a:cxnLst/>
              <a:rect r="r" b="b" t="t" l="l"/>
              <a:pathLst>
                <a:path h="745363" w="3276600">
                  <a:moveTo>
                    <a:pt x="0" y="89408"/>
                  </a:moveTo>
                  <a:cubicBezTo>
                    <a:pt x="0" y="40005"/>
                    <a:pt x="40005" y="0"/>
                    <a:pt x="89408" y="0"/>
                  </a:cubicBezTo>
                  <a:lnTo>
                    <a:pt x="3187192" y="0"/>
                  </a:lnTo>
                  <a:cubicBezTo>
                    <a:pt x="3236595" y="0"/>
                    <a:pt x="3276600" y="40005"/>
                    <a:pt x="3276600" y="89408"/>
                  </a:cubicBezTo>
                  <a:lnTo>
                    <a:pt x="3276600" y="655955"/>
                  </a:lnTo>
                  <a:cubicBezTo>
                    <a:pt x="3276600" y="705358"/>
                    <a:pt x="3236595" y="745363"/>
                    <a:pt x="3187192" y="745363"/>
                  </a:cubicBezTo>
                  <a:lnTo>
                    <a:pt x="89408" y="745363"/>
                  </a:lnTo>
                  <a:cubicBezTo>
                    <a:pt x="40005" y="745363"/>
                    <a:pt x="0" y="705358"/>
                    <a:pt x="0" y="655955"/>
                  </a:cubicBezTo>
                  <a:close/>
                </a:path>
              </a:pathLst>
            </a:custGeom>
            <a:blipFill>
              <a:blip r:embed="rId3">
                <a:alphaModFix amt="0"/>
              </a:blip>
              <a:stretch>
                <a:fillRect l="0" t="-35653" r="0" b="-35658"/>
              </a:stretch>
            </a:blipFill>
            <a:ln w="19050" cap="sq">
              <a:solidFill>
                <a:srgbClr val="1F1E1C"/>
              </a:solidFill>
              <a:prstDash val="solid"/>
              <a:miter/>
            </a:ln>
          </p:spPr>
        </p:sp>
        <p:sp>
          <p:nvSpPr>
            <p:cNvPr name="TextBox 93" id="93"/>
            <p:cNvSpPr txBox="true"/>
            <p:nvPr/>
          </p:nvSpPr>
          <p:spPr>
            <a:xfrm>
              <a:off x="0" y="-9525"/>
              <a:ext cx="3276600" cy="754926"/>
            </a:xfrm>
            <a:prstGeom prst="rect">
              <a:avLst/>
            </a:prstGeom>
          </p:spPr>
          <p:txBody>
            <a:bodyPr anchor="ctr" rtlCol="false" tIns="50800" lIns="50800" bIns="50800" rIns="50800"/>
            <a:lstStyle/>
            <a:p>
              <a:pPr algn="ctr">
                <a:lnSpc>
                  <a:spcPts val="2160"/>
                </a:lnSpc>
              </a:pPr>
              <a:r>
                <a:rPr lang="en-US" sz="1800">
                  <a:solidFill>
                    <a:srgbClr val="1F1E1C"/>
                  </a:solidFill>
                  <a:latin typeface="Archivo Narrow"/>
                  <a:ea typeface="Archivo Narrow"/>
                  <a:cs typeface="Archivo Narrow"/>
                  <a:sym typeface="Archivo Narrow"/>
                </a:rPr>
                <a:t>entrena</a:t>
              </a:r>
            </a:p>
          </p:txBody>
        </p:sp>
      </p:grpSp>
      <p:grpSp>
        <p:nvGrpSpPr>
          <p:cNvPr name="Group 94" id="94"/>
          <p:cNvGrpSpPr/>
          <p:nvPr/>
        </p:nvGrpSpPr>
        <p:grpSpPr>
          <a:xfrm rot="0">
            <a:off x="10544175" y="6830473"/>
            <a:ext cx="2457450" cy="559051"/>
            <a:chOff x="0" y="0"/>
            <a:chExt cx="3276600" cy="745401"/>
          </a:xfrm>
        </p:grpSpPr>
        <p:sp>
          <p:nvSpPr>
            <p:cNvPr name="Freeform 95" id="95"/>
            <p:cNvSpPr/>
            <p:nvPr/>
          </p:nvSpPr>
          <p:spPr>
            <a:xfrm flipH="false" flipV="false" rot="0">
              <a:off x="0" y="0"/>
              <a:ext cx="3276600" cy="745363"/>
            </a:xfrm>
            <a:custGeom>
              <a:avLst/>
              <a:gdLst/>
              <a:ahLst/>
              <a:cxnLst/>
              <a:rect r="r" b="b" t="t" l="l"/>
              <a:pathLst>
                <a:path h="745363" w="3276600">
                  <a:moveTo>
                    <a:pt x="0" y="89408"/>
                  </a:moveTo>
                  <a:cubicBezTo>
                    <a:pt x="0" y="40005"/>
                    <a:pt x="40005" y="0"/>
                    <a:pt x="89408" y="0"/>
                  </a:cubicBezTo>
                  <a:lnTo>
                    <a:pt x="3187192" y="0"/>
                  </a:lnTo>
                  <a:cubicBezTo>
                    <a:pt x="3236595" y="0"/>
                    <a:pt x="3276600" y="40005"/>
                    <a:pt x="3276600" y="89408"/>
                  </a:cubicBezTo>
                  <a:lnTo>
                    <a:pt x="3276600" y="655955"/>
                  </a:lnTo>
                  <a:cubicBezTo>
                    <a:pt x="3276600" y="705358"/>
                    <a:pt x="3236595" y="745363"/>
                    <a:pt x="3187192" y="745363"/>
                  </a:cubicBezTo>
                  <a:lnTo>
                    <a:pt x="89408" y="745363"/>
                  </a:lnTo>
                  <a:cubicBezTo>
                    <a:pt x="40005" y="745363"/>
                    <a:pt x="0" y="705358"/>
                    <a:pt x="0" y="655955"/>
                  </a:cubicBezTo>
                  <a:close/>
                </a:path>
              </a:pathLst>
            </a:custGeom>
            <a:blipFill>
              <a:blip r:embed="rId3">
                <a:alphaModFix amt="0"/>
              </a:blip>
              <a:stretch>
                <a:fillRect l="0" t="-35653" r="0" b="-35658"/>
              </a:stretch>
            </a:blipFill>
            <a:ln w="19050" cap="sq">
              <a:solidFill>
                <a:srgbClr val="1F1E1C"/>
              </a:solidFill>
              <a:prstDash val="solid"/>
              <a:miter/>
            </a:ln>
          </p:spPr>
        </p:sp>
        <p:sp>
          <p:nvSpPr>
            <p:cNvPr name="TextBox 96" id="96"/>
            <p:cNvSpPr txBox="true"/>
            <p:nvPr/>
          </p:nvSpPr>
          <p:spPr>
            <a:xfrm>
              <a:off x="0" y="-9525"/>
              <a:ext cx="3276600" cy="754926"/>
            </a:xfrm>
            <a:prstGeom prst="rect">
              <a:avLst/>
            </a:prstGeom>
          </p:spPr>
          <p:txBody>
            <a:bodyPr anchor="ctr" rtlCol="false" tIns="50800" lIns="50800" bIns="50800" rIns="50800"/>
            <a:lstStyle/>
            <a:p>
              <a:pPr algn="ctr">
                <a:lnSpc>
                  <a:spcPts val="2160"/>
                </a:lnSpc>
              </a:pPr>
              <a:r>
                <a:rPr lang="en-US" sz="1800">
                  <a:solidFill>
                    <a:srgbClr val="1F1E1C"/>
                  </a:solidFill>
                  <a:latin typeface="Archivo Narrow"/>
                  <a:ea typeface="Archivo Narrow"/>
                  <a:cs typeface="Archivo Narrow"/>
                  <a:sym typeface="Archivo Narrow"/>
                </a:rPr>
                <a:t>entrena</a:t>
              </a:r>
            </a:p>
          </p:txBody>
        </p:sp>
      </p:grpSp>
      <p:grpSp>
        <p:nvGrpSpPr>
          <p:cNvPr name="Group 97" id="97"/>
          <p:cNvGrpSpPr/>
          <p:nvPr/>
        </p:nvGrpSpPr>
        <p:grpSpPr>
          <a:xfrm rot="0">
            <a:off x="13096875" y="6830473"/>
            <a:ext cx="2457450" cy="559051"/>
            <a:chOff x="0" y="0"/>
            <a:chExt cx="3276600" cy="745401"/>
          </a:xfrm>
        </p:grpSpPr>
        <p:sp>
          <p:nvSpPr>
            <p:cNvPr name="Freeform 98" id="98"/>
            <p:cNvSpPr/>
            <p:nvPr/>
          </p:nvSpPr>
          <p:spPr>
            <a:xfrm flipH="false" flipV="false" rot="0">
              <a:off x="0" y="0"/>
              <a:ext cx="3276600" cy="745363"/>
            </a:xfrm>
            <a:custGeom>
              <a:avLst/>
              <a:gdLst/>
              <a:ahLst/>
              <a:cxnLst/>
              <a:rect r="r" b="b" t="t" l="l"/>
              <a:pathLst>
                <a:path h="745363" w="3276600">
                  <a:moveTo>
                    <a:pt x="0" y="89408"/>
                  </a:moveTo>
                  <a:cubicBezTo>
                    <a:pt x="0" y="40005"/>
                    <a:pt x="40005" y="0"/>
                    <a:pt x="89408" y="0"/>
                  </a:cubicBezTo>
                  <a:lnTo>
                    <a:pt x="3187192" y="0"/>
                  </a:lnTo>
                  <a:cubicBezTo>
                    <a:pt x="3236595" y="0"/>
                    <a:pt x="3276600" y="40005"/>
                    <a:pt x="3276600" y="89408"/>
                  </a:cubicBezTo>
                  <a:lnTo>
                    <a:pt x="3276600" y="655955"/>
                  </a:lnTo>
                  <a:cubicBezTo>
                    <a:pt x="3276600" y="705358"/>
                    <a:pt x="3236595" y="745363"/>
                    <a:pt x="3187192" y="745363"/>
                  </a:cubicBezTo>
                  <a:lnTo>
                    <a:pt x="89408" y="745363"/>
                  </a:lnTo>
                  <a:cubicBezTo>
                    <a:pt x="40005" y="745363"/>
                    <a:pt x="0" y="705358"/>
                    <a:pt x="0" y="655955"/>
                  </a:cubicBezTo>
                  <a:close/>
                </a:path>
              </a:pathLst>
            </a:custGeom>
            <a:solidFill>
              <a:srgbClr val="1F1E1C"/>
            </a:solidFill>
            <a:ln w="19050" cap="sq">
              <a:solidFill>
                <a:srgbClr val="1F1E1C"/>
              </a:solidFill>
              <a:prstDash val="solid"/>
              <a:miter/>
            </a:ln>
          </p:spPr>
        </p:sp>
        <p:sp>
          <p:nvSpPr>
            <p:cNvPr name="TextBox 99" id="99"/>
            <p:cNvSpPr txBox="true"/>
            <p:nvPr/>
          </p:nvSpPr>
          <p:spPr>
            <a:xfrm>
              <a:off x="0" y="-9525"/>
              <a:ext cx="3276600" cy="754926"/>
            </a:xfrm>
            <a:prstGeom prst="rect">
              <a:avLst/>
            </a:prstGeom>
          </p:spPr>
          <p:txBody>
            <a:bodyPr anchor="ctr" rtlCol="false" tIns="50800" lIns="50800" bIns="50800" rIns="50800"/>
            <a:lstStyle/>
            <a:p>
              <a:pPr algn="ctr">
                <a:lnSpc>
                  <a:spcPts val="2160"/>
                </a:lnSpc>
              </a:pPr>
              <a:r>
                <a:rPr lang="en-US" sz="1800" b="true">
                  <a:solidFill>
                    <a:srgbClr val="DCD3C3"/>
                  </a:solidFill>
                  <a:latin typeface="Archivo Narrow Bold"/>
                  <a:ea typeface="Archivo Narrow Bold"/>
                  <a:cs typeface="Archivo Narrow Bold"/>
                  <a:sym typeface="Archivo Narrow Bold"/>
                </a:rPr>
                <a:t>valida</a:t>
              </a:r>
            </a:p>
          </p:txBody>
        </p:sp>
      </p:grpSp>
      <p:grpSp>
        <p:nvGrpSpPr>
          <p:cNvPr name="Group 100" id="100"/>
          <p:cNvGrpSpPr/>
          <p:nvPr/>
        </p:nvGrpSpPr>
        <p:grpSpPr>
          <a:xfrm rot="0">
            <a:off x="15649575" y="6830473"/>
            <a:ext cx="1428750" cy="559051"/>
            <a:chOff x="0" y="0"/>
            <a:chExt cx="1905000" cy="745401"/>
          </a:xfrm>
        </p:grpSpPr>
        <p:sp>
          <p:nvSpPr>
            <p:cNvPr name="Freeform 101" id="101"/>
            <p:cNvSpPr/>
            <p:nvPr/>
          </p:nvSpPr>
          <p:spPr>
            <a:xfrm flipH="false" flipV="false" rot="0">
              <a:off x="0" y="0"/>
              <a:ext cx="1905000" cy="745363"/>
            </a:xfrm>
            <a:custGeom>
              <a:avLst/>
              <a:gdLst/>
              <a:ahLst/>
              <a:cxnLst/>
              <a:rect r="r" b="b" t="t" l="l"/>
              <a:pathLst>
                <a:path h="745363" w="1905000">
                  <a:moveTo>
                    <a:pt x="0" y="89408"/>
                  </a:moveTo>
                  <a:cubicBezTo>
                    <a:pt x="0" y="40005"/>
                    <a:pt x="40005" y="0"/>
                    <a:pt x="89408" y="0"/>
                  </a:cubicBezTo>
                  <a:lnTo>
                    <a:pt x="1815592" y="0"/>
                  </a:lnTo>
                  <a:cubicBezTo>
                    <a:pt x="1864995" y="0"/>
                    <a:pt x="1905000" y="40005"/>
                    <a:pt x="1905000" y="89408"/>
                  </a:cubicBezTo>
                  <a:lnTo>
                    <a:pt x="1905000" y="655955"/>
                  </a:lnTo>
                  <a:cubicBezTo>
                    <a:pt x="1905000" y="705358"/>
                    <a:pt x="1864995" y="745363"/>
                    <a:pt x="1815592" y="745363"/>
                  </a:cubicBezTo>
                  <a:lnTo>
                    <a:pt x="89408" y="745363"/>
                  </a:lnTo>
                  <a:cubicBezTo>
                    <a:pt x="40005" y="745363"/>
                    <a:pt x="0" y="705358"/>
                    <a:pt x="0" y="655955"/>
                  </a:cubicBezTo>
                  <a:close/>
                </a:path>
              </a:pathLst>
            </a:custGeom>
            <a:blipFill>
              <a:blip r:embed="rId3">
                <a:alphaModFix amt="0"/>
              </a:blip>
              <a:stretch>
                <a:fillRect l="-203" t="0" r="-203" b="-5"/>
              </a:stretch>
            </a:blipFill>
            <a:ln w="19050" cap="sq">
              <a:solidFill>
                <a:srgbClr val="8C8476"/>
              </a:solidFill>
              <a:prstDash val="dash"/>
              <a:miter/>
            </a:ln>
          </p:spPr>
        </p:sp>
        <p:sp>
          <p:nvSpPr>
            <p:cNvPr name="TextBox 102" id="102"/>
            <p:cNvSpPr txBox="true"/>
            <p:nvPr/>
          </p:nvSpPr>
          <p:spPr>
            <a:xfrm>
              <a:off x="0" y="-9525"/>
              <a:ext cx="1905000" cy="754926"/>
            </a:xfrm>
            <a:prstGeom prst="rect">
              <a:avLst/>
            </a:prstGeom>
          </p:spPr>
          <p:txBody>
            <a:bodyPr anchor="ctr" rtlCol="false" tIns="50800" lIns="50800" bIns="50800" rIns="50800"/>
            <a:lstStyle/>
            <a:p>
              <a:pPr algn="ctr">
                <a:lnSpc>
                  <a:spcPts val="2160"/>
                </a:lnSpc>
              </a:pPr>
              <a:r>
                <a:rPr lang="en-US" sz="1800">
                  <a:solidFill>
                    <a:srgbClr val="8C8476"/>
                  </a:solidFill>
                  <a:latin typeface="Archivo Narrow"/>
                  <a:ea typeface="Archivo Narrow"/>
                  <a:cs typeface="Archivo Narrow"/>
                  <a:sym typeface="Archivo Narrow"/>
                </a:rPr>
                <a:t>aparte</a:t>
              </a:r>
            </a:p>
          </p:txBody>
        </p:sp>
      </p:grpSp>
      <p:sp>
        <p:nvSpPr>
          <p:cNvPr name="AutoShape 103" id="103"/>
          <p:cNvSpPr/>
          <p:nvPr/>
        </p:nvSpPr>
        <p:spPr>
          <a:xfrm rot="2040">
            <a:off x="1214438" y="7705239"/>
            <a:ext cx="15859125" cy="0"/>
          </a:xfrm>
          <a:prstGeom prst="line">
            <a:avLst/>
          </a:prstGeom>
          <a:ln cap="rnd" w="9525">
            <a:solidFill>
              <a:srgbClr val="8C8476"/>
            </a:solidFill>
            <a:prstDash val="solid"/>
            <a:headEnd type="none" len="sm" w="sm"/>
            <a:tailEnd type="none" len="sm" w="sm"/>
          </a:ln>
        </p:spPr>
      </p:sp>
      <p:sp>
        <p:nvSpPr>
          <p:cNvPr name="TextBox 104" id="104"/>
          <p:cNvSpPr txBox="true"/>
          <p:nvPr/>
        </p:nvSpPr>
        <p:spPr>
          <a:xfrm rot="0">
            <a:off x="1219200" y="7902378"/>
            <a:ext cx="4978403" cy="405765"/>
          </a:xfrm>
          <a:prstGeom prst="rect">
            <a:avLst/>
          </a:prstGeom>
        </p:spPr>
        <p:txBody>
          <a:bodyPr anchor="t" rtlCol="false" tIns="0" lIns="0" bIns="0" rIns="0">
            <a:spAutoFit/>
          </a:bodyPr>
          <a:lstStyle/>
          <a:p>
            <a:pPr algn="l">
              <a:lnSpc>
                <a:spcPts val="2520"/>
              </a:lnSpc>
            </a:pPr>
            <a:r>
              <a:rPr lang="en-US" b="true" sz="1800" spc="149">
                <a:solidFill>
                  <a:srgbClr val="1F1E1C"/>
                </a:solidFill>
                <a:latin typeface="Archivo Narrow Bold"/>
                <a:ea typeface="Archivo Narrow Bold"/>
                <a:cs typeface="Archivo Narrow Bold"/>
                <a:sym typeface="Archivo Narrow Bold"/>
              </a:rPr>
              <a:t>5 NOTAS → 1 PROMEDIO</a:t>
            </a:r>
          </a:p>
        </p:txBody>
      </p:sp>
      <p:sp>
        <p:nvSpPr>
          <p:cNvPr name="TextBox 105" id="105"/>
          <p:cNvSpPr txBox="true"/>
          <p:nvPr/>
        </p:nvSpPr>
        <p:spPr>
          <a:xfrm rot="0">
            <a:off x="1219200" y="8271901"/>
            <a:ext cx="4978403" cy="1058104"/>
          </a:xfrm>
          <a:prstGeom prst="rect">
            <a:avLst/>
          </a:prstGeom>
        </p:spPr>
        <p:txBody>
          <a:bodyPr anchor="t" rtlCol="false" tIns="0" lIns="0" bIns="0" rIns="0">
            <a:spAutoFit/>
          </a:bodyPr>
          <a:lstStyle/>
          <a:p>
            <a:pPr algn="l">
              <a:lnSpc>
                <a:spcPts val="2835"/>
              </a:lnSpc>
            </a:pPr>
            <a:r>
              <a:rPr lang="en-US" sz="2100">
                <a:solidFill>
                  <a:srgbClr val="4A453F"/>
                </a:solidFill>
                <a:latin typeface="Archivo Narrow"/>
                <a:ea typeface="Archivo Narrow"/>
                <a:cs typeface="Archivo Narrow"/>
                <a:sym typeface="Archivo Narrow"/>
              </a:rPr>
              <a:t>El resultado no depende de la suerte de un solo corte.</a:t>
            </a:r>
          </a:p>
        </p:txBody>
      </p:sp>
      <p:sp>
        <p:nvSpPr>
          <p:cNvPr name="TextBox 106" id="106"/>
          <p:cNvSpPr txBox="true"/>
          <p:nvPr/>
        </p:nvSpPr>
        <p:spPr>
          <a:xfrm rot="0">
            <a:off x="6654803" y="7902378"/>
            <a:ext cx="4978403" cy="405765"/>
          </a:xfrm>
          <a:prstGeom prst="rect">
            <a:avLst/>
          </a:prstGeom>
        </p:spPr>
        <p:txBody>
          <a:bodyPr anchor="t" rtlCol="false" tIns="0" lIns="0" bIns="0" rIns="0">
            <a:spAutoFit/>
          </a:bodyPr>
          <a:lstStyle/>
          <a:p>
            <a:pPr algn="l">
              <a:lnSpc>
                <a:spcPts val="2520"/>
              </a:lnSpc>
            </a:pPr>
            <a:r>
              <a:rPr lang="en-US" b="true" sz="1800" spc="149">
                <a:solidFill>
                  <a:srgbClr val="1F1E1C"/>
                </a:solidFill>
                <a:latin typeface="Archivo Narrow Bold"/>
                <a:ea typeface="Archivo Narrow Bold"/>
                <a:cs typeface="Archivo Narrow Bold"/>
                <a:sym typeface="Archivo Narrow Bold"/>
              </a:rPr>
              <a:t>CADA CASA VALIDA UNA VEZ</a:t>
            </a:r>
          </a:p>
        </p:txBody>
      </p:sp>
      <p:sp>
        <p:nvSpPr>
          <p:cNvPr name="TextBox 107" id="107"/>
          <p:cNvSpPr txBox="true"/>
          <p:nvPr/>
        </p:nvSpPr>
        <p:spPr>
          <a:xfrm rot="0">
            <a:off x="6654803" y="8271901"/>
            <a:ext cx="4978403" cy="1058104"/>
          </a:xfrm>
          <a:prstGeom prst="rect">
            <a:avLst/>
          </a:prstGeom>
        </p:spPr>
        <p:txBody>
          <a:bodyPr anchor="t" rtlCol="false" tIns="0" lIns="0" bIns="0" rIns="0">
            <a:spAutoFit/>
          </a:bodyPr>
          <a:lstStyle/>
          <a:p>
            <a:pPr algn="l">
              <a:lnSpc>
                <a:spcPts val="2835"/>
              </a:lnSpc>
            </a:pPr>
            <a:r>
              <a:rPr lang="en-US" sz="2100">
                <a:solidFill>
                  <a:srgbClr val="4A453F"/>
                </a:solidFill>
                <a:latin typeface="Archivo Narrow"/>
                <a:ea typeface="Archivo Narrow"/>
                <a:cs typeface="Archivo Narrow"/>
                <a:sym typeface="Archivo Narrow"/>
              </a:rPr>
              <a:t>Ningún modelo se mide con casas con las que aprendió.</a:t>
            </a:r>
          </a:p>
        </p:txBody>
      </p:sp>
      <p:sp>
        <p:nvSpPr>
          <p:cNvPr name="TextBox 108" id="108"/>
          <p:cNvSpPr txBox="true"/>
          <p:nvPr/>
        </p:nvSpPr>
        <p:spPr>
          <a:xfrm rot="0">
            <a:off x="12090397" y="7902378"/>
            <a:ext cx="4978403" cy="405765"/>
          </a:xfrm>
          <a:prstGeom prst="rect">
            <a:avLst/>
          </a:prstGeom>
        </p:spPr>
        <p:txBody>
          <a:bodyPr anchor="t" rtlCol="false" tIns="0" lIns="0" bIns="0" rIns="0">
            <a:spAutoFit/>
          </a:bodyPr>
          <a:lstStyle/>
          <a:p>
            <a:pPr algn="l">
              <a:lnSpc>
                <a:spcPts val="2520"/>
              </a:lnSpc>
            </a:pPr>
            <a:r>
              <a:rPr lang="en-US" b="true" sz="1800" spc="149">
                <a:solidFill>
                  <a:srgbClr val="1F1E1C"/>
                </a:solidFill>
                <a:latin typeface="Archivo Narrow Bold"/>
                <a:ea typeface="Archivo Narrow Bold"/>
                <a:cs typeface="Archivo Narrow Bold"/>
                <a:sym typeface="Archivo Narrow Bold"/>
              </a:rPr>
              <a:t>SIN FUGA DE DATOS</a:t>
            </a:r>
          </a:p>
        </p:txBody>
      </p:sp>
      <p:sp>
        <p:nvSpPr>
          <p:cNvPr name="TextBox 109" id="109"/>
          <p:cNvSpPr txBox="true"/>
          <p:nvPr/>
        </p:nvSpPr>
        <p:spPr>
          <a:xfrm rot="0">
            <a:off x="12090397" y="8271901"/>
            <a:ext cx="4978403" cy="1058104"/>
          </a:xfrm>
          <a:prstGeom prst="rect">
            <a:avLst/>
          </a:prstGeom>
        </p:spPr>
        <p:txBody>
          <a:bodyPr anchor="t" rtlCol="false" tIns="0" lIns="0" bIns="0" rIns="0">
            <a:spAutoFit/>
          </a:bodyPr>
          <a:lstStyle/>
          <a:p>
            <a:pPr algn="l">
              <a:lnSpc>
                <a:spcPts val="2835"/>
              </a:lnSpc>
            </a:pPr>
            <a:r>
              <a:rPr lang="en-US" sz="2100">
                <a:solidFill>
                  <a:srgbClr val="4A453F"/>
                </a:solidFill>
                <a:latin typeface="Archivo Narrow"/>
                <a:ea typeface="Archivo Narrow"/>
                <a:cs typeface="Archivo Narrow"/>
                <a:sym typeface="Archivo Narrow"/>
              </a:rPr>
              <a:t>Escalado y encoding se reajustan en cada ronda.</a:t>
            </a:r>
          </a:p>
        </p:txBody>
      </p:sp>
      <p:sp>
        <p:nvSpPr>
          <p:cNvPr name="TextBox 110" id="110"/>
          <p:cNvSpPr txBox="true"/>
          <p:nvPr/>
        </p:nvSpPr>
        <p:spPr>
          <a:xfrm rot="0">
            <a:off x="1219200" y="9309735"/>
            <a:ext cx="7848600" cy="405765"/>
          </a:xfrm>
          <a:prstGeom prst="rect">
            <a:avLst/>
          </a:prstGeom>
        </p:spPr>
        <p:txBody>
          <a:bodyPr anchor="t" rtlCol="false" tIns="0" lIns="0" bIns="0" rIns="0">
            <a:spAutoFit/>
          </a:bodyPr>
          <a:lstStyle/>
          <a:p>
            <a:pPr algn="l">
              <a:lnSpc>
                <a:spcPts val="2520"/>
              </a:lnSpc>
            </a:pPr>
            <a:r>
              <a:rPr lang="en-US" sz="1800">
                <a:solidFill>
                  <a:srgbClr val="4A453F"/>
                </a:solidFill>
                <a:latin typeface="Archivo Narrow"/>
                <a:ea typeface="Archivo Narrow"/>
                <a:cs typeface="Archivo Narrow"/>
                <a:sym typeface="Archivo Narrow"/>
              </a:rPr>
              <a:t>05 · Housing Prices · EP2</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DCD3C3"/>
        </a:solidFill>
      </p:bgPr>
    </p:bg>
    <p:spTree>
      <p:nvGrpSpPr>
        <p:cNvPr id="1" name=""/>
        <p:cNvGrpSpPr/>
        <p:nvPr/>
      </p:nvGrpSpPr>
      <p:grpSpPr>
        <a:xfrm>
          <a:off x="0" y="0"/>
          <a:ext cx="0" cy="0"/>
          <a:chOff x="0" y="0"/>
          <a:chExt cx="0" cy="0"/>
        </a:xfrm>
      </p:grpSpPr>
      <p:grpSp>
        <p:nvGrpSpPr>
          <p:cNvPr name="Group 2" id="2"/>
          <p:cNvGrpSpPr/>
          <p:nvPr/>
        </p:nvGrpSpPr>
        <p:grpSpPr>
          <a:xfrm rot="0">
            <a:off x="9906000" y="3048000"/>
            <a:ext cx="7638288" cy="6309360"/>
            <a:chOff x="0" y="0"/>
            <a:chExt cx="10184384" cy="8412480"/>
          </a:xfrm>
        </p:grpSpPr>
        <p:sp>
          <p:nvSpPr>
            <p:cNvPr name="Freeform 3" id="3"/>
            <p:cNvSpPr/>
            <p:nvPr/>
          </p:nvSpPr>
          <p:spPr>
            <a:xfrm flipH="false" flipV="false" rot="0">
              <a:off x="0" y="0"/>
              <a:ext cx="10184384" cy="8412480"/>
            </a:xfrm>
            <a:custGeom>
              <a:avLst/>
              <a:gdLst/>
              <a:ahLst/>
              <a:cxnLst/>
              <a:rect r="r" b="b" t="t" l="l"/>
              <a:pathLst>
                <a:path h="8412480" w="10184384">
                  <a:moveTo>
                    <a:pt x="0" y="0"/>
                  </a:moveTo>
                  <a:lnTo>
                    <a:pt x="10184384" y="0"/>
                  </a:lnTo>
                  <a:lnTo>
                    <a:pt x="10184384" y="8412480"/>
                  </a:lnTo>
                  <a:lnTo>
                    <a:pt x="0" y="8412480"/>
                  </a:lnTo>
                  <a:close/>
                </a:path>
              </a:pathLst>
            </a:custGeom>
            <a:solidFill>
              <a:srgbClr val="1F1E1C"/>
            </a:solidFill>
          </p:spPr>
        </p:sp>
      </p:grpSp>
      <p:sp>
        <p:nvSpPr>
          <p:cNvPr name="TextBox 4" id="4"/>
          <p:cNvSpPr txBox="true"/>
          <p:nvPr/>
        </p:nvSpPr>
        <p:spPr>
          <a:xfrm rot="0">
            <a:off x="10515600" y="3609975"/>
            <a:ext cx="6749796" cy="405765"/>
          </a:xfrm>
          <a:prstGeom prst="rect">
            <a:avLst/>
          </a:prstGeom>
        </p:spPr>
        <p:txBody>
          <a:bodyPr anchor="t" rtlCol="false" tIns="0" lIns="0" bIns="0" rIns="0">
            <a:spAutoFit/>
          </a:bodyPr>
          <a:lstStyle/>
          <a:p>
            <a:pPr algn="l">
              <a:lnSpc>
                <a:spcPts val="2520"/>
              </a:lnSpc>
            </a:pPr>
            <a:r>
              <a:rPr lang="en-US" b="true" sz="1800" spc="149">
                <a:solidFill>
                  <a:srgbClr val="A39B8B"/>
                </a:solidFill>
                <a:latin typeface="Archivo Narrow Bold"/>
                <a:ea typeface="Archivo Narrow Bold"/>
                <a:cs typeface="Archivo Narrow Bold"/>
                <a:sym typeface="Archivo Narrow Bold"/>
              </a:rPr>
              <a:t>MAPE POR GRUPO</a:t>
            </a:r>
          </a:p>
        </p:txBody>
      </p:sp>
      <p:sp>
        <p:nvSpPr>
          <p:cNvPr name="TextBox 5" id="5"/>
          <p:cNvSpPr txBox="true"/>
          <p:nvPr/>
        </p:nvSpPr>
        <p:spPr>
          <a:xfrm rot="0">
            <a:off x="10515600" y="3968115"/>
            <a:ext cx="6749796" cy="405765"/>
          </a:xfrm>
          <a:prstGeom prst="rect">
            <a:avLst/>
          </a:prstGeom>
        </p:spPr>
        <p:txBody>
          <a:bodyPr anchor="t" rtlCol="false" tIns="0" lIns="0" bIns="0" rIns="0">
            <a:spAutoFit/>
          </a:bodyPr>
          <a:lstStyle/>
          <a:p>
            <a:pPr algn="l">
              <a:lnSpc>
                <a:spcPts val="2520"/>
              </a:lnSpc>
            </a:pPr>
            <a:r>
              <a:rPr lang="en-US" sz="1800">
                <a:solidFill>
                  <a:srgbClr val="A39B8B"/>
                </a:solidFill>
                <a:latin typeface="Archivo Narrow"/>
                <a:ea typeface="Archivo Narrow"/>
                <a:cs typeface="Archivo Narrow"/>
                <a:sym typeface="Archivo Narrow"/>
              </a:rPr>
              <a:t>Ridge, validación cruzada</a:t>
            </a:r>
          </a:p>
        </p:txBody>
      </p:sp>
      <p:sp>
        <p:nvSpPr>
          <p:cNvPr name="TextBox 6" id="6"/>
          <p:cNvSpPr txBox="true"/>
          <p:nvPr/>
        </p:nvSpPr>
        <p:spPr>
          <a:xfrm rot="0">
            <a:off x="10515600" y="4592955"/>
            <a:ext cx="6749796" cy="405765"/>
          </a:xfrm>
          <a:prstGeom prst="rect">
            <a:avLst/>
          </a:prstGeom>
        </p:spPr>
        <p:txBody>
          <a:bodyPr anchor="t" rtlCol="false" tIns="0" lIns="0" bIns="0" rIns="0">
            <a:spAutoFit/>
          </a:bodyPr>
          <a:lstStyle/>
          <a:p>
            <a:pPr algn="l">
              <a:lnSpc>
                <a:spcPts val="2520"/>
              </a:lnSpc>
            </a:pPr>
            <a:r>
              <a:rPr lang="en-US" sz="1800">
                <a:solidFill>
                  <a:srgbClr val="DCD3C3"/>
                </a:solidFill>
                <a:latin typeface="Archivo Narrow"/>
                <a:ea typeface="Archivo Narrow"/>
                <a:cs typeface="Archivo Narrow"/>
                <a:sym typeface="Archivo Narrow"/>
              </a:rPr>
              <a:t>Venta normal</a:t>
            </a:r>
          </a:p>
        </p:txBody>
      </p:sp>
      <p:grpSp>
        <p:nvGrpSpPr>
          <p:cNvPr name="Group 7" id="7"/>
          <p:cNvGrpSpPr/>
          <p:nvPr/>
        </p:nvGrpSpPr>
        <p:grpSpPr>
          <a:xfrm rot="0">
            <a:off x="10515600" y="5052060"/>
            <a:ext cx="1143000" cy="342900"/>
            <a:chOff x="0" y="0"/>
            <a:chExt cx="1524000" cy="457200"/>
          </a:xfrm>
        </p:grpSpPr>
        <p:sp>
          <p:nvSpPr>
            <p:cNvPr name="Freeform 8" id="8"/>
            <p:cNvSpPr/>
            <p:nvPr/>
          </p:nvSpPr>
          <p:spPr>
            <a:xfrm flipH="false" flipV="false" rot="0">
              <a:off x="0" y="0"/>
              <a:ext cx="1524000" cy="457200"/>
            </a:xfrm>
            <a:custGeom>
              <a:avLst/>
              <a:gdLst/>
              <a:ahLst/>
              <a:cxnLst/>
              <a:rect r="r" b="b" t="t" l="l"/>
              <a:pathLst>
                <a:path h="457200" w="1524000">
                  <a:moveTo>
                    <a:pt x="0" y="0"/>
                  </a:moveTo>
                  <a:lnTo>
                    <a:pt x="1524000" y="0"/>
                  </a:lnTo>
                  <a:lnTo>
                    <a:pt x="1524000" y="457200"/>
                  </a:lnTo>
                  <a:lnTo>
                    <a:pt x="0" y="457200"/>
                  </a:lnTo>
                  <a:close/>
                </a:path>
              </a:pathLst>
            </a:custGeom>
            <a:solidFill>
              <a:srgbClr val="DCD3C3"/>
            </a:solidFill>
          </p:spPr>
        </p:sp>
      </p:grpSp>
      <p:sp>
        <p:nvSpPr>
          <p:cNvPr name="TextBox 9" id="9"/>
          <p:cNvSpPr txBox="true"/>
          <p:nvPr/>
        </p:nvSpPr>
        <p:spPr>
          <a:xfrm rot="0">
            <a:off x="11849100" y="4989195"/>
            <a:ext cx="815530" cy="459105"/>
          </a:xfrm>
          <a:prstGeom prst="rect">
            <a:avLst/>
          </a:prstGeom>
        </p:spPr>
        <p:txBody>
          <a:bodyPr anchor="t" rtlCol="false" tIns="0" lIns="0" bIns="0" rIns="0">
            <a:spAutoFit/>
          </a:bodyPr>
          <a:lstStyle/>
          <a:p>
            <a:pPr algn="l">
              <a:lnSpc>
                <a:spcPts val="2940"/>
              </a:lnSpc>
            </a:pPr>
            <a:r>
              <a:rPr lang="en-US" sz="2100" b="true">
                <a:solidFill>
                  <a:srgbClr val="DCD3C3"/>
                </a:solidFill>
                <a:latin typeface="Archivo Narrow Bold"/>
                <a:ea typeface="Archivo Narrow Bold"/>
                <a:cs typeface="Archivo Narrow Bold"/>
                <a:sym typeface="Archivo Narrow Bold"/>
              </a:rPr>
              <a:t>7,2 %</a:t>
            </a:r>
          </a:p>
        </p:txBody>
      </p:sp>
      <p:sp>
        <p:nvSpPr>
          <p:cNvPr name="TextBox 10" id="10"/>
          <p:cNvSpPr txBox="true"/>
          <p:nvPr/>
        </p:nvSpPr>
        <p:spPr>
          <a:xfrm rot="0">
            <a:off x="10515600" y="5514975"/>
            <a:ext cx="6749796" cy="405765"/>
          </a:xfrm>
          <a:prstGeom prst="rect">
            <a:avLst/>
          </a:prstGeom>
        </p:spPr>
        <p:txBody>
          <a:bodyPr anchor="t" rtlCol="false" tIns="0" lIns="0" bIns="0" rIns="0">
            <a:spAutoFit/>
          </a:bodyPr>
          <a:lstStyle/>
          <a:p>
            <a:pPr algn="l">
              <a:lnSpc>
                <a:spcPts val="2520"/>
              </a:lnSpc>
            </a:pPr>
            <a:r>
              <a:rPr lang="en-US" sz="1800">
                <a:solidFill>
                  <a:srgbClr val="DCD3C3"/>
                </a:solidFill>
                <a:latin typeface="Archivo Narrow"/>
                <a:ea typeface="Archivo Narrow"/>
                <a:cs typeface="Archivo Narrow"/>
                <a:sym typeface="Archivo Narrow"/>
              </a:rPr>
              <a:t>Remate (Abnorml)</a:t>
            </a:r>
          </a:p>
        </p:txBody>
      </p:sp>
      <p:grpSp>
        <p:nvGrpSpPr>
          <p:cNvPr name="Group 11" id="11"/>
          <p:cNvGrpSpPr/>
          <p:nvPr/>
        </p:nvGrpSpPr>
        <p:grpSpPr>
          <a:xfrm rot="0">
            <a:off x="10515600" y="5974080"/>
            <a:ext cx="3028950" cy="342900"/>
            <a:chOff x="0" y="0"/>
            <a:chExt cx="4038600" cy="457200"/>
          </a:xfrm>
        </p:grpSpPr>
        <p:sp>
          <p:nvSpPr>
            <p:cNvPr name="Freeform 12" id="12"/>
            <p:cNvSpPr/>
            <p:nvPr/>
          </p:nvSpPr>
          <p:spPr>
            <a:xfrm flipH="false" flipV="false" rot="0">
              <a:off x="0" y="0"/>
              <a:ext cx="4038600" cy="457200"/>
            </a:xfrm>
            <a:custGeom>
              <a:avLst/>
              <a:gdLst/>
              <a:ahLst/>
              <a:cxnLst/>
              <a:rect r="r" b="b" t="t" l="l"/>
              <a:pathLst>
                <a:path h="457200" w="4038600">
                  <a:moveTo>
                    <a:pt x="0" y="0"/>
                  </a:moveTo>
                  <a:lnTo>
                    <a:pt x="4038600" y="0"/>
                  </a:lnTo>
                  <a:lnTo>
                    <a:pt x="4038600" y="457200"/>
                  </a:lnTo>
                  <a:lnTo>
                    <a:pt x="0" y="457200"/>
                  </a:lnTo>
                  <a:close/>
                </a:path>
              </a:pathLst>
            </a:custGeom>
            <a:solidFill>
              <a:srgbClr val="DCD3C3"/>
            </a:solidFill>
          </p:spPr>
        </p:sp>
      </p:grpSp>
      <p:sp>
        <p:nvSpPr>
          <p:cNvPr name="TextBox 13" id="13"/>
          <p:cNvSpPr txBox="true"/>
          <p:nvPr/>
        </p:nvSpPr>
        <p:spPr>
          <a:xfrm rot="0">
            <a:off x="13735050" y="5911215"/>
            <a:ext cx="1044321" cy="459105"/>
          </a:xfrm>
          <a:prstGeom prst="rect">
            <a:avLst/>
          </a:prstGeom>
        </p:spPr>
        <p:txBody>
          <a:bodyPr anchor="t" rtlCol="false" tIns="0" lIns="0" bIns="0" rIns="0">
            <a:spAutoFit/>
          </a:bodyPr>
          <a:lstStyle/>
          <a:p>
            <a:pPr algn="l">
              <a:lnSpc>
                <a:spcPts val="2940"/>
              </a:lnSpc>
            </a:pPr>
            <a:r>
              <a:rPr lang="en-US" sz="2100" b="true">
                <a:solidFill>
                  <a:srgbClr val="DCD3C3"/>
                </a:solidFill>
                <a:latin typeface="Archivo Narrow Bold"/>
                <a:ea typeface="Archivo Narrow Bold"/>
                <a:cs typeface="Archivo Narrow Bold"/>
                <a:sym typeface="Archivo Narrow Bold"/>
              </a:rPr>
              <a:t>19,1 %</a:t>
            </a:r>
          </a:p>
        </p:txBody>
      </p:sp>
      <p:grpSp>
        <p:nvGrpSpPr>
          <p:cNvPr name="Group 14" id="14"/>
          <p:cNvGrpSpPr/>
          <p:nvPr/>
        </p:nvGrpSpPr>
        <p:grpSpPr>
          <a:xfrm rot="0">
            <a:off x="10515600" y="6637020"/>
            <a:ext cx="6553200" cy="9525"/>
            <a:chOff x="0" y="0"/>
            <a:chExt cx="8737600" cy="12700"/>
          </a:xfrm>
        </p:grpSpPr>
        <p:sp>
          <p:nvSpPr>
            <p:cNvPr name="Freeform 15" id="15"/>
            <p:cNvSpPr/>
            <p:nvPr/>
          </p:nvSpPr>
          <p:spPr>
            <a:xfrm flipH="false" flipV="false" rot="0">
              <a:off x="0" y="0"/>
              <a:ext cx="8737600" cy="12700"/>
            </a:xfrm>
            <a:custGeom>
              <a:avLst/>
              <a:gdLst/>
              <a:ahLst/>
              <a:cxnLst/>
              <a:rect r="r" b="b" t="t" l="l"/>
              <a:pathLst>
                <a:path h="12700" w="8737600">
                  <a:moveTo>
                    <a:pt x="0" y="0"/>
                  </a:moveTo>
                  <a:lnTo>
                    <a:pt x="8737600" y="0"/>
                  </a:lnTo>
                  <a:lnTo>
                    <a:pt x="8737600" y="12700"/>
                  </a:lnTo>
                  <a:lnTo>
                    <a:pt x="0" y="12700"/>
                  </a:lnTo>
                  <a:close/>
                </a:path>
              </a:pathLst>
            </a:custGeom>
            <a:solidFill>
              <a:srgbClr val="6E685E"/>
            </a:solidFill>
          </p:spPr>
        </p:sp>
      </p:grpSp>
      <p:sp>
        <p:nvSpPr>
          <p:cNvPr name="TextBox 16" id="16"/>
          <p:cNvSpPr txBox="true"/>
          <p:nvPr/>
        </p:nvSpPr>
        <p:spPr>
          <a:xfrm rot="0">
            <a:off x="10515600" y="6903720"/>
            <a:ext cx="6749796" cy="405765"/>
          </a:xfrm>
          <a:prstGeom prst="rect">
            <a:avLst/>
          </a:prstGeom>
        </p:spPr>
        <p:txBody>
          <a:bodyPr anchor="t" rtlCol="false" tIns="0" lIns="0" bIns="0" rIns="0">
            <a:spAutoFit/>
          </a:bodyPr>
          <a:lstStyle/>
          <a:p>
            <a:pPr algn="l">
              <a:lnSpc>
                <a:spcPts val="2520"/>
              </a:lnSpc>
            </a:pPr>
            <a:r>
              <a:rPr lang="en-US" sz="1800">
                <a:solidFill>
                  <a:srgbClr val="DCD3C3"/>
                </a:solidFill>
                <a:latin typeface="Archivo Narrow"/>
                <a:ea typeface="Archivo Narrow"/>
                <a:cs typeface="Archivo Narrow"/>
                <a:sym typeface="Archivo Narrow"/>
              </a:rPr>
              <a:t>Zona residencial</a:t>
            </a:r>
          </a:p>
        </p:txBody>
      </p:sp>
      <p:grpSp>
        <p:nvGrpSpPr>
          <p:cNvPr name="Group 17" id="17"/>
          <p:cNvGrpSpPr/>
          <p:nvPr/>
        </p:nvGrpSpPr>
        <p:grpSpPr>
          <a:xfrm rot="0">
            <a:off x="10515600" y="7362825"/>
            <a:ext cx="1285875" cy="342900"/>
            <a:chOff x="0" y="0"/>
            <a:chExt cx="1714500" cy="457200"/>
          </a:xfrm>
        </p:grpSpPr>
        <p:sp>
          <p:nvSpPr>
            <p:cNvPr name="Freeform 18" id="18"/>
            <p:cNvSpPr/>
            <p:nvPr/>
          </p:nvSpPr>
          <p:spPr>
            <a:xfrm flipH="false" flipV="false" rot="0">
              <a:off x="0" y="0"/>
              <a:ext cx="1714500" cy="457200"/>
            </a:xfrm>
            <a:custGeom>
              <a:avLst/>
              <a:gdLst/>
              <a:ahLst/>
              <a:cxnLst/>
              <a:rect r="r" b="b" t="t" l="l"/>
              <a:pathLst>
                <a:path h="457200" w="1714500">
                  <a:moveTo>
                    <a:pt x="0" y="0"/>
                  </a:moveTo>
                  <a:lnTo>
                    <a:pt x="1714500" y="0"/>
                  </a:lnTo>
                  <a:lnTo>
                    <a:pt x="1714500" y="457200"/>
                  </a:lnTo>
                  <a:lnTo>
                    <a:pt x="0" y="457200"/>
                  </a:lnTo>
                  <a:close/>
                </a:path>
              </a:pathLst>
            </a:custGeom>
            <a:solidFill>
              <a:srgbClr val="DCD3C3"/>
            </a:solidFill>
          </p:spPr>
        </p:sp>
      </p:grpSp>
      <p:sp>
        <p:nvSpPr>
          <p:cNvPr name="TextBox 19" id="19"/>
          <p:cNvSpPr txBox="true"/>
          <p:nvPr/>
        </p:nvSpPr>
        <p:spPr>
          <a:xfrm rot="0">
            <a:off x="11991975" y="7299960"/>
            <a:ext cx="853821" cy="459105"/>
          </a:xfrm>
          <a:prstGeom prst="rect">
            <a:avLst/>
          </a:prstGeom>
        </p:spPr>
        <p:txBody>
          <a:bodyPr anchor="t" rtlCol="false" tIns="0" lIns="0" bIns="0" rIns="0">
            <a:spAutoFit/>
          </a:bodyPr>
          <a:lstStyle/>
          <a:p>
            <a:pPr algn="l">
              <a:lnSpc>
                <a:spcPts val="2940"/>
              </a:lnSpc>
            </a:pPr>
            <a:r>
              <a:rPr lang="en-US" sz="2100" b="true">
                <a:solidFill>
                  <a:srgbClr val="DCD3C3"/>
                </a:solidFill>
                <a:latin typeface="Archivo Narrow Bold"/>
                <a:ea typeface="Archivo Narrow Bold"/>
                <a:cs typeface="Archivo Narrow Bold"/>
                <a:sym typeface="Archivo Narrow Bold"/>
              </a:rPr>
              <a:t>8,1 %</a:t>
            </a:r>
          </a:p>
        </p:txBody>
      </p:sp>
      <p:sp>
        <p:nvSpPr>
          <p:cNvPr name="TextBox 20" id="20"/>
          <p:cNvSpPr txBox="true"/>
          <p:nvPr/>
        </p:nvSpPr>
        <p:spPr>
          <a:xfrm rot="0">
            <a:off x="10515600" y="7825740"/>
            <a:ext cx="6749796" cy="405765"/>
          </a:xfrm>
          <a:prstGeom prst="rect">
            <a:avLst/>
          </a:prstGeom>
        </p:spPr>
        <p:txBody>
          <a:bodyPr anchor="t" rtlCol="false" tIns="0" lIns="0" bIns="0" rIns="0">
            <a:spAutoFit/>
          </a:bodyPr>
          <a:lstStyle/>
          <a:p>
            <a:pPr algn="l">
              <a:lnSpc>
                <a:spcPts val="2520"/>
              </a:lnSpc>
            </a:pPr>
            <a:r>
              <a:rPr lang="en-US" sz="1800">
                <a:solidFill>
                  <a:srgbClr val="DCD3C3"/>
                </a:solidFill>
                <a:latin typeface="Archivo Narrow"/>
                <a:ea typeface="Archivo Narrow"/>
                <a:cs typeface="Archivo Narrow"/>
                <a:sym typeface="Archivo Narrow"/>
              </a:rPr>
              <a:t>Zona no residencial</a:t>
            </a:r>
          </a:p>
        </p:txBody>
      </p:sp>
      <p:grpSp>
        <p:nvGrpSpPr>
          <p:cNvPr name="Group 21" id="21"/>
          <p:cNvGrpSpPr/>
          <p:nvPr/>
        </p:nvGrpSpPr>
        <p:grpSpPr>
          <a:xfrm rot="0">
            <a:off x="10515600" y="8284845"/>
            <a:ext cx="5334000" cy="342900"/>
            <a:chOff x="0" y="0"/>
            <a:chExt cx="7112000" cy="457200"/>
          </a:xfrm>
        </p:grpSpPr>
        <p:sp>
          <p:nvSpPr>
            <p:cNvPr name="Freeform 22" id="22"/>
            <p:cNvSpPr/>
            <p:nvPr/>
          </p:nvSpPr>
          <p:spPr>
            <a:xfrm flipH="false" flipV="false" rot="0">
              <a:off x="0" y="0"/>
              <a:ext cx="7112000" cy="457200"/>
            </a:xfrm>
            <a:custGeom>
              <a:avLst/>
              <a:gdLst/>
              <a:ahLst/>
              <a:cxnLst/>
              <a:rect r="r" b="b" t="t" l="l"/>
              <a:pathLst>
                <a:path h="457200" w="7112000">
                  <a:moveTo>
                    <a:pt x="0" y="0"/>
                  </a:moveTo>
                  <a:lnTo>
                    <a:pt x="7112000" y="0"/>
                  </a:lnTo>
                  <a:lnTo>
                    <a:pt x="7112000" y="457200"/>
                  </a:lnTo>
                  <a:lnTo>
                    <a:pt x="0" y="457200"/>
                  </a:lnTo>
                  <a:close/>
                </a:path>
              </a:pathLst>
            </a:custGeom>
            <a:solidFill>
              <a:srgbClr val="DCD3C3"/>
            </a:solidFill>
          </p:spPr>
        </p:sp>
      </p:grpSp>
      <p:sp>
        <p:nvSpPr>
          <p:cNvPr name="TextBox 23" id="23"/>
          <p:cNvSpPr txBox="true"/>
          <p:nvPr/>
        </p:nvSpPr>
        <p:spPr>
          <a:xfrm rot="0">
            <a:off x="16040100" y="8221980"/>
            <a:ext cx="1044512" cy="459105"/>
          </a:xfrm>
          <a:prstGeom prst="rect">
            <a:avLst/>
          </a:prstGeom>
        </p:spPr>
        <p:txBody>
          <a:bodyPr anchor="t" rtlCol="false" tIns="0" lIns="0" bIns="0" rIns="0">
            <a:spAutoFit/>
          </a:bodyPr>
          <a:lstStyle/>
          <a:p>
            <a:pPr algn="l">
              <a:lnSpc>
                <a:spcPts val="2940"/>
              </a:lnSpc>
            </a:pPr>
            <a:r>
              <a:rPr lang="en-US" sz="2100" b="true">
                <a:solidFill>
                  <a:srgbClr val="DCD3C3"/>
                </a:solidFill>
                <a:latin typeface="Archivo Narrow Bold"/>
                <a:ea typeface="Archivo Narrow Bold"/>
                <a:cs typeface="Archivo Narrow Bold"/>
                <a:sym typeface="Archivo Narrow Bold"/>
              </a:rPr>
              <a:t>33,6 %</a:t>
            </a:r>
          </a:p>
        </p:txBody>
      </p:sp>
      <p:sp>
        <p:nvSpPr>
          <p:cNvPr name="TextBox 24" id="24"/>
          <p:cNvSpPr txBox="true"/>
          <p:nvPr/>
        </p:nvSpPr>
        <p:spPr>
          <a:xfrm rot="0">
            <a:off x="1219200" y="1333500"/>
            <a:ext cx="16325088" cy="963930"/>
          </a:xfrm>
          <a:prstGeom prst="rect">
            <a:avLst/>
          </a:prstGeom>
        </p:spPr>
        <p:txBody>
          <a:bodyPr anchor="t" rtlCol="false" tIns="0" lIns="0" bIns="0" rIns="0">
            <a:spAutoFit/>
          </a:bodyPr>
          <a:lstStyle/>
          <a:p>
            <a:pPr algn="l">
              <a:lnSpc>
                <a:spcPts val="8190"/>
              </a:lnSpc>
            </a:pPr>
            <a:r>
              <a:rPr lang="en-US" sz="7800">
                <a:solidFill>
                  <a:srgbClr val="1F1E1C"/>
                </a:solidFill>
                <a:latin typeface="Anton"/>
                <a:ea typeface="Anton"/>
                <a:cs typeface="Anton"/>
                <a:sym typeface="Anton"/>
              </a:rPr>
              <a:t>LO QUE MOSTRÓ LA EXPLORACIÓN</a:t>
            </a:r>
          </a:p>
        </p:txBody>
      </p:sp>
      <p:grpSp>
        <p:nvGrpSpPr>
          <p:cNvPr name="Group 25" id="25"/>
          <p:cNvGrpSpPr/>
          <p:nvPr/>
        </p:nvGrpSpPr>
        <p:grpSpPr>
          <a:xfrm rot="0">
            <a:off x="1219200" y="4469130"/>
            <a:ext cx="609600" cy="609600"/>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0" y="406400"/>
                  </a:moveTo>
                  <a:cubicBezTo>
                    <a:pt x="0" y="181991"/>
                    <a:pt x="181991" y="0"/>
                    <a:pt x="406400" y="0"/>
                  </a:cubicBezTo>
                  <a:cubicBezTo>
                    <a:pt x="630809" y="0"/>
                    <a:pt x="812800" y="181991"/>
                    <a:pt x="812800" y="406400"/>
                  </a:cubicBezTo>
                  <a:cubicBezTo>
                    <a:pt x="812800" y="630809"/>
                    <a:pt x="630809" y="812800"/>
                    <a:pt x="406400" y="812800"/>
                  </a:cubicBezTo>
                  <a:cubicBezTo>
                    <a:pt x="181991" y="812800"/>
                    <a:pt x="0" y="630809"/>
                    <a:pt x="0" y="406400"/>
                  </a:cubicBezTo>
                  <a:close/>
                </a:path>
              </a:pathLst>
            </a:custGeom>
            <a:solidFill>
              <a:srgbClr val="1F1E1C"/>
            </a:solidFill>
          </p:spPr>
        </p:sp>
        <p:sp>
          <p:nvSpPr>
            <p:cNvPr name="TextBox 27" id="27"/>
            <p:cNvSpPr txBox="true"/>
            <p:nvPr/>
          </p:nvSpPr>
          <p:spPr>
            <a:xfrm>
              <a:off x="0" y="-47625"/>
              <a:ext cx="812800" cy="860425"/>
            </a:xfrm>
            <a:prstGeom prst="rect">
              <a:avLst/>
            </a:prstGeom>
          </p:spPr>
          <p:txBody>
            <a:bodyPr anchor="ctr" rtlCol="false" tIns="50800" lIns="50800" bIns="50800" rIns="50800"/>
            <a:lstStyle/>
            <a:p>
              <a:pPr algn="ctr">
                <a:lnSpc>
                  <a:spcPts val="2520"/>
                </a:lnSpc>
              </a:pPr>
              <a:r>
                <a:rPr lang="en-US" sz="1800" b="true">
                  <a:solidFill>
                    <a:srgbClr val="DCD3C3"/>
                  </a:solidFill>
                  <a:latin typeface="Archivo Narrow Bold"/>
                  <a:ea typeface="Archivo Narrow Bold"/>
                  <a:cs typeface="Archivo Narrow Bold"/>
                  <a:sym typeface="Archivo Narrow Bold"/>
                </a:rPr>
                <a:t>01</a:t>
              </a:r>
            </a:p>
          </p:txBody>
        </p:sp>
      </p:grpSp>
      <p:sp>
        <p:nvSpPr>
          <p:cNvPr name="TextBox 28" id="28"/>
          <p:cNvSpPr txBox="true"/>
          <p:nvPr/>
        </p:nvSpPr>
        <p:spPr>
          <a:xfrm rot="0">
            <a:off x="2095500" y="4497705"/>
            <a:ext cx="7142226" cy="512445"/>
          </a:xfrm>
          <a:prstGeom prst="rect">
            <a:avLst/>
          </a:prstGeom>
        </p:spPr>
        <p:txBody>
          <a:bodyPr anchor="t" rtlCol="false" tIns="0" lIns="0" bIns="0" rIns="0">
            <a:spAutoFit/>
          </a:bodyPr>
          <a:lstStyle/>
          <a:p>
            <a:pPr algn="l">
              <a:lnSpc>
                <a:spcPts val="3960"/>
              </a:lnSpc>
            </a:pPr>
            <a:r>
              <a:rPr lang="en-US" sz="3600">
                <a:solidFill>
                  <a:srgbClr val="1F1E1C"/>
                </a:solidFill>
                <a:latin typeface="Anton"/>
                <a:ea typeface="Anton"/>
                <a:cs typeface="Anton"/>
                <a:sym typeface="Anton"/>
              </a:rPr>
              <a:t>PRECIO CON COLA A LA DERECHA</a:t>
            </a:r>
          </a:p>
        </p:txBody>
      </p:sp>
      <p:sp>
        <p:nvSpPr>
          <p:cNvPr name="TextBox 29" id="29"/>
          <p:cNvSpPr txBox="true"/>
          <p:nvPr/>
        </p:nvSpPr>
        <p:spPr>
          <a:xfrm rot="0">
            <a:off x="2095500" y="5000625"/>
            <a:ext cx="7142226" cy="725805"/>
          </a:xfrm>
          <a:prstGeom prst="rect">
            <a:avLst/>
          </a:prstGeom>
        </p:spPr>
        <p:txBody>
          <a:bodyPr anchor="t" rtlCol="false" tIns="0" lIns="0" bIns="0" rIns="0">
            <a:spAutoFit/>
          </a:bodyPr>
          <a:lstStyle/>
          <a:p>
            <a:pPr algn="l">
              <a:lnSpc>
                <a:spcPts val="2520"/>
              </a:lnSpc>
            </a:pPr>
            <a:r>
              <a:rPr lang="en-US" sz="1800">
                <a:solidFill>
                  <a:srgbClr val="4A453F"/>
                </a:solidFill>
                <a:latin typeface="Archivo Narrow"/>
                <a:ea typeface="Archivo Narrow"/>
                <a:cs typeface="Archivo Narrow"/>
                <a:sym typeface="Archivo Narrow"/>
              </a:rPr>
              <a:t>Se modela en escala log: además reparte el error de forma más pareja entre barrios.</a:t>
            </a:r>
          </a:p>
        </p:txBody>
      </p:sp>
      <p:grpSp>
        <p:nvGrpSpPr>
          <p:cNvPr name="Group 30" id="30"/>
          <p:cNvGrpSpPr/>
          <p:nvPr/>
        </p:nvGrpSpPr>
        <p:grpSpPr>
          <a:xfrm rot="0">
            <a:off x="1219200" y="6221730"/>
            <a:ext cx="609600" cy="609600"/>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0" y="406400"/>
                  </a:moveTo>
                  <a:cubicBezTo>
                    <a:pt x="0" y="181991"/>
                    <a:pt x="181991" y="0"/>
                    <a:pt x="406400" y="0"/>
                  </a:cubicBezTo>
                  <a:cubicBezTo>
                    <a:pt x="630809" y="0"/>
                    <a:pt x="812800" y="181991"/>
                    <a:pt x="812800" y="406400"/>
                  </a:cubicBezTo>
                  <a:cubicBezTo>
                    <a:pt x="812800" y="630809"/>
                    <a:pt x="630809" y="812800"/>
                    <a:pt x="406400" y="812800"/>
                  </a:cubicBezTo>
                  <a:cubicBezTo>
                    <a:pt x="181991" y="812800"/>
                    <a:pt x="0" y="630809"/>
                    <a:pt x="0" y="406400"/>
                  </a:cubicBezTo>
                  <a:close/>
                </a:path>
              </a:pathLst>
            </a:custGeom>
            <a:solidFill>
              <a:srgbClr val="1F1E1C"/>
            </a:solidFill>
          </p:spPr>
        </p:sp>
        <p:sp>
          <p:nvSpPr>
            <p:cNvPr name="TextBox 32" id="32"/>
            <p:cNvSpPr txBox="true"/>
            <p:nvPr/>
          </p:nvSpPr>
          <p:spPr>
            <a:xfrm>
              <a:off x="0" y="-47625"/>
              <a:ext cx="812800" cy="860425"/>
            </a:xfrm>
            <a:prstGeom prst="rect">
              <a:avLst/>
            </a:prstGeom>
          </p:spPr>
          <p:txBody>
            <a:bodyPr anchor="ctr" rtlCol="false" tIns="50800" lIns="50800" bIns="50800" rIns="50800"/>
            <a:lstStyle/>
            <a:p>
              <a:pPr algn="ctr">
                <a:lnSpc>
                  <a:spcPts val="2520"/>
                </a:lnSpc>
              </a:pPr>
              <a:r>
                <a:rPr lang="en-US" sz="1800" b="true">
                  <a:solidFill>
                    <a:srgbClr val="DCD3C3"/>
                  </a:solidFill>
                  <a:latin typeface="Archivo Narrow Bold"/>
                  <a:ea typeface="Archivo Narrow Bold"/>
                  <a:cs typeface="Archivo Narrow Bold"/>
                  <a:sym typeface="Archivo Narrow Bold"/>
                </a:rPr>
                <a:t>02</a:t>
              </a:r>
            </a:p>
          </p:txBody>
        </p:sp>
      </p:grpSp>
      <p:sp>
        <p:nvSpPr>
          <p:cNvPr name="TextBox 33" id="33"/>
          <p:cNvSpPr txBox="true"/>
          <p:nvPr/>
        </p:nvSpPr>
        <p:spPr>
          <a:xfrm rot="0">
            <a:off x="2095500" y="6250305"/>
            <a:ext cx="7142226" cy="512445"/>
          </a:xfrm>
          <a:prstGeom prst="rect">
            <a:avLst/>
          </a:prstGeom>
        </p:spPr>
        <p:txBody>
          <a:bodyPr anchor="t" rtlCol="false" tIns="0" lIns="0" bIns="0" rIns="0">
            <a:spAutoFit/>
          </a:bodyPr>
          <a:lstStyle/>
          <a:p>
            <a:pPr algn="l">
              <a:lnSpc>
                <a:spcPts val="3960"/>
              </a:lnSpc>
            </a:pPr>
            <a:r>
              <a:rPr lang="en-US" sz="3600">
                <a:solidFill>
                  <a:srgbClr val="1F1E1C"/>
                </a:solidFill>
                <a:latin typeface="Anton"/>
                <a:ea typeface="Anton"/>
                <a:cs typeface="Anton"/>
                <a:sym typeface="Anton"/>
              </a:rPr>
              <a:t>EL ERROR SE CONCENTRA</a:t>
            </a:r>
          </a:p>
        </p:txBody>
      </p:sp>
      <p:sp>
        <p:nvSpPr>
          <p:cNvPr name="TextBox 34" id="34"/>
          <p:cNvSpPr txBox="true"/>
          <p:nvPr/>
        </p:nvSpPr>
        <p:spPr>
          <a:xfrm rot="0">
            <a:off x="2095500" y="6753225"/>
            <a:ext cx="7142226" cy="725805"/>
          </a:xfrm>
          <a:prstGeom prst="rect">
            <a:avLst/>
          </a:prstGeom>
        </p:spPr>
        <p:txBody>
          <a:bodyPr anchor="t" rtlCol="false" tIns="0" lIns="0" bIns="0" rIns="0">
            <a:spAutoFit/>
          </a:bodyPr>
          <a:lstStyle/>
          <a:p>
            <a:pPr algn="l">
              <a:lnSpc>
                <a:spcPts val="2520"/>
              </a:lnSpc>
            </a:pPr>
            <a:r>
              <a:rPr lang="en-US" sz="1800">
                <a:solidFill>
                  <a:srgbClr val="4A453F"/>
                </a:solidFill>
                <a:latin typeface="Archivo Narrow"/>
                <a:ea typeface="Archivo Narrow"/>
                <a:cs typeface="Archivo Narrow"/>
                <a:sym typeface="Archivo Narrow"/>
              </a:rPr>
              <a:t>En ventas anómalas y en zonas no residenciales. Esto llevó a las pruebas de preparación.</a:t>
            </a:r>
          </a:p>
        </p:txBody>
      </p:sp>
      <p:sp>
        <p:nvSpPr>
          <p:cNvPr name="TextBox 35" id="35"/>
          <p:cNvSpPr txBox="true"/>
          <p:nvPr/>
        </p:nvSpPr>
        <p:spPr>
          <a:xfrm rot="0">
            <a:off x="1219200" y="9309735"/>
            <a:ext cx="7848600" cy="405765"/>
          </a:xfrm>
          <a:prstGeom prst="rect">
            <a:avLst/>
          </a:prstGeom>
        </p:spPr>
        <p:txBody>
          <a:bodyPr anchor="t" rtlCol="false" tIns="0" lIns="0" bIns="0" rIns="0">
            <a:spAutoFit/>
          </a:bodyPr>
          <a:lstStyle/>
          <a:p>
            <a:pPr algn="l">
              <a:lnSpc>
                <a:spcPts val="2520"/>
              </a:lnSpc>
            </a:pPr>
            <a:r>
              <a:rPr lang="en-US" sz="1800">
                <a:solidFill>
                  <a:srgbClr val="4A453F"/>
                </a:solidFill>
                <a:latin typeface="Archivo Narrow"/>
                <a:ea typeface="Archivo Narrow"/>
                <a:cs typeface="Archivo Narrow"/>
                <a:sym typeface="Archivo Narrow"/>
              </a:rPr>
              <a:t>06 · Housing Prices · EP2</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1F1E1C"/>
        </a:solidFill>
      </p:bgPr>
    </p:bg>
    <p:spTree>
      <p:nvGrpSpPr>
        <p:cNvPr id="1" name=""/>
        <p:cNvGrpSpPr/>
        <p:nvPr/>
      </p:nvGrpSpPr>
      <p:grpSpPr>
        <a:xfrm>
          <a:off x="0" y="0"/>
          <a:ext cx="0" cy="0"/>
          <a:chOff x="0" y="0"/>
          <a:chExt cx="0" cy="0"/>
        </a:xfrm>
      </p:grpSpPr>
      <p:sp>
        <p:nvSpPr>
          <p:cNvPr name="TextBox 2" id="2"/>
          <p:cNvSpPr txBox="true"/>
          <p:nvPr/>
        </p:nvSpPr>
        <p:spPr>
          <a:xfrm rot="0">
            <a:off x="1219200" y="1333500"/>
            <a:ext cx="16325088" cy="963930"/>
          </a:xfrm>
          <a:prstGeom prst="rect">
            <a:avLst/>
          </a:prstGeom>
        </p:spPr>
        <p:txBody>
          <a:bodyPr anchor="t" rtlCol="false" tIns="0" lIns="0" bIns="0" rIns="0">
            <a:spAutoFit/>
          </a:bodyPr>
          <a:lstStyle/>
          <a:p>
            <a:pPr algn="l">
              <a:lnSpc>
                <a:spcPts val="8190"/>
              </a:lnSpc>
            </a:pPr>
            <a:r>
              <a:rPr lang="en-US" sz="7800">
                <a:solidFill>
                  <a:srgbClr val="DCD3C3"/>
                </a:solidFill>
                <a:latin typeface="Anton"/>
                <a:ea typeface="Anton"/>
                <a:cs typeface="Anton"/>
                <a:sym typeface="Anton"/>
              </a:rPr>
              <a:t>OUTLIERS</a:t>
            </a:r>
          </a:p>
        </p:txBody>
      </p:sp>
      <p:sp>
        <p:nvSpPr>
          <p:cNvPr name="TextBox 3" id="3"/>
          <p:cNvSpPr txBox="true"/>
          <p:nvPr/>
        </p:nvSpPr>
        <p:spPr>
          <a:xfrm rot="0">
            <a:off x="1219200" y="2602230"/>
            <a:ext cx="16325088" cy="436245"/>
          </a:xfrm>
          <a:prstGeom prst="rect">
            <a:avLst/>
          </a:prstGeom>
        </p:spPr>
        <p:txBody>
          <a:bodyPr anchor="t" rtlCol="false" tIns="0" lIns="0" bIns="0" rIns="0">
            <a:spAutoFit/>
          </a:bodyPr>
          <a:lstStyle/>
          <a:p>
            <a:pPr algn="l">
              <a:lnSpc>
                <a:spcPts val="2835"/>
              </a:lnSpc>
            </a:pPr>
            <a:r>
              <a:rPr lang="en-US" sz="2100">
                <a:solidFill>
                  <a:srgbClr val="A39B8B"/>
                </a:solidFill>
                <a:latin typeface="Archivo Narrow"/>
                <a:ea typeface="Archivo Narrow"/>
                <a:cs typeface="Archivo Narrow"/>
                <a:sym typeface="Archivo Narrow"/>
              </a:rPr>
              <a:t>Se revisan, no se borran: son casas reales.</a:t>
            </a:r>
          </a:p>
        </p:txBody>
      </p:sp>
      <p:sp>
        <p:nvSpPr>
          <p:cNvPr name="AutoShape 4" id="4"/>
          <p:cNvSpPr/>
          <p:nvPr/>
        </p:nvSpPr>
        <p:spPr>
          <a:xfrm rot="5362080">
            <a:off x="365703" y="5131118"/>
            <a:ext cx="1726035" cy="0"/>
          </a:xfrm>
          <a:prstGeom prst="line">
            <a:avLst/>
          </a:prstGeom>
          <a:ln cap="rnd" w="9525">
            <a:solidFill>
              <a:srgbClr val="6E685E"/>
            </a:solidFill>
            <a:prstDash val="solid"/>
            <a:headEnd type="none" len="sm" w="sm"/>
            <a:tailEnd type="none" len="sm" w="sm"/>
          </a:ln>
        </p:spPr>
      </p:sp>
      <p:sp>
        <p:nvSpPr>
          <p:cNvPr name="TextBox 5" id="5"/>
          <p:cNvSpPr txBox="true"/>
          <p:nvPr/>
        </p:nvSpPr>
        <p:spPr>
          <a:xfrm rot="0">
            <a:off x="1615440" y="4425315"/>
            <a:ext cx="4771949" cy="885825"/>
          </a:xfrm>
          <a:prstGeom prst="rect">
            <a:avLst/>
          </a:prstGeom>
        </p:spPr>
        <p:txBody>
          <a:bodyPr anchor="t" rtlCol="false" tIns="0" lIns="0" bIns="0" rIns="0">
            <a:spAutoFit/>
          </a:bodyPr>
          <a:lstStyle/>
          <a:p>
            <a:pPr algn="l">
              <a:lnSpc>
                <a:spcPts val="7800"/>
              </a:lnSpc>
            </a:pPr>
            <a:r>
              <a:rPr lang="en-US" sz="7800">
                <a:solidFill>
                  <a:srgbClr val="DCD3C3"/>
                </a:solidFill>
                <a:latin typeface="Anton"/>
                <a:ea typeface="Anton"/>
                <a:cs typeface="Anton"/>
                <a:sym typeface="Anton"/>
              </a:rPr>
              <a:t>232</a:t>
            </a:r>
          </a:p>
        </p:txBody>
      </p:sp>
      <p:sp>
        <p:nvSpPr>
          <p:cNvPr name="TextBox 6" id="6"/>
          <p:cNvSpPr txBox="true"/>
          <p:nvPr/>
        </p:nvSpPr>
        <p:spPr>
          <a:xfrm rot="0">
            <a:off x="1615440" y="5301615"/>
            <a:ext cx="4771949" cy="405765"/>
          </a:xfrm>
          <a:prstGeom prst="rect">
            <a:avLst/>
          </a:prstGeom>
        </p:spPr>
        <p:txBody>
          <a:bodyPr anchor="t" rtlCol="false" tIns="0" lIns="0" bIns="0" rIns="0">
            <a:spAutoFit/>
          </a:bodyPr>
          <a:lstStyle/>
          <a:p>
            <a:pPr algn="l">
              <a:lnSpc>
                <a:spcPts val="2520"/>
              </a:lnSpc>
            </a:pPr>
            <a:r>
              <a:rPr lang="en-US" sz="1800">
                <a:solidFill>
                  <a:srgbClr val="A39B8B"/>
                </a:solidFill>
                <a:latin typeface="Archivo Narrow"/>
                <a:ea typeface="Archivo Narrow"/>
                <a:cs typeface="Archivo Narrow"/>
                <a:sym typeface="Archivo Narrow"/>
              </a:rPr>
              <a:t>casas marcadas por IQR y z-score (7,9 %)</a:t>
            </a:r>
          </a:p>
        </p:txBody>
      </p:sp>
      <p:sp>
        <p:nvSpPr>
          <p:cNvPr name="AutoShape 7" id="7"/>
          <p:cNvSpPr/>
          <p:nvPr/>
        </p:nvSpPr>
        <p:spPr>
          <a:xfrm rot="5362080">
            <a:off x="5775903" y="5131118"/>
            <a:ext cx="1726035" cy="0"/>
          </a:xfrm>
          <a:prstGeom prst="line">
            <a:avLst/>
          </a:prstGeom>
          <a:ln cap="rnd" w="9525">
            <a:solidFill>
              <a:srgbClr val="6E685E"/>
            </a:solidFill>
            <a:prstDash val="solid"/>
            <a:headEnd type="none" len="sm" w="sm"/>
            <a:tailEnd type="none" len="sm" w="sm"/>
          </a:ln>
        </p:spPr>
      </p:sp>
      <p:sp>
        <p:nvSpPr>
          <p:cNvPr name="TextBox 8" id="8"/>
          <p:cNvSpPr txBox="true"/>
          <p:nvPr/>
        </p:nvSpPr>
        <p:spPr>
          <a:xfrm rot="0">
            <a:off x="7025640" y="4425315"/>
            <a:ext cx="4771949" cy="885825"/>
          </a:xfrm>
          <a:prstGeom prst="rect">
            <a:avLst/>
          </a:prstGeom>
        </p:spPr>
        <p:txBody>
          <a:bodyPr anchor="t" rtlCol="false" tIns="0" lIns="0" bIns="0" rIns="0">
            <a:spAutoFit/>
          </a:bodyPr>
          <a:lstStyle/>
          <a:p>
            <a:pPr algn="l">
              <a:lnSpc>
                <a:spcPts val="7800"/>
              </a:lnSpc>
            </a:pPr>
            <a:r>
              <a:rPr lang="en-US" sz="7800">
                <a:solidFill>
                  <a:srgbClr val="DCD3C3"/>
                </a:solidFill>
                <a:latin typeface="Anton"/>
                <a:ea typeface="Anton"/>
                <a:cs typeface="Anton"/>
                <a:sym typeface="Anton"/>
              </a:rPr>
              <a:t>0</a:t>
            </a:r>
          </a:p>
        </p:txBody>
      </p:sp>
      <p:sp>
        <p:nvSpPr>
          <p:cNvPr name="TextBox 9" id="9"/>
          <p:cNvSpPr txBox="true"/>
          <p:nvPr/>
        </p:nvSpPr>
        <p:spPr>
          <a:xfrm rot="0">
            <a:off x="7025640" y="5301615"/>
            <a:ext cx="4771949" cy="725805"/>
          </a:xfrm>
          <a:prstGeom prst="rect">
            <a:avLst/>
          </a:prstGeom>
        </p:spPr>
        <p:txBody>
          <a:bodyPr anchor="t" rtlCol="false" tIns="0" lIns="0" bIns="0" rIns="0">
            <a:spAutoFit/>
          </a:bodyPr>
          <a:lstStyle/>
          <a:p>
            <a:pPr algn="l">
              <a:lnSpc>
                <a:spcPts val="2520"/>
              </a:lnSpc>
            </a:pPr>
            <a:r>
              <a:rPr lang="en-US" sz="1800">
                <a:solidFill>
                  <a:srgbClr val="A39B8B"/>
                </a:solidFill>
                <a:latin typeface="Archivo Narrow"/>
                <a:ea typeface="Archivo Narrow"/>
                <a:cs typeface="Archivo Narrow"/>
                <a:sym typeface="Archivo Narrow"/>
              </a:rPr>
              <a:t>eliminadas: los casos extremos resultaron ser ventas normales</a:t>
            </a:r>
          </a:p>
        </p:txBody>
      </p:sp>
      <p:sp>
        <p:nvSpPr>
          <p:cNvPr name="AutoShape 10" id="10"/>
          <p:cNvSpPr/>
          <p:nvPr/>
        </p:nvSpPr>
        <p:spPr>
          <a:xfrm rot="5362080">
            <a:off x="11186103" y="5131118"/>
            <a:ext cx="1726035" cy="0"/>
          </a:xfrm>
          <a:prstGeom prst="line">
            <a:avLst/>
          </a:prstGeom>
          <a:ln cap="rnd" w="9525">
            <a:solidFill>
              <a:srgbClr val="6E685E"/>
            </a:solidFill>
            <a:prstDash val="solid"/>
            <a:headEnd type="none" len="sm" w="sm"/>
            <a:tailEnd type="none" len="sm" w="sm"/>
          </a:ln>
        </p:spPr>
      </p:sp>
      <p:sp>
        <p:nvSpPr>
          <p:cNvPr name="TextBox 11" id="11"/>
          <p:cNvSpPr txBox="true"/>
          <p:nvPr/>
        </p:nvSpPr>
        <p:spPr>
          <a:xfrm rot="0">
            <a:off x="12435840" y="4425315"/>
            <a:ext cx="4771949" cy="885825"/>
          </a:xfrm>
          <a:prstGeom prst="rect">
            <a:avLst/>
          </a:prstGeom>
        </p:spPr>
        <p:txBody>
          <a:bodyPr anchor="t" rtlCol="false" tIns="0" lIns="0" bIns="0" rIns="0">
            <a:spAutoFit/>
          </a:bodyPr>
          <a:lstStyle/>
          <a:p>
            <a:pPr algn="l">
              <a:lnSpc>
                <a:spcPts val="7800"/>
              </a:lnSpc>
            </a:pPr>
            <a:r>
              <a:rPr lang="en-US" sz="7800">
                <a:solidFill>
                  <a:srgbClr val="DCD3C3"/>
                </a:solidFill>
                <a:latin typeface="Anton"/>
                <a:ea typeface="Anton"/>
                <a:cs typeface="Anton"/>
                <a:sym typeface="Anton"/>
              </a:rPr>
              <a:t>5</a:t>
            </a:r>
          </a:p>
        </p:txBody>
      </p:sp>
      <p:sp>
        <p:nvSpPr>
          <p:cNvPr name="TextBox 12" id="12"/>
          <p:cNvSpPr txBox="true"/>
          <p:nvPr/>
        </p:nvSpPr>
        <p:spPr>
          <a:xfrm rot="0">
            <a:off x="12435840" y="5301615"/>
            <a:ext cx="4771949" cy="725805"/>
          </a:xfrm>
          <a:prstGeom prst="rect">
            <a:avLst/>
          </a:prstGeom>
        </p:spPr>
        <p:txBody>
          <a:bodyPr anchor="t" rtlCol="false" tIns="0" lIns="0" bIns="0" rIns="0">
            <a:spAutoFit/>
          </a:bodyPr>
          <a:lstStyle/>
          <a:p>
            <a:pPr algn="l">
              <a:lnSpc>
                <a:spcPts val="2520"/>
              </a:lnSpc>
            </a:pPr>
            <a:r>
              <a:rPr lang="en-US" sz="1800">
                <a:solidFill>
                  <a:srgbClr val="A39B8B"/>
                </a:solidFill>
                <a:latin typeface="Archivo Narrow"/>
                <a:ea typeface="Archivo Narrow"/>
                <a:cs typeface="Archivo Narrow"/>
                <a:sym typeface="Archivo Narrow"/>
              </a:rPr>
              <a:t>variables con log1p por asimetría, solo en los modelos lineales</a:t>
            </a:r>
          </a:p>
        </p:txBody>
      </p:sp>
      <p:sp>
        <p:nvSpPr>
          <p:cNvPr name="TextBox 13" id="13"/>
          <p:cNvSpPr txBox="true"/>
          <p:nvPr/>
        </p:nvSpPr>
        <p:spPr>
          <a:xfrm rot="0">
            <a:off x="1219200" y="6856095"/>
            <a:ext cx="5101590" cy="405765"/>
          </a:xfrm>
          <a:prstGeom prst="rect">
            <a:avLst/>
          </a:prstGeom>
        </p:spPr>
        <p:txBody>
          <a:bodyPr anchor="t" rtlCol="false" tIns="0" lIns="0" bIns="0" rIns="0">
            <a:spAutoFit/>
          </a:bodyPr>
          <a:lstStyle/>
          <a:p>
            <a:pPr algn="l">
              <a:lnSpc>
                <a:spcPts val="2520"/>
              </a:lnSpc>
            </a:pPr>
            <a:r>
              <a:rPr lang="en-US" b="true" sz="1800" spc="149">
                <a:solidFill>
                  <a:srgbClr val="A39B8B"/>
                </a:solidFill>
                <a:latin typeface="Archivo Narrow Bold"/>
                <a:ea typeface="Archivo Narrow Bold"/>
                <a:cs typeface="Archivo Narrow Bold"/>
                <a:sym typeface="Archivo Narrow Bold"/>
              </a:rPr>
              <a:t>IQR CON Y SIN CEROS</a:t>
            </a:r>
          </a:p>
        </p:txBody>
      </p:sp>
      <p:sp>
        <p:nvSpPr>
          <p:cNvPr name="TextBox 14" id="14"/>
          <p:cNvSpPr txBox="true"/>
          <p:nvPr/>
        </p:nvSpPr>
        <p:spPr>
          <a:xfrm rot="0">
            <a:off x="1219200" y="7299960"/>
            <a:ext cx="5101590" cy="796290"/>
          </a:xfrm>
          <a:prstGeom prst="rect">
            <a:avLst/>
          </a:prstGeom>
        </p:spPr>
        <p:txBody>
          <a:bodyPr anchor="t" rtlCol="false" tIns="0" lIns="0" bIns="0" rIns="0">
            <a:spAutoFit/>
          </a:bodyPr>
          <a:lstStyle/>
          <a:p>
            <a:pPr algn="l">
              <a:lnSpc>
                <a:spcPts val="2835"/>
              </a:lnSpc>
            </a:pPr>
            <a:r>
              <a:rPr lang="en-US" sz="2100">
                <a:solidFill>
                  <a:srgbClr val="DCD3C3"/>
                </a:solidFill>
                <a:latin typeface="Archivo Narrow"/>
                <a:ea typeface="Archivo Narrow"/>
                <a:cs typeface="Archivo Narrow"/>
                <a:sym typeface="Archivo Narrow"/>
              </a:rPr>
              <a:t>Cuando muchas casas tienen 0, el IQR exagera los outliers.</a:t>
            </a:r>
          </a:p>
        </p:txBody>
      </p:sp>
      <p:sp>
        <p:nvSpPr>
          <p:cNvPr name="AutoShape 15" id="15"/>
          <p:cNvSpPr/>
          <p:nvPr/>
        </p:nvSpPr>
        <p:spPr>
          <a:xfrm rot="17100">
            <a:off x="6772256" y="7377112"/>
            <a:ext cx="3829098" cy="0"/>
          </a:xfrm>
          <a:prstGeom prst="line">
            <a:avLst/>
          </a:prstGeom>
          <a:ln cap="rnd" w="9525">
            <a:solidFill>
              <a:srgbClr val="DCD3C3"/>
            </a:solidFill>
            <a:prstDash val="solid"/>
            <a:headEnd type="none" len="sm" w="sm"/>
            <a:tailEnd type="none" len="sm" w="sm"/>
          </a:ln>
        </p:spPr>
      </p:sp>
      <p:sp>
        <p:nvSpPr>
          <p:cNvPr name="TextBox 16" id="16"/>
          <p:cNvSpPr txBox="true"/>
          <p:nvPr/>
        </p:nvSpPr>
        <p:spPr>
          <a:xfrm rot="0">
            <a:off x="6781800" y="6856095"/>
            <a:ext cx="3688842" cy="405765"/>
          </a:xfrm>
          <a:prstGeom prst="rect">
            <a:avLst/>
          </a:prstGeom>
        </p:spPr>
        <p:txBody>
          <a:bodyPr anchor="t" rtlCol="false" tIns="0" lIns="0" bIns="0" rIns="0">
            <a:spAutoFit/>
          </a:bodyPr>
          <a:lstStyle/>
          <a:p>
            <a:pPr algn="l">
              <a:lnSpc>
                <a:spcPts val="2520"/>
              </a:lnSpc>
            </a:pPr>
            <a:r>
              <a:rPr lang="en-US" sz="1800" spc="75">
                <a:solidFill>
                  <a:srgbClr val="A39B8B"/>
                </a:solidFill>
                <a:latin typeface="Archivo Narrow"/>
                <a:ea typeface="Archivo Narrow"/>
                <a:cs typeface="Archivo Narrow"/>
                <a:sym typeface="Archivo Narrow"/>
              </a:rPr>
              <a:t>VARIABLE</a:t>
            </a:r>
          </a:p>
        </p:txBody>
      </p:sp>
      <p:sp>
        <p:nvSpPr>
          <p:cNvPr name="AutoShape 17" id="17"/>
          <p:cNvSpPr/>
          <p:nvPr/>
        </p:nvSpPr>
        <p:spPr>
          <a:xfrm rot="20100">
            <a:off x="10582246" y="7377112"/>
            <a:ext cx="3257607" cy="0"/>
          </a:xfrm>
          <a:prstGeom prst="line">
            <a:avLst/>
          </a:prstGeom>
          <a:ln cap="rnd" w="9525">
            <a:solidFill>
              <a:srgbClr val="DCD3C3"/>
            </a:solidFill>
            <a:prstDash val="solid"/>
            <a:headEnd type="none" len="sm" w="sm"/>
            <a:tailEnd type="none" len="sm" w="sm"/>
          </a:ln>
        </p:spPr>
      </p:sp>
      <p:sp>
        <p:nvSpPr>
          <p:cNvPr name="TextBox 18" id="18"/>
          <p:cNvSpPr txBox="true"/>
          <p:nvPr/>
        </p:nvSpPr>
        <p:spPr>
          <a:xfrm rot="0">
            <a:off x="10591800" y="6856095"/>
            <a:ext cx="3100197" cy="405765"/>
          </a:xfrm>
          <a:prstGeom prst="rect">
            <a:avLst/>
          </a:prstGeom>
        </p:spPr>
        <p:txBody>
          <a:bodyPr anchor="t" rtlCol="false" tIns="0" lIns="0" bIns="0" rIns="0">
            <a:spAutoFit/>
          </a:bodyPr>
          <a:lstStyle/>
          <a:p>
            <a:pPr algn="l">
              <a:lnSpc>
                <a:spcPts val="2520"/>
              </a:lnSpc>
            </a:pPr>
            <a:r>
              <a:rPr lang="en-US" sz="1800" spc="75">
                <a:solidFill>
                  <a:srgbClr val="A39B8B"/>
                </a:solidFill>
                <a:latin typeface="Archivo Narrow"/>
                <a:ea typeface="Archivo Narrow"/>
                <a:cs typeface="Archivo Narrow"/>
                <a:sym typeface="Archivo Narrow"/>
              </a:rPr>
              <a:t>TODA LA VARIABLE</a:t>
            </a:r>
          </a:p>
        </p:txBody>
      </p:sp>
      <p:sp>
        <p:nvSpPr>
          <p:cNvPr name="AutoShape 19" id="19"/>
          <p:cNvSpPr/>
          <p:nvPr/>
        </p:nvSpPr>
        <p:spPr>
          <a:xfrm rot="20100">
            <a:off x="13820746" y="7377112"/>
            <a:ext cx="3257607" cy="0"/>
          </a:xfrm>
          <a:prstGeom prst="line">
            <a:avLst/>
          </a:prstGeom>
          <a:ln cap="rnd" w="9525">
            <a:solidFill>
              <a:srgbClr val="DCD3C3"/>
            </a:solidFill>
            <a:prstDash val="solid"/>
            <a:headEnd type="none" len="sm" w="sm"/>
            <a:tailEnd type="none" len="sm" w="sm"/>
          </a:ln>
        </p:spPr>
      </p:sp>
      <p:sp>
        <p:nvSpPr>
          <p:cNvPr name="TextBox 20" id="20"/>
          <p:cNvSpPr txBox="true"/>
          <p:nvPr/>
        </p:nvSpPr>
        <p:spPr>
          <a:xfrm rot="0">
            <a:off x="13830300" y="6856095"/>
            <a:ext cx="3100197" cy="405765"/>
          </a:xfrm>
          <a:prstGeom prst="rect">
            <a:avLst/>
          </a:prstGeom>
        </p:spPr>
        <p:txBody>
          <a:bodyPr anchor="t" rtlCol="false" tIns="0" lIns="0" bIns="0" rIns="0">
            <a:spAutoFit/>
          </a:bodyPr>
          <a:lstStyle/>
          <a:p>
            <a:pPr algn="l">
              <a:lnSpc>
                <a:spcPts val="2520"/>
              </a:lnSpc>
            </a:pPr>
            <a:r>
              <a:rPr lang="en-US" sz="1800" spc="75">
                <a:solidFill>
                  <a:srgbClr val="A39B8B"/>
                </a:solidFill>
                <a:latin typeface="Archivo Narrow"/>
                <a:ea typeface="Archivo Narrow"/>
                <a:cs typeface="Archivo Narrow"/>
                <a:sym typeface="Archivo Narrow"/>
              </a:rPr>
              <a:t>SOLO VALORES &gt; 0</a:t>
            </a:r>
          </a:p>
        </p:txBody>
      </p:sp>
      <p:sp>
        <p:nvSpPr>
          <p:cNvPr name="AutoShape 21" id="21"/>
          <p:cNvSpPr/>
          <p:nvPr/>
        </p:nvSpPr>
        <p:spPr>
          <a:xfrm rot="8580">
            <a:off x="6777028" y="8067675"/>
            <a:ext cx="3819535" cy="0"/>
          </a:xfrm>
          <a:prstGeom prst="line">
            <a:avLst/>
          </a:prstGeom>
          <a:ln cap="rnd" w="9525">
            <a:solidFill>
              <a:srgbClr val="6E685E"/>
            </a:solidFill>
            <a:prstDash val="solid"/>
            <a:headEnd type="none" len="sm" w="sm"/>
            <a:tailEnd type="none" len="sm" w="sm"/>
          </a:ln>
        </p:spPr>
      </p:sp>
      <p:sp>
        <p:nvSpPr>
          <p:cNvPr name="TextBox 22" id="22"/>
          <p:cNvSpPr txBox="true"/>
          <p:nvPr/>
        </p:nvSpPr>
        <p:spPr>
          <a:xfrm rot="0">
            <a:off x="6781800" y="7496175"/>
            <a:ext cx="3688842" cy="459105"/>
          </a:xfrm>
          <a:prstGeom prst="rect">
            <a:avLst/>
          </a:prstGeom>
        </p:spPr>
        <p:txBody>
          <a:bodyPr anchor="t" rtlCol="false" tIns="0" lIns="0" bIns="0" rIns="0">
            <a:spAutoFit/>
          </a:bodyPr>
          <a:lstStyle/>
          <a:p>
            <a:pPr algn="l">
              <a:lnSpc>
                <a:spcPts val="2940"/>
              </a:lnSpc>
            </a:pPr>
            <a:r>
              <a:rPr lang="en-US" sz="2100">
                <a:solidFill>
                  <a:srgbClr val="DCD3C3"/>
                </a:solidFill>
                <a:latin typeface="Archivo Narrow"/>
                <a:ea typeface="Archivo Narrow"/>
                <a:cs typeface="Archivo Narrow"/>
                <a:sym typeface="Archivo Narrow"/>
              </a:rPr>
              <a:t>Mas Vnr Area</a:t>
            </a:r>
          </a:p>
        </p:txBody>
      </p:sp>
      <p:sp>
        <p:nvSpPr>
          <p:cNvPr name="AutoShape 23" id="23"/>
          <p:cNvSpPr/>
          <p:nvPr/>
        </p:nvSpPr>
        <p:spPr>
          <a:xfrm rot="10080">
            <a:off x="10587028" y="8067675"/>
            <a:ext cx="3248035" cy="0"/>
          </a:xfrm>
          <a:prstGeom prst="line">
            <a:avLst/>
          </a:prstGeom>
          <a:ln cap="rnd" w="9525">
            <a:solidFill>
              <a:srgbClr val="6E685E"/>
            </a:solidFill>
            <a:prstDash val="solid"/>
            <a:headEnd type="none" len="sm" w="sm"/>
            <a:tailEnd type="none" len="sm" w="sm"/>
          </a:ln>
        </p:spPr>
      </p:sp>
      <p:sp>
        <p:nvSpPr>
          <p:cNvPr name="TextBox 24" id="24"/>
          <p:cNvSpPr txBox="true"/>
          <p:nvPr/>
        </p:nvSpPr>
        <p:spPr>
          <a:xfrm rot="0">
            <a:off x="10591800" y="7496175"/>
            <a:ext cx="3100197" cy="459105"/>
          </a:xfrm>
          <a:prstGeom prst="rect">
            <a:avLst/>
          </a:prstGeom>
        </p:spPr>
        <p:txBody>
          <a:bodyPr anchor="t" rtlCol="false" tIns="0" lIns="0" bIns="0" rIns="0">
            <a:spAutoFit/>
          </a:bodyPr>
          <a:lstStyle/>
          <a:p>
            <a:pPr algn="l">
              <a:lnSpc>
                <a:spcPts val="2940"/>
              </a:lnSpc>
            </a:pPr>
            <a:r>
              <a:rPr lang="en-US" sz="2100">
                <a:solidFill>
                  <a:srgbClr val="A39B8B"/>
                </a:solidFill>
                <a:latin typeface="Archivo Narrow"/>
                <a:ea typeface="Archivo Narrow"/>
                <a:cs typeface="Archivo Narrow"/>
                <a:sym typeface="Archivo Narrow"/>
              </a:rPr>
              <a:t>200</a:t>
            </a:r>
          </a:p>
        </p:txBody>
      </p:sp>
      <p:sp>
        <p:nvSpPr>
          <p:cNvPr name="AutoShape 25" id="25"/>
          <p:cNvSpPr/>
          <p:nvPr/>
        </p:nvSpPr>
        <p:spPr>
          <a:xfrm rot="10080">
            <a:off x="13825528" y="8067675"/>
            <a:ext cx="3248035" cy="0"/>
          </a:xfrm>
          <a:prstGeom prst="line">
            <a:avLst/>
          </a:prstGeom>
          <a:ln cap="rnd" w="9525">
            <a:solidFill>
              <a:srgbClr val="6E685E"/>
            </a:solidFill>
            <a:prstDash val="solid"/>
            <a:headEnd type="none" len="sm" w="sm"/>
            <a:tailEnd type="none" len="sm" w="sm"/>
          </a:ln>
        </p:spPr>
      </p:sp>
      <p:sp>
        <p:nvSpPr>
          <p:cNvPr name="TextBox 26" id="26"/>
          <p:cNvSpPr txBox="true"/>
          <p:nvPr/>
        </p:nvSpPr>
        <p:spPr>
          <a:xfrm rot="0">
            <a:off x="13830300" y="7496175"/>
            <a:ext cx="3100197" cy="459105"/>
          </a:xfrm>
          <a:prstGeom prst="rect">
            <a:avLst/>
          </a:prstGeom>
        </p:spPr>
        <p:txBody>
          <a:bodyPr anchor="t" rtlCol="false" tIns="0" lIns="0" bIns="0" rIns="0">
            <a:spAutoFit/>
          </a:bodyPr>
          <a:lstStyle/>
          <a:p>
            <a:pPr algn="l">
              <a:lnSpc>
                <a:spcPts val="2940"/>
              </a:lnSpc>
            </a:pPr>
            <a:r>
              <a:rPr lang="en-US" sz="2100" b="true">
                <a:solidFill>
                  <a:srgbClr val="DCD3C3"/>
                </a:solidFill>
                <a:latin typeface="Archivo Narrow Bold"/>
                <a:ea typeface="Archivo Narrow Bold"/>
                <a:cs typeface="Archivo Narrow Bold"/>
                <a:sym typeface="Archivo Narrow Bold"/>
              </a:rPr>
              <a:t>63</a:t>
            </a:r>
          </a:p>
        </p:txBody>
      </p:sp>
      <p:sp>
        <p:nvSpPr>
          <p:cNvPr name="AutoShape 27" id="27"/>
          <p:cNvSpPr/>
          <p:nvPr/>
        </p:nvSpPr>
        <p:spPr>
          <a:xfrm rot="8580">
            <a:off x="6777028" y="8753475"/>
            <a:ext cx="3819535" cy="0"/>
          </a:xfrm>
          <a:prstGeom prst="line">
            <a:avLst/>
          </a:prstGeom>
          <a:ln cap="rnd" w="9525">
            <a:solidFill>
              <a:srgbClr val="6E685E"/>
            </a:solidFill>
            <a:prstDash val="solid"/>
            <a:headEnd type="none" len="sm" w="sm"/>
            <a:tailEnd type="none" len="sm" w="sm"/>
          </a:ln>
        </p:spPr>
      </p:sp>
      <p:sp>
        <p:nvSpPr>
          <p:cNvPr name="TextBox 28" id="28"/>
          <p:cNvSpPr txBox="true"/>
          <p:nvPr/>
        </p:nvSpPr>
        <p:spPr>
          <a:xfrm rot="0">
            <a:off x="6781800" y="8181975"/>
            <a:ext cx="3688842" cy="459105"/>
          </a:xfrm>
          <a:prstGeom prst="rect">
            <a:avLst/>
          </a:prstGeom>
        </p:spPr>
        <p:txBody>
          <a:bodyPr anchor="t" rtlCol="false" tIns="0" lIns="0" bIns="0" rIns="0">
            <a:spAutoFit/>
          </a:bodyPr>
          <a:lstStyle/>
          <a:p>
            <a:pPr algn="l">
              <a:lnSpc>
                <a:spcPts val="2940"/>
              </a:lnSpc>
            </a:pPr>
            <a:r>
              <a:rPr lang="en-US" sz="2100">
                <a:solidFill>
                  <a:srgbClr val="DCD3C3"/>
                </a:solidFill>
                <a:latin typeface="Archivo Narrow"/>
                <a:ea typeface="Archivo Narrow"/>
                <a:cs typeface="Archivo Narrow"/>
                <a:sym typeface="Archivo Narrow"/>
              </a:rPr>
              <a:t>Open Porch SF</a:t>
            </a:r>
          </a:p>
        </p:txBody>
      </p:sp>
      <p:sp>
        <p:nvSpPr>
          <p:cNvPr name="AutoShape 29" id="29"/>
          <p:cNvSpPr/>
          <p:nvPr/>
        </p:nvSpPr>
        <p:spPr>
          <a:xfrm rot="10080">
            <a:off x="10587028" y="8753475"/>
            <a:ext cx="3248035" cy="0"/>
          </a:xfrm>
          <a:prstGeom prst="line">
            <a:avLst/>
          </a:prstGeom>
          <a:ln cap="rnd" w="9525">
            <a:solidFill>
              <a:srgbClr val="6E685E"/>
            </a:solidFill>
            <a:prstDash val="solid"/>
            <a:headEnd type="none" len="sm" w="sm"/>
            <a:tailEnd type="none" len="sm" w="sm"/>
          </a:ln>
        </p:spPr>
      </p:sp>
      <p:sp>
        <p:nvSpPr>
          <p:cNvPr name="TextBox 30" id="30"/>
          <p:cNvSpPr txBox="true"/>
          <p:nvPr/>
        </p:nvSpPr>
        <p:spPr>
          <a:xfrm rot="0">
            <a:off x="10591800" y="8181975"/>
            <a:ext cx="3100197" cy="459105"/>
          </a:xfrm>
          <a:prstGeom prst="rect">
            <a:avLst/>
          </a:prstGeom>
        </p:spPr>
        <p:txBody>
          <a:bodyPr anchor="t" rtlCol="false" tIns="0" lIns="0" bIns="0" rIns="0">
            <a:spAutoFit/>
          </a:bodyPr>
          <a:lstStyle/>
          <a:p>
            <a:pPr algn="l">
              <a:lnSpc>
                <a:spcPts val="2940"/>
              </a:lnSpc>
            </a:pPr>
            <a:r>
              <a:rPr lang="en-US" sz="2100">
                <a:solidFill>
                  <a:srgbClr val="A39B8B"/>
                </a:solidFill>
                <a:latin typeface="Archivo Narrow"/>
                <a:ea typeface="Archivo Narrow"/>
                <a:cs typeface="Archivo Narrow"/>
                <a:sym typeface="Archivo Narrow"/>
              </a:rPr>
              <a:t>156</a:t>
            </a:r>
          </a:p>
        </p:txBody>
      </p:sp>
      <p:sp>
        <p:nvSpPr>
          <p:cNvPr name="AutoShape 31" id="31"/>
          <p:cNvSpPr/>
          <p:nvPr/>
        </p:nvSpPr>
        <p:spPr>
          <a:xfrm rot="10080">
            <a:off x="13825528" y="8753475"/>
            <a:ext cx="3248035" cy="0"/>
          </a:xfrm>
          <a:prstGeom prst="line">
            <a:avLst/>
          </a:prstGeom>
          <a:ln cap="rnd" w="9525">
            <a:solidFill>
              <a:srgbClr val="6E685E"/>
            </a:solidFill>
            <a:prstDash val="solid"/>
            <a:headEnd type="none" len="sm" w="sm"/>
            <a:tailEnd type="none" len="sm" w="sm"/>
          </a:ln>
        </p:spPr>
      </p:sp>
      <p:sp>
        <p:nvSpPr>
          <p:cNvPr name="TextBox 32" id="32"/>
          <p:cNvSpPr txBox="true"/>
          <p:nvPr/>
        </p:nvSpPr>
        <p:spPr>
          <a:xfrm rot="0">
            <a:off x="13830300" y="8181975"/>
            <a:ext cx="3100197" cy="459105"/>
          </a:xfrm>
          <a:prstGeom prst="rect">
            <a:avLst/>
          </a:prstGeom>
        </p:spPr>
        <p:txBody>
          <a:bodyPr anchor="t" rtlCol="false" tIns="0" lIns="0" bIns="0" rIns="0">
            <a:spAutoFit/>
          </a:bodyPr>
          <a:lstStyle/>
          <a:p>
            <a:pPr algn="l">
              <a:lnSpc>
                <a:spcPts val="2940"/>
              </a:lnSpc>
            </a:pPr>
            <a:r>
              <a:rPr lang="en-US" sz="2100" b="true">
                <a:solidFill>
                  <a:srgbClr val="DCD3C3"/>
                </a:solidFill>
                <a:latin typeface="Archivo Narrow Bold"/>
                <a:ea typeface="Archivo Narrow Bold"/>
                <a:cs typeface="Archivo Narrow Bold"/>
                <a:sym typeface="Archivo Narrow Bold"/>
              </a:rPr>
              <a:t>86</a:t>
            </a:r>
          </a:p>
        </p:txBody>
      </p:sp>
      <p:sp>
        <p:nvSpPr>
          <p:cNvPr name="TextBox 33" id="33"/>
          <p:cNvSpPr txBox="true"/>
          <p:nvPr/>
        </p:nvSpPr>
        <p:spPr>
          <a:xfrm rot="0">
            <a:off x="1219200" y="9309735"/>
            <a:ext cx="7848600" cy="405765"/>
          </a:xfrm>
          <a:prstGeom prst="rect">
            <a:avLst/>
          </a:prstGeom>
        </p:spPr>
        <p:txBody>
          <a:bodyPr anchor="t" rtlCol="false" tIns="0" lIns="0" bIns="0" rIns="0">
            <a:spAutoFit/>
          </a:bodyPr>
          <a:lstStyle/>
          <a:p>
            <a:pPr algn="l">
              <a:lnSpc>
                <a:spcPts val="2520"/>
              </a:lnSpc>
            </a:pPr>
            <a:r>
              <a:rPr lang="en-US" sz="1800">
                <a:solidFill>
                  <a:srgbClr val="A39B8B"/>
                </a:solidFill>
                <a:latin typeface="Archivo Narrow"/>
                <a:ea typeface="Archivo Narrow"/>
                <a:cs typeface="Archivo Narrow"/>
                <a:sym typeface="Archivo Narrow"/>
              </a:rPr>
              <a:t>07 · Housing Prices · EP2</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DCD3C3"/>
        </a:solidFill>
      </p:bgPr>
    </p:bg>
    <p:spTree>
      <p:nvGrpSpPr>
        <p:cNvPr id="1" name=""/>
        <p:cNvGrpSpPr/>
        <p:nvPr/>
      </p:nvGrpSpPr>
      <p:grpSpPr>
        <a:xfrm>
          <a:off x="0" y="0"/>
          <a:ext cx="0" cy="0"/>
          <a:chOff x="0" y="0"/>
          <a:chExt cx="0" cy="0"/>
        </a:xfrm>
      </p:grpSpPr>
      <p:sp>
        <p:nvSpPr>
          <p:cNvPr name="TextBox 2" id="2"/>
          <p:cNvSpPr txBox="true"/>
          <p:nvPr/>
        </p:nvSpPr>
        <p:spPr>
          <a:xfrm rot="0">
            <a:off x="1219200" y="1333500"/>
            <a:ext cx="16325088" cy="963930"/>
          </a:xfrm>
          <a:prstGeom prst="rect">
            <a:avLst/>
          </a:prstGeom>
        </p:spPr>
        <p:txBody>
          <a:bodyPr anchor="t" rtlCol="false" tIns="0" lIns="0" bIns="0" rIns="0">
            <a:spAutoFit/>
          </a:bodyPr>
          <a:lstStyle/>
          <a:p>
            <a:pPr algn="l">
              <a:lnSpc>
                <a:spcPts val="8190"/>
              </a:lnSpc>
            </a:pPr>
            <a:r>
              <a:rPr lang="en-US" sz="7800">
                <a:solidFill>
                  <a:srgbClr val="1F1E1C"/>
                </a:solidFill>
                <a:latin typeface="Anton"/>
                <a:ea typeface="Anton"/>
                <a:cs typeface="Anton"/>
                <a:sym typeface="Anton"/>
              </a:rPr>
              <a:t>PREPARACIÓN POR FAMILIA</a:t>
            </a:r>
          </a:p>
        </p:txBody>
      </p:sp>
      <p:sp>
        <p:nvSpPr>
          <p:cNvPr name="TextBox 3" id="3"/>
          <p:cNvSpPr txBox="true"/>
          <p:nvPr/>
        </p:nvSpPr>
        <p:spPr>
          <a:xfrm rot="0">
            <a:off x="1219200" y="2602230"/>
            <a:ext cx="16325088" cy="436245"/>
          </a:xfrm>
          <a:prstGeom prst="rect">
            <a:avLst/>
          </a:prstGeom>
        </p:spPr>
        <p:txBody>
          <a:bodyPr anchor="t" rtlCol="false" tIns="0" lIns="0" bIns="0" rIns="0">
            <a:spAutoFit/>
          </a:bodyPr>
          <a:lstStyle/>
          <a:p>
            <a:pPr algn="l">
              <a:lnSpc>
                <a:spcPts val="2835"/>
              </a:lnSpc>
            </a:pPr>
            <a:r>
              <a:rPr lang="en-US" sz="2100">
                <a:solidFill>
                  <a:srgbClr val="4A453F"/>
                </a:solidFill>
                <a:latin typeface="Archivo Narrow"/>
                <a:ea typeface="Archivo Narrow"/>
                <a:cs typeface="Archivo Narrow"/>
                <a:sym typeface="Archivo Narrow"/>
              </a:rPr>
              <a:t>Cada decisión se probó con validación cruzada. Todo lo que aprende de los datos va dentro de un pipeline.</a:t>
            </a:r>
          </a:p>
        </p:txBody>
      </p:sp>
      <p:sp>
        <p:nvSpPr>
          <p:cNvPr name="AutoShape 4" id="4"/>
          <p:cNvSpPr/>
          <p:nvPr/>
        </p:nvSpPr>
        <p:spPr>
          <a:xfrm>
            <a:off x="1209681" y="4572456"/>
            <a:ext cx="4591048" cy="19071"/>
          </a:xfrm>
          <a:prstGeom prst="line">
            <a:avLst/>
          </a:prstGeom>
          <a:ln cap="rnd" w="9525">
            <a:solidFill>
              <a:srgbClr val="1F1E1C"/>
            </a:solidFill>
            <a:prstDash val="solid"/>
            <a:headEnd type="none" len="sm" w="sm"/>
            <a:tailEnd type="none" len="sm" w="sm"/>
          </a:ln>
        </p:spPr>
      </p:sp>
      <p:sp>
        <p:nvSpPr>
          <p:cNvPr name="AutoShape 5" id="5"/>
          <p:cNvSpPr/>
          <p:nvPr/>
        </p:nvSpPr>
        <p:spPr>
          <a:xfrm>
            <a:off x="5781677" y="4572463"/>
            <a:ext cx="5657846" cy="19058"/>
          </a:xfrm>
          <a:prstGeom prst="line">
            <a:avLst/>
          </a:prstGeom>
          <a:ln cap="rnd" w="9525">
            <a:solidFill>
              <a:srgbClr val="1F1E1C"/>
            </a:solidFill>
            <a:prstDash val="solid"/>
            <a:headEnd type="none" len="sm" w="sm"/>
            <a:tailEnd type="none" len="sm" w="sm"/>
          </a:ln>
        </p:spPr>
      </p:sp>
      <p:sp>
        <p:nvSpPr>
          <p:cNvPr name="TextBox 6" id="6"/>
          <p:cNvSpPr txBox="true"/>
          <p:nvPr/>
        </p:nvSpPr>
        <p:spPr>
          <a:xfrm rot="0">
            <a:off x="5791205" y="4056212"/>
            <a:ext cx="5572506" cy="405765"/>
          </a:xfrm>
          <a:prstGeom prst="rect">
            <a:avLst/>
          </a:prstGeom>
        </p:spPr>
        <p:txBody>
          <a:bodyPr anchor="t" rtlCol="false" tIns="0" lIns="0" bIns="0" rIns="0">
            <a:spAutoFit/>
          </a:bodyPr>
          <a:lstStyle/>
          <a:p>
            <a:pPr algn="l">
              <a:lnSpc>
                <a:spcPts val="2520"/>
              </a:lnSpc>
            </a:pPr>
            <a:r>
              <a:rPr lang="en-US" b="true" sz="1800" spc="75">
                <a:solidFill>
                  <a:srgbClr val="1F1E1C"/>
                </a:solidFill>
                <a:latin typeface="Archivo Narrow Bold"/>
                <a:ea typeface="Archivo Narrow Bold"/>
                <a:cs typeface="Archivo Narrow Bold"/>
                <a:sym typeface="Archivo Narrow Bold"/>
              </a:rPr>
              <a:t>RIDGE / LASSO</a:t>
            </a:r>
          </a:p>
        </p:txBody>
      </p:sp>
      <p:sp>
        <p:nvSpPr>
          <p:cNvPr name="AutoShape 7" id="7"/>
          <p:cNvSpPr/>
          <p:nvPr/>
        </p:nvSpPr>
        <p:spPr>
          <a:xfrm>
            <a:off x="11420477" y="4572463"/>
            <a:ext cx="5657846" cy="19058"/>
          </a:xfrm>
          <a:prstGeom prst="line">
            <a:avLst/>
          </a:prstGeom>
          <a:ln cap="rnd" w="9525">
            <a:solidFill>
              <a:srgbClr val="1F1E1C"/>
            </a:solidFill>
            <a:prstDash val="solid"/>
            <a:headEnd type="none" len="sm" w="sm"/>
            <a:tailEnd type="none" len="sm" w="sm"/>
          </a:ln>
        </p:spPr>
      </p:sp>
      <p:sp>
        <p:nvSpPr>
          <p:cNvPr name="TextBox 8" id="8"/>
          <p:cNvSpPr txBox="true"/>
          <p:nvPr/>
        </p:nvSpPr>
        <p:spPr>
          <a:xfrm rot="0">
            <a:off x="11430005" y="4056212"/>
            <a:ext cx="5572506" cy="405765"/>
          </a:xfrm>
          <a:prstGeom prst="rect">
            <a:avLst/>
          </a:prstGeom>
        </p:spPr>
        <p:txBody>
          <a:bodyPr anchor="t" rtlCol="false" tIns="0" lIns="0" bIns="0" rIns="0">
            <a:spAutoFit/>
          </a:bodyPr>
          <a:lstStyle/>
          <a:p>
            <a:pPr algn="l">
              <a:lnSpc>
                <a:spcPts val="2520"/>
              </a:lnSpc>
            </a:pPr>
            <a:r>
              <a:rPr lang="en-US" b="true" sz="1800" spc="75">
                <a:solidFill>
                  <a:srgbClr val="1F1E1C"/>
                </a:solidFill>
                <a:latin typeface="Archivo Narrow Bold"/>
                <a:ea typeface="Archivo Narrow Bold"/>
                <a:cs typeface="Archivo Narrow Bold"/>
                <a:sym typeface="Archivo Narrow Bold"/>
              </a:rPr>
              <a:t>RANDOM FOREST / XGBOOST</a:t>
            </a:r>
          </a:p>
        </p:txBody>
      </p:sp>
      <p:sp>
        <p:nvSpPr>
          <p:cNvPr name="AutoShape 9" id="9"/>
          <p:cNvSpPr/>
          <p:nvPr/>
        </p:nvSpPr>
        <p:spPr>
          <a:xfrm>
            <a:off x="1214438" y="5343997"/>
            <a:ext cx="4581525" cy="9516"/>
          </a:xfrm>
          <a:prstGeom prst="line">
            <a:avLst/>
          </a:prstGeom>
          <a:ln cap="rnd" w="9525">
            <a:solidFill>
              <a:srgbClr val="8C8476"/>
            </a:solidFill>
            <a:prstDash val="solid"/>
            <a:headEnd type="none" len="sm" w="sm"/>
            <a:tailEnd type="none" len="sm" w="sm"/>
          </a:ln>
        </p:spPr>
      </p:sp>
      <p:sp>
        <p:nvSpPr>
          <p:cNvPr name="TextBox 10" id="10"/>
          <p:cNvSpPr txBox="true"/>
          <p:nvPr/>
        </p:nvSpPr>
        <p:spPr>
          <a:xfrm rot="0">
            <a:off x="1219205" y="4734392"/>
            <a:ext cx="4473702" cy="459105"/>
          </a:xfrm>
          <a:prstGeom prst="rect">
            <a:avLst/>
          </a:prstGeom>
        </p:spPr>
        <p:txBody>
          <a:bodyPr anchor="t" rtlCol="false" tIns="0" lIns="0" bIns="0" rIns="0">
            <a:spAutoFit/>
          </a:bodyPr>
          <a:lstStyle/>
          <a:p>
            <a:pPr algn="l">
              <a:lnSpc>
                <a:spcPts val="2940"/>
              </a:lnSpc>
            </a:pPr>
            <a:r>
              <a:rPr lang="en-US" sz="2100">
                <a:solidFill>
                  <a:srgbClr val="4A453F"/>
                </a:solidFill>
                <a:latin typeface="Archivo Narrow"/>
                <a:ea typeface="Archivo Narrow"/>
                <a:cs typeface="Archivo Narrow"/>
                <a:sym typeface="Archivo Narrow"/>
              </a:rPr>
              <a:t>log1p en 5 variables</a:t>
            </a:r>
          </a:p>
        </p:txBody>
      </p:sp>
      <p:sp>
        <p:nvSpPr>
          <p:cNvPr name="AutoShape 11" id="11"/>
          <p:cNvSpPr/>
          <p:nvPr/>
        </p:nvSpPr>
        <p:spPr>
          <a:xfrm>
            <a:off x="5786446" y="5343973"/>
            <a:ext cx="5648326" cy="9562"/>
          </a:xfrm>
          <a:prstGeom prst="line">
            <a:avLst/>
          </a:prstGeom>
          <a:ln cap="rnd" w="9525">
            <a:solidFill>
              <a:srgbClr val="8C8476"/>
            </a:solidFill>
            <a:prstDash val="solid"/>
            <a:headEnd type="none" len="sm" w="sm"/>
            <a:tailEnd type="none" len="sm" w="sm"/>
          </a:ln>
        </p:spPr>
      </p:sp>
      <p:sp>
        <p:nvSpPr>
          <p:cNvPr name="TextBox 12" id="12"/>
          <p:cNvSpPr txBox="true"/>
          <p:nvPr/>
        </p:nvSpPr>
        <p:spPr>
          <a:xfrm rot="0">
            <a:off x="5791205" y="4734392"/>
            <a:ext cx="5572506" cy="459105"/>
          </a:xfrm>
          <a:prstGeom prst="rect">
            <a:avLst/>
          </a:prstGeom>
        </p:spPr>
        <p:txBody>
          <a:bodyPr anchor="t" rtlCol="false" tIns="0" lIns="0" bIns="0" rIns="0">
            <a:spAutoFit/>
          </a:bodyPr>
          <a:lstStyle/>
          <a:p>
            <a:pPr algn="l">
              <a:lnSpc>
                <a:spcPts val="2940"/>
              </a:lnSpc>
            </a:pPr>
            <a:r>
              <a:rPr lang="en-US" sz="2100" b="true">
                <a:solidFill>
                  <a:srgbClr val="1F1E1C"/>
                </a:solidFill>
                <a:latin typeface="Archivo Narrow Bold"/>
                <a:ea typeface="Archivo Narrow Bold"/>
                <a:cs typeface="Archivo Narrow Bold"/>
                <a:sym typeface="Archivo Narrow Bold"/>
              </a:rPr>
              <a:t>Sí</a:t>
            </a:r>
          </a:p>
        </p:txBody>
      </p:sp>
      <p:sp>
        <p:nvSpPr>
          <p:cNvPr name="AutoShape 13" id="13"/>
          <p:cNvSpPr/>
          <p:nvPr/>
        </p:nvSpPr>
        <p:spPr>
          <a:xfrm>
            <a:off x="11425246" y="5343973"/>
            <a:ext cx="5648326" cy="9562"/>
          </a:xfrm>
          <a:prstGeom prst="line">
            <a:avLst/>
          </a:prstGeom>
          <a:ln cap="rnd" w="9525">
            <a:solidFill>
              <a:srgbClr val="8C8476"/>
            </a:solidFill>
            <a:prstDash val="solid"/>
            <a:headEnd type="none" len="sm" w="sm"/>
            <a:tailEnd type="none" len="sm" w="sm"/>
          </a:ln>
        </p:spPr>
      </p:sp>
      <p:sp>
        <p:nvSpPr>
          <p:cNvPr name="TextBox 14" id="14"/>
          <p:cNvSpPr txBox="true"/>
          <p:nvPr/>
        </p:nvSpPr>
        <p:spPr>
          <a:xfrm rot="0">
            <a:off x="11430005" y="4734392"/>
            <a:ext cx="5572506" cy="459105"/>
          </a:xfrm>
          <a:prstGeom prst="rect">
            <a:avLst/>
          </a:prstGeom>
        </p:spPr>
        <p:txBody>
          <a:bodyPr anchor="t" rtlCol="false" tIns="0" lIns="0" bIns="0" rIns="0">
            <a:spAutoFit/>
          </a:bodyPr>
          <a:lstStyle/>
          <a:p>
            <a:pPr algn="l">
              <a:lnSpc>
                <a:spcPts val="2940"/>
              </a:lnSpc>
            </a:pPr>
            <a:r>
              <a:rPr lang="en-US" sz="2100">
                <a:solidFill>
                  <a:srgbClr val="1F1E1C"/>
                </a:solidFill>
                <a:latin typeface="Archivo Narrow"/>
                <a:ea typeface="Archivo Narrow"/>
                <a:cs typeface="Archivo Narrow"/>
                <a:sym typeface="Archivo Narrow"/>
              </a:rPr>
              <a:t>No (sin efecto en árboles)</a:t>
            </a:r>
          </a:p>
        </p:txBody>
      </p:sp>
      <p:sp>
        <p:nvSpPr>
          <p:cNvPr name="AutoShape 15" id="15"/>
          <p:cNvSpPr/>
          <p:nvPr/>
        </p:nvSpPr>
        <p:spPr>
          <a:xfrm>
            <a:off x="1214438" y="6105997"/>
            <a:ext cx="4581525" cy="9516"/>
          </a:xfrm>
          <a:prstGeom prst="line">
            <a:avLst/>
          </a:prstGeom>
          <a:ln cap="rnd" w="9525">
            <a:solidFill>
              <a:srgbClr val="8C8476"/>
            </a:solidFill>
            <a:prstDash val="solid"/>
            <a:headEnd type="none" len="sm" w="sm"/>
            <a:tailEnd type="none" len="sm" w="sm"/>
          </a:ln>
        </p:spPr>
      </p:sp>
      <p:sp>
        <p:nvSpPr>
          <p:cNvPr name="TextBox 16" id="16"/>
          <p:cNvSpPr txBox="true"/>
          <p:nvPr/>
        </p:nvSpPr>
        <p:spPr>
          <a:xfrm rot="0">
            <a:off x="1219205" y="5496392"/>
            <a:ext cx="4473702" cy="459105"/>
          </a:xfrm>
          <a:prstGeom prst="rect">
            <a:avLst/>
          </a:prstGeom>
        </p:spPr>
        <p:txBody>
          <a:bodyPr anchor="t" rtlCol="false" tIns="0" lIns="0" bIns="0" rIns="0">
            <a:spAutoFit/>
          </a:bodyPr>
          <a:lstStyle/>
          <a:p>
            <a:pPr algn="l">
              <a:lnSpc>
                <a:spcPts val="2940"/>
              </a:lnSpc>
            </a:pPr>
            <a:r>
              <a:rPr lang="en-US" sz="2100">
                <a:solidFill>
                  <a:srgbClr val="4A453F"/>
                </a:solidFill>
                <a:latin typeface="Archivo Narrow"/>
                <a:ea typeface="Archivo Narrow"/>
                <a:cs typeface="Archivo Narrow"/>
                <a:sym typeface="Archivo Narrow"/>
              </a:rPr>
              <a:t>Escalado</a:t>
            </a:r>
          </a:p>
        </p:txBody>
      </p:sp>
      <p:sp>
        <p:nvSpPr>
          <p:cNvPr name="AutoShape 17" id="17"/>
          <p:cNvSpPr/>
          <p:nvPr/>
        </p:nvSpPr>
        <p:spPr>
          <a:xfrm>
            <a:off x="5786446" y="6105973"/>
            <a:ext cx="5648326" cy="9562"/>
          </a:xfrm>
          <a:prstGeom prst="line">
            <a:avLst/>
          </a:prstGeom>
          <a:ln cap="rnd" w="9525">
            <a:solidFill>
              <a:srgbClr val="8C8476"/>
            </a:solidFill>
            <a:prstDash val="solid"/>
            <a:headEnd type="none" len="sm" w="sm"/>
            <a:tailEnd type="none" len="sm" w="sm"/>
          </a:ln>
        </p:spPr>
      </p:sp>
      <p:sp>
        <p:nvSpPr>
          <p:cNvPr name="TextBox 18" id="18"/>
          <p:cNvSpPr txBox="true"/>
          <p:nvPr/>
        </p:nvSpPr>
        <p:spPr>
          <a:xfrm rot="0">
            <a:off x="5791205" y="5496392"/>
            <a:ext cx="5572506" cy="459105"/>
          </a:xfrm>
          <a:prstGeom prst="rect">
            <a:avLst/>
          </a:prstGeom>
        </p:spPr>
        <p:txBody>
          <a:bodyPr anchor="t" rtlCol="false" tIns="0" lIns="0" bIns="0" rIns="0">
            <a:spAutoFit/>
          </a:bodyPr>
          <a:lstStyle/>
          <a:p>
            <a:pPr algn="l">
              <a:lnSpc>
                <a:spcPts val="2940"/>
              </a:lnSpc>
            </a:pPr>
            <a:r>
              <a:rPr lang="en-US" sz="2100" b="true">
                <a:solidFill>
                  <a:srgbClr val="1F1E1C"/>
                </a:solidFill>
                <a:latin typeface="Archivo Narrow Bold"/>
                <a:ea typeface="Archivo Narrow Bold"/>
                <a:cs typeface="Archivo Narrow Bold"/>
                <a:sym typeface="Archivo Narrow Bold"/>
              </a:rPr>
              <a:t>Sí</a:t>
            </a:r>
          </a:p>
        </p:txBody>
      </p:sp>
      <p:sp>
        <p:nvSpPr>
          <p:cNvPr name="AutoShape 19" id="19"/>
          <p:cNvSpPr/>
          <p:nvPr/>
        </p:nvSpPr>
        <p:spPr>
          <a:xfrm>
            <a:off x="11425246" y="6105973"/>
            <a:ext cx="5648326" cy="9562"/>
          </a:xfrm>
          <a:prstGeom prst="line">
            <a:avLst/>
          </a:prstGeom>
          <a:ln cap="rnd" w="9525">
            <a:solidFill>
              <a:srgbClr val="8C8476"/>
            </a:solidFill>
            <a:prstDash val="solid"/>
            <a:headEnd type="none" len="sm" w="sm"/>
            <a:tailEnd type="none" len="sm" w="sm"/>
          </a:ln>
        </p:spPr>
      </p:sp>
      <p:sp>
        <p:nvSpPr>
          <p:cNvPr name="TextBox 20" id="20"/>
          <p:cNvSpPr txBox="true"/>
          <p:nvPr/>
        </p:nvSpPr>
        <p:spPr>
          <a:xfrm rot="0">
            <a:off x="11430005" y="5496392"/>
            <a:ext cx="5572506" cy="459105"/>
          </a:xfrm>
          <a:prstGeom prst="rect">
            <a:avLst/>
          </a:prstGeom>
        </p:spPr>
        <p:txBody>
          <a:bodyPr anchor="t" rtlCol="false" tIns="0" lIns="0" bIns="0" rIns="0">
            <a:spAutoFit/>
          </a:bodyPr>
          <a:lstStyle/>
          <a:p>
            <a:pPr algn="l">
              <a:lnSpc>
                <a:spcPts val="2940"/>
              </a:lnSpc>
            </a:pPr>
            <a:r>
              <a:rPr lang="en-US" sz="2100">
                <a:solidFill>
                  <a:srgbClr val="1F1E1C"/>
                </a:solidFill>
                <a:latin typeface="Archivo Narrow"/>
                <a:ea typeface="Archivo Narrow"/>
                <a:cs typeface="Archivo Narrow"/>
                <a:sym typeface="Archivo Narrow"/>
              </a:rPr>
              <a:t>No</a:t>
            </a:r>
          </a:p>
        </p:txBody>
      </p:sp>
      <p:sp>
        <p:nvSpPr>
          <p:cNvPr name="AutoShape 21" id="21"/>
          <p:cNvSpPr/>
          <p:nvPr/>
        </p:nvSpPr>
        <p:spPr>
          <a:xfrm>
            <a:off x="1214438" y="6867997"/>
            <a:ext cx="4581525" cy="9516"/>
          </a:xfrm>
          <a:prstGeom prst="line">
            <a:avLst/>
          </a:prstGeom>
          <a:ln cap="rnd" w="9525">
            <a:solidFill>
              <a:srgbClr val="8C8476"/>
            </a:solidFill>
            <a:prstDash val="solid"/>
            <a:headEnd type="none" len="sm" w="sm"/>
            <a:tailEnd type="none" len="sm" w="sm"/>
          </a:ln>
        </p:spPr>
      </p:sp>
      <p:sp>
        <p:nvSpPr>
          <p:cNvPr name="TextBox 22" id="22"/>
          <p:cNvSpPr txBox="true"/>
          <p:nvPr/>
        </p:nvSpPr>
        <p:spPr>
          <a:xfrm rot="0">
            <a:off x="1219205" y="6258392"/>
            <a:ext cx="4473702" cy="459105"/>
          </a:xfrm>
          <a:prstGeom prst="rect">
            <a:avLst/>
          </a:prstGeom>
        </p:spPr>
        <p:txBody>
          <a:bodyPr anchor="t" rtlCol="false" tIns="0" lIns="0" bIns="0" rIns="0">
            <a:spAutoFit/>
          </a:bodyPr>
          <a:lstStyle/>
          <a:p>
            <a:pPr algn="l">
              <a:lnSpc>
                <a:spcPts val="2940"/>
              </a:lnSpc>
            </a:pPr>
            <a:r>
              <a:rPr lang="en-US" sz="2100">
                <a:solidFill>
                  <a:srgbClr val="4A453F"/>
                </a:solidFill>
                <a:latin typeface="Archivo Narrow"/>
                <a:ea typeface="Archivo Narrow"/>
                <a:cs typeface="Archivo Narrow"/>
                <a:sym typeface="Archivo Narrow"/>
              </a:rPr>
              <a:t>Categóricas</a:t>
            </a:r>
          </a:p>
        </p:txBody>
      </p:sp>
      <p:sp>
        <p:nvSpPr>
          <p:cNvPr name="AutoShape 23" id="23"/>
          <p:cNvSpPr/>
          <p:nvPr/>
        </p:nvSpPr>
        <p:spPr>
          <a:xfrm>
            <a:off x="5786446" y="6867973"/>
            <a:ext cx="5648326" cy="9562"/>
          </a:xfrm>
          <a:prstGeom prst="line">
            <a:avLst/>
          </a:prstGeom>
          <a:ln cap="rnd" w="9525">
            <a:solidFill>
              <a:srgbClr val="8C8476"/>
            </a:solidFill>
            <a:prstDash val="solid"/>
            <a:headEnd type="none" len="sm" w="sm"/>
            <a:tailEnd type="none" len="sm" w="sm"/>
          </a:ln>
        </p:spPr>
      </p:sp>
      <p:sp>
        <p:nvSpPr>
          <p:cNvPr name="TextBox 24" id="24"/>
          <p:cNvSpPr txBox="true"/>
          <p:nvPr/>
        </p:nvSpPr>
        <p:spPr>
          <a:xfrm rot="0">
            <a:off x="5791205" y="6258392"/>
            <a:ext cx="5572506" cy="459105"/>
          </a:xfrm>
          <a:prstGeom prst="rect">
            <a:avLst/>
          </a:prstGeom>
        </p:spPr>
        <p:txBody>
          <a:bodyPr anchor="t" rtlCol="false" tIns="0" lIns="0" bIns="0" rIns="0">
            <a:spAutoFit/>
          </a:bodyPr>
          <a:lstStyle/>
          <a:p>
            <a:pPr algn="l">
              <a:lnSpc>
                <a:spcPts val="2940"/>
              </a:lnSpc>
            </a:pPr>
            <a:r>
              <a:rPr lang="en-US" sz="2100">
                <a:solidFill>
                  <a:srgbClr val="1F1E1C"/>
                </a:solidFill>
                <a:latin typeface="Archivo Narrow"/>
                <a:ea typeface="Archivo Narrow"/>
                <a:cs typeface="Archivo Narrow"/>
                <a:sym typeface="Archivo Narrow"/>
              </a:rPr>
              <a:t>One-hot + target encoding</a:t>
            </a:r>
          </a:p>
        </p:txBody>
      </p:sp>
      <p:sp>
        <p:nvSpPr>
          <p:cNvPr name="AutoShape 25" id="25"/>
          <p:cNvSpPr/>
          <p:nvPr/>
        </p:nvSpPr>
        <p:spPr>
          <a:xfrm>
            <a:off x="11425246" y="6867973"/>
            <a:ext cx="5648326" cy="9562"/>
          </a:xfrm>
          <a:prstGeom prst="line">
            <a:avLst/>
          </a:prstGeom>
          <a:ln cap="rnd" w="9525">
            <a:solidFill>
              <a:srgbClr val="8C8476"/>
            </a:solidFill>
            <a:prstDash val="solid"/>
            <a:headEnd type="none" len="sm" w="sm"/>
            <a:tailEnd type="none" len="sm" w="sm"/>
          </a:ln>
        </p:spPr>
      </p:sp>
      <p:sp>
        <p:nvSpPr>
          <p:cNvPr name="TextBox 26" id="26"/>
          <p:cNvSpPr txBox="true"/>
          <p:nvPr/>
        </p:nvSpPr>
        <p:spPr>
          <a:xfrm rot="0">
            <a:off x="11430005" y="6258392"/>
            <a:ext cx="5572506" cy="459105"/>
          </a:xfrm>
          <a:prstGeom prst="rect">
            <a:avLst/>
          </a:prstGeom>
        </p:spPr>
        <p:txBody>
          <a:bodyPr anchor="t" rtlCol="false" tIns="0" lIns="0" bIns="0" rIns="0">
            <a:spAutoFit/>
          </a:bodyPr>
          <a:lstStyle/>
          <a:p>
            <a:pPr algn="l">
              <a:lnSpc>
                <a:spcPts val="2940"/>
              </a:lnSpc>
            </a:pPr>
            <a:r>
              <a:rPr lang="en-US" sz="2100">
                <a:solidFill>
                  <a:srgbClr val="1F1E1C"/>
                </a:solidFill>
                <a:latin typeface="Archivo Narrow"/>
                <a:ea typeface="Archivo Narrow"/>
                <a:cs typeface="Archivo Narrow"/>
                <a:sym typeface="Archivo Narrow"/>
              </a:rPr>
              <a:t>One-hot + target encoding</a:t>
            </a:r>
          </a:p>
        </p:txBody>
      </p:sp>
      <p:sp>
        <p:nvSpPr>
          <p:cNvPr name="AutoShape 27" id="27"/>
          <p:cNvSpPr/>
          <p:nvPr/>
        </p:nvSpPr>
        <p:spPr>
          <a:xfrm>
            <a:off x="1214438" y="8277697"/>
            <a:ext cx="4581525" cy="9516"/>
          </a:xfrm>
          <a:prstGeom prst="line">
            <a:avLst/>
          </a:prstGeom>
          <a:ln cap="rnd" w="9525">
            <a:solidFill>
              <a:srgbClr val="8C8476"/>
            </a:solidFill>
            <a:prstDash val="solid"/>
            <a:headEnd type="none" len="sm" w="sm"/>
            <a:tailEnd type="none" len="sm" w="sm"/>
          </a:ln>
        </p:spPr>
      </p:sp>
      <p:sp>
        <p:nvSpPr>
          <p:cNvPr name="TextBox 28" id="28"/>
          <p:cNvSpPr txBox="true"/>
          <p:nvPr/>
        </p:nvSpPr>
        <p:spPr>
          <a:xfrm rot="0">
            <a:off x="1219205" y="7363292"/>
            <a:ext cx="4473702" cy="459105"/>
          </a:xfrm>
          <a:prstGeom prst="rect">
            <a:avLst/>
          </a:prstGeom>
        </p:spPr>
        <p:txBody>
          <a:bodyPr anchor="t" rtlCol="false" tIns="0" lIns="0" bIns="0" rIns="0">
            <a:spAutoFit/>
          </a:bodyPr>
          <a:lstStyle/>
          <a:p>
            <a:pPr algn="l">
              <a:lnSpc>
                <a:spcPts val="2940"/>
              </a:lnSpc>
            </a:pPr>
            <a:r>
              <a:rPr lang="en-US" sz="2100">
                <a:solidFill>
                  <a:srgbClr val="4A453F"/>
                </a:solidFill>
                <a:latin typeface="Archivo Narrow"/>
                <a:ea typeface="Archivo Narrow"/>
                <a:cs typeface="Archivo Narrow"/>
                <a:sym typeface="Archivo Narrow"/>
              </a:rPr>
              <a:t>Columnas finales</a:t>
            </a:r>
          </a:p>
        </p:txBody>
      </p:sp>
      <p:sp>
        <p:nvSpPr>
          <p:cNvPr name="AutoShape 29" id="29"/>
          <p:cNvSpPr/>
          <p:nvPr/>
        </p:nvSpPr>
        <p:spPr>
          <a:xfrm>
            <a:off x="5786446" y="8277673"/>
            <a:ext cx="5648326" cy="9562"/>
          </a:xfrm>
          <a:prstGeom prst="line">
            <a:avLst/>
          </a:prstGeom>
          <a:ln cap="rnd" w="9525">
            <a:solidFill>
              <a:srgbClr val="8C8476"/>
            </a:solidFill>
            <a:prstDash val="solid"/>
            <a:headEnd type="none" len="sm" w="sm"/>
            <a:tailEnd type="none" len="sm" w="sm"/>
          </a:ln>
        </p:spPr>
      </p:sp>
      <p:sp>
        <p:nvSpPr>
          <p:cNvPr name="TextBox 30" id="30"/>
          <p:cNvSpPr txBox="true"/>
          <p:nvPr/>
        </p:nvSpPr>
        <p:spPr>
          <a:xfrm rot="0">
            <a:off x="5791205" y="7210892"/>
            <a:ext cx="5572506" cy="916305"/>
          </a:xfrm>
          <a:prstGeom prst="rect">
            <a:avLst/>
          </a:prstGeom>
        </p:spPr>
        <p:txBody>
          <a:bodyPr anchor="t" rtlCol="false" tIns="0" lIns="0" bIns="0" rIns="0">
            <a:spAutoFit/>
          </a:bodyPr>
          <a:lstStyle/>
          <a:p>
            <a:pPr algn="l">
              <a:lnSpc>
                <a:spcPts val="7800"/>
              </a:lnSpc>
            </a:pPr>
            <a:r>
              <a:rPr lang="en-US" sz="7800">
                <a:solidFill>
                  <a:srgbClr val="1F1E1C"/>
                </a:solidFill>
                <a:latin typeface="Anton"/>
                <a:ea typeface="Anton"/>
                <a:cs typeface="Anton"/>
                <a:sym typeface="Anton"/>
              </a:rPr>
              <a:t>138</a:t>
            </a:r>
          </a:p>
        </p:txBody>
      </p:sp>
      <p:sp>
        <p:nvSpPr>
          <p:cNvPr name="AutoShape 31" id="31"/>
          <p:cNvSpPr/>
          <p:nvPr/>
        </p:nvSpPr>
        <p:spPr>
          <a:xfrm>
            <a:off x="11425246" y="8277673"/>
            <a:ext cx="5648326" cy="9562"/>
          </a:xfrm>
          <a:prstGeom prst="line">
            <a:avLst/>
          </a:prstGeom>
          <a:ln cap="rnd" w="9525">
            <a:solidFill>
              <a:srgbClr val="8C8476"/>
            </a:solidFill>
            <a:prstDash val="solid"/>
            <a:headEnd type="none" len="sm" w="sm"/>
            <a:tailEnd type="none" len="sm" w="sm"/>
          </a:ln>
        </p:spPr>
      </p:sp>
      <p:sp>
        <p:nvSpPr>
          <p:cNvPr name="TextBox 32" id="32"/>
          <p:cNvSpPr txBox="true"/>
          <p:nvPr/>
        </p:nvSpPr>
        <p:spPr>
          <a:xfrm rot="0">
            <a:off x="11430005" y="7210892"/>
            <a:ext cx="5572506" cy="916305"/>
          </a:xfrm>
          <a:prstGeom prst="rect">
            <a:avLst/>
          </a:prstGeom>
        </p:spPr>
        <p:txBody>
          <a:bodyPr anchor="t" rtlCol="false" tIns="0" lIns="0" bIns="0" rIns="0">
            <a:spAutoFit/>
          </a:bodyPr>
          <a:lstStyle/>
          <a:p>
            <a:pPr algn="l">
              <a:lnSpc>
                <a:spcPts val="7800"/>
              </a:lnSpc>
            </a:pPr>
            <a:r>
              <a:rPr lang="en-US" sz="7800">
                <a:solidFill>
                  <a:srgbClr val="1F1E1C"/>
                </a:solidFill>
                <a:latin typeface="Anton"/>
                <a:ea typeface="Anton"/>
                <a:cs typeface="Anton"/>
                <a:sym typeface="Anton"/>
              </a:rPr>
              <a:t>158</a:t>
            </a:r>
          </a:p>
        </p:txBody>
      </p:sp>
      <p:sp>
        <p:nvSpPr>
          <p:cNvPr name="TextBox 33" id="33"/>
          <p:cNvSpPr txBox="true"/>
          <p:nvPr/>
        </p:nvSpPr>
        <p:spPr>
          <a:xfrm rot="0">
            <a:off x="1219200" y="9309735"/>
            <a:ext cx="7848600" cy="405765"/>
          </a:xfrm>
          <a:prstGeom prst="rect">
            <a:avLst/>
          </a:prstGeom>
        </p:spPr>
        <p:txBody>
          <a:bodyPr anchor="t" rtlCol="false" tIns="0" lIns="0" bIns="0" rIns="0">
            <a:spAutoFit/>
          </a:bodyPr>
          <a:lstStyle/>
          <a:p>
            <a:pPr algn="l">
              <a:lnSpc>
                <a:spcPts val="2520"/>
              </a:lnSpc>
            </a:pPr>
            <a:r>
              <a:rPr lang="en-US" sz="1800">
                <a:solidFill>
                  <a:srgbClr val="4A453F"/>
                </a:solidFill>
                <a:latin typeface="Archivo Narrow"/>
                <a:ea typeface="Archivo Narrow"/>
                <a:cs typeface="Archivo Narrow"/>
                <a:sym typeface="Archivo Narrow"/>
              </a:rPr>
              <a:t>08 · Housing Prices · EP2</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1F1E1C"/>
        </a:solidFill>
      </p:bgPr>
    </p:bg>
    <p:spTree>
      <p:nvGrpSpPr>
        <p:cNvPr id="1" name=""/>
        <p:cNvGrpSpPr/>
        <p:nvPr/>
      </p:nvGrpSpPr>
      <p:grpSpPr>
        <a:xfrm>
          <a:off x="0" y="0"/>
          <a:ext cx="0" cy="0"/>
          <a:chOff x="0" y="0"/>
          <a:chExt cx="0" cy="0"/>
        </a:xfrm>
      </p:grpSpPr>
      <p:sp>
        <p:nvSpPr>
          <p:cNvPr name="TextBox 2" id="2"/>
          <p:cNvSpPr txBox="true"/>
          <p:nvPr/>
        </p:nvSpPr>
        <p:spPr>
          <a:xfrm rot="0">
            <a:off x="1219200" y="1333500"/>
            <a:ext cx="16325088" cy="963930"/>
          </a:xfrm>
          <a:prstGeom prst="rect">
            <a:avLst/>
          </a:prstGeom>
        </p:spPr>
        <p:txBody>
          <a:bodyPr anchor="t" rtlCol="false" tIns="0" lIns="0" bIns="0" rIns="0">
            <a:spAutoFit/>
          </a:bodyPr>
          <a:lstStyle/>
          <a:p>
            <a:pPr algn="l">
              <a:lnSpc>
                <a:spcPts val="8190"/>
              </a:lnSpc>
            </a:pPr>
            <a:r>
              <a:rPr lang="en-US" sz="7800">
                <a:solidFill>
                  <a:srgbClr val="DCD3C3"/>
                </a:solidFill>
                <a:latin typeface="Anton"/>
                <a:ea typeface="Anton"/>
                <a:cs typeface="Anton"/>
                <a:sym typeface="Anton"/>
              </a:rPr>
              <a:t>TRES DECISIONES</a:t>
            </a:r>
          </a:p>
        </p:txBody>
      </p:sp>
      <p:sp>
        <p:nvSpPr>
          <p:cNvPr name="TextBox 3" id="3"/>
          <p:cNvSpPr txBox="true"/>
          <p:nvPr/>
        </p:nvSpPr>
        <p:spPr>
          <a:xfrm rot="0">
            <a:off x="1219200" y="2602230"/>
            <a:ext cx="16325088" cy="436245"/>
          </a:xfrm>
          <a:prstGeom prst="rect">
            <a:avLst/>
          </a:prstGeom>
        </p:spPr>
        <p:txBody>
          <a:bodyPr anchor="t" rtlCol="false" tIns="0" lIns="0" bIns="0" rIns="0">
            <a:spAutoFit/>
          </a:bodyPr>
          <a:lstStyle/>
          <a:p>
            <a:pPr algn="l">
              <a:lnSpc>
                <a:spcPts val="2835"/>
              </a:lnSpc>
            </a:pPr>
            <a:r>
              <a:rPr lang="en-US" sz="2100">
                <a:solidFill>
                  <a:srgbClr val="A39B8B"/>
                </a:solidFill>
                <a:latin typeface="Archivo Narrow"/>
                <a:ea typeface="Archivo Narrow"/>
                <a:cs typeface="Archivo Narrow"/>
                <a:sym typeface="Archivo Narrow"/>
              </a:rPr>
              <a:t>Cada una con un criterio fijado antes de probar y medida con validación cruzada.</a:t>
            </a:r>
          </a:p>
        </p:txBody>
      </p:sp>
      <p:grpSp>
        <p:nvGrpSpPr>
          <p:cNvPr name="Group 4" id="4"/>
          <p:cNvGrpSpPr/>
          <p:nvPr/>
        </p:nvGrpSpPr>
        <p:grpSpPr>
          <a:xfrm rot="0">
            <a:off x="1263396" y="3893820"/>
            <a:ext cx="685800" cy="685800"/>
            <a:chOff x="0" y="0"/>
            <a:chExt cx="914400" cy="914400"/>
          </a:xfrm>
        </p:grpSpPr>
        <p:sp>
          <p:nvSpPr>
            <p:cNvPr name="Freeform 5" id="5"/>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DCD3C3"/>
            </a:solidFill>
          </p:spPr>
        </p:sp>
        <p:sp>
          <p:nvSpPr>
            <p:cNvPr name="TextBox 6" id="6"/>
            <p:cNvSpPr txBox="true"/>
            <p:nvPr/>
          </p:nvSpPr>
          <p:spPr>
            <a:xfrm>
              <a:off x="0" y="-47625"/>
              <a:ext cx="914400" cy="962025"/>
            </a:xfrm>
            <a:prstGeom prst="rect">
              <a:avLst/>
            </a:prstGeom>
          </p:spPr>
          <p:txBody>
            <a:bodyPr anchor="ctr" rtlCol="false" tIns="50800" lIns="50800" bIns="50800" rIns="50800"/>
            <a:lstStyle/>
            <a:p>
              <a:pPr algn="ctr">
                <a:lnSpc>
                  <a:spcPts val="2520"/>
                </a:lnSpc>
              </a:pPr>
              <a:r>
                <a:rPr lang="en-US" sz="1800" b="true">
                  <a:solidFill>
                    <a:srgbClr val="1F1E1C"/>
                  </a:solidFill>
                  <a:latin typeface="Archivo Narrow Bold"/>
                  <a:ea typeface="Archivo Narrow Bold"/>
                  <a:cs typeface="Archivo Narrow Bold"/>
                  <a:sym typeface="Archivo Narrow Bold"/>
                </a:rPr>
                <a:t>01</a:t>
              </a:r>
            </a:p>
          </p:txBody>
        </p:sp>
      </p:grpSp>
      <p:grpSp>
        <p:nvGrpSpPr>
          <p:cNvPr name="Group 7" id="7"/>
          <p:cNvGrpSpPr/>
          <p:nvPr/>
        </p:nvGrpSpPr>
        <p:grpSpPr>
          <a:xfrm rot="0">
            <a:off x="6749796" y="3893820"/>
            <a:ext cx="685800" cy="685800"/>
            <a:chOff x="0" y="0"/>
            <a:chExt cx="914400" cy="914400"/>
          </a:xfrm>
        </p:grpSpPr>
        <p:sp>
          <p:nvSpPr>
            <p:cNvPr name="Freeform 8" id="8"/>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DCD3C3"/>
            </a:solidFill>
          </p:spPr>
        </p:sp>
        <p:sp>
          <p:nvSpPr>
            <p:cNvPr name="TextBox 9" id="9"/>
            <p:cNvSpPr txBox="true"/>
            <p:nvPr/>
          </p:nvSpPr>
          <p:spPr>
            <a:xfrm>
              <a:off x="0" y="-47625"/>
              <a:ext cx="914400" cy="962025"/>
            </a:xfrm>
            <a:prstGeom prst="rect">
              <a:avLst/>
            </a:prstGeom>
          </p:spPr>
          <p:txBody>
            <a:bodyPr anchor="ctr" rtlCol="false" tIns="50800" lIns="50800" bIns="50800" rIns="50800"/>
            <a:lstStyle/>
            <a:p>
              <a:pPr algn="ctr">
                <a:lnSpc>
                  <a:spcPts val="2520"/>
                </a:lnSpc>
              </a:pPr>
              <a:r>
                <a:rPr lang="en-US" sz="1800" b="true">
                  <a:solidFill>
                    <a:srgbClr val="1F1E1C"/>
                  </a:solidFill>
                  <a:latin typeface="Archivo Narrow Bold"/>
                  <a:ea typeface="Archivo Narrow Bold"/>
                  <a:cs typeface="Archivo Narrow Bold"/>
                  <a:sym typeface="Archivo Narrow Bold"/>
                </a:rPr>
                <a:t>02</a:t>
              </a:r>
            </a:p>
          </p:txBody>
        </p:sp>
      </p:grpSp>
      <p:grpSp>
        <p:nvGrpSpPr>
          <p:cNvPr name="Group 10" id="10"/>
          <p:cNvGrpSpPr/>
          <p:nvPr/>
        </p:nvGrpSpPr>
        <p:grpSpPr>
          <a:xfrm rot="0">
            <a:off x="12236196" y="3893820"/>
            <a:ext cx="685800" cy="685800"/>
            <a:chOff x="0" y="0"/>
            <a:chExt cx="914400" cy="914400"/>
          </a:xfrm>
        </p:grpSpPr>
        <p:sp>
          <p:nvSpPr>
            <p:cNvPr name="Freeform 11" id="11"/>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DCD3C3"/>
            </a:solidFill>
          </p:spPr>
        </p:sp>
        <p:sp>
          <p:nvSpPr>
            <p:cNvPr name="TextBox 12" id="12"/>
            <p:cNvSpPr txBox="true"/>
            <p:nvPr/>
          </p:nvSpPr>
          <p:spPr>
            <a:xfrm>
              <a:off x="0" y="-47625"/>
              <a:ext cx="914400" cy="962025"/>
            </a:xfrm>
            <a:prstGeom prst="rect">
              <a:avLst/>
            </a:prstGeom>
          </p:spPr>
          <p:txBody>
            <a:bodyPr anchor="ctr" rtlCol="false" tIns="50800" lIns="50800" bIns="50800" rIns="50800"/>
            <a:lstStyle/>
            <a:p>
              <a:pPr algn="ctr">
                <a:lnSpc>
                  <a:spcPts val="2520"/>
                </a:lnSpc>
              </a:pPr>
              <a:r>
                <a:rPr lang="en-US" sz="1800" b="true">
                  <a:solidFill>
                    <a:srgbClr val="1F1E1C"/>
                  </a:solidFill>
                  <a:latin typeface="Archivo Narrow Bold"/>
                  <a:ea typeface="Archivo Narrow Bold"/>
                  <a:cs typeface="Archivo Narrow Bold"/>
                  <a:sym typeface="Archivo Narrow Bold"/>
                </a:rPr>
                <a:t>03</a:t>
              </a:r>
            </a:p>
          </p:txBody>
        </p:sp>
      </p:grpSp>
      <p:sp>
        <p:nvSpPr>
          <p:cNvPr name="TextBox 13" id="13"/>
          <p:cNvSpPr txBox="true"/>
          <p:nvPr/>
        </p:nvSpPr>
        <p:spPr>
          <a:xfrm rot="0">
            <a:off x="1263396" y="4770120"/>
            <a:ext cx="5023104" cy="796290"/>
          </a:xfrm>
          <a:prstGeom prst="rect">
            <a:avLst/>
          </a:prstGeom>
        </p:spPr>
        <p:txBody>
          <a:bodyPr anchor="t" rtlCol="false" tIns="0" lIns="0" bIns="0" rIns="0">
            <a:spAutoFit/>
          </a:bodyPr>
          <a:lstStyle/>
          <a:p>
            <a:pPr algn="l">
              <a:lnSpc>
                <a:spcPts val="2835"/>
              </a:lnSpc>
            </a:pPr>
            <a:r>
              <a:rPr lang="en-US" sz="2100" b="true">
                <a:solidFill>
                  <a:srgbClr val="DCD3C3"/>
                </a:solidFill>
                <a:latin typeface="Archivo Narrow Bold"/>
                <a:ea typeface="Archivo Narrow Bold"/>
                <a:cs typeface="Archivo Narrow Bold"/>
                <a:sym typeface="Archivo Narrow Bold"/>
              </a:rPr>
              <a:t>¿Entrenar con zonas no residenciales empeora las residenciales?</a:t>
            </a:r>
          </a:p>
        </p:txBody>
      </p:sp>
      <p:sp>
        <p:nvSpPr>
          <p:cNvPr name="TextBox 14" id="14"/>
          <p:cNvSpPr txBox="true"/>
          <p:nvPr/>
        </p:nvSpPr>
        <p:spPr>
          <a:xfrm rot="0">
            <a:off x="6749796" y="4770120"/>
            <a:ext cx="5023104" cy="796290"/>
          </a:xfrm>
          <a:prstGeom prst="rect">
            <a:avLst/>
          </a:prstGeom>
        </p:spPr>
        <p:txBody>
          <a:bodyPr anchor="t" rtlCol="false" tIns="0" lIns="0" bIns="0" rIns="0">
            <a:spAutoFit/>
          </a:bodyPr>
          <a:lstStyle/>
          <a:p>
            <a:pPr algn="l">
              <a:lnSpc>
                <a:spcPts val="2835"/>
              </a:lnSpc>
            </a:pPr>
            <a:r>
              <a:rPr lang="en-US" sz="2100" b="true">
                <a:solidFill>
                  <a:srgbClr val="DCD3C3"/>
                </a:solidFill>
                <a:latin typeface="Archivo Narrow Bold"/>
                <a:ea typeface="Archivo Narrow Bold"/>
                <a:cs typeface="Archivo Narrow Bold"/>
                <a:sym typeface="Archivo Narrow Bold"/>
              </a:rPr>
              <a:t>¿Quitar variables casi constantes y redundantes?</a:t>
            </a:r>
          </a:p>
        </p:txBody>
      </p:sp>
      <p:sp>
        <p:nvSpPr>
          <p:cNvPr name="TextBox 15" id="15"/>
          <p:cNvSpPr txBox="true"/>
          <p:nvPr/>
        </p:nvSpPr>
        <p:spPr>
          <a:xfrm rot="0">
            <a:off x="12236196" y="4770120"/>
            <a:ext cx="5023104" cy="796290"/>
          </a:xfrm>
          <a:prstGeom prst="rect">
            <a:avLst/>
          </a:prstGeom>
        </p:spPr>
        <p:txBody>
          <a:bodyPr anchor="t" rtlCol="false" tIns="0" lIns="0" bIns="0" rIns="0">
            <a:spAutoFit/>
          </a:bodyPr>
          <a:lstStyle/>
          <a:p>
            <a:pPr algn="l">
              <a:lnSpc>
                <a:spcPts val="2835"/>
              </a:lnSpc>
            </a:pPr>
            <a:r>
              <a:rPr lang="en-US" sz="2100" b="true">
                <a:solidFill>
                  <a:srgbClr val="DCD3C3"/>
                </a:solidFill>
                <a:latin typeface="Archivo Narrow Bold"/>
                <a:ea typeface="Archivo Narrow Bold"/>
                <a:cs typeface="Archivo Narrow Bold"/>
                <a:sym typeface="Archivo Narrow Bold"/>
              </a:rPr>
              <a:t>¿Quitar Sale Condition y Sale Type, que se conocen solo al vender?</a:t>
            </a:r>
          </a:p>
        </p:txBody>
      </p:sp>
      <p:sp>
        <p:nvSpPr>
          <p:cNvPr name="TextBox 16" id="16"/>
          <p:cNvSpPr txBox="true"/>
          <p:nvPr/>
        </p:nvSpPr>
        <p:spPr>
          <a:xfrm rot="0">
            <a:off x="1263396" y="5709285"/>
            <a:ext cx="5023104" cy="725805"/>
          </a:xfrm>
          <a:prstGeom prst="rect">
            <a:avLst/>
          </a:prstGeom>
        </p:spPr>
        <p:txBody>
          <a:bodyPr anchor="t" rtlCol="false" tIns="0" lIns="0" bIns="0" rIns="0">
            <a:spAutoFit/>
          </a:bodyPr>
          <a:lstStyle/>
          <a:p>
            <a:pPr algn="l">
              <a:lnSpc>
                <a:spcPts val="2520"/>
              </a:lnSpc>
            </a:pPr>
            <a:r>
              <a:rPr lang="en-US" sz="1800">
                <a:solidFill>
                  <a:srgbClr val="A39B8B"/>
                </a:solidFill>
                <a:latin typeface="Archivo Narrow"/>
                <a:ea typeface="Archivo Narrow"/>
                <a:cs typeface="Archivo Narrow"/>
                <a:sym typeface="Archivo Narrow"/>
              </a:rPr>
              <a:t>Sí, en 3 de 4 modelos. Y en esas zonas el MAPE queda entre 34 % y 44 %.</a:t>
            </a:r>
          </a:p>
        </p:txBody>
      </p:sp>
      <p:sp>
        <p:nvSpPr>
          <p:cNvPr name="TextBox 17" id="17"/>
          <p:cNvSpPr txBox="true"/>
          <p:nvPr/>
        </p:nvSpPr>
        <p:spPr>
          <a:xfrm rot="0">
            <a:off x="6749796" y="5709285"/>
            <a:ext cx="5023104" cy="725805"/>
          </a:xfrm>
          <a:prstGeom prst="rect">
            <a:avLst/>
          </a:prstGeom>
        </p:spPr>
        <p:txBody>
          <a:bodyPr anchor="t" rtlCol="false" tIns="0" lIns="0" bIns="0" rIns="0">
            <a:spAutoFit/>
          </a:bodyPr>
          <a:lstStyle/>
          <a:p>
            <a:pPr algn="l">
              <a:lnSpc>
                <a:spcPts val="2520"/>
              </a:lnSpc>
            </a:pPr>
            <a:r>
              <a:rPr lang="en-US" sz="1800">
                <a:solidFill>
                  <a:srgbClr val="A39B8B"/>
                </a:solidFill>
                <a:latin typeface="Archivo Narrow"/>
                <a:ea typeface="Archivo Narrow"/>
                <a:cs typeface="Archivo Narrow"/>
                <a:sym typeface="Archivo Narrow"/>
              </a:rPr>
              <a:t>Mejora a Ridge (−66 USD de RMSE) y a Lasso (−221 USD). Los árboles quedan igual.</a:t>
            </a:r>
          </a:p>
        </p:txBody>
      </p:sp>
      <p:sp>
        <p:nvSpPr>
          <p:cNvPr name="TextBox 18" id="18"/>
          <p:cNvSpPr txBox="true"/>
          <p:nvPr/>
        </p:nvSpPr>
        <p:spPr>
          <a:xfrm rot="0">
            <a:off x="12236196" y="5709285"/>
            <a:ext cx="5023104" cy="725805"/>
          </a:xfrm>
          <a:prstGeom prst="rect">
            <a:avLst/>
          </a:prstGeom>
        </p:spPr>
        <p:txBody>
          <a:bodyPr anchor="t" rtlCol="false" tIns="0" lIns="0" bIns="0" rIns="0">
            <a:spAutoFit/>
          </a:bodyPr>
          <a:lstStyle/>
          <a:p>
            <a:pPr algn="l">
              <a:lnSpc>
                <a:spcPts val="2520"/>
              </a:lnSpc>
            </a:pPr>
            <a:r>
              <a:rPr lang="en-US" sz="1800">
                <a:solidFill>
                  <a:srgbClr val="A39B8B"/>
                </a:solidFill>
                <a:latin typeface="Archivo Narrow"/>
                <a:ea typeface="Archivo Narrow"/>
                <a:cs typeface="Archivo Narrow"/>
                <a:sym typeface="Archivo Narrow"/>
              </a:rPr>
              <a:t>Quitarlas empeora a los cuatro modelos.</a:t>
            </a:r>
          </a:p>
        </p:txBody>
      </p:sp>
      <p:sp>
        <p:nvSpPr>
          <p:cNvPr name="AutoShape 19" id="19"/>
          <p:cNvSpPr/>
          <p:nvPr/>
        </p:nvSpPr>
        <p:spPr>
          <a:xfrm>
            <a:off x="1258638" y="6625577"/>
            <a:ext cx="4886325" cy="9552"/>
          </a:xfrm>
          <a:prstGeom prst="line">
            <a:avLst/>
          </a:prstGeom>
          <a:ln cap="rnd" w="9525">
            <a:solidFill>
              <a:srgbClr val="6E685E"/>
            </a:solidFill>
            <a:prstDash val="solid"/>
            <a:headEnd type="none" len="sm" w="sm"/>
            <a:tailEnd type="none" len="sm" w="sm"/>
          </a:ln>
        </p:spPr>
      </p:sp>
      <p:sp>
        <p:nvSpPr>
          <p:cNvPr name="TextBox 20" id="20"/>
          <p:cNvSpPr txBox="true"/>
          <p:nvPr/>
        </p:nvSpPr>
        <p:spPr>
          <a:xfrm rot="0">
            <a:off x="1263396" y="6890385"/>
            <a:ext cx="5023104" cy="512445"/>
          </a:xfrm>
          <a:prstGeom prst="rect">
            <a:avLst/>
          </a:prstGeom>
        </p:spPr>
        <p:txBody>
          <a:bodyPr anchor="t" rtlCol="false" tIns="0" lIns="0" bIns="0" rIns="0">
            <a:spAutoFit/>
          </a:bodyPr>
          <a:lstStyle/>
          <a:p>
            <a:pPr algn="l">
              <a:lnSpc>
                <a:spcPts val="3960"/>
              </a:lnSpc>
            </a:pPr>
            <a:r>
              <a:rPr lang="en-US" sz="3600">
                <a:solidFill>
                  <a:srgbClr val="DCD3C3"/>
                </a:solidFill>
                <a:latin typeface="Anton"/>
                <a:ea typeface="Anton"/>
                <a:cs typeface="Anton"/>
                <a:sym typeface="Anton"/>
              </a:rPr>
              <a:t>EXCLUIR</a:t>
            </a:r>
          </a:p>
        </p:txBody>
      </p:sp>
      <p:sp>
        <p:nvSpPr>
          <p:cNvPr name="TextBox 21" id="21"/>
          <p:cNvSpPr txBox="true"/>
          <p:nvPr/>
        </p:nvSpPr>
        <p:spPr>
          <a:xfrm rot="0">
            <a:off x="1263396" y="7355205"/>
            <a:ext cx="5023104" cy="405765"/>
          </a:xfrm>
          <a:prstGeom prst="rect">
            <a:avLst/>
          </a:prstGeom>
        </p:spPr>
        <p:txBody>
          <a:bodyPr anchor="t" rtlCol="false" tIns="0" lIns="0" bIns="0" rIns="0">
            <a:spAutoFit/>
          </a:bodyPr>
          <a:lstStyle/>
          <a:p>
            <a:pPr algn="l">
              <a:lnSpc>
                <a:spcPts val="2520"/>
              </a:lnSpc>
            </a:pPr>
            <a:r>
              <a:rPr lang="en-US" sz="1800">
                <a:solidFill>
                  <a:srgbClr val="DCD3C3"/>
                </a:solidFill>
                <a:latin typeface="Archivo Narrow"/>
                <a:ea typeface="Archivo Narrow"/>
                <a:cs typeface="Archivo Narrow"/>
                <a:sym typeface="Archivo Narrow"/>
              </a:rPr>
              <a:t>Van a tasación manual</a:t>
            </a:r>
          </a:p>
        </p:txBody>
      </p:sp>
      <p:sp>
        <p:nvSpPr>
          <p:cNvPr name="AutoShape 22" id="22"/>
          <p:cNvSpPr/>
          <p:nvPr/>
        </p:nvSpPr>
        <p:spPr>
          <a:xfrm>
            <a:off x="6745038" y="6625577"/>
            <a:ext cx="4886325" cy="9552"/>
          </a:xfrm>
          <a:prstGeom prst="line">
            <a:avLst/>
          </a:prstGeom>
          <a:ln cap="rnd" w="9525">
            <a:solidFill>
              <a:srgbClr val="6E685E"/>
            </a:solidFill>
            <a:prstDash val="solid"/>
            <a:headEnd type="none" len="sm" w="sm"/>
            <a:tailEnd type="none" len="sm" w="sm"/>
          </a:ln>
        </p:spPr>
      </p:sp>
      <p:sp>
        <p:nvSpPr>
          <p:cNvPr name="TextBox 23" id="23"/>
          <p:cNvSpPr txBox="true"/>
          <p:nvPr/>
        </p:nvSpPr>
        <p:spPr>
          <a:xfrm rot="0">
            <a:off x="6749796" y="6890385"/>
            <a:ext cx="5023104" cy="512445"/>
          </a:xfrm>
          <a:prstGeom prst="rect">
            <a:avLst/>
          </a:prstGeom>
        </p:spPr>
        <p:txBody>
          <a:bodyPr anchor="t" rtlCol="false" tIns="0" lIns="0" bIns="0" rIns="0">
            <a:spAutoFit/>
          </a:bodyPr>
          <a:lstStyle/>
          <a:p>
            <a:pPr algn="l">
              <a:lnSpc>
                <a:spcPts val="3960"/>
              </a:lnSpc>
            </a:pPr>
            <a:r>
              <a:rPr lang="en-US" sz="3600">
                <a:solidFill>
                  <a:srgbClr val="DCD3C3"/>
                </a:solidFill>
                <a:latin typeface="Anton"/>
                <a:ea typeface="Anton"/>
                <a:cs typeface="Anton"/>
                <a:sym typeface="Anton"/>
              </a:rPr>
              <a:t>QUITAR</a:t>
            </a:r>
          </a:p>
        </p:txBody>
      </p:sp>
      <p:sp>
        <p:nvSpPr>
          <p:cNvPr name="TextBox 24" id="24"/>
          <p:cNvSpPr txBox="true"/>
          <p:nvPr/>
        </p:nvSpPr>
        <p:spPr>
          <a:xfrm rot="0">
            <a:off x="6749796" y="7355205"/>
            <a:ext cx="5023104" cy="405765"/>
          </a:xfrm>
          <a:prstGeom prst="rect">
            <a:avLst/>
          </a:prstGeom>
        </p:spPr>
        <p:txBody>
          <a:bodyPr anchor="t" rtlCol="false" tIns="0" lIns="0" bIns="0" rIns="0">
            <a:spAutoFit/>
          </a:bodyPr>
          <a:lstStyle/>
          <a:p>
            <a:pPr algn="l">
              <a:lnSpc>
                <a:spcPts val="2520"/>
              </a:lnSpc>
            </a:pPr>
            <a:r>
              <a:rPr lang="en-US" sz="1800">
                <a:solidFill>
                  <a:srgbClr val="DCD3C3"/>
                </a:solidFill>
                <a:latin typeface="Archivo Narrow"/>
                <a:ea typeface="Archivo Narrow"/>
                <a:cs typeface="Archivo Narrow"/>
                <a:sym typeface="Archivo Narrow"/>
              </a:rPr>
              <a:t>164 → 138 columnas en los lineales</a:t>
            </a:r>
          </a:p>
        </p:txBody>
      </p:sp>
      <p:sp>
        <p:nvSpPr>
          <p:cNvPr name="AutoShape 25" id="25"/>
          <p:cNvSpPr/>
          <p:nvPr/>
        </p:nvSpPr>
        <p:spPr>
          <a:xfrm>
            <a:off x="12231438" y="6625577"/>
            <a:ext cx="4886325" cy="9552"/>
          </a:xfrm>
          <a:prstGeom prst="line">
            <a:avLst/>
          </a:prstGeom>
          <a:ln cap="rnd" w="9525">
            <a:solidFill>
              <a:srgbClr val="6E685E"/>
            </a:solidFill>
            <a:prstDash val="solid"/>
            <a:headEnd type="none" len="sm" w="sm"/>
            <a:tailEnd type="none" len="sm" w="sm"/>
          </a:ln>
        </p:spPr>
      </p:sp>
      <p:sp>
        <p:nvSpPr>
          <p:cNvPr name="TextBox 26" id="26"/>
          <p:cNvSpPr txBox="true"/>
          <p:nvPr/>
        </p:nvSpPr>
        <p:spPr>
          <a:xfrm rot="0">
            <a:off x="12236196" y="6890385"/>
            <a:ext cx="5023104" cy="512445"/>
          </a:xfrm>
          <a:prstGeom prst="rect">
            <a:avLst/>
          </a:prstGeom>
        </p:spPr>
        <p:txBody>
          <a:bodyPr anchor="t" rtlCol="false" tIns="0" lIns="0" bIns="0" rIns="0">
            <a:spAutoFit/>
          </a:bodyPr>
          <a:lstStyle/>
          <a:p>
            <a:pPr algn="l">
              <a:lnSpc>
                <a:spcPts val="3960"/>
              </a:lnSpc>
            </a:pPr>
            <a:r>
              <a:rPr lang="en-US" sz="3600">
                <a:solidFill>
                  <a:srgbClr val="DCD3C3"/>
                </a:solidFill>
                <a:latin typeface="Anton"/>
                <a:ea typeface="Anton"/>
                <a:cs typeface="Anton"/>
                <a:sym typeface="Anton"/>
              </a:rPr>
              <a:t>MANTENER</a:t>
            </a:r>
          </a:p>
        </p:txBody>
      </p:sp>
      <p:sp>
        <p:nvSpPr>
          <p:cNvPr name="TextBox 27" id="27"/>
          <p:cNvSpPr txBox="true"/>
          <p:nvPr/>
        </p:nvSpPr>
        <p:spPr>
          <a:xfrm rot="0">
            <a:off x="12236196" y="7355205"/>
            <a:ext cx="5023104" cy="405765"/>
          </a:xfrm>
          <a:prstGeom prst="rect">
            <a:avLst/>
          </a:prstGeom>
        </p:spPr>
        <p:txBody>
          <a:bodyPr anchor="t" rtlCol="false" tIns="0" lIns="0" bIns="0" rIns="0">
            <a:spAutoFit/>
          </a:bodyPr>
          <a:lstStyle/>
          <a:p>
            <a:pPr algn="l">
              <a:lnSpc>
                <a:spcPts val="2520"/>
              </a:lnSpc>
            </a:pPr>
            <a:r>
              <a:rPr lang="en-US" sz="1800">
                <a:solidFill>
                  <a:srgbClr val="DCD3C3"/>
                </a:solidFill>
                <a:latin typeface="Archivo Narrow"/>
                <a:ea typeface="Archivo Narrow"/>
                <a:cs typeface="Archivo Narrow"/>
                <a:sym typeface="Archivo Narrow"/>
              </a:rPr>
              <a:t>Al tasar se asume venta normal</a:t>
            </a:r>
          </a:p>
        </p:txBody>
      </p:sp>
      <p:sp>
        <p:nvSpPr>
          <p:cNvPr name="TextBox 28" id="28"/>
          <p:cNvSpPr txBox="true"/>
          <p:nvPr/>
        </p:nvSpPr>
        <p:spPr>
          <a:xfrm rot="0">
            <a:off x="1219200" y="9309735"/>
            <a:ext cx="7848600" cy="405765"/>
          </a:xfrm>
          <a:prstGeom prst="rect">
            <a:avLst/>
          </a:prstGeom>
        </p:spPr>
        <p:txBody>
          <a:bodyPr anchor="t" rtlCol="false" tIns="0" lIns="0" bIns="0" rIns="0">
            <a:spAutoFit/>
          </a:bodyPr>
          <a:lstStyle/>
          <a:p>
            <a:pPr algn="l">
              <a:lnSpc>
                <a:spcPts val="2520"/>
              </a:lnSpc>
            </a:pPr>
            <a:r>
              <a:rPr lang="en-US" sz="1800">
                <a:solidFill>
                  <a:srgbClr val="A39B8B"/>
                </a:solidFill>
                <a:latin typeface="Archivo Narrow"/>
                <a:ea typeface="Archivo Narrow"/>
                <a:cs typeface="Archivo Narrow"/>
                <a:sym typeface="Archivo Narrow"/>
              </a:rPr>
              <a:t>09 · Housing Prices · EP2</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F1E1C"/>
        </a:solidFill>
      </p:bgPr>
    </p:bg>
    <p:spTree>
      <p:nvGrpSpPr>
        <p:cNvPr id="1" name=""/>
        <p:cNvGrpSpPr/>
        <p:nvPr/>
      </p:nvGrpSpPr>
      <p:grpSpPr>
        <a:xfrm>
          <a:off x="0" y="0"/>
          <a:ext cx="0" cy="0"/>
          <a:chOff x="0" y="0"/>
          <a:chExt cx="0" cy="0"/>
        </a:xfrm>
      </p:grpSpPr>
      <p:sp>
        <p:nvSpPr>
          <p:cNvPr name="TextBox 2" id="2"/>
          <p:cNvSpPr txBox="true"/>
          <p:nvPr/>
        </p:nvSpPr>
        <p:spPr>
          <a:xfrm rot="0">
            <a:off x="1219200" y="1333500"/>
            <a:ext cx="16325850" cy="962025"/>
          </a:xfrm>
          <a:prstGeom prst="rect">
            <a:avLst/>
          </a:prstGeom>
        </p:spPr>
        <p:txBody>
          <a:bodyPr anchor="t" rtlCol="false" tIns="0" lIns="0" bIns="0" rIns="0">
            <a:spAutoFit/>
          </a:bodyPr>
          <a:lstStyle/>
          <a:p>
            <a:pPr algn="l">
              <a:lnSpc>
                <a:spcPts val="8190"/>
              </a:lnSpc>
            </a:pPr>
            <a:r>
              <a:rPr lang="en-US" sz="7800">
                <a:solidFill>
                  <a:srgbClr val="DCD3C3"/>
                </a:solidFill>
                <a:latin typeface="Anton"/>
                <a:ea typeface="Anton"/>
                <a:cs typeface="Anton"/>
                <a:sym typeface="Anton"/>
              </a:rPr>
              <a:t>CÓMO FUNCIONA CADA MODELO</a:t>
            </a:r>
          </a:p>
        </p:txBody>
      </p:sp>
      <p:sp>
        <p:nvSpPr>
          <p:cNvPr name="TextBox 3" id="3"/>
          <p:cNvSpPr txBox="true"/>
          <p:nvPr/>
        </p:nvSpPr>
        <p:spPr>
          <a:xfrm rot="0">
            <a:off x="1219200" y="2602230"/>
            <a:ext cx="16325850" cy="436245"/>
          </a:xfrm>
          <a:prstGeom prst="rect">
            <a:avLst/>
          </a:prstGeom>
        </p:spPr>
        <p:txBody>
          <a:bodyPr anchor="t" rtlCol="false" tIns="0" lIns="0" bIns="0" rIns="0">
            <a:spAutoFit/>
          </a:bodyPr>
          <a:lstStyle/>
          <a:p>
            <a:pPr algn="l">
              <a:lnSpc>
                <a:spcPts val="2835"/>
              </a:lnSpc>
            </a:pPr>
            <a:r>
              <a:rPr lang="en-US" sz="2100">
                <a:solidFill>
                  <a:srgbClr val="A39B8B"/>
                </a:solidFill>
                <a:latin typeface="Archivo Narrow"/>
                <a:ea typeface="Archivo Narrow"/>
                <a:cs typeface="Archivo Narrow"/>
                <a:sym typeface="Archivo Narrow"/>
              </a:rPr>
              <a:t>Los cuatro estiman log(precio) a partir de las mismas variables; cambia la forma de combinarlas.</a:t>
            </a:r>
          </a:p>
        </p:txBody>
      </p:sp>
      <p:grpSp>
        <p:nvGrpSpPr>
          <p:cNvPr name="Group 4" id="4"/>
          <p:cNvGrpSpPr/>
          <p:nvPr/>
        </p:nvGrpSpPr>
        <p:grpSpPr>
          <a:xfrm rot="0">
            <a:off x="1209675" y="3343275"/>
            <a:ext cx="3810000" cy="4324350"/>
            <a:chOff x="0" y="0"/>
            <a:chExt cx="5080000" cy="5765800"/>
          </a:xfrm>
        </p:grpSpPr>
        <p:sp>
          <p:nvSpPr>
            <p:cNvPr name="Freeform 5" id="5"/>
            <p:cNvSpPr/>
            <p:nvPr/>
          </p:nvSpPr>
          <p:spPr>
            <a:xfrm flipH="false" flipV="false" rot="0">
              <a:off x="0" y="0"/>
              <a:ext cx="5080000" cy="5765800"/>
            </a:xfrm>
            <a:custGeom>
              <a:avLst/>
              <a:gdLst/>
              <a:ahLst/>
              <a:cxnLst/>
              <a:rect r="r" b="b" t="t" l="l"/>
              <a:pathLst>
                <a:path h="5765800" w="5080000">
                  <a:moveTo>
                    <a:pt x="0" y="153162"/>
                  </a:moveTo>
                  <a:cubicBezTo>
                    <a:pt x="0" y="68580"/>
                    <a:pt x="68580" y="0"/>
                    <a:pt x="153162" y="0"/>
                  </a:cubicBezTo>
                  <a:lnTo>
                    <a:pt x="4926838" y="0"/>
                  </a:lnTo>
                  <a:cubicBezTo>
                    <a:pt x="5011420" y="0"/>
                    <a:pt x="5080000" y="68580"/>
                    <a:pt x="5080000" y="153162"/>
                  </a:cubicBezTo>
                  <a:lnTo>
                    <a:pt x="5080000" y="5612638"/>
                  </a:lnTo>
                  <a:cubicBezTo>
                    <a:pt x="5080000" y="5697220"/>
                    <a:pt x="5011420" y="5765800"/>
                    <a:pt x="4926838" y="5765800"/>
                  </a:cubicBezTo>
                  <a:lnTo>
                    <a:pt x="153162" y="5765800"/>
                  </a:lnTo>
                  <a:cubicBezTo>
                    <a:pt x="68580" y="5765800"/>
                    <a:pt x="0" y="5697220"/>
                    <a:pt x="0" y="5612638"/>
                  </a:cubicBezTo>
                  <a:close/>
                </a:path>
              </a:pathLst>
            </a:custGeom>
            <a:blipFill>
              <a:blip r:embed="rId3">
                <a:alphaModFix amt="0"/>
              </a:blip>
              <a:stretch>
                <a:fillRect l="-95624" t="0" r="-95624" b="0"/>
              </a:stretch>
            </a:blipFill>
            <a:ln w="19050" cap="sq">
              <a:solidFill>
                <a:srgbClr val="DCD3C3"/>
              </a:solidFill>
              <a:prstDash val="solid"/>
              <a:miter/>
            </a:ln>
          </p:spPr>
        </p:sp>
      </p:grpSp>
      <p:sp>
        <p:nvSpPr>
          <p:cNvPr name="TextBox 6" id="6"/>
          <p:cNvSpPr txBox="true"/>
          <p:nvPr/>
        </p:nvSpPr>
        <p:spPr>
          <a:xfrm rot="0">
            <a:off x="1447800" y="3609975"/>
            <a:ext cx="3333750" cy="504825"/>
          </a:xfrm>
          <a:prstGeom prst="rect">
            <a:avLst/>
          </a:prstGeom>
        </p:spPr>
        <p:txBody>
          <a:bodyPr anchor="t" rtlCol="false" tIns="0" lIns="0" bIns="0" rIns="0">
            <a:spAutoFit/>
          </a:bodyPr>
          <a:lstStyle/>
          <a:p>
            <a:pPr algn="l">
              <a:lnSpc>
                <a:spcPts val="3960"/>
              </a:lnSpc>
            </a:pPr>
            <a:r>
              <a:rPr lang="en-US" sz="3600">
                <a:solidFill>
                  <a:srgbClr val="DCD3C3"/>
                </a:solidFill>
                <a:latin typeface="Anton"/>
                <a:ea typeface="Anton"/>
                <a:cs typeface="Anton"/>
                <a:sym typeface="Anton"/>
              </a:rPr>
              <a:t>RIDGE</a:t>
            </a:r>
          </a:p>
        </p:txBody>
      </p:sp>
      <p:sp>
        <p:nvSpPr>
          <p:cNvPr name="TextBox 7" id="7"/>
          <p:cNvSpPr txBox="true"/>
          <p:nvPr/>
        </p:nvSpPr>
        <p:spPr>
          <a:xfrm rot="0">
            <a:off x="1447800" y="4181475"/>
            <a:ext cx="3333750" cy="695325"/>
          </a:xfrm>
          <a:prstGeom prst="rect">
            <a:avLst/>
          </a:prstGeom>
        </p:spPr>
        <p:txBody>
          <a:bodyPr anchor="t" rtlCol="false" tIns="0" lIns="0" bIns="0" rIns="0">
            <a:spAutoFit/>
          </a:bodyPr>
          <a:lstStyle/>
          <a:p>
            <a:pPr algn="l">
              <a:lnSpc>
                <a:spcPts val="2520"/>
              </a:lnSpc>
            </a:pPr>
            <a:r>
              <a:rPr lang="en-US" sz="1800">
                <a:solidFill>
                  <a:srgbClr val="DCD3C3"/>
                </a:solidFill>
                <a:latin typeface="Archivo Narrow"/>
                <a:ea typeface="Archivo Narrow"/>
                <a:cs typeface="Archivo Narrow"/>
                <a:sym typeface="Archivo Narrow"/>
              </a:rPr>
              <a:t>precio = </a:t>
            </a:r>
            <a:r>
              <a:rPr lang="en-US" sz="1800" b="true">
                <a:solidFill>
                  <a:srgbClr val="DCD3C3"/>
                </a:solidFill>
                <a:latin typeface="Archivo Narrow Bold"/>
                <a:ea typeface="Archivo Narrow Bold"/>
                <a:cs typeface="Archivo Narrow Bold"/>
                <a:sym typeface="Archivo Narrow Bold"/>
              </a:rPr>
              <a:t>a</a:t>
            </a:r>
            <a:r>
              <a:rPr lang="en-US" sz="1800">
                <a:solidFill>
                  <a:srgbClr val="DCD3C3"/>
                </a:solidFill>
                <a:latin typeface="Archivo Narrow"/>
                <a:ea typeface="Archivo Narrow"/>
                <a:cs typeface="Archivo Narrow"/>
                <a:sym typeface="Archivo Narrow"/>
              </a:rPr>
              <a:t>·superficie</a:t>
            </a:r>
          </a:p>
          <a:p>
            <a:pPr algn="l">
              <a:lnSpc>
                <a:spcPts val="2520"/>
              </a:lnSpc>
            </a:pPr>
            <a:r>
              <a:rPr lang="en-US" sz="1800">
                <a:solidFill>
                  <a:srgbClr val="DCD3C3"/>
                </a:solidFill>
                <a:latin typeface="Archivo Narrow"/>
                <a:ea typeface="Archivo Narrow"/>
                <a:cs typeface="Archivo Narrow"/>
                <a:sym typeface="Archivo Narrow"/>
              </a:rPr>
              <a:t>+ </a:t>
            </a:r>
            <a:r>
              <a:rPr lang="en-US" sz="1800" b="true">
                <a:solidFill>
                  <a:srgbClr val="DCD3C3"/>
                </a:solidFill>
                <a:latin typeface="Archivo Narrow Bold"/>
                <a:ea typeface="Archivo Narrow Bold"/>
                <a:cs typeface="Archivo Narrow Bold"/>
                <a:sym typeface="Archivo Narrow Bold"/>
              </a:rPr>
              <a:t>b</a:t>
            </a:r>
            <a:r>
              <a:rPr lang="en-US" sz="1800">
                <a:solidFill>
                  <a:srgbClr val="DCD3C3"/>
                </a:solidFill>
                <a:latin typeface="Archivo Narrow"/>
                <a:ea typeface="Archivo Narrow"/>
                <a:cs typeface="Archivo Narrow"/>
                <a:sym typeface="Archivo Narrow"/>
              </a:rPr>
              <a:t>·calidad + </a:t>
            </a:r>
            <a:r>
              <a:rPr lang="en-US" sz="1800" b="true">
                <a:solidFill>
                  <a:srgbClr val="DCD3C3"/>
                </a:solidFill>
                <a:latin typeface="Archivo Narrow Bold"/>
                <a:ea typeface="Archivo Narrow Bold"/>
                <a:cs typeface="Archivo Narrow Bold"/>
                <a:sym typeface="Archivo Narrow Bold"/>
              </a:rPr>
              <a:t>c</a:t>
            </a:r>
            <a:r>
              <a:rPr lang="en-US" sz="1800">
                <a:solidFill>
                  <a:srgbClr val="DCD3C3"/>
                </a:solidFill>
                <a:latin typeface="Archivo Narrow"/>
                <a:ea typeface="Archivo Narrow"/>
                <a:cs typeface="Archivo Narrow"/>
                <a:sym typeface="Archivo Narrow"/>
              </a:rPr>
              <a:t>·barrio + …</a:t>
            </a:r>
          </a:p>
        </p:txBody>
      </p:sp>
      <p:grpSp>
        <p:nvGrpSpPr>
          <p:cNvPr name="Group 8" id="8"/>
          <p:cNvGrpSpPr/>
          <p:nvPr/>
        </p:nvGrpSpPr>
        <p:grpSpPr>
          <a:xfrm rot="0">
            <a:off x="1497806" y="5043964"/>
            <a:ext cx="242888" cy="430530"/>
            <a:chOff x="0" y="0"/>
            <a:chExt cx="323850" cy="574040"/>
          </a:xfrm>
        </p:grpSpPr>
        <p:sp>
          <p:nvSpPr>
            <p:cNvPr name="Freeform 9" id="9"/>
            <p:cNvSpPr/>
            <p:nvPr/>
          </p:nvSpPr>
          <p:spPr>
            <a:xfrm flipH="false" flipV="false" rot="0">
              <a:off x="0" y="0"/>
              <a:ext cx="323850" cy="574040"/>
            </a:xfrm>
            <a:custGeom>
              <a:avLst/>
              <a:gdLst/>
              <a:ahLst/>
              <a:cxnLst/>
              <a:rect r="r" b="b" t="t" l="l"/>
              <a:pathLst>
                <a:path h="574040" w="323850">
                  <a:moveTo>
                    <a:pt x="0" y="0"/>
                  </a:moveTo>
                  <a:lnTo>
                    <a:pt x="323850" y="0"/>
                  </a:lnTo>
                  <a:lnTo>
                    <a:pt x="323850" y="574040"/>
                  </a:lnTo>
                  <a:lnTo>
                    <a:pt x="0" y="574040"/>
                  </a:lnTo>
                  <a:close/>
                </a:path>
              </a:pathLst>
            </a:custGeom>
            <a:blipFill>
              <a:blip r:embed="rId3">
                <a:alphaModFix amt="0"/>
              </a:blip>
              <a:stretch>
                <a:fillRect l="-177424" t="0" r="-177424" b="0"/>
              </a:stretch>
            </a:blipFill>
            <a:ln w="14288" cap="sq">
              <a:solidFill>
                <a:srgbClr val="6E685E"/>
              </a:solidFill>
              <a:prstDash val="dash"/>
              <a:miter/>
            </a:ln>
          </p:spPr>
        </p:sp>
      </p:grpSp>
      <p:grpSp>
        <p:nvGrpSpPr>
          <p:cNvPr name="Group 10" id="10"/>
          <p:cNvGrpSpPr/>
          <p:nvPr/>
        </p:nvGrpSpPr>
        <p:grpSpPr>
          <a:xfrm rot="0">
            <a:off x="1504950" y="5217604"/>
            <a:ext cx="228600" cy="249746"/>
            <a:chOff x="0" y="0"/>
            <a:chExt cx="304800" cy="332994"/>
          </a:xfrm>
        </p:grpSpPr>
        <p:sp>
          <p:nvSpPr>
            <p:cNvPr name="Freeform 11" id="11"/>
            <p:cNvSpPr/>
            <p:nvPr/>
          </p:nvSpPr>
          <p:spPr>
            <a:xfrm flipH="false" flipV="false" rot="0">
              <a:off x="0" y="0"/>
              <a:ext cx="304800" cy="332994"/>
            </a:xfrm>
            <a:custGeom>
              <a:avLst/>
              <a:gdLst/>
              <a:ahLst/>
              <a:cxnLst/>
              <a:rect r="r" b="b" t="t" l="l"/>
              <a:pathLst>
                <a:path h="332994" w="304800">
                  <a:moveTo>
                    <a:pt x="0" y="0"/>
                  </a:moveTo>
                  <a:lnTo>
                    <a:pt x="304800" y="0"/>
                  </a:lnTo>
                  <a:lnTo>
                    <a:pt x="304800" y="332994"/>
                  </a:lnTo>
                  <a:lnTo>
                    <a:pt x="0" y="332994"/>
                  </a:lnTo>
                  <a:close/>
                </a:path>
              </a:pathLst>
            </a:custGeom>
            <a:solidFill>
              <a:srgbClr val="DCD3C3"/>
            </a:solidFill>
          </p:spPr>
        </p:sp>
      </p:grpSp>
      <p:grpSp>
        <p:nvGrpSpPr>
          <p:cNvPr name="Group 12" id="12"/>
          <p:cNvGrpSpPr/>
          <p:nvPr/>
        </p:nvGrpSpPr>
        <p:grpSpPr>
          <a:xfrm rot="0">
            <a:off x="1925069" y="5460206"/>
            <a:ext cx="242888" cy="255270"/>
            <a:chOff x="0" y="0"/>
            <a:chExt cx="323850" cy="340360"/>
          </a:xfrm>
        </p:grpSpPr>
        <p:sp>
          <p:nvSpPr>
            <p:cNvPr name="Freeform 13" id="13"/>
            <p:cNvSpPr/>
            <p:nvPr/>
          </p:nvSpPr>
          <p:spPr>
            <a:xfrm flipH="false" flipV="false" rot="0">
              <a:off x="0" y="0"/>
              <a:ext cx="323850" cy="340360"/>
            </a:xfrm>
            <a:custGeom>
              <a:avLst/>
              <a:gdLst/>
              <a:ahLst/>
              <a:cxnLst/>
              <a:rect r="r" b="b" t="t" l="l"/>
              <a:pathLst>
                <a:path h="340360" w="323850">
                  <a:moveTo>
                    <a:pt x="0" y="0"/>
                  </a:moveTo>
                  <a:lnTo>
                    <a:pt x="323850" y="0"/>
                  </a:lnTo>
                  <a:lnTo>
                    <a:pt x="323850" y="340360"/>
                  </a:lnTo>
                  <a:lnTo>
                    <a:pt x="0" y="340360"/>
                  </a:lnTo>
                  <a:close/>
                </a:path>
              </a:pathLst>
            </a:custGeom>
            <a:blipFill>
              <a:blip r:embed="rId3">
                <a:alphaModFix amt="0"/>
              </a:blip>
              <a:stretch>
                <a:fillRect l="-84844" t="0" r="-84844" b="0"/>
              </a:stretch>
            </a:blipFill>
            <a:ln w="14288" cap="sq">
              <a:solidFill>
                <a:srgbClr val="6E685E"/>
              </a:solidFill>
              <a:prstDash val="dash"/>
              <a:miter/>
            </a:ln>
          </p:spPr>
        </p:sp>
      </p:grpSp>
      <p:grpSp>
        <p:nvGrpSpPr>
          <p:cNvPr name="Group 14" id="14"/>
          <p:cNvGrpSpPr/>
          <p:nvPr/>
        </p:nvGrpSpPr>
        <p:grpSpPr>
          <a:xfrm rot="0">
            <a:off x="1932213" y="5467350"/>
            <a:ext cx="228600" cy="144590"/>
            <a:chOff x="0" y="0"/>
            <a:chExt cx="304800" cy="192786"/>
          </a:xfrm>
        </p:grpSpPr>
        <p:sp>
          <p:nvSpPr>
            <p:cNvPr name="Freeform 15" id="15"/>
            <p:cNvSpPr/>
            <p:nvPr/>
          </p:nvSpPr>
          <p:spPr>
            <a:xfrm flipH="false" flipV="false" rot="0">
              <a:off x="0" y="0"/>
              <a:ext cx="304800" cy="192786"/>
            </a:xfrm>
            <a:custGeom>
              <a:avLst/>
              <a:gdLst/>
              <a:ahLst/>
              <a:cxnLst/>
              <a:rect r="r" b="b" t="t" l="l"/>
              <a:pathLst>
                <a:path h="192786" w="304800">
                  <a:moveTo>
                    <a:pt x="0" y="0"/>
                  </a:moveTo>
                  <a:lnTo>
                    <a:pt x="304800" y="0"/>
                  </a:lnTo>
                  <a:lnTo>
                    <a:pt x="304800" y="192786"/>
                  </a:lnTo>
                  <a:lnTo>
                    <a:pt x="0" y="192786"/>
                  </a:lnTo>
                  <a:close/>
                </a:path>
              </a:pathLst>
            </a:custGeom>
            <a:solidFill>
              <a:srgbClr val="DCD3C3"/>
            </a:solidFill>
          </p:spPr>
        </p:sp>
      </p:grpSp>
      <p:grpSp>
        <p:nvGrpSpPr>
          <p:cNvPr name="Group 16" id="16"/>
          <p:cNvGrpSpPr/>
          <p:nvPr/>
        </p:nvGrpSpPr>
        <p:grpSpPr>
          <a:xfrm rot="0">
            <a:off x="2352332" y="5131594"/>
            <a:ext cx="242888" cy="342900"/>
            <a:chOff x="0" y="0"/>
            <a:chExt cx="323850" cy="457200"/>
          </a:xfrm>
        </p:grpSpPr>
        <p:sp>
          <p:nvSpPr>
            <p:cNvPr name="Freeform 17" id="17"/>
            <p:cNvSpPr/>
            <p:nvPr/>
          </p:nvSpPr>
          <p:spPr>
            <a:xfrm flipH="false" flipV="false" rot="0">
              <a:off x="0" y="0"/>
              <a:ext cx="323850" cy="457200"/>
            </a:xfrm>
            <a:custGeom>
              <a:avLst/>
              <a:gdLst/>
              <a:ahLst/>
              <a:cxnLst/>
              <a:rect r="r" b="b" t="t" l="l"/>
              <a:pathLst>
                <a:path h="457200" w="323850">
                  <a:moveTo>
                    <a:pt x="0" y="0"/>
                  </a:moveTo>
                  <a:lnTo>
                    <a:pt x="323850" y="0"/>
                  </a:lnTo>
                  <a:lnTo>
                    <a:pt x="323850" y="457200"/>
                  </a:lnTo>
                  <a:lnTo>
                    <a:pt x="0" y="457200"/>
                  </a:lnTo>
                  <a:close/>
                </a:path>
              </a:pathLst>
            </a:custGeom>
            <a:blipFill>
              <a:blip r:embed="rId3">
                <a:alphaModFix amt="0"/>
              </a:blip>
              <a:stretch>
                <a:fillRect l="-131134" t="0" r="-131134" b="0"/>
              </a:stretch>
            </a:blipFill>
            <a:ln w="14288" cap="sq">
              <a:solidFill>
                <a:srgbClr val="6E685E"/>
              </a:solidFill>
              <a:prstDash val="dash"/>
              <a:miter/>
            </a:ln>
          </p:spPr>
        </p:sp>
      </p:grpSp>
      <p:grpSp>
        <p:nvGrpSpPr>
          <p:cNvPr name="Group 18" id="18"/>
          <p:cNvGrpSpPr/>
          <p:nvPr/>
        </p:nvGrpSpPr>
        <p:grpSpPr>
          <a:xfrm rot="0">
            <a:off x="2359476" y="5270182"/>
            <a:ext cx="228600" cy="197167"/>
            <a:chOff x="0" y="0"/>
            <a:chExt cx="304800" cy="262890"/>
          </a:xfrm>
        </p:grpSpPr>
        <p:sp>
          <p:nvSpPr>
            <p:cNvPr name="Freeform 19" id="19"/>
            <p:cNvSpPr/>
            <p:nvPr/>
          </p:nvSpPr>
          <p:spPr>
            <a:xfrm flipH="false" flipV="false" rot="0">
              <a:off x="0" y="0"/>
              <a:ext cx="304800" cy="262890"/>
            </a:xfrm>
            <a:custGeom>
              <a:avLst/>
              <a:gdLst/>
              <a:ahLst/>
              <a:cxnLst/>
              <a:rect r="r" b="b" t="t" l="l"/>
              <a:pathLst>
                <a:path h="262890" w="304800">
                  <a:moveTo>
                    <a:pt x="0" y="0"/>
                  </a:moveTo>
                  <a:lnTo>
                    <a:pt x="304800" y="0"/>
                  </a:lnTo>
                  <a:lnTo>
                    <a:pt x="304800" y="262890"/>
                  </a:lnTo>
                  <a:lnTo>
                    <a:pt x="0" y="262890"/>
                  </a:lnTo>
                  <a:close/>
                </a:path>
              </a:pathLst>
            </a:custGeom>
            <a:solidFill>
              <a:srgbClr val="DCD3C3"/>
            </a:solidFill>
          </p:spPr>
        </p:sp>
      </p:grpSp>
      <p:grpSp>
        <p:nvGrpSpPr>
          <p:cNvPr name="Group 20" id="20"/>
          <p:cNvGrpSpPr/>
          <p:nvPr/>
        </p:nvGrpSpPr>
        <p:grpSpPr>
          <a:xfrm rot="0">
            <a:off x="2779595" y="5350669"/>
            <a:ext cx="242888" cy="123825"/>
            <a:chOff x="0" y="0"/>
            <a:chExt cx="323850" cy="165100"/>
          </a:xfrm>
        </p:grpSpPr>
        <p:sp>
          <p:nvSpPr>
            <p:cNvPr name="Freeform 21" id="21"/>
            <p:cNvSpPr/>
            <p:nvPr/>
          </p:nvSpPr>
          <p:spPr>
            <a:xfrm flipH="false" flipV="false" rot="0">
              <a:off x="0" y="0"/>
              <a:ext cx="323850" cy="165100"/>
            </a:xfrm>
            <a:custGeom>
              <a:avLst/>
              <a:gdLst/>
              <a:ahLst/>
              <a:cxnLst/>
              <a:rect r="r" b="b" t="t" l="l"/>
              <a:pathLst>
                <a:path h="165100" w="323850">
                  <a:moveTo>
                    <a:pt x="0" y="0"/>
                  </a:moveTo>
                  <a:lnTo>
                    <a:pt x="323850" y="0"/>
                  </a:lnTo>
                  <a:lnTo>
                    <a:pt x="323850" y="165100"/>
                  </a:lnTo>
                  <a:lnTo>
                    <a:pt x="0" y="165100"/>
                  </a:lnTo>
                  <a:close/>
                </a:path>
              </a:pathLst>
            </a:custGeom>
            <a:blipFill>
              <a:blip r:embed="rId3">
                <a:alphaModFix amt="0"/>
              </a:blip>
              <a:stretch>
                <a:fillRect l="-15409" t="0" r="-15409" b="0"/>
              </a:stretch>
            </a:blipFill>
            <a:ln w="14288" cap="sq">
              <a:solidFill>
                <a:srgbClr val="6E685E"/>
              </a:solidFill>
              <a:prstDash val="dash"/>
              <a:miter/>
            </a:ln>
          </p:spPr>
        </p:sp>
      </p:grpSp>
      <p:grpSp>
        <p:nvGrpSpPr>
          <p:cNvPr name="Group 22" id="22"/>
          <p:cNvGrpSpPr/>
          <p:nvPr/>
        </p:nvGrpSpPr>
        <p:grpSpPr>
          <a:xfrm rot="0">
            <a:off x="2786739" y="5401628"/>
            <a:ext cx="228600" cy="65723"/>
            <a:chOff x="0" y="0"/>
            <a:chExt cx="304800" cy="87630"/>
          </a:xfrm>
        </p:grpSpPr>
        <p:sp>
          <p:nvSpPr>
            <p:cNvPr name="Freeform 23" id="23"/>
            <p:cNvSpPr/>
            <p:nvPr/>
          </p:nvSpPr>
          <p:spPr>
            <a:xfrm flipH="false" flipV="false" rot="0">
              <a:off x="0" y="0"/>
              <a:ext cx="304800" cy="87630"/>
            </a:xfrm>
            <a:custGeom>
              <a:avLst/>
              <a:gdLst/>
              <a:ahLst/>
              <a:cxnLst/>
              <a:rect r="r" b="b" t="t" l="l"/>
              <a:pathLst>
                <a:path h="87630" w="304800">
                  <a:moveTo>
                    <a:pt x="0" y="0"/>
                  </a:moveTo>
                  <a:lnTo>
                    <a:pt x="304800" y="0"/>
                  </a:lnTo>
                  <a:lnTo>
                    <a:pt x="304800" y="87630"/>
                  </a:lnTo>
                  <a:lnTo>
                    <a:pt x="0" y="87630"/>
                  </a:lnTo>
                  <a:close/>
                </a:path>
              </a:pathLst>
            </a:custGeom>
            <a:solidFill>
              <a:srgbClr val="DCD3C3"/>
            </a:solidFill>
          </p:spPr>
        </p:sp>
      </p:grpSp>
      <p:grpSp>
        <p:nvGrpSpPr>
          <p:cNvPr name="Group 24" id="24"/>
          <p:cNvGrpSpPr/>
          <p:nvPr/>
        </p:nvGrpSpPr>
        <p:grpSpPr>
          <a:xfrm rot="0">
            <a:off x="3206867" y="5460206"/>
            <a:ext cx="242888" cy="386715"/>
            <a:chOff x="0" y="0"/>
            <a:chExt cx="323850" cy="515620"/>
          </a:xfrm>
        </p:grpSpPr>
        <p:sp>
          <p:nvSpPr>
            <p:cNvPr name="Freeform 25" id="25"/>
            <p:cNvSpPr/>
            <p:nvPr/>
          </p:nvSpPr>
          <p:spPr>
            <a:xfrm flipH="false" flipV="false" rot="0">
              <a:off x="0" y="0"/>
              <a:ext cx="323850" cy="515620"/>
            </a:xfrm>
            <a:custGeom>
              <a:avLst/>
              <a:gdLst/>
              <a:ahLst/>
              <a:cxnLst/>
              <a:rect r="r" b="b" t="t" l="l"/>
              <a:pathLst>
                <a:path h="515620" w="323850">
                  <a:moveTo>
                    <a:pt x="0" y="0"/>
                  </a:moveTo>
                  <a:lnTo>
                    <a:pt x="323850" y="0"/>
                  </a:lnTo>
                  <a:lnTo>
                    <a:pt x="323850" y="515620"/>
                  </a:lnTo>
                  <a:lnTo>
                    <a:pt x="0" y="515620"/>
                  </a:lnTo>
                  <a:close/>
                </a:path>
              </a:pathLst>
            </a:custGeom>
            <a:blipFill>
              <a:blip r:embed="rId3">
                <a:alphaModFix amt="0"/>
              </a:blip>
              <a:stretch>
                <a:fillRect l="-154279" t="0" r="-154279" b="0"/>
              </a:stretch>
            </a:blipFill>
            <a:ln w="14288" cap="sq">
              <a:solidFill>
                <a:srgbClr val="6E685E"/>
              </a:solidFill>
              <a:prstDash val="dash"/>
              <a:miter/>
            </a:ln>
          </p:spPr>
        </p:sp>
      </p:grpSp>
      <p:grpSp>
        <p:nvGrpSpPr>
          <p:cNvPr name="Group 26" id="26"/>
          <p:cNvGrpSpPr/>
          <p:nvPr/>
        </p:nvGrpSpPr>
        <p:grpSpPr>
          <a:xfrm rot="0">
            <a:off x="3214011" y="5467350"/>
            <a:ext cx="228600" cy="223456"/>
            <a:chOff x="0" y="0"/>
            <a:chExt cx="304800" cy="297942"/>
          </a:xfrm>
        </p:grpSpPr>
        <p:sp>
          <p:nvSpPr>
            <p:cNvPr name="Freeform 27" id="27"/>
            <p:cNvSpPr/>
            <p:nvPr/>
          </p:nvSpPr>
          <p:spPr>
            <a:xfrm flipH="false" flipV="false" rot="0">
              <a:off x="0" y="0"/>
              <a:ext cx="304800" cy="297942"/>
            </a:xfrm>
            <a:custGeom>
              <a:avLst/>
              <a:gdLst/>
              <a:ahLst/>
              <a:cxnLst/>
              <a:rect r="r" b="b" t="t" l="l"/>
              <a:pathLst>
                <a:path h="297942" w="304800">
                  <a:moveTo>
                    <a:pt x="0" y="0"/>
                  </a:moveTo>
                  <a:lnTo>
                    <a:pt x="304800" y="0"/>
                  </a:lnTo>
                  <a:lnTo>
                    <a:pt x="304800" y="297942"/>
                  </a:lnTo>
                  <a:lnTo>
                    <a:pt x="0" y="297942"/>
                  </a:lnTo>
                  <a:close/>
                </a:path>
              </a:pathLst>
            </a:custGeom>
            <a:solidFill>
              <a:srgbClr val="DCD3C3"/>
            </a:solidFill>
          </p:spPr>
        </p:sp>
      </p:grpSp>
      <p:grpSp>
        <p:nvGrpSpPr>
          <p:cNvPr name="Group 28" id="28"/>
          <p:cNvGrpSpPr/>
          <p:nvPr/>
        </p:nvGrpSpPr>
        <p:grpSpPr>
          <a:xfrm rot="0">
            <a:off x="3634130" y="5372576"/>
            <a:ext cx="242888" cy="101917"/>
            <a:chOff x="0" y="0"/>
            <a:chExt cx="323850" cy="135890"/>
          </a:xfrm>
        </p:grpSpPr>
        <p:sp>
          <p:nvSpPr>
            <p:cNvPr name="Freeform 29" id="29"/>
            <p:cNvSpPr/>
            <p:nvPr/>
          </p:nvSpPr>
          <p:spPr>
            <a:xfrm flipH="false" flipV="false" rot="0">
              <a:off x="0" y="0"/>
              <a:ext cx="323850" cy="135890"/>
            </a:xfrm>
            <a:custGeom>
              <a:avLst/>
              <a:gdLst/>
              <a:ahLst/>
              <a:cxnLst/>
              <a:rect r="r" b="b" t="t" l="l"/>
              <a:pathLst>
                <a:path h="135890" w="323850">
                  <a:moveTo>
                    <a:pt x="0" y="0"/>
                  </a:moveTo>
                  <a:lnTo>
                    <a:pt x="323850" y="0"/>
                  </a:lnTo>
                  <a:lnTo>
                    <a:pt x="323850" y="135890"/>
                  </a:lnTo>
                  <a:lnTo>
                    <a:pt x="0" y="135890"/>
                  </a:lnTo>
                  <a:close/>
                </a:path>
              </a:pathLst>
            </a:custGeom>
            <a:blipFill>
              <a:blip r:embed="rId3">
                <a:alphaModFix amt="0"/>
              </a:blip>
              <a:stretch>
                <a:fillRect l="-3837" t="0" r="-3837" b="0"/>
              </a:stretch>
            </a:blipFill>
            <a:ln w="14288" cap="sq">
              <a:solidFill>
                <a:srgbClr val="6E685E"/>
              </a:solidFill>
              <a:prstDash val="dash"/>
              <a:miter/>
            </a:ln>
          </p:spPr>
        </p:sp>
      </p:grpSp>
      <p:grpSp>
        <p:nvGrpSpPr>
          <p:cNvPr name="Group 30" id="30"/>
          <p:cNvGrpSpPr/>
          <p:nvPr/>
        </p:nvGrpSpPr>
        <p:grpSpPr>
          <a:xfrm rot="0">
            <a:off x="3641274" y="5414772"/>
            <a:ext cx="228600" cy="52578"/>
            <a:chOff x="0" y="0"/>
            <a:chExt cx="304800" cy="70104"/>
          </a:xfrm>
        </p:grpSpPr>
        <p:sp>
          <p:nvSpPr>
            <p:cNvPr name="Freeform 31" id="31"/>
            <p:cNvSpPr/>
            <p:nvPr/>
          </p:nvSpPr>
          <p:spPr>
            <a:xfrm flipH="false" flipV="false" rot="0">
              <a:off x="0" y="0"/>
              <a:ext cx="304800" cy="70104"/>
            </a:xfrm>
            <a:custGeom>
              <a:avLst/>
              <a:gdLst/>
              <a:ahLst/>
              <a:cxnLst/>
              <a:rect r="r" b="b" t="t" l="l"/>
              <a:pathLst>
                <a:path h="70104" w="304800">
                  <a:moveTo>
                    <a:pt x="0" y="0"/>
                  </a:moveTo>
                  <a:lnTo>
                    <a:pt x="304800" y="0"/>
                  </a:lnTo>
                  <a:lnTo>
                    <a:pt x="304800" y="70104"/>
                  </a:lnTo>
                  <a:lnTo>
                    <a:pt x="0" y="70104"/>
                  </a:lnTo>
                  <a:close/>
                </a:path>
              </a:pathLst>
            </a:custGeom>
            <a:solidFill>
              <a:srgbClr val="DCD3C3"/>
            </a:solidFill>
          </p:spPr>
        </p:sp>
      </p:grpSp>
      <p:grpSp>
        <p:nvGrpSpPr>
          <p:cNvPr name="Group 32" id="32"/>
          <p:cNvGrpSpPr/>
          <p:nvPr/>
        </p:nvGrpSpPr>
        <p:grpSpPr>
          <a:xfrm rot="0">
            <a:off x="4061393" y="5460206"/>
            <a:ext cx="242888" cy="145733"/>
            <a:chOff x="0" y="0"/>
            <a:chExt cx="323850" cy="194310"/>
          </a:xfrm>
        </p:grpSpPr>
        <p:sp>
          <p:nvSpPr>
            <p:cNvPr name="Freeform 33" id="33"/>
            <p:cNvSpPr/>
            <p:nvPr/>
          </p:nvSpPr>
          <p:spPr>
            <a:xfrm flipH="false" flipV="false" rot="0">
              <a:off x="0" y="0"/>
              <a:ext cx="323850" cy="194310"/>
            </a:xfrm>
            <a:custGeom>
              <a:avLst/>
              <a:gdLst/>
              <a:ahLst/>
              <a:cxnLst/>
              <a:rect r="r" b="b" t="t" l="l"/>
              <a:pathLst>
                <a:path h="194310" w="323850">
                  <a:moveTo>
                    <a:pt x="0" y="0"/>
                  </a:moveTo>
                  <a:lnTo>
                    <a:pt x="323850" y="0"/>
                  </a:lnTo>
                  <a:lnTo>
                    <a:pt x="323850" y="194310"/>
                  </a:lnTo>
                  <a:lnTo>
                    <a:pt x="0" y="194310"/>
                  </a:lnTo>
                  <a:close/>
                </a:path>
              </a:pathLst>
            </a:custGeom>
            <a:blipFill>
              <a:blip r:embed="rId3">
                <a:alphaModFix amt="0"/>
              </a:blip>
              <a:stretch>
                <a:fillRect l="-26982" t="0" r="-26982" b="0"/>
              </a:stretch>
            </a:blipFill>
            <a:ln w="14288" cap="sq">
              <a:solidFill>
                <a:srgbClr val="6E685E"/>
              </a:solidFill>
              <a:prstDash val="dash"/>
              <a:miter/>
            </a:ln>
          </p:spPr>
        </p:sp>
      </p:grpSp>
      <p:grpSp>
        <p:nvGrpSpPr>
          <p:cNvPr name="Group 34" id="34"/>
          <p:cNvGrpSpPr/>
          <p:nvPr/>
        </p:nvGrpSpPr>
        <p:grpSpPr>
          <a:xfrm rot="0">
            <a:off x="4068537" y="5467350"/>
            <a:ext cx="228600" cy="78867"/>
            <a:chOff x="0" y="0"/>
            <a:chExt cx="304800" cy="105156"/>
          </a:xfrm>
        </p:grpSpPr>
        <p:sp>
          <p:nvSpPr>
            <p:cNvPr name="Freeform 35" id="35"/>
            <p:cNvSpPr/>
            <p:nvPr/>
          </p:nvSpPr>
          <p:spPr>
            <a:xfrm flipH="false" flipV="false" rot="0">
              <a:off x="0" y="0"/>
              <a:ext cx="304800" cy="105156"/>
            </a:xfrm>
            <a:custGeom>
              <a:avLst/>
              <a:gdLst/>
              <a:ahLst/>
              <a:cxnLst/>
              <a:rect r="r" b="b" t="t" l="l"/>
              <a:pathLst>
                <a:path h="105156" w="304800">
                  <a:moveTo>
                    <a:pt x="0" y="0"/>
                  </a:moveTo>
                  <a:lnTo>
                    <a:pt x="304800" y="0"/>
                  </a:lnTo>
                  <a:lnTo>
                    <a:pt x="304800" y="105156"/>
                  </a:lnTo>
                  <a:lnTo>
                    <a:pt x="0" y="105156"/>
                  </a:lnTo>
                  <a:close/>
                </a:path>
              </a:pathLst>
            </a:custGeom>
            <a:solidFill>
              <a:srgbClr val="DCD3C3"/>
            </a:solidFill>
          </p:spPr>
        </p:sp>
      </p:grpSp>
      <p:grpSp>
        <p:nvGrpSpPr>
          <p:cNvPr name="Group 36" id="36"/>
          <p:cNvGrpSpPr/>
          <p:nvPr/>
        </p:nvGrpSpPr>
        <p:grpSpPr>
          <a:xfrm rot="0">
            <a:off x="4488656" y="5175409"/>
            <a:ext cx="242888" cy="299085"/>
            <a:chOff x="0" y="0"/>
            <a:chExt cx="323850" cy="398780"/>
          </a:xfrm>
        </p:grpSpPr>
        <p:sp>
          <p:nvSpPr>
            <p:cNvPr name="Freeform 37" id="37"/>
            <p:cNvSpPr/>
            <p:nvPr/>
          </p:nvSpPr>
          <p:spPr>
            <a:xfrm flipH="false" flipV="false" rot="0">
              <a:off x="0" y="0"/>
              <a:ext cx="323850" cy="398780"/>
            </a:xfrm>
            <a:custGeom>
              <a:avLst/>
              <a:gdLst/>
              <a:ahLst/>
              <a:cxnLst/>
              <a:rect r="r" b="b" t="t" l="l"/>
              <a:pathLst>
                <a:path h="398780" w="323850">
                  <a:moveTo>
                    <a:pt x="0" y="0"/>
                  </a:moveTo>
                  <a:lnTo>
                    <a:pt x="323850" y="0"/>
                  </a:lnTo>
                  <a:lnTo>
                    <a:pt x="323850" y="398780"/>
                  </a:lnTo>
                  <a:lnTo>
                    <a:pt x="0" y="398780"/>
                  </a:lnTo>
                  <a:close/>
                </a:path>
              </a:pathLst>
            </a:custGeom>
            <a:blipFill>
              <a:blip r:embed="rId3">
                <a:alphaModFix amt="0"/>
              </a:blip>
              <a:stretch>
                <a:fillRect l="-107989" t="0" r="-107989" b="0"/>
              </a:stretch>
            </a:blipFill>
            <a:ln w="14288" cap="sq">
              <a:solidFill>
                <a:srgbClr val="6E685E"/>
              </a:solidFill>
              <a:prstDash val="dash"/>
              <a:miter/>
            </a:ln>
          </p:spPr>
        </p:sp>
      </p:grpSp>
      <p:grpSp>
        <p:nvGrpSpPr>
          <p:cNvPr name="Group 38" id="38"/>
          <p:cNvGrpSpPr/>
          <p:nvPr/>
        </p:nvGrpSpPr>
        <p:grpSpPr>
          <a:xfrm rot="0">
            <a:off x="4495800" y="5296471"/>
            <a:ext cx="228600" cy="170879"/>
            <a:chOff x="0" y="0"/>
            <a:chExt cx="304800" cy="227838"/>
          </a:xfrm>
        </p:grpSpPr>
        <p:sp>
          <p:nvSpPr>
            <p:cNvPr name="Freeform 39" id="39"/>
            <p:cNvSpPr/>
            <p:nvPr/>
          </p:nvSpPr>
          <p:spPr>
            <a:xfrm flipH="false" flipV="false" rot="0">
              <a:off x="0" y="0"/>
              <a:ext cx="304800" cy="227838"/>
            </a:xfrm>
            <a:custGeom>
              <a:avLst/>
              <a:gdLst/>
              <a:ahLst/>
              <a:cxnLst/>
              <a:rect r="r" b="b" t="t" l="l"/>
              <a:pathLst>
                <a:path h="227838" w="304800">
                  <a:moveTo>
                    <a:pt x="0" y="0"/>
                  </a:moveTo>
                  <a:lnTo>
                    <a:pt x="304800" y="0"/>
                  </a:lnTo>
                  <a:lnTo>
                    <a:pt x="304800" y="227838"/>
                  </a:lnTo>
                  <a:lnTo>
                    <a:pt x="0" y="227838"/>
                  </a:lnTo>
                  <a:close/>
                </a:path>
              </a:pathLst>
            </a:custGeom>
            <a:solidFill>
              <a:srgbClr val="DCD3C3"/>
            </a:solidFill>
          </p:spPr>
        </p:sp>
      </p:grpSp>
      <p:sp>
        <p:nvSpPr>
          <p:cNvPr name="AutoShape 40" id="40"/>
          <p:cNvSpPr/>
          <p:nvPr/>
        </p:nvSpPr>
        <p:spPr>
          <a:xfrm rot="14700">
            <a:off x="1440637" y="5462588"/>
            <a:ext cx="3348066" cy="0"/>
          </a:xfrm>
          <a:prstGeom prst="line">
            <a:avLst/>
          </a:prstGeom>
          <a:ln cap="rnd" w="9525">
            <a:solidFill>
              <a:srgbClr val="A39B8B"/>
            </a:solidFill>
            <a:prstDash val="solid"/>
            <a:headEnd type="none" len="sm" w="sm"/>
            <a:tailEnd type="none" len="sm" w="sm"/>
          </a:ln>
        </p:spPr>
      </p:sp>
      <p:sp>
        <p:nvSpPr>
          <p:cNvPr name="AutoShape 41" id="41"/>
          <p:cNvSpPr/>
          <p:nvPr/>
        </p:nvSpPr>
        <p:spPr>
          <a:xfrm rot="14700">
            <a:off x="1440637" y="6072188"/>
            <a:ext cx="3348066" cy="0"/>
          </a:xfrm>
          <a:prstGeom prst="line">
            <a:avLst/>
          </a:prstGeom>
          <a:ln cap="rnd" w="9525">
            <a:solidFill>
              <a:srgbClr val="6E685E"/>
            </a:solidFill>
            <a:prstDash val="solid"/>
            <a:headEnd type="none" len="sm" w="sm"/>
            <a:tailEnd type="none" len="sm" w="sm"/>
          </a:ln>
        </p:spPr>
      </p:sp>
      <p:sp>
        <p:nvSpPr>
          <p:cNvPr name="TextBox 42" id="42"/>
          <p:cNvSpPr txBox="true"/>
          <p:nvPr/>
        </p:nvSpPr>
        <p:spPr>
          <a:xfrm rot="0">
            <a:off x="1447800" y="6143625"/>
            <a:ext cx="3333750" cy="1381125"/>
          </a:xfrm>
          <a:prstGeom prst="rect">
            <a:avLst/>
          </a:prstGeom>
        </p:spPr>
        <p:txBody>
          <a:bodyPr anchor="t" rtlCol="false" tIns="0" lIns="0" bIns="0" rIns="0">
            <a:spAutoFit/>
          </a:bodyPr>
          <a:lstStyle/>
          <a:p>
            <a:pPr algn="l">
              <a:lnSpc>
                <a:spcPts val="2520"/>
              </a:lnSpc>
            </a:pPr>
            <a:r>
              <a:rPr lang="en-US" sz="1800">
                <a:solidFill>
                  <a:srgbClr val="DCD3C3"/>
                </a:solidFill>
                <a:latin typeface="Archivo Narrow"/>
                <a:ea typeface="Archivo Narrow"/>
                <a:cs typeface="Archivo Narrow"/>
                <a:sym typeface="Archivo Narrow"/>
              </a:rPr>
              <a:t>Suma ponderada de las variables. La penalización achica todos los pesos, ninguno llega a cero.</a:t>
            </a:r>
          </a:p>
        </p:txBody>
      </p:sp>
      <p:grpSp>
        <p:nvGrpSpPr>
          <p:cNvPr name="Group 43" id="43"/>
          <p:cNvGrpSpPr/>
          <p:nvPr/>
        </p:nvGrpSpPr>
        <p:grpSpPr>
          <a:xfrm rot="0">
            <a:off x="5229225" y="3343275"/>
            <a:ext cx="3810000" cy="4324350"/>
            <a:chOff x="0" y="0"/>
            <a:chExt cx="5080000" cy="5765800"/>
          </a:xfrm>
        </p:grpSpPr>
        <p:sp>
          <p:nvSpPr>
            <p:cNvPr name="Freeform 44" id="44"/>
            <p:cNvSpPr/>
            <p:nvPr/>
          </p:nvSpPr>
          <p:spPr>
            <a:xfrm flipH="false" flipV="false" rot="0">
              <a:off x="0" y="0"/>
              <a:ext cx="5080000" cy="5765800"/>
            </a:xfrm>
            <a:custGeom>
              <a:avLst/>
              <a:gdLst/>
              <a:ahLst/>
              <a:cxnLst/>
              <a:rect r="r" b="b" t="t" l="l"/>
              <a:pathLst>
                <a:path h="5765800" w="5080000">
                  <a:moveTo>
                    <a:pt x="0" y="153162"/>
                  </a:moveTo>
                  <a:cubicBezTo>
                    <a:pt x="0" y="68580"/>
                    <a:pt x="68580" y="0"/>
                    <a:pt x="153162" y="0"/>
                  </a:cubicBezTo>
                  <a:lnTo>
                    <a:pt x="4926838" y="0"/>
                  </a:lnTo>
                  <a:cubicBezTo>
                    <a:pt x="5011420" y="0"/>
                    <a:pt x="5080000" y="68580"/>
                    <a:pt x="5080000" y="153162"/>
                  </a:cubicBezTo>
                  <a:lnTo>
                    <a:pt x="5080000" y="5612638"/>
                  </a:lnTo>
                  <a:cubicBezTo>
                    <a:pt x="5080000" y="5697220"/>
                    <a:pt x="5011420" y="5765800"/>
                    <a:pt x="4926838" y="5765800"/>
                  </a:cubicBezTo>
                  <a:lnTo>
                    <a:pt x="153162" y="5765800"/>
                  </a:lnTo>
                  <a:cubicBezTo>
                    <a:pt x="68580" y="5765800"/>
                    <a:pt x="0" y="5697220"/>
                    <a:pt x="0" y="5612638"/>
                  </a:cubicBezTo>
                  <a:close/>
                </a:path>
              </a:pathLst>
            </a:custGeom>
            <a:blipFill>
              <a:blip r:embed="rId3">
                <a:alphaModFix amt="0"/>
              </a:blip>
              <a:stretch>
                <a:fillRect l="-95624" t="0" r="-95624" b="0"/>
              </a:stretch>
            </a:blipFill>
            <a:ln w="19050" cap="sq">
              <a:solidFill>
                <a:srgbClr val="DCD3C3"/>
              </a:solidFill>
              <a:prstDash val="solid"/>
              <a:miter/>
            </a:ln>
          </p:spPr>
        </p:sp>
      </p:grpSp>
      <p:sp>
        <p:nvSpPr>
          <p:cNvPr name="TextBox 45" id="45"/>
          <p:cNvSpPr txBox="true"/>
          <p:nvPr/>
        </p:nvSpPr>
        <p:spPr>
          <a:xfrm rot="0">
            <a:off x="5467350" y="3609975"/>
            <a:ext cx="3333750" cy="504825"/>
          </a:xfrm>
          <a:prstGeom prst="rect">
            <a:avLst/>
          </a:prstGeom>
        </p:spPr>
        <p:txBody>
          <a:bodyPr anchor="t" rtlCol="false" tIns="0" lIns="0" bIns="0" rIns="0">
            <a:spAutoFit/>
          </a:bodyPr>
          <a:lstStyle/>
          <a:p>
            <a:pPr algn="l">
              <a:lnSpc>
                <a:spcPts val="3960"/>
              </a:lnSpc>
            </a:pPr>
            <a:r>
              <a:rPr lang="en-US" sz="3600">
                <a:solidFill>
                  <a:srgbClr val="DCD3C3"/>
                </a:solidFill>
                <a:latin typeface="Anton"/>
                <a:ea typeface="Anton"/>
                <a:cs typeface="Anton"/>
                <a:sym typeface="Anton"/>
              </a:rPr>
              <a:t>LASSO</a:t>
            </a:r>
          </a:p>
        </p:txBody>
      </p:sp>
      <p:sp>
        <p:nvSpPr>
          <p:cNvPr name="TextBox 46" id="46"/>
          <p:cNvSpPr txBox="true"/>
          <p:nvPr/>
        </p:nvSpPr>
        <p:spPr>
          <a:xfrm rot="0">
            <a:off x="5467350" y="4181475"/>
            <a:ext cx="3333750" cy="695325"/>
          </a:xfrm>
          <a:prstGeom prst="rect">
            <a:avLst/>
          </a:prstGeom>
        </p:spPr>
        <p:txBody>
          <a:bodyPr anchor="t" rtlCol="false" tIns="0" lIns="0" bIns="0" rIns="0">
            <a:spAutoFit/>
          </a:bodyPr>
          <a:lstStyle/>
          <a:p>
            <a:pPr algn="l">
              <a:lnSpc>
                <a:spcPts val="2520"/>
              </a:lnSpc>
            </a:pPr>
            <a:r>
              <a:rPr lang="en-US" sz="1800">
                <a:solidFill>
                  <a:srgbClr val="DCD3C3"/>
                </a:solidFill>
                <a:latin typeface="Archivo Narrow"/>
                <a:ea typeface="Archivo Narrow"/>
                <a:cs typeface="Archivo Narrow"/>
                <a:sym typeface="Archivo Narrow"/>
              </a:rPr>
              <a:t>precio = </a:t>
            </a:r>
            <a:r>
              <a:rPr lang="en-US" sz="1800" b="true">
                <a:solidFill>
                  <a:srgbClr val="DCD3C3"/>
                </a:solidFill>
                <a:latin typeface="Archivo Narrow Bold"/>
                <a:ea typeface="Archivo Narrow Bold"/>
                <a:cs typeface="Archivo Narrow Bold"/>
                <a:sym typeface="Archivo Narrow Bold"/>
              </a:rPr>
              <a:t>a</a:t>
            </a:r>
            <a:r>
              <a:rPr lang="en-US" sz="1800">
                <a:solidFill>
                  <a:srgbClr val="DCD3C3"/>
                </a:solidFill>
                <a:latin typeface="Archivo Narrow"/>
                <a:ea typeface="Archivo Narrow"/>
                <a:cs typeface="Archivo Narrow"/>
                <a:sym typeface="Archivo Narrow"/>
              </a:rPr>
              <a:t>·superficie</a:t>
            </a:r>
          </a:p>
          <a:p>
            <a:pPr algn="l">
              <a:lnSpc>
                <a:spcPts val="2520"/>
              </a:lnSpc>
            </a:pPr>
            <a:r>
              <a:rPr lang="en-US" sz="1800">
                <a:solidFill>
                  <a:srgbClr val="DCD3C3"/>
                </a:solidFill>
                <a:latin typeface="Archivo Narrow"/>
                <a:ea typeface="Archivo Narrow"/>
                <a:cs typeface="Archivo Narrow"/>
                <a:sym typeface="Archivo Narrow"/>
              </a:rPr>
              <a:t>+ </a:t>
            </a:r>
            <a:r>
              <a:rPr lang="en-US" sz="1800" b="true">
                <a:solidFill>
                  <a:srgbClr val="DCD3C3"/>
                </a:solidFill>
                <a:latin typeface="Archivo Narrow Bold"/>
                <a:ea typeface="Archivo Narrow Bold"/>
                <a:cs typeface="Archivo Narrow Bold"/>
                <a:sym typeface="Archivo Narrow Bold"/>
              </a:rPr>
              <a:t>b</a:t>
            </a:r>
            <a:r>
              <a:rPr lang="en-US" sz="1800">
                <a:solidFill>
                  <a:srgbClr val="DCD3C3"/>
                </a:solidFill>
                <a:latin typeface="Archivo Narrow"/>
                <a:ea typeface="Archivo Narrow"/>
                <a:cs typeface="Archivo Narrow"/>
                <a:sym typeface="Archivo Narrow"/>
              </a:rPr>
              <a:t>·calidad + </a:t>
            </a:r>
            <a:r>
              <a:rPr lang="en-US" sz="1800" b="true">
                <a:solidFill>
                  <a:srgbClr val="DCD3C3"/>
                </a:solidFill>
                <a:latin typeface="Archivo Narrow Bold"/>
                <a:ea typeface="Archivo Narrow Bold"/>
                <a:cs typeface="Archivo Narrow Bold"/>
                <a:sym typeface="Archivo Narrow Bold"/>
              </a:rPr>
              <a:t>c</a:t>
            </a:r>
            <a:r>
              <a:rPr lang="en-US" sz="1800">
                <a:solidFill>
                  <a:srgbClr val="DCD3C3"/>
                </a:solidFill>
                <a:latin typeface="Archivo Narrow"/>
                <a:ea typeface="Archivo Narrow"/>
                <a:cs typeface="Archivo Narrow"/>
                <a:sym typeface="Archivo Narrow"/>
              </a:rPr>
              <a:t>·barrio + …</a:t>
            </a:r>
          </a:p>
        </p:txBody>
      </p:sp>
      <p:grpSp>
        <p:nvGrpSpPr>
          <p:cNvPr name="Group 47" id="47"/>
          <p:cNvGrpSpPr/>
          <p:nvPr/>
        </p:nvGrpSpPr>
        <p:grpSpPr>
          <a:xfrm rot="0">
            <a:off x="5517356" y="5043964"/>
            <a:ext cx="242888" cy="430530"/>
            <a:chOff x="0" y="0"/>
            <a:chExt cx="323850" cy="574040"/>
          </a:xfrm>
        </p:grpSpPr>
        <p:sp>
          <p:nvSpPr>
            <p:cNvPr name="Freeform 48" id="48"/>
            <p:cNvSpPr/>
            <p:nvPr/>
          </p:nvSpPr>
          <p:spPr>
            <a:xfrm flipH="false" flipV="false" rot="0">
              <a:off x="0" y="0"/>
              <a:ext cx="323850" cy="574040"/>
            </a:xfrm>
            <a:custGeom>
              <a:avLst/>
              <a:gdLst/>
              <a:ahLst/>
              <a:cxnLst/>
              <a:rect r="r" b="b" t="t" l="l"/>
              <a:pathLst>
                <a:path h="574040" w="323850">
                  <a:moveTo>
                    <a:pt x="0" y="0"/>
                  </a:moveTo>
                  <a:lnTo>
                    <a:pt x="323850" y="0"/>
                  </a:lnTo>
                  <a:lnTo>
                    <a:pt x="323850" y="574040"/>
                  </a:lnTo>
                  <a:lnTo>
                    <a:pt x="0" y="574040"/>
                  </a:lnTo>
                  <a:close/>
                </a:path>
              </a:pathLst>
            </a:custGeom>
            <a:blipFill>
              <a:blip r:embed="rId3">
                <a:alphaModFix amt="0"/>
              </a:blip>
              <a:stretch>
                <a:fillRect l="-177424" t="0" r="-177424" b="0"/>
              </a:stretch>
            </a:blipFill>
            <a:ln w="14288" cap="sq">
              <a:solidFill>
                <a:srgbClr val="6E685E"/>
              </a:solidFill>
              <a:prstDash val="dash"/>
              <a:miter/>
            </a:ln>
          </p:spPr>
        </p:sp>
      </p:grpSp>
      <p:grpSp>
        <p:nvGrpSpPr>
          <p:cNvPr name="Group 49" id="49"/>
          <p:cNvGrpSpPr/>
          <p:nvPr/>
        </p:nvGrpSpPr>
        <p:grpSpPr>
          <a:xfrm rot="0">
            <a:off x="5524500" y="5182553"/>
            <a:ext cx="228600" cy="284797"/>
            <a:chOff x="0" y="0"/>
            <a:chExt cx="304800" cy="379730"/>
          </a:xfrm>
        </p:grpSpPr>
        <p:sp>
          <p:nvSpPr>
            <p:cNvPr name="Freeform 50" id="50"/>
            <p:cNvSpPr/>
            <p:nvPr/>
          </p:nvSpPr>
          <p:spPr>
            <a:xfrm flipH="false" flipV="false" rot="0">
              <a:off x="0" y="0"/>
              <a:ext cx="304800" cy="379730"/>
            </a:xfrm>
            <a:custGeom>
              <a:avLst/>
              <a:gdLst/>
              <a:ahLst/>
              <a:cxnLst/>
              <a:rect r="r" b="b" t="t" l="l"/>
              <a:pathLst>
                <a:path h="379730" w="304800">
                  <a:moveTo>
                    <a:pt x="0" y="0"/>
                  </a:moveTo>
                  <a:lnTo>
                    <a:pt x="304800" y="0"/>
                  </a:lnTo>
                  <a:lnTo>
                    <a:pt x="304800" y="379730"/>
                  </a:lnTo>
                  <a:lnTo>
                    <a:pt x="0" y="379730"/>
                  </a:lnTo>
                  <a:close/>
                </a:path>
              </a:pathLst>
            </a:custGeom>
            <a:solidFill>
              <a:srgbClr val="DCD3C3"/>
            </a:solidFill>
          </p:spPr>
        </p:sp>
      </p:grpSp>
      <p:grpSp>
        <p:nvGrpSpPr>
          <p:cNvPr name="Group 51" id="51"/>
          <p:cNvGrpSpPr/>
          <p:nvPr/>
        </p:nvGrpSpPr>
        <p:grpSpPr>
          <a:xfrm rot="0">
            <a:off x="5944619" y="5460206"/>
            <a:ext cx="242888" cy="255270"/>
            <a:chOff x="0" y="0"/>
            <a:chExt cx="323850" cy="340360"/>
          </a:xfrm>
        </p:grpSpPr>
        <p:sp>
          <p:nvSpPr>
            <p:cNvPr name="Freeform 52" id="52"/>
            <p:cNvSpPr/>
            <p:nvPr/>
          </p:nvSpPr>
          <p:spPr>
            <a:xfrm flipH="false" flipV="false" rot="0">
              <a:off x="0" y="0"/>
              <a:ext cx="323850" cy="340360"/>
            </a:xfrm>
            <a:custGeom>
              <a:avLst/>
              <a:gdLst/>
              <a:ahLst/>
              <a:cxnLst/>
              <a:rect r="r" b="b" t="t" l="l"/>
              <a:pathLst>
                <a:path h="340360" w="323850">
                  <a:moveTo>
                    <a:pt x="0" y="0"/>
                  </a:moveTo>
                  <a:lnTo>
                    <a:pt x="323850" y="0"/>
                  </a:lnTo>
                  <a:lnTo>
                    <a:pt x="323850" y="340360"/>
                  </a:lnTo>
                  <a:lnTo>
                    <a:pt x="0" y="340360"/>
                  </a:lnTo>
                  <a:close/>
                </a:path>
              </a:pathLst>
            </a:custGeom>
            <a:blipFill>
              <a:blip r:embed="rId3">
                <a:alphaModFix amt="0"/>
              </a:blip>
              <a:stretch>
                <a:fillRect l="-84844" t="0" r="-84844" b="0"/>
              </a:stretch>
            </a:blipFill>
            <a:ln w="14288" cap="sq">
              <a:solidFill>
                <a:srgbClr val="6E685E"/>
              </a:solidFill>
              <a:prstDash val="dash"/>
              <a:miter/>
            </a:ln>
          </p:spPr>
        </p:sp>
      </p:grpSp>
      <p:grpSp>
        <p:nvGrpSpPr>
          <p:cNvPr name="Group 53" id="53"/>
          <p:cNvGrpSpPr/>
          <p:nvPr/>
        </p:nvGrpSpPr>
        <p:grpSpPr>
          <a:xfrm rot="0">
            <a:off x="5951763" y="5467350"/>
            <a:ext cx="228600" cy="109538"/>
            <a:chOff x="0" y="0"/>
            <a:chExt cx="304800" cy="146050"/>
          </a:xfrm>
        </p:grpSpPr>
        <p:sp>
          <p:nvSpPr>
            <p:cNvPr name="Freeform 54" id="54"/>
            <p:cNvSpPr/>
            <p:nvPr/>
          </p:nvSpPr>
          <p:spPr>
            <a:xfrm flipH="false" flipV="false" rot="0">
              <a:off x="0" y="0"/>
              <a:ext cx="304800" cy="146050"/>
            </a:xfrm>
            <a:custGeom>
              <a:avLst/>
              <a:gdLst/>
              <a:ahLst/>
              <a:cxnLst/>
              <a:rect r="r" b="b" t="t" l="l"/>
              <a:pathLst>
                <a:path h="146050" w="304800">
                  <a:moveTo>
                    <a:pt x="0" y="0"/>
                  </a:moveTo>
                  <a:lnTo>
                    <a:pt x="304800" y="0"/>
                  </a:lnTo>
                  <a:lnTo>
                    <a:pt x="304800" y="146050"/>
                  </a:lnTo>
                  <a:lnTo>
                    <a:pt x="0" y="146050"/>
                  </a:lnTo>
                  <a:close/>
                </a:path>
              </a:pathLst>
            </a:custGeom>
            <a:solidFill>
              <a:srgbClr val="DCD3C3"/>
            </a:solidFill>
          </p:spPr>
        </p:sp>
      </p:grpSp>
      <p:grpSp>
        <p:nvGrpSpPr>
          <p:cNvPr name="Group 55" id="55"/>
          <p:cNvGrpSpPr/>
          <p:nvPr/>
        </p:nvGrpSpPr>
        <p:grpSpPr>
          <a:xfrm rot="0">
            <a:off x="6371882" y="5131594"/>
            <a:ext cx="242888" cy="342900"/>
            <a:chOff x="0" y="0"/>
            <a:chExt cx="323850" cy="457200"/>
          </a:xfrm>
        </p:grpSpPr>
        <p:sp>
          <p:nvSpPr>
            <p:cNvPr name="Freeform 56" id="56"/>
            <p:cNvSpPr/>
            <p:nvPr/>
          </p:nvSpPr>
          <p:spPr>
            <a:xfrm flipH="false" flipV="false" rot="0">
              <a:off x="0" y="0"/>
              <a:ext cx="323850" cy="457200"/>
            </a:xfrm>
            <a:custGeom>
              <a:avLst/>
              <a:gdLst/>
              <a:ahLst/>
              <a:cxnLst/>
              <a:rect r="r" b="b" t="t" l="l"/>
              <a:pathLst>
                <a:path h="457200" w="323850">
                  <a:moveTo>
                    <a:pt x="0" y="0"/>
                  </a:moveTo>
                  <a:lnTo>
                    <a:pt x="323850" y="0"/>
                  </a:lnTo>
                  <a:lnTo>
                    <a:pt x="323850" y="457200"/>
                  </a:lnTo>
                  <a:lnTo>
                    <a:pt x="0" y="457200"/>
                  </a:lnTo>
                  <a:close/>
                </a:path>
              </a:pathLst>
            </a:custGeom>
            <a:blipFill>
              <a:blip r:embed="rId3">
                <a:alphaModFix amt="0"/>
              </a:blip>
              <a:stretch>
                <a:fillRect l="-131134" t="0" r="-131134" b="0"/>
              </a:stretch>
            </a:blipFill>
            <a:ln w="14288" cap="sq">
              <a:solidFill>
                <a:srgbClr val="6E685E"/>
              </a:solidFill>
              <a:prstDash val="dash"/>
              <a:miter/>
            </a:ln>
          </p:spPr>
        </p:sp>
      </p:grpSp>
      <p:grpSp>
        <p:nvGrpSpPr>
          <p:cNvPr name="Group 57" id="57"/>
          <p:cNvGrpSpPr/>
          <p:nvPr/>
        </p:nvGrpSpPr>
        <p:grpSpPr>
          <a:xfrm rot="0">
            <a:off x="6379026" y="5270182"/>
            <a:ext cx="228600" cy="197167"/>
            <a:chOff x="0" y="0"/>
            <a:chExt cx="304800" cy="262890"/>
          </a:xfrm>
        </p:grpSpPr>
        <p:sp>
          <p:nvSpPr>
            <p:cNvPr name="Freeform 58" id="58"/>
            <p:cNvSpPr/>
            <p:nvPr/>
          </p:nvSpPr>
          <p:spPr>
            <a:xfrm flipH="false" flipV="false" rot="0">
              <a:off x="0" y="0"/>
              <a:ext cx="304800" cy="262890"/>
            </a:xfrm>
            <a:custGeom>
              <a:avLst/>
              <a:gdLst/>
              <a:ahLst/>
              <a:cxnLst/>
              <a:rect r="r" b="b" t="t" l="l"/>
              <a:pathLst>
                <a:path h="262890" w="304800">
                  <a:moveTo>
                    <a:pt x="0" y="0"/>
                  </a:moveTo>
                  <a:lnTo>
                    <a:pt x="304800" y="0"/>
                  </a:lnTo>
                  <a:lnTo>
                    <a:pt x="304800" y="262890"/>
                  </a:lnTo>
                  <a:lnTo>
                    <a:pt x="0" y="262890"/>
                  </a:lnTo>
                  <a:close/>
                </a:path>
              </a:pathLst>
            </a:custGeom>
            <a:solidFill>
              <a:srgbClr val="DCD3C3"/>
            </a:solidFill>
          </p:spPr>
        </p:sp>
      </p:grpSp>
      <p:grpSp>
        <p:nvGrpSpPr>
          <p:cNvPr name="Group 59" id="59"/>
          <p:cNvGrpSpPr/>
          <p:nvPr/>
        </p:nvGrpSpPr>
        <p:grpSpPr>
          <a:xfrm rot="0">
            <a:off x="6799145" y="5350669"/>
            <a:ext cx="242888" cy="123825"/>
            <a:chOff x="0" y="0"/>
            <a:chExt cx="323850" cy="165100"/>
          </a:xfrm>
        </p:grpSpPr>
        <p:sp>
          <p:nvSpPr>
            <p:cNvPr name="Freeform 60" id="60"/>
            <p:cNvSpPr/>
            <p:nvPr/>
          </p:nvSpPr>
          <p:spPr>
            <a:xfrm flipH="false" flipV="false" rot="0">
              <a:off x="0" y="0"/>
              <a:ext cx="323850" cy="165100"/>
            </a:xfrm>
            <a:custGeom>
              <a:avLst/>
              <a:gdLst/>
              <a:ahLst/>
              <a:cxnLst/>
              <a:rect r="r" b="b" t="t" l="l"/>
              <a:pathLst>
                <a:path h="165100" w="323850">
                  <a:moveTo>
                    <a:pt x="0" y="0"/>
                  </a:moveTo>
                  <a:lnTo>
                    <a:pt x="323850" y="0"/>
                  </a:lnTo>
                  <a:lnTo>
                    <a:pt x="323850" y="165100"/>
                  </a:lnTo>
                  <a:lnTo>
                    <a:pt x="0" y="165100"/>
                  </a:lnTo>
                  <a:close/>
                </a:path>
              </a:pathLst>
            </a:custGeom>
            <a:blipFill>
              <a:blip r:embed="rId3">
                <a:alphaModFix amt="0"/>
              </a:blip>
              <a:stretch>
                <a:fillRect l="-15409" t="0" r="-15409" b="0"/>
              </a:stretch>
            </a:blipFill>
            <a:ln w="14288" cap="sq">
              <a:solidFill>
                <a:srgbClr val="6E685E"/>
              </a:solidFill>
              <a:prstDash val="dash"/>
              <a:miter/>
            </a:ln>
          </p:spPr>
        </p:sp>
      </p:grpSp>
      <p:grpSp>
        <p:nvGrpSpPr>
          <p:cNvPr name="Group 61" id="61"/>
          <p:cNvGrpSpPr/>
          <p:nvPr/>
        </p:nvGrpSpPr>
        <p:grpSpPr>
          <a:xfrm rot="0">
            <a:off x="6787239" y="5429250"/>
            <a:ext cx="266700" cy="76200"/>
            <a:chOff x="0" y="0"/>
            <a:chExt cx="355600" cy="101600"/>
          </a:xfrm>
        </p:grpSpPr>
        <p:sp>
          <p:nvSpPr>
            <p:cNvPr name="Freeform 62" id="62"/>
            <p:cNvSpPr/>
            <p:nvPr/>
          </p:nvSpPr>
          <p:spPr>
            <a:xfrm flipH="false" flipV="false" rot="0">
              <a:off x="0" y="0"/>
              <a:ext cx="355600" cy="101600"/>
            </a:xfrm>
            <a:custGeom>
              <a:avLst/>
              <a:gdLst/>
              <a:ahLst/>
              <a:cxnLst/>
              <a:rect r="r" b="b" t="t" l="l"/>
              <a:pathLst>
                <a:path h="101600" w="355600">
                  <a:moveTo>
                    <a:pt x="0" y="0"/>
                  </a:moveTo>
                  <a:lnTo>
                    <a:pt x="355600" y="0"/>
                  </a:lnTo>
                  <a:lnTo>
                    <a:pt x="355600" y="101600"/>
                  </a:lnTo>
                  <a:lnTo>
                    <a:pt x="0" y="101600"/>
                  </a:lnTo>
                  <a:close/>
                </a:path>
              </a:pathLst>
            </a:custGeom>
            <a:solidFill>
              <a:srgbClr val="8C8476"/>
            </a:solidFill>
          </p:spPr>
        </p:sp>
      </p:grpSp>
      <p:grpSp>
        <p:nvGrpSpPr>
          <p:cNvPr name="Group 63" id="63"/>
          <p:cNvGrpSpPr/>
          <p:nvPr/>
        </p:nvGrpSpPr>
        <p:grpSpPr>
          <a:xfrm rot="0">
            <a:off x="7226417" y="5460206"/>
            <a:ext cx="242888" cy="386715"/>
            <a:chOff x="0" y="0"/>
            <a:chExt cx="323850" cy="515620"/>
          </a:xfrm>
        </p:grpSpPr>
        <p:sp>
          <p:nvSpPr>
            <p:cNvPr name="Freeform 64" id="64"/>
            <p:cNvSpPr/>
            <p:nvPr/>
          </p:nvSpPr>
          <p:spPr>
            <a:xfrm flipH="false" flipV="false" rot="0">
              <a:off x="0" y="0"/>
              <a:ext cx="323850" cy="515620"/>
            </a:xfrm>
            <a:custGeom>
              <a:avLst/>
              <a:gdLst/>
              <a:ahLst/>
              <a:cxnLst/>
              <a:rect r="r" b="b" t="t" l="l"/>
              <a:pathLst>
                <a:path h="515620" w="323850">
                  <a:moveTo>
                    <a:pt x="0" y="0"/>
                  </a:moveTo>
                  <a:lnTo>
                    <a:pt x="323850" y="0"/>
                  </a:lnTo>
                  <a:lnTo>
                    <a:pt x="323850" y="515620"/>
                  </a:lnTo>
                  <a:lnTo>
                    <a:pt x="0" y="515620"/>
                  </a:lnTo>
                  <a:close/>
                </a:path>
              </a:pathLst>
            </a:custGeom>
            <a:blipFill>
              <a:blip r:embed="rId3">
                <a:alphaModFix amt="0"/>
              </a:blip>
              <a:stretch>
                <a:fillRect l="-154279" t="0" r="-154279" b="0"/>
              </a:stretch>
            </a:blipFill>
            <a:ln w="14288" cap="sq">
              <a:solidFill>
                <a:srgbClr val="6E685E"/>
              </a:solidFill>
              <a:prstDash val="dash"/>
              <a:miter/>
            </a:ln>
          </p:spPr>
        </p:sp>
      </p:grpSp>
      <p:grpSp>
        <p:nvGrpSpPr>
          <p:cNvPr name="Group 65" id="65"/>
          <p:cNvGrpSpPr/>
          <p:nvPr/>
        </p:nvGrpSpPr>
        <p:grpSpPr>
          <a:xfrm rot="0">
            <a:off x="7233561" y="5467350"/>
            <a:ext cx="228600" cy="240983"/>
            <a:chOff x="0" y="0"/>
            <a:chExt cx="304800" cy="321310"/>
          </a:xfrm>
        </p:grpSpPr>
        <p:sp>
          <p:nvSpPr>
            <p:cNvPr name="Freeform 66" id="66"/>
            <p:cNvSpPr/>
            <p:nvPr/>
          </p:nvSpPr>
          <p:spPr>
            <a:xfrm flipH="false" flipV="false" rot="0">
              <a:off x="0" y="0"/>
              <a:ext cx="304800" cy="321310"/>
            </a:xfrm>
            <a:custGeom>
              <a:avLst/>
              <a:gdLst/>
              <a:ahLst/>
              <a:cxnLst/>
              <a:rect r="r" b="b" t="t" l="l"/>
              <a:pathLst>
                <a:path h="321310" w="304800">
                  <a:moveTo>
                    <a:pt x="0" y="0"/>
                  </a:moveTo>
                  <a:lnTo>
                    <a:pt x="304800" y="0"/>
                  </a:lnTo>
                  <a:lnTo>
                    <a:pt x="304800" y="321310"/>
                  </a:lnTo>
                  <a:lnTo>
                    <a:pt x="0" y="321310"/>
                  </a:lnTo>
                  <a:close/>
                </a:path>
              </a:pathLst>
            </a:custGeom>
            <a:solidFill>
              <a:srgbClr val="DCD3C3"/>
            </a:solidFill>
          </p:spPr>
        </p:sp>
      </p:grpSp>
      <p:grpSp>
        <p:nvGrpSpPr>
          <p:cNvPr name="Group 67" id="67"/>
          <p:cNvGrpSpPr/>
          <p:nvPr/>
        </p:nvGrpSpPr>
        <p:grpSpPr>
          <a:xfrm rot="0">
            <a:off x="7653680" y="5372576"/>
            <a:ext cx="242888" cy="101917"/>
            <a:chOff x="0" y="0"/>
            <a:chExt cx="323850" cy="135890"/>
          </a:xfrm>
        </p:grpSpPr>
        <p:sp>
          <p:nvSpPr>
            <p:cNvPr name="Freeform 68" id="68"/>
            <p:cNvSpPr/>
            <p:nvPr/>
          </p:nvSpPr>
          <p:spPr>
            <a:xfrm flipH="false" flipV="false" rot="0">
              <a:off x="0" y="0"/>
              <a:ext cx="323850" cy="135890"/>
            </a:xfrm>
            <a:custGeom>
              <a:avLst/>
              <a:gdLst/>
              <a:ahLst/>
              <a:cxnLst/>
              <a:rect r="r" b="b" t="t" l="l"/>
              <a:pathLst>
                <a:path h="135890" w="323850">
                  <a:moveTo>
                    <a:pt x="0" y="0"/>
                  </a:moveTo>
                  <a:lnTo>
                    <a:pt x="323850" y="0"/>
                  </a:lnTo>
                  <a:lnTo>
                    <a:pt x="323850" y="135890"/>
                  </a:lnTo>
                  <a:lnTo>
                    <a:pt x="0" y="135890"/>
                  </a:lnTo>
                  <a:close/>
                </a:path>
              </a:pathLst>
            </a:custGeom>
            <a:blipFill>
              <a:blip r:embed="rId3">
                <a:alphaModFix amt="0"/>
              </a:blip>
              <a:stretch>
                <a:fillRect l="-3837" t="0" r="-3837" b="0"/>
              </a:stretch>
            </a:blipFill>
            <a:ln w="14288" cap="sq">
              <a:solidFill>
                <a:srgbClr val="6E685E"/>
              </a:solidFill>
              <a:prstDash val="dash"/>
              <a:miter/>
            </a:ln>
          </p:spPr>
        </p:sp>
      </p:grpSp>
      <p:grpSp>
        <p:nvGrpSpPr>
          <p:cNvPr name="Group 69" id="69"/>
          <p:cNvGrpSpPr/>
          <p:nvPr/>
        </p:nvGrpSpPr>
        <p:grpSpPr>
          <a:xfrm rot="0">
            <a:off x="7641774" y="5429250"/>
            <a:ext cx="266700" cy="76200"/>
            <a:chOff x="0" y="0"/>
            <a:chExt cx="355600" cy="101600"/>
          </a:xfrm>
        </p:grpSpPr>
        <p:sp>
          <p:nvSpPr>
            <p:cNvPr name="Freeform 70" id="70"/>
            <p:cNvSpPr/>
            <p:nvPr/>
          </p:nvSpPr>
          <p:spPr>
            <a:xfrm flipH="false" flipV="false" rot="0">
              <a:off x="0" y="0"/>
              <a:ext cx="355600" cy="101600"/>
            </a:xfrm>
            <a:custGeom>
              <a:avLst/>
              <a:gdLst/>
              <a:ahLst/>
              <a:cxnLst/>
              <a:rect r="r" b="b" t="t" l="l"/>
              <a:pathLst>
                <a:path h="101600" w="355600">
                  <a:moveTo>
                    <a:pt x="0" y="0"/>
                  </a:moveTo>
                  <a:lnTo>
                    <a:pt x="355600" y="0"/>
                  </a:lnTo>
                  <a:lnTo>
                    <a:pt x="355600" y="101600"/>
                  </a:lnTo>
                  <a:lnTo>
                    <a:pt x="0" y="101600"/>
                  </a:lnTo>
                  <a:close/>
                </a:path>
              </a:pathLst>
            </a:custGeom>
            <a:solidFill>
              <a:srgbClr val="8C8476"/>
            </a:solidFill>
          </p:spPr>
        </p:sp>
      </p:grpSp>
      <p:grpSp>
        <p:nvGrpSpPr>
          <p:cNvPr name="Group 71" id="71"/>
          <p:cNvGrpSpPr/>
          <p:nvPr/>
        </p:nvGrpSpPr>
        <p:grpSpPr>
          <a:xfrm rot="0">
            <a:off x="8080943" y="5460206"/>
            <a:ext cx="242888" cy="145733"/>
            <a:chOff x="0" y="0"/>
            <a:chExt cx="323850" cy="194310"/>
          </a:xfrm>
        </p:grpSpPr>
        <p:sp>
          <p:nvSpPr>
            <p:cNvPr name="Freeform 72" id="72"/>
            <p:cNvSpPr/>
            <p:nvPr/>
          </p:nvSpPr>
          <p:spPr>
            <a:xfrm flipH="false" flipV="false" rot="0">
              <a:off x="0" y="0"/>
              <a:ext cx="323850" cy="194310"/>
            </a:xfrm>
            <a:custGeom>
              <a:avLst/>
              <a:gdLst/>
              <a:ahLst/>
              <a:cxnLst/>
              <a:rect r="r" b="b" t="t" l="l"/>
              <a:pathLst>
                <a:path h="194310" w="323850">
                  <a:moveTo>
                    <a:pt x="0" y="0"/>
                  </a:moveTo>
                  <a:lnTo>
                    <a:pt x="323850" y="0"/>
                  </a:lnTo>
                  <a:lnTo>
                    <a:pt x="323850" y="194310"/>
                  </a:lnTo>
                  <a:lnTo>
                    <a:pt x="0" y="194310"/>
                  </a:lnTo>
                  <a:close/>
                </a:path>
              </a:pathLst>
            </a:custGeom>
            <a:blipFill>
              <a:blip r:embed="rId3">
                <a:alphaModFix amt="0"/>
              </a:blip>
              <a:stretch>
                <a:fillRect l="-26982" t="0" r="-26982" b="0"/>
              </a:stretch>
            </a:blipFill>
            <a:ln w="14288" cap="sq">
              <a:solidFill>
                <a:srgbClr val="6E685E"/>
              </a:solidFill>
              <a:prstDash val="dash"/>
              <a:miter/>
            </a:ln>
          </p:spPr>
        </p:sp>
      </p:grpSp>
      <p:grpSp>
        <p:nvGrpSpPr>
          <p:cNvPr name="Group 73" id="73"/>
          <p:cNvGrpSpPr/>
          <p:nvPr/>
        </p:nvGrpSpPr>
        <p:grpSpPr>
          <a:xfrm rot="0">
            <a:off x="8069037" y="5429250"/>
            <a:ext cx="266700" cy="76200"/>
            <a:chOff x="0" y="0"/>
            <a:chExt cx="355600" cy="101600"/>
          </a:xfrm>
        </p:grpSpPr>
        <p:sp>
          <p:nvSpPr>
            <p:cNvPr name="Freeform 74" id="74"/>
            <p:cNvSpPr/>
            <p:nvPr/>
          </p:nvSpPr>
          <p:spPr>
            <a:xfrm flipH="false" flipV="false" rot="0">
              <a:off x="0" y="0"/>
              <a:ext cx="355600" cy="101600"/>
            </a:xfrm>
            <a:custGeom>
              <a:avLst/>
              <a:gdLst/>
              <a:ahLst/>
              <a:cxnLst/>
              <a:rect r="r" b="b" t="t" l="l"/>
              <a:pathLst>
                <a:path h="101600" w="355600">
                  <a:moveTo>
                    <a:pt x="0" y="0"/>
                  </a:moveTo>
                  <a:lnTo>
                    <a:pt x="355600" y="0"/>
                  </a:lnTo>
                  <a:lnTo>
                    <a:pt x="355600" y="101600"/>
                  </a:lnTo>
                  <a:lnTo>
                    <a:pt x="0" y="101600"/>
                  </a:lnTo>
                  <a:close/>
                </a:path>
              </a:pathLst>
            </a:custGeom>
            <a:solidFill>
              <a:srgbClr val="8C8476"/>
            </a:solidFill>
          </p:spPr>
        </p:sp>
      </p:grpSp>
      <p:grpSp>
        <p:nvGrpSpPr>
          <p:cNvPr name="Group 75" id="75"/>
          <p:cNvGrpSpPr/>
          <p:nvPr/>
        </p:nvGrpSpPr>
        <p:grpSpPr>
          <a:xfrm rot="0">
            <a:off x="8508206" y="5175409"/>
            <a:ext cx="242888" cy="299085"/>
            <a:chOff x="0" y="0"/>
            <a:chExt cx="323850" cy="398780"/>
          </a:xfrm>
        </p:grpSpPr>
        <p:sp>
          <p:nvSpPr>
            <p:cNvPr name="Freeform 76" id="76"/>
            <p:cNvSpPr/>
            <p:nvPr/>
          </p:nvSpPr>
          <p:spPr>
            <a:xfrm flipH="false" flipV="false" rot="0">
              <a:off x="0" y="0"/>
              <a:ext cx="323850" cy="398780"/>
            </a:xfrm>
            <a:custGeom>
              <a:avLst/>
              <a:gdLst/>
              <a:ahLst/>
              <a:cxnLst/>
              <a:rect r="r" b="b" t="t" l="l"/>
              <a:pathLst>
                <a:path h="398780" w="323850">
                  <a:moveTo>
                    <a:pt x="0" y="0"/>
                  </a:moveTo>
                  <a:lnTo>
                    <a:pt x="323850" y="0"/>
                  </a:lnTo>
                  <a:lnTo>
                    <a:pt x="323850" y="398780"/>
                  </a:lnTo>
                  <a:lnTo>
                    <a:pt x="0" y="398780"/>
                  </a:lnTo>
                  <a:close/>
                </a:path>
              </a:pathLst>
            </a:custGeom>
            <a:blipFill>
              <a:blip r:embed="rId3">
                <a:alphaModFix amt="0"/>
              </a:blip>
              <a:stretch>
                <a:fillRect l="-107989" t="0" r="-107989" b="0"/>
              </a:stretch>
            </a:blipFill>
            <a:ln w="14288" cap="sq">
              <a:solidFill>
                <a:srgbClr val="6E685E"/>
              </a:solidFill>
              <a:prstDash val="dash"/>
              <a:miter/>
            </a:ln>
          </p:spPr>
        </p:sp>
      </p:grpSp>
      <p:grpSp>
        <p:nvGrpSpPr>
          <p:cNvPr name="Group 77" id="77"/>
          <p:cNvGrpSpPr/>
          <p:nvPr/>
        </p:nvGrpSpPr>
        <p:grpSpPr>
          <a:xfrm rot="0">
            <a:off x="8515350" y="5313997"/>
            <a:ext cx="228600" cy="153352"/>
            <a:chOff x="0" y="0"/>
            <a:chExt cx="304800" cy="204470"/>
          </a:xfrm>
        </p:grpSpPr>
        <p:sp>
          <p:nvSpPr>
            <p:cNvPr name="Freeform 78" id="78"/>
            <p:cNvSpPr/>
            <p:nvPr/>
          </p:nvSpPr>
          <p:spPr>
            <a:xfrm flipH="false" flipV="false" rot="0">
              <a:off x="0" y="0"/>
              <a:ext cx="304800" cy="204470"/>
            </a:xfrm>
            <a:custGeom>
              <a:avLst/>
              <a:gdLst/>
              <a:ahLst/>
              <a:cxnLst/>
              <a:rect r="r" b="b" t="t" l="l"/>
              <a:pathLst>
                <a:path h="204470" w="304800">
                  <a:moveTo>
                    <a:pt x="0" y="0"/>
                  </a:moveTo>
                  <a:lnTo>
                    <a:pt x="304800" y="0"/>
                  </a:lnTo>
                  <a:lnTo>
                    <a:pt x="304800" y="204470"/>
                  </a:lnTo>
                  <a:lnTo>
                    <a:pt x="0" y="204470"/>
                  </a:lnTo>
                  <a:close/>
                </a:path>
              </a:pathLst>
            </a:custGeom>
            <a:solidFill>
              <a:srgbClr val="DCD3C3"/>
            </a:solidFill>
          </p:spPr>
        </p:sp>
      </p:grpSp>
      <p:sp>
        <p:nvSpPr>
          <p:cNvPr name="AutoShape 79" id="79"/>
          <p:cNvSpPr/>
          <p:nvPr/>
        </p:nvSpPr>
        <p:spPr>
          <a:xfrm rot="14700">
            <a:off x="5460187" y="5462588"/>
            <a:ext cx="3348066" cy="0"/>
          </a:xfrm>
          <a:prstGeom prst="line">
            <a:avLst/>
          </a:prstGeom>
          <a:ln cap="rnd" w="9525">
            <a:solidFill>
              <a:srgbClr val="A39B8B"/>
            </a:solidFill>
            <a:prstDash val="solid"/>
            <a:headEnd type="none" len="sm" w="sm"/>
            <a:tailEnd type="none" len="sm" w="sm"/>
          </a:ln>
        </p:spPr>
      </p:sp>
      <p:sp>
        <p:nvSpPr>
          <p:cNvPr name="AutoShape 80" id="80"/>
          <p:cNvSpPr/>
          <p:nvPr/>
        </p:nvSpPr>
        <p:spPr>
          <a:xfrm rot="14700">
            <a:off x="5460187" y="6072188"/>
            <a:ext cx="3348066" cy="0"/>
          </a:xfrm>
          <a:prstGeom prst="line">
            <a:avLst/>
          </a:prstGeom>
          <a:ln cap="rnd" w="9525">
            <a:solidFill>
              <a:srgbClr val="6E685E"/>
            </a:solidFill>
            <a:prstDash val="solid"/>
            <a:headEnd type="none" len="sm" w="sm"/>
            <a:tailEnd type="none" len="sm" w="sm"/>
          </a:ln>
        </p:spPr>
      </p:sp>
      <p:sp>
        <p:nvSpPr>
          <p:cNvPr name="TextBox 81" id="81"/>
          <p:cNvSpPr txBox="true"/>
          <p:nvPr/>
        </p:nvSpPr>
        <p:spPr>
          <a:xfrm rot="0">
            <a:off x="5467350" y="6143625"/>
            <a:ext cx="3333750" cy="1381125"/>
          </a:xfrm>
          <a:prstGeom prst="rect">
            <a:avLst/>
          </a:prstGeom>
        </p:spPr>
        <p:txBody>
          <a:bodyPr anchor="t" rtlCol="false" tIns="0" lIns="0" bIns="0" rIns="0">
            <a:spAutoFit/>
          </a:bodyPr>
          <a:lstStyle/>
          <a:p>
            <a:pPr algn="l">
              <a:lnSpc>
                <a:spcPts val="2520"/>
              </a:lnSpc>
            </a:pPr>
            <a:r>
              <a:rPr lang="en-US" sz="1800">
                <a:solidFill>
                  <a:srgbClr val="DCD3C3"/>
                </a:solidFill>
                <a:latin typeface="Archivo Narrow"/>
                <a:ea typeface="Archivo Narrow"/>
                <a:cs typeface="Archivo Narrow"/>
                <a:sym typeface="Archivo Narrow"/>
              </a:rPr>
              <a:t>La misma suma, pero la penalización puede dejar pesos en cero: elige variables sola.</a:t>
            </a:r>
          </a:p>
        </p:txBody>
      </p:sp>
      <p:grpSp>
        <p:nvGrpSpPr>
          <p:cNvPr name="Group 82" id="82"/>
          <p:cNvGrpSpPr/>
          <p:nvPr/>
        </p:nvGrpSpPr>
        <p:grpSpPr>
          <a:xfrm rot="0">
            <a:off x="9248775" y="3343275"/>
            <a:ext cx="3810000" cy="4324350"/>
            <a:chOff x="0" y="0"/>
            <a:chExt cx="5080000" cy="5765800"/>
          </a:xfrm>
        </p:grpSpPr>
        <p:sp>
          <p:nvSpPr>
            <p:cNvPr name="Freeform 83" id="83"/>
            <p:cNvSpPr/>
            <p:nvPr/>
          </p:nvSpPr>
          <p:spPr>
            <a:xfrm flipH="false" flipV="false" rot="0">
              <a:off x="0" y="0"/>
              <a:ext cx="5080000" cy="5765800"/>
            </a:xfrm>
            <a:custGeom>
              <a:avLst/>
              <a:gdLst/>
              <a:ahLst/>
              <a:cxnLst/>
              <a:rect r="r" b="b" t="t" l="l"/>
              <a:pathLst>
                <a:path h="5765800" w="5080000">
                  <a:moveTo>
                    <a:pt x="0" y="153162"/>
                  </a:moveTo>
                  <a:cubicBezTo>
                    <a:pt x="0" y="68580"/>
                    <a:pt x="68580" y="0"/>
                    <a:pt x="153162" y="0"/>
                  </a:cubicBezTo>
                  <a:lnTo>
                    <a:pt x="4926838" y="0"/>
                  </a:lnTo>
                  <a:cubicBezTo>
                    <a:pt x="5011420" y="0"/>
                    <a:pt x="5080000" y="68580"/>
                    <a:pt x="5080000" y="153162"/>
                  </a:cubicBezTo>
                  <a:lnTo>
                    <a:pt x="5080000" y="5612638"/>
                  </a:lnTo>
                  <a:cubicBezTo>
                    <a:pt x="5080000" y="5697220"/>
                    <a:pt x="5011420" y="5765800"/>
                    <a:pt x="4926838" y="5765800"/>
                  </a:cubicBezTo>
                  <a:lnTo>
                    <a:pt x="153162" y="5765800"/>
                  </a:lnTo>
                  <a:cubicBezTo>
                    <a:pt x="68580" y="5765800"/>
                    <a:pt x="0" y="5697220"/>
                    <a:pt x="0" y="5612638"/>
                  </a:cubicBezTo>
                  <a:close/>
                </a:path>
              </a:pathLst>
            </a:custGeom>
            <a:blipFill>
              <a:blip r:embed="rId3">
                <a:alphaModFix amt="0"/>
              </a:blip>
              <a:stretch>
                <a:fillRect l="-95624" t="0" r="-95624" b="0"/>
              </a:stretch>
            </a:blipFill>
            <a:ln w="19050" cap="sq">
              <a:solidFill>
                <a:srgbClr val="DCD3C3"/>
              </a:solidFill>
              <a:prstDash val="solid"/>
              <a:miter/>
            </a:ln>
          </p:spPr>
        </p:sp>
      </p:grpSp>
      <p:sp>
        <p:nvSpPr>
          <p:cNvPr name="TextBox 84" id="84"/>
          <p:cNvSpPr txBox="true"/>
          <p:nvPr/>
        </p:nvSpPr>
        <p:spPr>
          <a:xfrm rot="0">
            <a:off x="9486900" y="3609975"/>
            <a:ext cx="3333750" cy="504825"/>
          </a:xfrm>
          <a:prstGeom prst="rect">
            <a:avLst/>
          </a:prstGeom>
        </p:spPr>
        <p:txBody>
          <a:bodyPr anchor="t" rtlCol="false" tIns="0" lIns="0" bIns="0" rIns="0">
            <a:spAutoFit/>
          </a:bodyPr>
          <a:lstStyle/>
          <a:p>
            <a:pPr algn="l">
              <a:lnSpc>
                <a:spcPts val="3960"/>
              </a:lnSpc>
            </a:pPr>
            <a:r>
              <a:rPr lang="en-US" sz="3600">
                <a:solidFill>
                  <a:srgbClr val="DCD3C3"/>
                </a:solidFill>
                <a:latin typeface="Anton"/>
                <a:ea typeface="Anton"/>
                <a:cs typeface="Anton"/>
                <a:sym typeface="Anton"/>
              </a:rPr>
              <a:t>RANDOM FOREST</a:t>
            </a:r>
          </a:p>
        </p:txBody>
      </p:sp>
      <p:sp>
        <p:nvSpPr>
          <p:cNvPr name="AutoShape 85" id="85"/>
          <p:cNvSpPr/>
          <p:nvPr/>
        </p:nvSpPr>
        <p:spPr>
          <a:xfrm rot="7466340">
            <a:off x="9541964" y="4486275"/>
            <a:ext cx="404222" cy="0"/>
          </a:xfrm>
          <a:prstGeom prst="line">
            <a:avLst/>
          </a:prstGeom>
          <a:ln cap="rnd" w="9525">
            <a:solidFill>
              <a:srgbClr val="A39B8B"/>
            </a:solidFill>
            <a:prstDash val="solid"/>
            <a:headEnd type="none" len="sm" w="sm"/>
            <a:tailEnd type="none" len="sm" w="sm"/>
          </a:ln>
        </p:spPr>
      </p:sp>
      <p:sp>
        <p:nvSpPr>
          <p:cNvPr name="AutoShape 86" id="86"/>
          <p:cNvSpPr/>
          <p:nvPr/>
        </p:nvSpPr>
        <p:spPr>
          <a:xfrm rot="3333660">
            <a:off x="9751514" y="4486275"/>
            <a:ext cx="404222" cy="0"/>
          </a:xfrm>
          <a:prstGeom prst="line">
            <a:avLst/>
          </a:prstGeom>
          <a:ln cap="rnd" w="9525">
            <a:solidFill>
              <a:srgbClr val="A39B8B"/>
            </a:solidFill>
            <a:prstDash val="solid"/>
            <a:headEnd type="none" len="sm" w="sm"/>
            <a:tailEnd type="none" len="sm" w="sm"/>
          </a:ln>
        </p:spPr>
      </p:sp>
      <p:sp>
        <p:nvSpPr>
          <p:cNvPr name="AutoShape 87" id="87"/>
          <p:cNvSpPr/>
          <p:nvPr/>
        </p:nvSpPr>
        <p:spPr>
          <a:xfrm rot="6345060">
            <a:off x="9403451" y="4819650"/>
            <a:ext cx="385972" cy="0"/>
          </a:xfrm>
          <a:prstGeom prst="line">
            <a:avLst/>
          </a:prstGeom>
          <a:ln cap="rnd" w="9525">
            <a:solidFill>
              <a:srgbClr val="A39B8B"/>
            </a:solidFill>
            <a:prstDash val="solid"/>
            <a:headEnd type="none" len="sm" w="sm"/>
            <a:tailEnd type="none" len="sm" w="sm"/>
          </a:ln>
        </p:spPr>
      </p:sp>
      <p:sp>
        <p:nvSpPr>
          <p:cNvPr name="AutoShape 88" id="88"/>
          <p:cNvSpPr/>
          <p:nvPr/>
        </p:nvSpPr>
        <p:spPr>
          <a:xfrm rot="4454940">
            <a:off x="9489176" y="4819650"/>
            <a:ext cx="385972" cy="0"/>
          </a:xfrm>
          <a:prstGeom prst="line">
            <a:avLst/>
          </a:prstGeom>
          <a:ln cap="rnd" w="9525">
            <a:solidFill>
              <a:srgbClr val="A39B8B"/>
            </a:solidFill>
            <a:prstDash val="solid"/>
            <a:headEnd type="none" len="sm" w="sm"/>
            <a:tailEnd type="none" len="sm" w="sm"/>
          </a:ln>
        </p:spPr>
      </p:sp>
      <p:sp>
        <p:nvSpPr>
          <p:cNvPr name="AutoShape 89" id="89"/>
          <p:cNvSpPr/>
          <p:nvPr/>
        </p:nvSpPr>
        <p:spPr>
          <a:xfrm rot="6345060">
            <a:off x="9822551" y="4819650"/>
            <a:ext cx="385972" cy="0"/>
          </a:xfrm>
          <a:prstGeom prst="line">
            <a:avLst/>
          </a:prstGeom>
          <a:ln cap="rnd" w="9525">
            <a:solidFill>
              <a:srgbClr val="A39B8B"/>
            </a:solidFill>
            <a:prstDash val="solid"/>
            <a:headEnd type="none" len="sm" w="sm"/>
            <a:tailEnd type="none" len="sm" w="sm"/>
          </a:ln>
        </p:spPr>
      </p:sp>
      <p:sp>
        <p:nvSpPr>
          <p:cNvPr name="AutoShape 90" id="90"/>
          <p:cNvSpPr/>
          <p:nvPr/>
        </p:nvSpPr>
        <p:spPr>
          <a:xfrm rot="4454940">
            <a:off x="9908276" y="4819650"/>
            <a:ext cx="385972" cy="0"/>
          </a:xfrm>
          <a:prstGeom prst="line">
            <a:avLst/>
          </a:prstGeom>
          <a:ln cap="rnd" w="9525">
            <a:solidFill>
              <a:srgbClr val="A39B8B"/>
            </a:solidFill>
            <a:prstDash val="solid"/>
            <a:headEnd type="none" len="sm" w="sm"/>
            <a:tailEnd type="none" len="sm" w="sm"/>
          </a:ln>
        </p:spPr>
      </p:sp>
      <p:grpSp>
        <p:nvGrpSpPr>
          <p:cNvPr name="Group 91" id="91"/>
          <p:cNvGrpSpPr/>
          <p:nvPr/>
        </p:nvGrpSpPr>
        <p:grpSpPr>
          <a:xfrm rot="0">
            <a:off x="9782175" y="4267200"/>
            <a:ext cx="133350" cy="133350"/>
            <a:chOff x="0" y="0"/>
            <a:chExt cx="177800" cy="177800"/>
          </a:xfrm>
        </p:grpSpPr>
        <p:sp>
          <p:nvSpPr>
            <p:cNvPr name="Freeform 92" id="92"/>
            <p:cNvSpPr/>
            <p:nvPr/>
          </p:nvSpPr>
          <p:spPr>
            <a:xfrm flipH="false" flipV="false" rot="0">
              <a:off x="0" y="0"/>
              <a:ext cx="177800" cy="177800"/>
            </a:xfrm>
            <a:custGeom>
              <a:avLst/>
              <a:gdLst/>
              <a:ahLst/>
              <a:cxnLst/>
              <a:rect r="r" b="b" t="t" l="l"/>
              <a:pathLst>
                <a:path h="177800" w="177800">
                  <a:moveTo>
                    <a:pt x="0" y="88900"/>
                  </a:moveTo>
                  <a:cubicBezTo>
                    <a:pt x="0" y="39751"/>
                    <a:pt x="39751" y="0"/>
                    <a:pt x="88900" y="0"/>
                  </a:cubicBezTo>
                  <a:cubicBezTo>
                    <a:pt x="138049" y="0"/>
                    <a:pt x="177800" y="39751"/>
                    <a:pt x="177800" y="88900"/>
                  </a:cubicBezTo>
                  <a:cubicBezTo>
                    <a:pt x="177800" y="138049"/>
                    <a:pt x="138049" y="177800"/>
                    <a:pt x="88900" y="177800"/>
                  </a:cubicBezTo>
                  <a:cubicBezTo>
                    <a:pt x="39751" y="177800"/>
                    <a:pt x="0" y="138049"/>
                    <a:pt x="0" y="88900"/>
                  </a:cubicBezTo>
                  <a:close/>
                </a:path>
              </a:pathLst>
            </a:custGeom>
            <a:solidFill>
              <a:srgbClr val="DCD3C3"/>
            </a:solidFill>
          </p:spPr>
        </p:sp>
      </p:grpSp>
      <p:grpSp>
        <p:nvGrpSpPr>
          <p:cNvPr name="Group 93" id="93"/>
          <p:cNvGrpSpPr/>
          <p:nvPr/>
        </p:nvGrpSpPr>
        <p:grpSpPr>
          <a:xfrm rot="0">
            <a:off x="9582150" y="4591050"/>
            <a:ext cx="114300" cy="114300"/>
            <a:chOff x="0" y="0"/>
            <a:chExt cx="152400" cy="152400"/>
          </a:xfrm>
        </p:grpSpPr>
        <p:sp>
          <p:nvSpPr>
            <p:cNvPr name="Freeform 94" id="94"/>
            <p:cNvSpPr/>
            <p:nvPr/>
          </p:nvSpPr>
          <p:spPr>
            <a:xfrm flipH="false" flipV="false" rot="0">
              <a:off x="0" y="0"/>
              <a:ext cx="152400" cy="152400"/>
            </a:xfrm>
            <a:custGeom>
              <a:avLst/>
              <a:gdLst/>
              <a:ahLst/>
              <a:cxnLst/>
              <a:rect r="r" b="b" t="t" l="l"/>
              <a:pathLst>
                <a:path h="152400" w="152400">
                  <a:moveTo>
                    <a:pt x="0" y="76200"/>
                  </a:moveTo>
                  <a:cubicBezTo>
                    <a:pt x="0" y="34163"/>
                    <a:pt x="34163" y="0"/>
                    <a:pt x="76200" y="0"/>
                  </a:cubicBezTo>
                  <a:cubicBezTo>
                    <a:pt x="118237" y="0"/>
                    <a:pt x="152400" y="34163"/>
                    <a:pt x="152400" y="76200"/>
                  </a:cubicBezTo>
                  <a:cubicBezTo>
                    <a:pt x="152400" y="118237"/>
                    <a:pt x="118237" y="152400"/>
                    <a:pt x="76200" y="152400"/>
                  </a:cubicBezTo>
                  <a:cubicBezTo>
                    <a:pt x="34163" y="152400"/>
                    <a:pt x="0" y="118237"/>
                    <a:pt x="0" y="76200"/>
                  </a:cubicBezTo>
                  <a:close/>
                </a:path>
              </a:pathLst>
            </a:custGeom>
            <a:solidFill>
              <a:srgbClr val="DCD3C3"/>
            </a:solidFill>
          </p:spPr>
        </p:sp>
      </p:grpSp>
      <p:grpSp>
        <p:nvGrpSpPr>
          <p:cNvPr name="Group 95" id="95"/>
          <p:cNvGrpSpPr/>
          <p:nvPr/>
        </p:nvGrpSpPr>
        <p:grpSpPr>
          <a:xfrm rot="0">
            <a:off x="10001250" y="4591050"/>
            <a:ext cx="114300" cy="114300"/>
            <a:chOff x="0" y="0"/>
            <a:chExt cx="152400" cy="152400"/>
          </a:xfrm>
        </p:grpSpPr>
        <p:sp>
          <p:nvSpPr>
            <p:cNvPr name="Freeform 96" id="96"/>
            <p:cNvSpPr/>
            <p:nvPr/>
          </p:nvSpPr>
          <p:spPr>
            <a:xfrm flipH="false" flipV="false" rot="0">
              <a:off x="0" y="0"/>
              <a:ext cx="152400" cy="152400"/>
            </a:xfrm>
            <a:custGeom>
              <a:avLst/>
              <a:gdLst/>
              <a:ahLst/>
              <a:cxnLst/>
              <a:rect r="r" b="b" t="t" l="l"/>
              <a:pathLst>
                <a:path h="152400" w="152400">
                  <a:moveTo>
                    <a:pt x="0" y="76200"/>
                  </a:moveTo>
                  <a:cubicBezTo>
                    <a:pt x="0" y="34163"/>
                    <a:pt x="34163" y="0"/>
                    <a:pt x="76200" y="0"/>
                  </a:cubicBezTo>
                  <a:cubicBezTo>
                    <a:pt x="118237" y="0"/>
                    <a:pt x="152400" y="34163"/>
                    <a:pt x="152400" y="76200"/>
                  </a:cubicBezTo>
                  <a:cubicBezTo>
                    <a:pt x="152400" y="118237"/>
                    <a:pt x="118237" y="152400"/>
                    <a:pt x="76200" y="152400"/>
                  </a:cubicBezTo>
                  <a:cubicBezTo>
                    <a:pt x="34163" y="152400"/>
                    <a:pt x="0" y="118237"/>
                    <a:pt x="0" y="76200"/>
                  </a:cubicBezTo>
                  <a:close/>
                </a:path>
              </a:pathLst>
            </a:custGeom>
            <a:solidFill>
              <a:srgbClr val="DCD3C3"/>
            </a:solidFill>
          </p:spPr>
        </p:sp>
      </p:grpSp>
      <p:grpSp>
        <p:nvGrpSpPr>
          <p:cNvPr name="Group 97" id="97"/>
          <p:cNvGrpSpPr/>
          <p:nvPr/>
        </p:nvGrpSpPr>
        <p:grpSpPr>
          <a:xfrm rot="0">
            <a:off x="9505950" y="4953000"/>
            <a:ext cx="95250" cy="95250"/>
            <a:chOff x="0" y="0"/>
            <a:chExt cx="127000" cy="127000"/>
          </a:xfrm>
        </p:grpSpPr>
        <p:sp>
          <p:nvSpPr>
            <p:cNvPr name="Freeform 98" id="98"/>
            <p:cNvSpPr/>
            <p:nvPr/>
          </p:nvSpPr>
          <p:spPr>
            <a:xfrm flipH="false" flipV="false" rot="0">
              <a:off x="0" y="0"/>
              <a:ext cx="127000" cy="127000"/>
            </a:xfrm>
            <a:custGeom>
              <a:avLst/>
              <a:gdLst/>
              <a:ahLst/>
              <a:cxnLst/>
              <a:rect r="r" b="b" t="t" l="l"/>
              <a:pathLst>
                <a:path h="127000" w="127000">
                  <a:moveTo>
                    <a:pt x="0" y="0"/>
                  </a:moveTo>
                  <a:lnTo>
                    <a:pt x="127000" y="0"/>
                  </a:lnTo>
                  <a:lnTo>
                    <a:pt x="127000" y="127000"/>
                  </a:lnTo>
                  <a:lnTo>
                    <a:pt x="0" y="127000"/>
                  </a:lnTo>
                  <a:close/>
                </a:path>
              </a:pathLst>
            </a:custGeom>
            <a:solidFill>
              <a:srgbClr val="DCD3C3"/>
            </a:solidFill>
          </p:spPr>
        </p:sp>
      </p:grpSp>
      <p:grpSp>
        <p:nvGrpSpPr>
          <p:cNvPr name="Group 99" id="99"/>
          <p:cNvGrpSpPr/>
          <p:nvPr/>
        </p:nvGrpSpPr>
        <p:grpSpPr>
          <a:xfrm rot="0">
            <a:off x="9677400" y="4953000"/>
            <a:ext cx="95250" cy="95250"/>
            <a:chOff x="0" y="0"/>
            <a:chExt cx="127000" cy="127000"/>
          </a:xfrm>
        </p:grpSpPr>
        <p:sp>
          <p:nvSpPr>
            <p:cNvPr name="Freeform 100" id="100"/>
            <p:cNvSpPr/>
            <p:nvPr/>
          </p:nvSpPr>
          <p:spPr>
            <a:xfrm flipH="false" flipV="false" rot="0">
              <a:off x="0" y="0"/>
              <a:ext cx="127000" cy="127000"/>
            </a:xfrm>
            <a:custGeom>
              <a:avLst/>
              <a:gdLst/>
              <a:ahLst/>
              <a:cxnLst/>
              <a:rect r="r" b="b" t="t" l="l"/>
              <a:pathLst>
                <a:path h="127000" w="127000">
                  <a:moveTo>
                    <a:pt x="0" y="0"/>
                  </a:moveTo>
                  <a:lnTo>
                    <a:pt x="127000" y="0"/>
                  </a:lnTo>
                  <a:lnTo>
                    <a:pt x="127000" y="127000"/>
                  </a:lnTo>
                  <a:lnTo>
                    <a:pt x="0" y="127000"/>
                  </a:lnTo>
                  <a:close/>
                </a:path>
              </a:pathLst>
            </a:custGeom>
            <a:solidFill>
              <a:srgbClr val="DCD3C3"/>
            </a:solidFill>
          </p:spPr>
        </p:sp>
      </p:grpSp>
      <p:grpSp>
        <p:nvGrpSpPr>
          <p:cNvPr name="Group 101" id="101"/>
          <p:cNvGrpSpPr/>
          <p:nvPr/>
        </p:nvGrpSpPr>
        <p:grpSpPr>
          <a:xfrm rot="0">
            <a:off x="9925050" y="4953000"/>
            <a:ext cx="95250" cy="95250"/>
            <a:chOff x="0" y="0"/>
            <a:chExt cx="127000" cy="127000"/>
          </a:xfrm>
        </p:grpSpPr>
        <p:sp>
          <p:nvSpPr>
            <p:cNvPr name="Freeform 102" id="102"/>
            <p:cNvSpPr/>
            <p:nvPr/>
          </p:nvSpPr>
          <p:spPr>
            <a:xfrm flipH="false" flipV="false" rot="0">
              <a:off x="0" y="0"/>
              <a:ext cx="127000" cy="127000"/>
            </a:xfrm>
            <a:custGeom>
              <a:avLst/>
              <a:gdLst/>
              <a:ahLst/>
              <a:cxnLst/>
              <a:rect r="r" b="b" t="t" l="l"/>
              <a:pathLst>
                <a:path h="127000" w="127000">
                  <a:moveTo>
                    <a:pt x="0" y="0"/>
                  </a:moveTo>
                  <a:lnTo>
                    <a:pt x="127000" y="0"/>
                  </a:lnTo>
                  <a:lnTo>
                    <a:pt x="127000" y="127000"/>
                  </a:lnTo>
                  <a:lnTo>
                    <a:pt x="0" y="127000"/>
                  </a:lnTo>
                  <a:close/>
                </a:path>
              </a:pathLst>
            </a:custGeom>
            <a:solidFill>
              <a:srgbClr val="DCD3C3"/>
            </a:solidFill>
          </p:spPr>
        </p:sp>
      </p:grpSp>
      <p:grpSp>
        <p:nvGrpSpPr>
          <p:cNvPr name="Group 103" id="103"/>
          <p:cNvGrpSpPr/>
          <p:nvPr/>
        </p:nvGrpSpPr>
        <p:grpSpPr>
          <a:xfrm rot="0">
            <a:off x="10096500" y="4953000"/>
            <a:ext cx="95250" cy="95250"/>
            <a:chOff x="0" y="0"/>
            <a:chExt cx="127000" cy="127000"/>
          </a:xfrm>
        </p:grpSpPr>
        <p:sp>
          <p:nvSpPr>
            <p:cNvPr name="Freeform 104" id="104"/>
            <p:cNvSpPr/>
            <p:nvPr/>
          </p:nvSpPr>
          <p:spPr>
            <a:xfrm flipH="false" flipV="false" rot="0">
              <a:off x="0" y="0"/>
              <a:ext cx="127000" cy="127000"/>
            </a:xfrm>
            <a:custGeom>
              <a:avLst/>
              <a:gdLst/>
              <a:ahLst/>
              <a:cxnLst/>
              <a:rect r="r" b="b" t="t" l="l"/>
              <a:pathLst>
                <a:path h="127000" w="127000">
                  <a:moveTo>
                    <a:pt x="0" y="0"/>
                  </a:moveTo>
                  <a:lnTo>
                    <a:pt x="127000" y="0"/>
                  </a:lnTo>
                  <a:lnTo>
                    <a:pt x="127000" y="127000"/>
                  </a:lnTo>
                  <a:lnTo>
                    <a:pt x="0" y="127000"/>
                  </a:lnTo>
                  <a:close/>
                </a:path>
              </a:pathLst>
            </a:custGeom>
            <a:solidFill>
              <a:srgbClr val="DCD3C3"/>
            </a:solidFill>
          </p:spPr>
        </p:sp>
      </p:grpSp>
      <p:sp>
        <p:nvSpPr>
          <p:cNvPr name="AutoShape 105" id="105"/>
          <p:cNvSpPr/>
          <p:nvPr/>
        </p:nvSpPr>
        <p:spPr>
          <a:xfrm rot="7466340">
            <a:off x="10551614" y="4486275"/>
            <a:ext cx="404222" cy="0"/>
          </a:xfrm>
          <a:prstGeom prst="line">
            <a:avLst/>
          </a:prstGeom>
          <a:ln cap="rnd" w="9525">
            <a:solidFill>
              <a:srgbClr val="A39B8B"/>
            </a:solidFill>
            <a:prstDash val="solid"/>
            <a:headEnd type="none" len="sm" w="sm"/>
            <a:tailEnd type="none" len="sm" w="sm"/>
          </a:ln>
        </p:spPr>
      </p:sp>
      <p:sp>
        <p:nvSpPr>
          <p:cNvPr name="AutoShape 106" id="106"/>
          <p:cNvSpPr/>
          <p:nvPr/>
        </p:nvSpPr>
        <p:spPr>
          <a:xfrm rot="3333660">
            <a:off x="10761164" y="4486275"/>
            <a:ext cx="404222" cy="0"/>
          </a:xfrm>
          <a:prstGeom prst="line">
            <a:avLst/>
          </a:prstGeom>
          <a:ln cap="rnd" w="9525">
            <a:solidFill>
              <a:srgbClr val="A39B8B"/>
            </a:solidFill>
            <a:prstDash val="solid"/>
            <a:headEnd type="none" len="sm" w="sm"/>
            <a:tailEnd type="none" len="sm" w="sm"/>
          </a:ln>
        </p:spPr>
      </p:sp>
      <p:sp>
        <p:nvSpPr>
          <p:cNvPr name="AutoShape 107" id="107"/>
          <p:cNvSpPr/>
          <p:nvPr/>
        </p:nvSpPr>
        <p:spPr>
          <a:xfrm rot="6345060">
            <a:off x="10413101" y="4819650"/>
            <a:ext cx="385972" cy="0"/>
          </a:xfrm>
          <a:prstGeom prst="line">
            <a:avLst/>
          </a:prstGeom>
          <a:ln cap="rnd" w="9525">
            <a:solidFill>
              <a:srgbClr val="A39B8B"/>
            </a:solidFill>
            <a:prstDash val="solid"/>
            <a:headEnd type="none" len="sm" w="sm"/>
            <a:tailEnd type="none" len="sm" w="sm"/>
          </a:ln>
        </p:spPr>
      </p:sp>
      <p:sp>
        <p:nvSpPr>
          <p:cNvPr name="AutoShape 108" id="108"/>
          <p:cNvSpPr/>
          <p:nvPr/>
        </p:nvSpPr>
        <p:spPr>
          <a:xfrm rot="4454940">
            <a:off x="10498826" y="4819650"/>
            <a:ext cx="385972" cy="0"/>
          </a:xfrm>
          <a:prstGeom prst="line">
            <a:avLst/>
          </a:prstGeom>
          <a:ln cap="rnd" w="9525">
            <a:solidFill>
              <a:srgbClr val="A39B8B"/>
            </a:solidFill>
            <a:prstDash val="solid"/>
            <a:headEnd type="none" len="sm" w="sm"/>
            <a:tailEnd type="none" len="sm" w="sm"/>
          </a:ln>
        </p:spPr>
      </p:sp>
      <p:grpSp>
        <p:nvGrpSpPr>
          <p:cNvPr name="Group 109" id="109"/>
          <p:cNvGrpSpPr/>
          <p:nvPr/>
        </p:nvGrpSpPr>
        <p:grpSpPr>
          <a:xfrm rot="0">
            <a:off x="10791825" y="4267200"/>
            <a:ext cx="133350" cy="133350"/>
            <a:chOff x="0" y="0"/>
            <a:chExt cx="177800" cy="177800"/>
          </a:xfrm>
        </p:grpSpPr>
        <p:sp>
          <p:nvSpPr>
            <p:cNvPr name="Freeform 110" id="110"/>
            <p:cNvSpPr/>
            <p:nvPr/>
          </p:nvSpPr>
          <p:spPr>
            <a:xfrm flipH="false" flipV="false" rot="0">
              <a:off x="0" y="0"/>
              <a:ext cx="177800" cy="177800"/>
            </a:xfrm>
            <a:custGeom>
              <a:avLst/>
              <a:gdLst/>
              <a:ahLst/>
              <a:cxnLst/>
              <a:rect r="r" b="b" t="t" l="l"/>
              <a:pathLst>
                <a:path h="177800" w="177800">
                  <a:moveTo>
                    <a:pt x="0" y="88900"/>
                  </a:moveTo>
                  <a:cubicBezTo>
                    <a:pt x="0" y="39751"/>
                    <a:pt x="39751" y="0"/>
                    <a:pt x="88900" y="0"/>
                  </a:cubicBezTo>
                  <a:cubicBezTo>
                    <a:pt x="138049" y="0"/>
                    <a:pt x="177800" y="39751"/>
                    <a:pt x="177800" y="88900"/>
                  </a:cubicBezTo>
                  <a:cubicBezTo>
                    <a:pt x="177800" y="138049"/>
                    <a:pt x="138049" y="177800"/>
                    <a:pt x="88900" y="177800"/>
                  </a:cubicBezTo>
                  <a:cubicBezTo>
                    <a:pt x="39751" y="177800"/>
                    <a:pt x="0" y="138049"/>
                    <a:pt x="0" y="88900"/>
                  </a:cubicBezTo>
                  <a:close/>
                </a:path>
              </a:pathLst>
            </a:custGeom>
            <a:solidFill>
              <a:srgbClr val="DCD3C3"/>
            </a:solidFill>
          </p:spPr>
        </p:sp>
      </p:grpSp>
      <p:grpSp>
        <p:nvGrpSpPr>
          <p:cNvPr name="Group 111" id="111"/>
          <p:cNvGrpSpPr/>
          <p:nvPr/>
        </p:nvGrpSpPr>
        <p:grpSpPr>
          <a:xfrm rot="0">
            <a:off x="10591800" y="4591050"/>
            <a:ext cx="114300" cy="114300"/>
            <a:chOff x="0" y="0"/>
            <a:chExt cx="152400" cy="152400"/>
          </a:xfrm>
        </p:grpSpPr>
        <p:sp>
          <p:nvSpPr>
            <p:cNvPr name="Freeform 112" id="112"/>
            <p:cNvSpPr/>
            <p:nvPr/>
          </p:nvSpPr>
          <p:spPr>
            <a:xfrm flipH="false" flipV="false" rot="0">
              <a:off x="0" y="0"/>
              <a:ext cx="152400" cy="152400"/>
            </a:xfrm>
            <a:custGeom>
              <a:avLst/>
              <a:gdLst/>
              <a:ahLst/>
              <a:cxnLst/>
              <a:rect r="r" b="b" t="t" l="l"/>
              <a:pathLst>
                <a:path h="152400" w="152400">
                  <a:moveTo>
                    <a:pt x="0" y="76200"/>
                  </a:moveTo>
                  <a:cubicBezTo>
                    <a:pt x="0" y="34163"/>
                    <a:pt x="34163" y="0"/>
                    <a:pt x="76200" y="0"/>
                  </a:cubicBezTo>
                  <a:cubicBezTo>
                    <a:pt x="118237" y="0"/>
                    <a:pt x="152400" y="34163"/>
                    <a:pt x="152400" y="76200"/>
                  </a:cubicBezTo>
                  <a:cubicBezTo>
                    <a:pt x="152400" y="118237"/>
                    <a:pt x="118237" y="152400"/>
                    <a:pt x="76200" y="152400"/>
                  </a:cubicBezTo>
                  <a:cubicBezTo>
                    <a:pt x="34163" y="152400"/>
                    <a:pt x="0" y="118237"/>
                    <a:pt x="0" y="76200"/>
                  </a:cubicBezTo>
                  <a:close/>
                </a:path>
              </a:pathLst>
            </a:custGeom>
            <a:solidFill>
              <a:srgbClr val="DCD3C3"/>
            </a:solidFill>
          </p:spPr>
        </p:sp>
      </p:grpSp>
      <p:grpSp>
        <p:nvGrpSpPr>
          <p:cNvPr name="Group 113" id="113"/>
          <p:cNvGrpSpPr/>
          <p:nvPr/>
        </p:nvGrpSpPr>
        <p:grpSpPr>
          <a:xfrm rot="0">
            <a:off x="11020425" y="4600575"/>
            <a:ext cx="95250" cy="95250"/>
            <a:chOff x="0" y="0"/>
            <a:chExt cx="127000" cy="127000"/>
          </a:xfrm>
        </p:grpSpPr>
        <p:sp>
          <p:nvSpPr>
            <p:cNvPr name="Freeform 114" id="114"/>
            <p:cNvSpPr/>
            <p:nvPr/>
          </p:nvSpPr>
          <p:spPr>
            <a:xfrm flipH="false" flipV="false" rot="0">
              <a:off x="0" y="0"/>
              <a:ext cx="127000" cy="127000"/>
            </a:xfrm>
            <a:custGeom>
              <a:avLst/>
              <a:gdLst/>
              <a:ahLst/>
              <a:cxnLst/>
              <a:rect r="r" b="b" t="t" l="l"/>
              <a:pathLst>
                <a:path h="127000" w="127000">
                  <a:moveTo>
                    <a:pt x="0" y="0"/>
                  </a:moveTo>
                  <a:lnTo>
                    <a:pt x="127000" y="0"/>
                  </a:lnTo>
                  <a:lnTo>
                    <a:pt x="127000" y="127000"/>
                  </a:lnTo>
                  <a:lnTo>
                    <a:pt x="0" y="127000"/>
                  </a:lnTo>
                  <a:close/>
                </a:path>
              </a:pathLst>
            </a:custGeom>
            <a:solidFill>
              <a:srgbClr val="DCD3C3"/>
            </a:solidFill>
          </p:spPr>
        </p:sp>
      </p:grpSp>
      <p:grpSp>
        <p:nvGrpSpPr>
          <p:cNvPr name="Group 115" id="115"/>
          <p:cNvGrpSpPr/>
          <p:nvPr/>
        </p:nvGrpSpPr>
        <p:grpSpPr>
          <a:xfrm rot="0">
            <a:off x="10515600" y="4953000"/>
            <a:ext cx="95250" cy="95250"/>
            <a:chOff x="0" y="0"/>
            <a:chExt cx="127000" cy="127000"/>
          </a:xfrm>
        </p:grpSpPr>
        <p:sp>
          <p:nvSpPr>
            <p:cNvPr name="Freeform 116" id="116"/>
            <p:cNvSpPr/>
            <p:nvPr/>
          </p:nvSpPr>
          <p:spPr>
            <a:xfrm flipH="false" flipV="false" rot="0">
              <a:off x="0" y="0"/>
              <a:ext cx="127000" cy="127000"/>
            </a:xfrm>
            <a:custGeom>
              <a:avLst/>
              <a:gdLst/>
              <a:ahLst/>
              <a:cxnLst/>
              <a:rect r="r" b="b" t="t" l="l"/>
              <a:pathLst>
                <a:path h="127000" w="127000">
                  <a:moveTo>
                    <a:pt x="0" y="0"/>
                  </a:moveTo>
                  <a:lnTo>
                    <a:pt x="127000" y="0"/>
                  </a:lnTo>
                  <a:lnTo>
                    <a:pt x="127000" y="127000"/>
                  </a:lnTo>
                  <a:lnTo>
                    <a:pt x="0" y="127000"/>
                  </a:lnTo>
                  <a:close/>
                </a:path>
              </a:pathLst>
            </a:custGeom>
            <a:solidFill>
              <a:srgbClr val="DCD3C3"/>
            </a:solidFill>
          </p:spPr>
        </p:sp>
      </p:grpSp>
      <p:grpSp>
        <p:nvGrpSpPr>
          <p:cNvPr name="Group 117" id="117"/>
          <p:cNvGrpSpPr/>
          <p:nvPr/>
        </p:nvGrpSpPr>
        <p:grpSpPr>
          <a:xfrm rot="0">
            <a:off x="10687050" y="4953000"/>
            <a:ext cx="95250" cy="95250"/>
            <a:chOff x="0" y="0"/>
            <a:chExt cx="127000" cy="127000"/>
          </a:xfrm>
        </p:grpSpPr>
        <p:sp>
          <p:nvSpPr>
            <p:cNvPr name="Freeform 118" id="118"/>
            <p:cNvSpPr/>
            <p:nvPr/>
          </p:nvSpPr>
          <p:spPr>
            <a:xfrm flipH="false" flipV="false" rot="0">
              <a:off x="0" y="0"/>
              <a:ext cx="127000" cy="127000"/>
            </a:xfrm>
            <a:custGeom>
              <a:avLst/>
              <a:gdLst/>
              <a:ahLst/>
              <a:cxnLst/>
              <a:rect r="r" b="b" t="t" l="l"/>
              <a:pathLst>
                <a:path h="127000" w="127000">
                  <a:moveTo>
                    <a:pt x="0" y="0"/>
                  </a:moveTo>
                  <a:lnTo>
                    <a:pt x="127000" y="0"/>
                  </a:lnTo>
                  <a:lnTo>
                    <a:pt x="127000" y="127000"/>
                  </a:lnTo>
                  <a:lnTo>
                    <a:pt x="0" y="127000"/>
                  </a:lnTo>
                  <a:close/>
                </a:path>
              </a:pathLst>
            </a:custGeom>
            <a:solidFill>
              <a:srgbClr val="DCD3C3"/>
            </a:solidFill>
          </p:spPr>
        </p:sp>
      </p:grpSp>
      <p:grpSp>
        <p:nvGrpSpPr>
          <p:cNvPr name="Group 119" id="119"/>
          <p:cNvGrpSpPr/>
          <p:nvPr/>
        </p:nvGrpSpPr>
        <p:grpSpPr>
          <a:xfrm rot="0">
            <a:off x="11353800" y="4476750"/>
            <a:ext cx="609600" cy="381000"/>
            <a:chOff x="0" y="0"/>
            <a:chExt cx="812800" cy="508000"/>
          </a:xfrm>
        </p:grpSpPr>
        <p:sp>
          <p:nvSpPr>
            <p:cNvPr name="Freeform 120" id="120"/>
            <p:cNvSpPr/>
            <p:nvPr/>
          </p:nvSpPr>
          <p:spPr>
            <a:xfrm flipH="false" flipV="false" rot="0">
              <a:off x="0" y="0"/>
              <a:ext cx="812800" cy="508000"/>
            </a:xfrm>
            <a:custGeom>
              <a:avLst/>
              <a:gdLst/>
              <a:ahLst/>
              <a:cxnLst/>
              <a:rect r="r" b="b" t="t" l="l"/>
              <a:pathLst>
                <a:path h="508000" w="812800">
                  <a:moveTo>
                    <a:pt x="0" y="0"/>
                  </a:moveTo>
                  <a:lnTo>
                    <a:pt x="812800" y="0"/>
                  </a:lnTo>
                  <a:lnTo>
                    <a:pt x="812800" y="508000"/>
                  </a:lnTo>
                  <a:lnTo>
                    <a:pt x="0" y="508000"/>
                  </a:lnTo>
                  <a:close/>
                </a:path>
              </a:pathLst>
            </a:custGeom>
            <a:blipFill>
              <a:blip r:embed="rId3">
                <a:alphaModFix amt="0"/>
              </a:blip>
              <a:stretch>
                <a:fillRect l="-30189" t="0" r="-30189" b="0"/>
              </a:stretch>
            </a:blipFill>
          </p:spPr>
        </p:sp>
        <p:sp>
          <p:nvSpPr>
            <p:cNvPr name="TextBox 121" id="121"/>
            <p:cNvSpPr txBox="true"/>
            <p:nvPr/>
          </p:nvSpPr>
          <p:spPr>
            <a:xfrm>
              <a:off x="0" y="28575"/>
              <a:ext cx="812800" cy="479425"/>
            </a:xfrm>
            <a:prstGeom prst="rect">
              <a:avLst/>
            </a:prstGeom>
          </p:spPr>
          <p:txBody>
            <a:bodyPr anchor="ctr" rtlCol="false" tIns="0" lIns="0" bIns="0" rIns="0"/>
            <a:lstStyle/>
            <a:p>
              <a:pPr algn="ctr">
                <a:lnSpc>
                  <a:spcPts val="3960"/>
                </a:lnSpc>
              </a:pPr>
              <a:r>
                <a:rPr lang="en-US" sz="3600">
                  <a:solidFill>
                    <a:srgbClr val="DCD3C3"/>
                  </a:solidFill>
                  <a:latin typeface="Anton"/>
                  <a:ea typeface="Anton"/>
                  <a:cs typeface="Anton"/>
                  <a:sym typeface="Anton"/>
                </a:rPr>
                <a:t>…</a:t>
              </a:r>
            </a:p>
          </p:txBody>
        </p:sp>
      </p:grpSp>
      <p:sp>
        <p:nvSpPr>
          <p:cNvPr name="AutoShape 122" id="122"/>
          <p:cNvSpPr/>
          <p:nvPr/>
        </p:nvSpPr>
        <p:spPr>
          <a:xfrm rot="7466340">
            <a:off x="12151814" y="4486275"/>
            <a:ext cx="404222" cy="0"/>
          </a:xfrm>
          <a:prstGeom prst="line">
            <a:avLst/>
          </a:prstGeom>
          <a:ln cap="rnd" w="9525">
            <a:solidFill>
              <a:srgbClr val="A39B8B"/>
            </a:solidFill>
            <a:prstDash val="solid"/>
            <a:headEnd type="none" len="sm" w="sm"/>
            <a:tailEnd type="none" len="sm" w="sm"/>
          </a:ln>
        </p:spPr>
      </p:sp>
      <p:sp>
        <p:nvSpPr>
          <p:cNvPr name="AutoShape 123" id="123"/>
          <p:cNvSpPr/>
          <p:nvPr/>
        </p:nvSpPr>
        <p:spPr>
          <a:xfrm rot="3333660">
            <a:off x="12361364" y="4486275"/>
            <a:ext cx="404222" cy="0"/>
          </a:xfrm>
          <a:prstGeom prst="line">
            <a:avLst/>
          </a:prstGeom>
          <a:ln cap="rnd" w="9525">
            <a:solidFill>
              <a:srgbClr val="A39B8B"/>
            </a:solidFill>
            <a:prstDash val="solid"/>
            <a:headEnd type="none" len="sm" w="sm"/>
            <a:tailEnd type="none" len="sm" w="sm"/>
          </a:ln>
        </p:spPr>
      </p:sp>
      <p:sp>
        <p:nvSpPr>
          <p:cNvPr name="AutoShape 124" id="124"/>
          <p:cNvSpPr/>
          <p:nvPr/>
        </p:nvSpPr>
        <p:spPr>
          <a:xfrm rot="6345060">
            <a:off x="12432401" y="4819650"/>
            <a:ext cx="385972" cy="0"/>
          </a:xfrm>
          <a:prstGeom prst="line">
            <a:avLst/>
          </a:prstGeom>
          <a:ln cap="rnd" w="9525">
            <a:solidFill>
              <a:srgbClr val="A39B8B"/>
            </a:solidFill>
            <a:prstDash val="solid"/>
            <a:headEnd type="none" len="sm" w="sm"/>
            <a:tailEnd type="none" len="sm" w="sm"/>
          </a:ln>
        </p:spPr>
      </p:sp>
      <p:sp>
        <p:nvSpPr>
          <p:cNvPr name="AutoShape 125" id="125"/>
          <p:cNvSpPr/>
          <p:nvPr/>
        </p:nvSpPr>
        <p:spPr>
          <a:xfrm rot="4454940">
            <a:off x="12518126" y="4819650"/>
            <a:ext cx="385972" cy="0"/>
          </a:xfrm>
          <a:prstGeom prst="line">
            <a:avLst/>
          </a:prstGeom>
          <a:ln cap="rnd" w="9525">
            <a:solidFill>
              <a:srgbClr val="A39B8B"/>
            </a:solidFill>
            <a:prstDash val="solid"/>
            <a:headEnd type="none" len="sm" w="sm"/>
            <a:tailEnd type="none" len="sm" w="sm"/>
          </a:ln>
        </p:spPr>
      </p:sp>
      <p:grpSp>
        <p:nvGrpSpPr>
          <p:cNvPr name="Group 126" id="126"/>
          <p:cNvGrpSpPr/>
          <p:nvPr/>
        </p:nvGrpSpPr>
        <p:grpSpPr>
          <a:xfrm rot="0">
            <a:off x="12392025" y="4267200"/>
            <a:ext cx="133350" cy="133350"/>
            <a:chOff x="0" y="0"/>
            <a:chExt cx="177800" cy="177800"/>
          </a:xfrm>
        </p:grpSpPr>
        <p:sp>
          <p:nvSpPr>
            <p:cNvPr name="Freeform 127" id="127"/>
            <p:cNvSpPr/>
            <p:nvPr/>
          </p:nvSpPr>
          <p:spPr>
            <a:xfrm flipH="false" flipV="false" rot="0">
              <a:off x="0" y="0"/>
              <a:ext cx="177800" cy="177800"/>
            </a:xfrm>
            <a:custGeom>
              <a:avLst/>
              <a:gdLst/>
              <a:ahLst/>
              <a:cxnLst/>
              <a:rect r="r" b="b" t="t" l="l"/>
              <a:pathLst>
                <a:path h="177800" w="177800">
                  <a:moveTo>
                    <a:pt x="0" y="88900"/>
                  </a:moveTo>
                  <a:cubicBezTo>
                    <a:pt x="0" y="39751"/>
                    <a:pt x="39751" y="0"/>
                    <a:pt x="88900" y="0"/>
                  </a:cubicBezTo>
                  <a:cubicBezTo>
                    <a:pt x="138049" y="0"/>
                    <a:pt x="177800" y="39751"/>
                    <a:pt x="177800" y="88900"/>
                  </a:cubicBezTo>
                  <a:cubicBezTo>
                    <a:pt x="177800" y="138049"/>
                    <a:pt x="138049" y="177800"/>
                    <a:pt x="88900" y="177800"/>
                  </a:cubicBezTo>
                  <a:cubicBezTo>
                    <a:pt x="39751" y="177800"/>
                    <a:pt x="0" y="138049"/>
                    <a:pt x="0" y="88900"/>
                  </a:cubicBezTo>
                  <a:close/>
                </a:path>
              </a:pathLst>
            </a:custGeom>
            <a:solidFill>
              <a:srgbClr val="DCD3C3"/>
            </a:solidFill>
          </p:spPr>
        </p:sp>
      </p:grpSp>
      <p:grpSp>
        <p:nvGrpSpPr>
          <p:cNvPr name="Group 128" id="128"/>
          <p:cNvGrpSpPr/>
          <p:nvPr/>
        </p:nvGrpSpPr>
        <p:grpSpPr>
          <a:xfrm rot="0">
            <a:off x="12201525" y="4600575"/>
            <a:ext cx="95250" cy="95250"/>
            <a:chOff x="0" y="0"/>
            <a:chExt cx="127000" cy="127000"/>
          </a:xfrm>
        </p:grpSpPr>
        <p:sp>
          <p:nvSpPr>
            <p:cNvPr name="Freeform 129" id="129"/>
            <p:cNvSpPr/>
            <p:nvPr/>
          </p:nvSpPr>
          <p:spPr>
            <a:xfrm flipH="false" flipV="false" rot="0">
              <a:off x="0" y="0"/>
              <a:ext cx="127000" cy="127000"/>
            </a:xfrm>
            <a:custGeom>
              <a:avLst/>
              <a:gdLst/>
              <a:ahLst/>
              <a:cxnLst/>
              <a:rect r="r" b="b" t="t" l="l"/>
              <a:pathLst>
                <a:path h="127000" w="127000">
                  <a:moveTo>
                    <a:pt x="0" y="0"/>
                  </a:moveTo>
                  <a:lnTo>
                    <a:pt x="127000" y="0"/>
                  </a:lnTo>
                  <a:lnTo>
                    <a:pt x="127000" y="127000"/>
                  </a:lnTo>
                  <a:lnTo>
                    <a:pt x="0" y="127000"/>
                  </a:lnTo>
                  <a:close/>
                </a:path>
              </a:pathLst>
            </a:custGeom>
            <a:solidFill>
              <a:srgbClr val="DCD3C3"/>
            </a:solidFill>
          </p:spPr>
        </p:sp>
      </p:grpSp>
      <p:grpSp>
        <p:nvGrpSpPr>
          <p:cNvPr name="Group 130" id="130"/>
          <p:cNvGrpSpPr/>
          <p:nvPr/>
        </p:nvGrpSpPr>
        <p:grpSpPr>
          <a:xfrm rot="0">
            <a:off x="12611100" y="4591050"/>
            <a:ext cx="114300" cy="114300"/>
            <a:chOff x="0" y="0"/>
            <a:chExt cx="152400" cy="152400"/>
          </a:xfrm>
        </p:grpSpPr>
        <p:sp>
          <p:nvSpPr>
            <p:cNvPr name="Freeform 131" id="131"/>
            <p:cNvSpPr/>
            <p:nvPr/>
          </p:nvSpPr>
          <p:spPr>
            <a:xfrm flipH="false" flipV="false" rot="0">
              <a:off x="0" y="0"/>
              <a:ext cx="152400" cy="152400"/>
            </a:xfrm>
            <a:custGeom>
              <a:avLst/>
              <a:gdLst/>
              <a:ahLst/>
              <a:cxnLst/>
              <a:rect r="r" b="b" t="t" l="l"/>
              <a:pathLst>
                <a:path h="152400" w="152400">
                  <a:moveTo>
                    <a:pt x="0" y="76200"/>
                  </a:moveTo>
                  <a:cubicBezTo>
                    <a:pt x="0" y="34163"/>
                    <a:pt x="34163" y="0"/>
                    <a:pt x="76200" y="0"/>
                  </a:cubicBezTo>
                  <a:cubicBezTo>
                    <a:pt x="118237" y="0"/>
                    <a:pt x="152400" y="34163"/>
                    <a:pt x="152400" y="76200"/>
                  </a:cubicBezTo>
                  <a:cubicBezTo>
                    <a:pt x="152400" y="118237"/>
                    <a:pt x="118237" y="152400"/>
                    <a:pt x="76200" y="152400"/>
                  </a:cubicBezTo>
                  <a:cubicBezTo>
                    <a:pt x="34163" y="152400"/>
                    <a:pt x="0" y="118237"/>
                    <a:pt x="0" y="76200"/>
                  </a:cubicBezTo>
                  <a:close/>
                </a:path>
              </a:pathLst>
            </a:custGeom>
            <a:solidFill>
              <a:srgbClr val="DCD3C3"/>
            </a:solidFill>
          </p:spPr>
        </p:sp>
      </p:grpSp>
      <p:grpSp>
        <p:nvGrpSpPr>
          <p:cNvPr name="Group 132" id="132"/>
          <p:cNvGrpSpPr/>
          <p:nvPr/>
        </p:nvGrpSpPr>
        <p:grpSpPr>
          <a:xfrm rot="0">
            <a:off x="12534900" y="4953000"/>
            <a:ext cx="95250" cy="95250"/>
            <a:chOff x="0" y="0"/>
            <a:chExt cx="127000" cy="127000"/>
          </a:xfrm>
        </p:grpSpPr>
        <p:sp>
          <p:nvSpPr>
            <p:cNvPr name="Freeform 133" id="133"/>
            <p:cNvSpPr/>
            <p:nvPr/>
          </p:nvSpPr>
          <p:spPr>
            <a:xfrm flipH="false" flipV="false" rot="0">
              <a:off x="0" y="0"/>
              <a:ext cx="127000" cy="127000"/>
            </a:xfrm>
            <a:custGeom>
              <a:avLst/>
              <a:gdLst/>
              <a:ahLst/>
              <a:cxnLst/>
              <a:rect r="r" b="b" t="t" l="l"/>
              <a:pathLst>
                <a:path h="127000" w="127000">
                  <a:moveTo>
                    <a:pt x="0" y="0"/>
                  </a:moveTo>
                  <a:lnTo>
                    <a:pt x="127000" y="0"/>
                  </a:lnTo>
                  <a:lnTo>
                    <a:pt x="127000" y="127000"/>
                  </a:lnTo>
                  <a:lnTo>
                    <a:pt x="0" y="127000"/>
                  </a:lnTo>
                  <a:close/>
                </a:path>
              </a:pathLst>
            </a:custGeom>
            <a:solidFill>
              <a:srgbClr val="DCD3C3"/>
            </a:solidFill>
          </p:spPr>
        </p:sp>
      </p:grpSp>
      <p:grpSp>
        <p:nvGrpSpPr>
          <p:cNvPr name="Group 134" id="134"/>
          <p:cNvGrpSpPr/>
          <p:nvPr/>
        </p:nvGrpSpPr>
        <p:grpSpPr>
          <a:xfrm rot="0">
            <a:off x="12706350" y="4953000"/>
            <a:ext cx="95250" cy="95250"/>
            <a:chOff x="0" y="0"/>
            <a:chExt cx="127000" cy="127000"/>
          </a:xfrm>
        </p:grpSpPr>
        <p:sp>
          <p:nvSpPr>
            <p:cNvPr name="Freeform 135" id="135"/>
            <p:cNvSpPr/>
            <p:nvPr/>
          </p:nvSpPr>
          <p:spPr>
            <a:xfrm flipH="false" flipV="false" rot="0">
              <a:off x="0" y="0"/>
              <a:ext cx="127000" cy="127000"/>
            </a:xfrm>
            <a:custGeom>
              <a:avLst/>
              <a:gdLst/>
              <a:ahLst/>
              <a:cxnLst/>
              <a:rect r="r" b="b" t="t" l="l"/>
              <a:pathLst>
                <a:path h="127000" w="127000">
                  <a:moveTo>
                    <a:pt x="0" y="0"/>
                  </a:moveTo>
                  <a:lnTo>
                    <a:pt x="127000" y="0"/>
                  </a:lnTo>
                  <a:lnTo>
                    <a:pt x="127000" y="127000"/>
                  </a:lnTo>
                  <a:lnTo>
                    <a:pt x="0" y="127000"/>
                  </a:lnTo>
                  <a:close/>
                </a:path>
              </a:pathLst>
            </a:custGeom>
            <a:solidFill>
              <a:srgbClr val="DCD3C3"/>
            </a:solidFill>
          </p:spPr>
        </p:sp>
      </p:grpSp>
      <p:grpSp>
        <p:nvGrpSpPr>
          <p:cNvPr name="Group 136" id="136"/>
          <p:cNvGrpSpPr/>
          <p:nvPr/>
        </p:nvGrpSpPr>
        <p:grpSpPr>
          <a:xfrm rot="0">
            <a:off x="11058525" y="5200650"/>
            <a:ext cx="190500" cy="266700"/>
            <a:chOff x="0" y="0"/>
            <a:chExt cx="254000" cy="355600"/>
          </a:xfrm>
        </p:grpSpPr>
        <p:sp>
          <p:nvSpPr>
            <p:cNvPr name="Freeform 137" id="137"/>
            <p:cNvSpPr/>
            <p:nvPr/>
          </p:nvSpPr>
          <p:spPr>
            <a:xfrm flipH="false" flipV="false" rot="0">
              <a:off x="0" y="0"/>
              <a:ext cx="254000" cy="355600"/>
            </a:xfrm>
            <a:custGeom>
              <a:avLst/>
              <a:gdLst/>
              <a:ahLst/>
              <a:cxnLst/>
              <a:rect r="r" b="b" t="t" l="l"/>
              <a:pathLst>
                <a:path h="355600" w="254000">
                  <a:moveTo>
                    <a:pt x="0" y="228600"/>
                  </a:moveTo>
                  <a:lnTo>
                    <a:pt x="63500" y="228600"/>
                  </a:lnTo>
                  <a:lnTo>
                    <a:pt x="63500" y="0"/>
                  </a:lnTo>
                  <a:lnTo>
                    <a:pt x="190500" y="0"/>
                  </a:lnTo>
                  <a:lnTo>
                    <a:pt x="190500" y="228600"/>
                  </a:lnTo>
                  <a:lnTo>
                    <a:pt x="254000" y="228600"/>
                  </a:lnTo>
                  <a:lnTo>
                    <a:pt x="127000" y="355600"/>
                  </a:lnTo>
                  <a:close/>
                </a:path>
              </a:pathLst>
            </a:custGeom>
            <a:solidFill>
              <a:srgbClr val="DCD3C3"/>
            </a:solidFill>
          </p:spPr>
        </p:sp>
      </p:grpSp>
      <p:grpSp>
        <p:nvGrpSpPr>
          <p:cNvPr name="Group 138" id="138"/>
          <p:cNvGrpSpPr/>
          <p:nvPr/>
        </p:nvGrpSpPr>
        <p:grpSpPr>
          <a:xfrm rot="0">
            <a:off x="10487025" y="5543550"/>
            <a:ext cx="1333500" cy="381000"/>
            <a:chOff x="0" y="0"/>
            <a:chExt cx="1778000" cy="508000"/>
          </a:xfrm>
        </p:grpSpPr>
        <p:sp>
          <p:nvSpPr>
            <p:cNvPr name="Freeform 139" id="139"/>
            <p:cNvSpPr/>
            <p:nvPr/>
          </p:nvSpPr>
          <p:spPr>
            <a:xfrm flipH="false" flipV="false" rot="0">
              <a:off x="0" y="0"/>
              <a:ext cx="1778000" cy="508000"/>
            </a:xfrm>
            <a:custGeom>
              <a:avLst/>
              <a:gdLst/>
              <a:ahLst/>
              <a:cxnLst/>
              <a:rect r="r" b="b" t="t" l="l"/>
              <a:pathLst>
                <a:path h="508000" w="1778000">
                  <a:moveTo>
                    <a:pt x="0" y="254000"/>
                  </a:moveTo>
                  <a:cubicBezTo>
                    <a:pt x="0" y="113665"/>
                    <a:pt x="113665" y="0"/>
                    <a:pt x="254000" y="0"/>
                  </a:cubicBezTo>
                  <a:lnTo>
                    <a:pt x="1524000" y="0"/>
                  </a:lnTo>
                  <a:cubicBezTo>
                    <a:pt x="1664335" y="0"/>
                    <a:pt x="1778000" y="113665"/>
                    <a:pt x="1778000" y="254000"/>
                  </a:cubicBezTo>
                  <a:cubicBezTo>
                    <a:pt x="1778000" y="394335"/>
                    <a:pt x="1664335" y="508000"/>
                    <a:pt x="1524000" y="508000"/>
                  </a:cubicBezTo>
                  <a:lnTo>
                    <a:pt x="254000" y="508000"/>
                  </a:lnTo>
                  <a:cubicBezTo>
                    <a:pt x="113665" y="508000"/>
                    <a:pt x="0" y="394335"/>
                    <a:pt x="0" y="254000"/>
                  </a:cubicBezTo>
                  <a:close/>
                </a:path>
              </a:pathLst>
            </a:custGeom>
            <a:solidFill>
              <a:srgbClr val="DCD3C3"/>
            </a:solidFill>
          </p:spPr>
        </p:sp>
        <p:sp>
          <p:nvSpPr>
            <p:cNvPr name="TextBox 140" id="140"/>
            <p:cNvSpPr txBox="true"/>
            <p:nvPr/>
          </p:nvSpPr>
          <p:spPr>
            <a:xfrm>
              <a:off x="0" y="-9525"/>
              <a:ext cx="1778000" cy="517525"/>
            </a:xfrm>
            <a:prstGeom prst="rect">
              <a:avLst/>
            </a:prstGeom>
          </p:spPr>
          <p:txBody>
            <a:bodyPr anchor="ctr" rtlCol="false" tIns="50800" lIns="50800" bIns="50800" rIns="50800"/>
            <a:lstStyle/>
            <a:p>
              <a:pPr algn="ctr">
                <a:lnSpc>
                  <a:spcPts val="2160"/>
                </a:lnSpc>
              </a:pPr>
              <a:r>
                <a:rPr lang="en-US" sz="1800" b="true">
                  <a:solidFill>
                    <a:srgbClr val="1F1E1C"/>
                  </a:solidFill>
                  <a:latin typeface="Archivo Narrow Bold"/>
                  <a:ea typeface="Archivo Narrow Bold"/>
                  <a:cs typeface="Archivo Narrow Bold"/>
                  <a:sym typeface="Archivo Narrow Bold"/>
                </a:rPr>
                <a:t>promedio</a:t>
              </a:r>
            </a:p>
          </p:txBody>
        </p:sp>
      </p:grpSp>
      <p:sp>
        <p:nvSpPr>
          <p:cNvPr name="AutoShape 141" id="141"/>
          <p:cNvSpPr/>
          <p:nvPr/>
        </p:nvSpPr>
        <p:spPr>
          <a:xfrm rot="14700">
            <a:off x="9479737" y="6072188"/>
            <a:ext cx="3348066" cy="0"/>
          </a:xfrm>
          <a:prstGeom prst="line">
            <a:avLst/>
          </a:prstGeom>
          <a:ln cap="rnd" w="9525">
            <a:solidFill>
              <a:srgbClr val="6E685E"/>
            </a:solidFill>
            <a:prstDash val="solid"/>
            <a:headEnd type="none" len="sm" w="sm"/>
            <a:tailEnd type="none" len="sm" w="sm"/>
          </a:ln>
        </p:spPr>
      </p:sp>
      <p:sp>
        <p:nvSpPr>
          <p:cNvPr name="TextBox 142" id="142"/>
          <p:cNvSpPr txBox="true"/>
          <p:nvPr/>
        </p:nvSpPr>
        <p:spPr>
          <a:xfrm rot="0">
            <a:off x="9486900" y="6143625"/>
            <a:ext cx="3333750" cy="1381125"/>
          </a:xfrm>
          <a:prstGeom prst="rect">
            <a:avLst/>
          </a:prstGeom>
        </p:spPr>
        <p:txBody>
          <a:bodyPr anchor="t" rtlCol="false" tIns="0" lIns="0" bIns="0" rIns="0">
            <a:spAutoFit/>
          </a:bodyPr>
          <a:lstStyle/>
          <a:p>
            <a:pPr algn="l">
              <a:lnSpc>
                <a:spcPts val="2520"/>
              </a:lnSpc>
            </a:pPr>
            <a:r>
              <a:rPr lang="en-US" sz="1800">
                <a:solidFill>
                  <a:srgbClr val="DCD3C3"/>
                </a:solidFill>
                <a:latin typeface="Archivo Narrow"/>
                <a:ea typeface="Archivo Narrow"/>
                <a:cs typeface="Archivo Narrow"/>
                <a:sym typeface="Archivo Narrow"/>
              </a:rPr>
              <a:t>300 árboles, cada uno entrenado con una muestra distinta de casas. Se promedian sus estimaciones.</a:t>
            </a:r>
          </a:p>
        </p:txBody>
      </p:sp>
      <p:grpSp>
        <p:nvGrpSpPr>
          <p:cNvPr name="Group 143" id="143"/>
          <p:cNvGrpSpPr/>
          <p:nvPr/>
        </p:nvGrpSpPr>
        <p:grpSpPr>
          <a:xfrm rot="0">
            <a:off x="13268325" y="3343275"/>
            <a:ext cx="3810000" cy="4324350"/>
            <a:chOff x="0" y="0"/>
            <a:chExt cx="5080000" cy="5765800"/>
          </a:xfrm>
        </p:grpSpPr>
        <p:sp>
          <p:nvSpPr>
            <p:cNvPr name="Freeform 144" id="144"/>
            <p:cNvSpPr/>
            <p:nvPr/>
          </p:nvSpPr>
          <p:spPr>
            <a:xfrm flipH="false" flipV="false" rot="0">
              <a:off x="0" y="0"/>
              <a:ext cx="5080000" cy="5765800"/>
            </a:xfrm>
            <a:custGeom>
              <a:avLst/>
              <a:gdLst/>
              <a:ahLst/>
              <a:cxnLst/>
              <a:rect r="r" b="b" t="t" l="l"/>
              <a:pathLst>
                <a:path h="5765800" w="5080000">
                  <a:moveTo>
                    <a:pt x="0" y="153162"/>
                  </a:moveTo>
                  <a:cubicBezTo>
                    <a:pt x="0" y="68580"/>
                    <a:pt x="68580" y="0"/>
                    <a:pt x="153162" y="0"/>
                  </a:cubicBezTo>
                  <a:lnTo>
                    <a:pt x="4926838" y="0"/>
                  </a:lnTo>
                  <a:cubicBezTo>
                    <a:pt x="5011420" y="0"/>
                    <a:pt x="5080000" y="68580"/>
                    <a:pt x="5080000" y="153162"/>
                  </a:cubicBezTo>
                  <a:lnTo>
                    <a:pt x="5080000" y="5612638"/>
                  </a:lnTo>
                  <a:cubicBezTo>
                    <a:pt x="5080000" y="5697220"/>
                    <a:pt x="5011420" y="5765800"/>
                    <a:pt x="4926838" y="5765800"/>
                  </a:cubicBezTo>
                  <a:lnTo>
                    <a:pt x="153162" y="5765800"/>
                  </a:lnTo>
                  <a:cubicBezTo>
                    <a:pt x="68580" y="5765800"/>
                    <a:pt x="0" y="5697220"/>
                    <a:pt x="0" y="5612638"/>
                  </a:cubicBezTo>
                  <a:close/>
                </a:path>
              </a:pathLst>
            </a:custGeom>
            <a:blipFill>
              <a:blip r:embed="rId3">
                <a:alphaModFix amt="0"/>
              </a:blip>
              <a:stretch>
                <a:fillRect l="-95624" t="0" r="-95624" b="0"/>
              </a:stretch>
            </a:blipFill>
            <a:ln w="19050" cap="sq">
              <a:solidFill>
                <a:srgbClr val="DCD3C3"/>
              </a:solidFill>
              <a:prstDash val="solid"/>
              <a:miter/>
            </a:ln>
          </p:spPr>
        </p:sp>
      </p:grpSp>
      <p:sp>
        <p:nvSpPr>
          <p:cNvPr name="TextBox 145" id="145"/>
          <p:cNvSpPr txBox="true"/>
          <p:nvPr/>
        </p:nvSpPr>
        <p:spPr>
          <a:xfrm rot="0">
            <a:off x="13506450" y="3609975"/>
            <a:ext cx="3333750" cy="504825"/>
          </a:xfrm>
          <a:prstGeom prst="rect">
            <a:avLst/>
          </a:prstGeom>
        </p:spPr>
        <p:txBody>
          <a:bodyPr anchor="t" rtlCol="false" tIns="0" lIns="0" bIns="0" rIns="0">
            <a:spAutoFit/>
          </a:bodyPr>
          <a:lstStyle/>
          <a:p>
            <a:pPr algn="l">
              <a:lnSpc>
                <a:spcPts val="3960"/>
              </a:lnSpc>
            </a:pPr>
            <a:r>
              <a:rPr lang="en-US" sz="3600">
                <a:solidFill>
                  <a:srgbClr val="DCD3C3"/>
                </a:solidFill>
                <a:latin typeface="Anton"/>
                <a:ea typeface="Anton"/>
                <a:cs typeface="Anton"/>
                <a:sym typeface="Anton"/>
              </a:rPr>
              <a:t>XGBOOST</a:t>
            </a:r>
          </a:p>
        </p:txBody>
      </p:sp>
      <p:sp>
        <p:nvSpPr>
          <p:cNvPr name="AutoShape 146" id="146"/>
          <p:cNvSpPr/>
          <p:nvPr/>
        </p:nvSpPr>
        <p:spPr>
          <a:xfrm rot="7466340">
            <a:off x="13937942" y="4486275"/>
            <a:ext cx="404222" cy="0"/>
          </a:xfrm>
          <a:prstGeom prst="line">
            <a:avLst/>
          </a:prstGeom>
          <a:ln cap="rnd" w="9525">
            <a:solidFill>
              <a:srgbClr val="A39B8B"/>
            </a:solidFill>
            <a:prstDash val="solid"/>
            <a:headEnd type="none" len="sm" w="sm"/>
            <a:tailEnd type="none" len="sm" w="sm"/>
          </a:ln>
        </p:spPr>
      </p:sp>
      <p:sp>
        <p:nvSpPr>
          <p:cNvPr name="AutoShape 147" id="147"/>
          <p:cNvSpPr/>
          <p:nvPr/>
        </p:nvSpPr>
        <p:spPr>
          <a:xfrm rot="3333660">
            <a:off x="14147492" y="4486275"/>
            <a:ext cx="404222" cy="0"/>
          </a:xfrm>
          <a:prstGeom prst="line">
            <a:avLst/>
          </a:prstGeom>
          <a:ln cap="rnd" w="9525">
            <a:solidFill>
              <a:srgbClr val="A39B8B"/>
            </a:solidFill>
            <a:prstDash val="solid"/>
            <a:headEnd type="none" len="sm" w="sm"/>
            <a:tailEnd type="none" len="sm" w="sm"/>
          </a:ln>
        </p:spPr>
      </p:sp>
      <p:sp>
        <p:nvSpPr>
          <p:cNvPr name="AutoShape 148" id="148"/>
          <p:cNvSpPr/>
          <p:nvPr/>
        </p:nvSpPr>
        <p:spPr>
          <a:xfrm rot="6345060">
            <a:off x="13799429" y="4819650"/>
            <a:ext cx="385972" cy="0"/>
          </a:xfrm>
          <a:prstGeom prst="line">
            <a:avLst/>
          </a:prstGeom>
          <a:ln cap="rnd" w="9525">
            <a:solidFill>
              <a:srgbClr val="A39B8B"/>
            </a:solidFill>
            <a:prstDash val="solid"/>
            <a:headEnd type="none" len="sm" w="sm"/>
            <a:tailEnd type="none" len="sm" w="sm"/>
          </a:ln>
        </p:spPr>
      </p:sp>
      <p:sp>
        <p:nvSpPr>
          <p:cNvPr name="AutoShape 149" id="149"/>
          <p:cNvSpPr/>
          <p:nvPr/>
        </p:nvSpPr>
        <p:spPr>
          <a:xfrm rot="4454940">
            <a:off x="13885154" y="4819650"/>
            <a:ext cx="385972" cy="0"/>
          </a:xfrm>
          <a:prstGeom prst="line">
            <a:avLst/>
          </a:prstGeom>
          <a:ln cap="rnd" w="9525">
            <a:solidFill>
              <a:srgbClr val="A39B8B"/>
            </a:solidFill>
            <a:prstDash val="solid"/>
            <a:headEnd type="none" len="sm" w="sm"/>
            <a:tailEnd type="none" len="sm" w="sm"/>
          </a:ln>
        </p:spPr>
      </p:sp>
      <p:sp>
        <p:nvSpPr>
          <p:cNvPr name="AutoShape 150" id="150"/>
          <p:cNvSpPr/>
          <p:nvPr/>
        </p:nvSpPr>
        <p:spPr>
          <a:xfrm rot="6345060">
            <a:off x="14218529" y="4819650"/>
            <a:ext cx="385972" cy="0"/>
          </a:xfrm>
          <a:prstGeom prst="line">
            <a:avLst/>
          </a:prstGeom>
          <a:ln cap="rnd" w="9525">
            <a:solidFill>
              <a:srgbClr val="A39B8B"/>
            </a:solidFill>
            <a:prstDash val="solid"/>
            <a:headEnd type="none" len="sm" w="sm"/>
            <a:tailEnd type="none" len="sm" w="sm"/>
          </a:ln>
        </p:spPr>
      </p:sp>
      <p:sp>
        <p:nvSpPr>
          <p:cNvPr name="AutoShape 151" id="151"/>
          <p:cNvSpPr/>
          <p:nvPr/>
        </p:nvSpPr>
        <p:spPr>
          <a:xfrm rot="4454940">
            <a:off x="14304254" y="4819650"/>
            <a:ext cx="385972" cy="0"/>
          </a:xfrm>
          <a:prstGeom prst="line">
            <a:avLst/>
          </a:prstGeom>
          <a:ln cap="rnd" w="9525">
            <a:solidFill>
              <a:srgbClr val="A39B8B"/>
            </a:solidFill>
            <a:prstDash val="solid"/>
            <a:headEnd type="none" len="sm" w="sm"/>
            <a:tailEnd type="none" len="sm" w="sm"/>
          </a:ln>
        </p:spPr>
      </p:sp>
      <p:grpSp>
        <p:nvGrpSpPr>
          <p:cNvPr name="Group 152" id="152"/>
          <p:cNvGrpSpPr/>
          <p:nvPr/>
        </p:nvGrpSpPr>
        <p:grpSpPr>
          <a:xfrm rot="0">
            <a:off x="14178153" y="4267200"/>
            <a:ext cx="133350" cy="133350"/>
            <a:chOff x="0" y="0"/>
            <a:chExt cx="177800" cy="177800"/>
          </a:xfrm>
        </p:grpSpPr>
        <p:sp>
          <p:nvSpPr>
            <p:cNvPr name="Freeform 153" id="153"/>
            <p:cNvSpPr/>
            <p:nvPr/>
          </p:nvSpPr>
          <p:spPr>
            <a:xfrm flipH="false" flipV="false" rot="0">
              <a:off x="0" y="0"/>
              <a:ext cx="177800" cy="177800"/>
            </a:xfrm>
            <a:custGeom>
              <a:avLst/>
              <a:gdLst/>
              <a:ahLst/>
              <a:cxnLst/>
              <a:rect r="r" b="b" t="t" l="l"/>
              <a:pathLst>
                <a:path h="177800" w="177800">
                  <a:moveTo>
                    <a:pt x="0" y="88900"/>
                  </a:moveTo>
                  <a:cubicBezTo>
                    <a:pt x="0" y="39751"/>
                    <a:pt x="39751" y="0"/>
                    <a:pt x="88900" y="0"/>
                  </a:cubicBezTo>
                  <a:cubicBezTo>
                    <a:pt x="138049" y="0"/>
                    <a:pt x="177800" y="39751"/>
                    <a:pt x="177800" y="88900"/>
                  </a:cubicBezTo>
                  <a:cubicBezTo>
                    <a:pt x="177800" y="138049"/>
                    <a:pt x="138049" y="177800"/>
                    <a:pt x="88900" y="177800"/>
                  </a:cubicBezTo>
                  <a:cubicBezTo>
                    <a:pt x="39751" y="177800"/>
                    <a:pt x="0" y="138049"/>
                    <a:pt x="0" y="88900"/>
                  </a:cubicBezTo>
                  <a:close/>
                </a:path>
              </a:pathLst>
            </a:custGeom>
            <a:solidFill>
              <a:srgbClr val="DCD3C3"/>
            </a:solidFill>
          </p:spPr>
        </p:sp>
      </p:grpSp>
      <p:grpSp>
        <p:nvGrpSpPr>
          <p:cNvPr name="Group 154" id="154"/>
          <p:cNvGrpSpPr/>
          <p:nvPr/>
        </p:nvGrpSpPr>
        <p:grpSpPr>
          <a:xfrm rot="0">
            <a:off x="13978128" y="4591050"/>
            <a:ext cx="114300" cy="114300"/>
            <a:chOff x="0" y="0"/>
            <a:chExt cx="152400" cy="152400"/>
          </a:xfrm>
        </p:grpSpPr>
        <p:sp>
          <p:nvSpPr>
            <p:cNvPr name="Freeform 155" id="155"/>
            <p:cNvSpPr/>
            <p:nvPr/>
          </p:nvSpPr>
          <p:spPr>
            <a:xfrm flipH="false" flipV="false" rot="0">
              <a:off x="0" y="0"/>
              <a:ext cx="152400" cy="152400"/>
            </a:xfrm>
            <a:custGeom>
              <a:avLst/>
              <a:gdLst/>
              <a:ahLst/>
              <a:cxnLst/>
              <a:rect r="r" b="b" t="t" l="l"/>
              <a:pathLst>
                <a:path h="152400" w="152400">
                  <a:moveTo>
                    <a:pt x="0" y="76200"/>
                  </a:moveTo>
                  <a:cubicBezTo>
                    <a:pt x="0" y="34163"/>
                    <a:pt x="34163" y="0"/>
                    <a:pt x="76200" y="0"/>
                  </a:cubicBezTo>
                  <a:cubicBezTo>
                    <a:pt x="118237" y="0"/>
                    <a:pt x="152400" y="34163"/>
                    <a:pt x="152400" y="76200"/>
                  </a:cubicBezTo>
                  <a:cubicBezTo>
                    <a:pt x="152400" y="118237"/>
                    <a:pt x="118237" y="152400"/>
                    <a:pt x="76200" y="152400"/>
                  </a:cubicBezTo>
                  <a:cubicBezTo>
                    <a:pt x="34163" y="152400"/>
                    <a:pt x="0" y="118237"/>
                    <a:pt x="0" y="76200"/>
                  </a:cubicBezTo>
                  <a:close/>
                </a:path>
              </a:pathLst>
            </a:custGeom>
            <a:solidFill>
              <a:srgbClr val="DCD3C3"/>
            </a:solidFill>
          </p:spPr>
        </p:sp>
      </p:grpSp>
      <p:grpSp>
        <p:nvGrpSpPr>
          <p:cNvPr name="Group 156" id="156"/>
          <p:cNvGrpSpPr/>
          <p:nvPr/>
        </p:nvGrpSpPr>
        <p:grpSpPr>
          <a:xfrm rot="0">
            <a:off x="14397228" y="4591050"/>
            <a:ext cx="114300" cy="114300"/>
            <a:chOff x="0" y="0"/>
            <a:chExt cx="152400" cy="152400"/>
          </a:xfrm>
        </p:grpSpPr>
        <p:sp>
          <p:nvSpPr>
            <p:cNvPr name="Freeform 157" id="157"/>
            <p:cNvSpPr/>
            <p:nvPr/>
          </p:nvSpPr>
          <p:spPr>
            <a:xfrm flipH="false" flipV="false" rot="0">
              <a:off x="0" y="0"/>
              <a:ext cx="152400" cy="152400"/>
            </a:xfrm>
            <a:custGeom>
              <a:avLst/>
              <a:gdLst/>
              <a:ahLst/>
              <a:cxnLst/>
              <a:rect r="r" b="b" t="t" l="l"/>
              <a:pathLst>
                <a:path h="152400" w="152400">
                  <a:moveTo>
                    <a:pt x="0" y="76200"/>
                  </a:moveTo>
                  <a:cubicBezTo>
                    <a:pt x="0" y="34163"/>
                    <a:pt x="34163" y="0"/>
                    <a:pt x="76200" y="0"/>
                  </a:cubicBezTo>
                  <a:cubicBezTo>
                    <a:pt x="118237" y="0"/>
                    <a:pt x="152400" y="34163"/>
                    <a:pt x="152400" y="76200"/>
                  </a:cubicBezTo>
                  <a:cubicBezTo>
                    <a:pt x="152400" y="118237"/>
                    <a:pt x="118237" y="152400"/>
                    <a:pt x="76200" y="152400"/>
                  </a:cubicBezTo>
                  <a:cubicBezTo>
                    <a:pt x="34163" y="152400"/>
                    <a:pt x="0" y="118237"/>
                    <a:pt x="0" y="76200"/>
                  </a:cubicBezTo>
                  <a:close/>
                </a:path>
              </a:pathLst>
            </a:custGeom>
            <a:solidFill>
              <a:srgbClr val="DCD3C3"/>
            </a:solidFill>
          </p:spPr>
        </p:sp>
      </p:grpSp>
      <p:grpSp>
        <p:nvGrpSpPr>
          <p:cNvPr name="Group 158" id="158"/>
          <p:cNvGrpSpPr/>
          <p:nvPr/>
        </p:nvGrpSpPr>
        <p:grpSpPr>
          <a:xfrm rot="0">
            <a:off x="13901928" y="4953000"/>
            <a:ext cx="95250" cy="95250"/>
            <a:chOff x="0" y="0"/>
            <a:chExt cx="127000" cy="127000"/>
          </a:xfrm>
        </p:grpSpPr>
        <p:sp>
          <p:nvSpPr>
            <p:cNvPr name="Freeform 159" id="159"/>
            <p:cNvSpPr/>
            <p:nvPr/>
          </p:nvSpPr>
          <p:spPr>
            <a:xfrm flipH="false" flipV="false" rot="0">
              <a:off x="0" y="0"/>
              <a:ext cx="127000" cy="127000"/>
            </a:xfrm>
            <a:custGeom>
              <a:avLst/>
              <a:gdLst/>
              <a:ahLst/>
              <a:cxnLst/>
              <a:rect r="r" b="b" t="t" l="l"/>
              <a:pathLst>
                <a:path h="127000" w="127000">
                  <a:moveTo>
                    <a:pt x="0" y="0"/>
                  </a:moveTo>
                  <a:lnTo>
                    <a:pt x="127000" y="0"/>
                  </a:lnTo>
                  <a:lnTo>
                    <a:pt x="127000" y="127000"/>
                  </a:lnTo>
                  <a:lnTo>
                    <a:pt x="0" y="127000"/>
                  </a:lnTo>
                  <a:close/>
                </a:path>
              </a:pathLst>
            </a:custGeom>
            <a:solidFill>
              <a:srgbClr val="DCD3C3"/>
            </a:solidFill>
          </p:spPr>
        </p:sp>
      </p:grpSp>
      <p:grpSp>
        <p:nvGrpSpPr>
          <p:cNvPr name="Group 160" id="160"/>
          <p:cNvGrpSpPr/>
          <p:nvPr/>
        </p:nvGrpSpPr>
        <p:grpSpPr>
          <a:xfrm rot="0">
            <a:off x="14073378" y="4953000"/>
            <a:ext cx="95250" cy="95250"/>
            <a:chOff x="0" y="0"/>
            <a:chExt cx="127000" cy="127000"/>
          </a:xfrm>
        </p:grpSpPr>
        <p:sp>
          <p:nvSpPr>
            <p:cNvPr name="Freeform 161" id="161"/>
            <p:cNvSpPr/>
            <p:nvPr/>
          </p:nvSpPr>
          <p:spPr>
            <a:xfrm flipH="false" flipV="false" rot="0">
              <a:off x="0" y="0"/>
              <a:ext cx="127000" cy="127000"/>
            </a:xfrm>
            <a:custGeom>
              <a:avLst/>
              <a:gdLst/>
              <a:ahLst/>
              <a:cxnLst/>
              <a:rect r="r" b="b" t="t" l="l"/>
              <a:pathLst>
                <a:path h="127000" w="127000">
                  <a:moveTo>
                    <a:pt x="0" y="0"/>
                  </a:moveTo>
                  <a:lnTo>
                    <a:pt x="127000" y="0"/>
                  </a:lnTo>
                  <a:lnTo>
                    <a:pt x="127000" y="127000"/>
                  </a:lnTo>
                  <a:lnTo>
                    <a:pt x="0" y="127000"/>
                  </a:lnTo>
                  <a:close/>
                </a:path>
              </a:pathLst>
            </a:custGeom>
            <a:solidFill>
              <a:srgbClr val="DCD3C3"/>
            </a:solidFill>
          </p:spPr>
        </p:sp>
      </p:grpSp>
      <p:grpSp>
        <p:nvGrpSpPr>
          <p:cNvPr name="Group 162" id="162"/>
          <p:cNvGrpSpPr/>
          <p:nvPr/>
        </p:nvGrpSpPr>
        <p:grpSpPr>
          <a:xfrm rot="0">
            <a:off x="14321028" y="4953000"/>
            <a:ext cx="95250" cy="95250"/>
            <a:chOff x="0" y="0"/>
            <a:chExt cx="127000" cy="127000"/>
          </a:xfrm>
        </p:grpSpPr>
        <p:sp>
          <p:nvSpPr>
            <p:cNvPr name="Freeform 163" id="163"/>
            <p:cNvSpPr/>
            <p:nvPr/>
          </p:nvSpPr>
          <p:spPr>
            <a:xfrm flipH="false" flipV="false" rot="0">
              <a:off x="0" y="0"/>
              <a:ext cx="127000" cy="127000"/>
            </a:xfrm>
            <a:custGeom>
              <a:avLst/>
              <a:gdLst/>
              <a:ahLst/>
              <a:cxnLst/>
              <a:rect r="r" b="b" t="t" l="l"/>
              <a:pathLst>
                <a:path h="127000" w="127000">
                  <a:moveTo>
                    <a:pt x="0" y="0"/>
                  </a:moveTo>
                  <a:lnTo>
                    <a:pt x="127000" y="0"/>
                  </a:lnTo>
                  <a:lnTo>
                    <a:pt x="127000" y="127000"/>
                  </a:lnTo>
                  <a:lnTo>
                    <a:pt x="0" y="127000"/>
                  </a:lnTo>
                  <a:close/>
                </a:path>
              </a:pathLst>
            </a:custGeom>
            <a:solidFill>
              <a:srgbClr val="DCD3C3"/>
            </a:solidFill>
          </p:spPr>
        </p:sp>
      </p:grpSp>
      <p:grpSp>
        <p:nvGrpSpPr>
          <p:cNvPr name="Group 164" id="164"/>
          <p:cNvGrpSpPr/>
          <p:nvPr/>
        </p:nvGrpSpPr>
        <p:grpSpPr>
          <a:xfrm rot="0">
            <a:off x="14492478" y="4953000"/>
            <a:ext cx="95250" cy="95250"/>
            <a:chOff x="0" y="0"/>
            <a:chExt cx="127000" cy="127000"/>
          </a:xfrm>
        </p:grpSpPr>
        <p:sp>
          <p:nvSpPr>
            <p:cNvPr name="Freeform 165" id="165"/>
            <p:cNvSpPr/>
            <p:nvPr/>
          </p:nvSpPr>
          <p:spPr>
            <a:xfrm flipH="false" flipV="false" rot="0">
              <a:off x="0" y="0"/>
              <a:ext cx="127000" cy="127000"/>
            </a:xfrm>
            <a:custGeom>
              <a:avLst/>
              <a:gdLst/>
              <a:ahLst/>
              <a:cxnLst/>
              <a:rect r="r" b="b" t="t" l="l"/>
              <a:pathLst>
                <a:path h="127000" w="127000">
                  <a:moveTo>
                    <a:pt x="0" y="0"/>
                  </a:moveTo>
                  <a:lnTo>
                    <a:pt x="127000" y="0"/>
                  </a:lnTo>
                  <a:lnTo>
                    <a:pt x="127000" y="127000"/>
                  </a:lnTo>
                  <a:lnTo>
                    <a:pt x="0" y="127000"/>
                  </a:lnTo>
                  <a:close/>
                </a:path>
              </a:pathLst>
            </a:custGeom>
            <a:solidFill>
              <a:srgbClr val="DCD3C3"/>
            </a:solidFill>
          </p:spPr>
        </p:sp>
      </p:grpSp>
      <p:grpSp>
        <p:nvGrpSpPr>
          <p:cNvPr name="Group 166" id="166"/>
          <p:cNvGrpSpPr/>
          <p:nvPr/>
        </p:nvGrpSpPr>
        <p:grpSpPr>
          <a:xfrm rot="0">
            <a:off x="14702028" y="4762500"/>
            <a:ext cx="209550" cy="133350"/>
            <a:chOff x="0" y="0"/>
            <a:chExt cx="279400" cy="177800"/>
          </a:xfrm>
        </p:grpSpPr>
        <p:sp>
          <p:nvSpPr>
            <p:cNvPr name="Freeform 167" id="167"/>
            <p:cNvSpPr/>
            <p:nvPr/>
          </p:nvSpPr>
          <p:spPr>
            <a:xfrm flipH="false" flipV="false" rot="0">
              <a:off x="0" y="0"/>
              <a:ext cx="279400" cy="177800"/>
            </a:xfrm>
            <a:custGeom>
              <a:avLst/>
              <a:gdLst/>
              <a:ahLst/>
              <a:cxnLst/>
              <a:rect r="r" b="b" t="t" l="l"/>
              <a:pathLst>
                <a:path h="177800" w="279400">
                  <a:moveTo>
                    <a:pt x="0" y="44450"/>
                  </a:moveTo>
                  <a:lnTo>
                    <a:pt x="190500" y="44450"/>
                  </a:lnTo>
                  <a:lnTo>
                    <a:pt x="190500" y="0"/>
                  </a:lnTo>
                  <a:lnTo>
                    <a:pt x="279400" y="88900"/>
                  </a:lnTo>
                  <a:lnTo>
                    <a:pt x="190500" y="177800"/>
                  </a:lnTo>
                  <a:lnTo>
                    <a:pt x="190500" y="133350"/>
                  </a:lnTo>
                  <a:lnTo>
                    <a:pt x="0" y="133350"/>
                  </a:lnTo>
                  <a:close/>
                </a:path>
              </a:pathLst>
            </a:custGeom>
            <a:solidFill>
              <a:srgbClr val="DCD3C3"/>
            </a:solidFill>
          </p:spPr>
        </p:sp>
      </p:grpSp>
      <p:sp>
        <p:nvSpPr>
          <p:cNvPr name="AutoShape 168" id="168"/>
          <p:cNvSpPr/>
          <p:nvPr/>
        </p:nvSpPr>
        <p:spPr>
          <a:xfrm rot="7475400">
            <a:off x="15049595" y="4590002"/>
            <a:ext cx="336232" cy="0"/>
          </a:xfrm>
          <a:prstGeom prst="line">
            <a:avLst/>
          </a:prstGeom>
          <a:ln cap="rnd" w="9525">
            <a:solidFill>
              <a:srgbClr val="A39B8B"/>
            </a:solidFill>
            <a:prstDash val="solid"/>
            <a:headEnd type="none" len="sm" w="sm"/>
            <a:tailEnd type="none" len="sm" w="sm"/>
          </a:ln>
        </p:spPr>
      </p:sp>
      <p:sp>
        <p:nvSpPr>
          <p:cNvPr name="AutoShape 169" id="169"/>
          <p:cNvSpPr/>
          <p:nvPr/>
        </p:nvSpPr>
        <p:spPr>
          <a:xfrm rot="3324600">
            <a:off x="15221426" y="4590002"/>
            <a:ext cx="336232" cy="0"/>
          </a:xfrm>
          <a:prstGeom prst="line">
            <a:avLst/>
          </a:prstGeom>
          <a:ln cap="rnd" w="9525">
            <a:solidFill>
              <a:srgbClr val="A39B8B"/>
            </a:solidFill>
            <a:prstDash val="solid"/>
            <a:headEnd type="none" len="sm" w="sm"/>
            <a:tailEnd type="none" len="sm" w="sm"/>
          </a:ln>
        </p:spPr>
      </p:sp>
      <p:sp>
        <p:nvSpPr>
          <p:cNvPr name="AutoShape 170" id="170"/>
          <p:cNvSpPr/>
          <p:nvPr/>
        </p:nvSpPr>
        <p:spPr>
          <a:xfrm rot="6370440">
            <a:off x="14936286" y="4863370"/>
            <a:ext cx="320735" cy="0"/>
          </a:xfrm>
          <a:prstGeom prst="line">
            <a:avLst/>
          </a:prstGeom>
          <a:ln cap="rnd" w="9525">
            <a:solidFill>
              <a:srgbClr val="A39B8B"/>
            </a:solidFill>
            <a:prstDash val="solid"/>
            <a:headEnd type="none" len="sm" w="sm"/>
            <a:tailEnd type="none" len="sm" w="sm"/>
          </a:ln>
        </p:spPr>
      </p:sp>
      <p:sp>
        <p:nvSpPr>
          <p:cNvPr name="AutoShape 171" id="171"/>
          <p:cNvSpPr/>
          <p:nvPr/>
        </p:nvSpPr>
        <p:spPr>
          <a:xfrm rot="4429560">
            <a:off x="15006580" y="4863370"/>
            <a:ext cx="320735" cy="0"/>
          </a:xfrm>
          <a:prstGeom prst="line">
            <a:avLst/>
          </a:prstGeom>
          <a:ln cap="rnd" w="9525">
            <a:solidFill>
              <a:srgbClr val="A39B8B"/>
            </a:solidFill>
            <a:prstDash val="solid"/>
            <a:headEnd type="none" len="sm" w="sm"/>
            <a:tailEnd type="none" len="sm" w="sm"/>
          </a:ln>
        </p:spPr>
      </p:sp>
      <p:sp>
        <p:nvSpPr>
          <p:cNvPr name="AutoShape 172" id="172"/>
          <p:cNvSpPr/>
          <p:nvPr/>
        </p:nvSpPr>
        <p:spPr>
          <a:xfrm rot="6370440">
            <a:off x="15279948" y="4863370"/>
            <a:ext cx="320735" cy="0"/>
          </a:xfrm>
          <a:prstGeom prst="line">
            <a:avLst/>
          </a:prstGeom>
          <a:ln cap="rnd" w="9525">
            <a:solidFill>
              <a:srgbClr val="A39B8B"/>
            </a:solidFill>
            <a:prstDash val="solid"/>
            <a:headEnd type="none" len="sm" w="sm"/>
            <a:tailEnd type="none" len="sm" w="sm"/>
          </a:ln>
        </p:spPr>
      </p:sp>
      <p:sp>
        <p:nvSpPr>
          <p:cNvPr name="AutoShape 173" id="173"/>
          <p:cNvSpPr/>
          <p:nvPr/>
        </p:nvSpPr>
        <p:spPr>
          <a:xfrm rot="4429560">
            <a:off x="15350242" y="4863370"/>
            <a:ext cx="320735" cy="0"/>
          </a:xfrm>
          <a:prstGeom prst="line">
            <a:avLst/>
          </a:prstGeom>
          <a:ln cap="rnd" w="9525">
            <a:solidFill>
              <a:srgbClr val="A39B8B"/>
            </a:solidFill>
            <a:prstDash val="solid"/>
            <a:headEnd type="none" len="sm" w="sm"/>
            <a:tailEnd type="none" len="sm" w="sm"/>
          </a:ln>
        </p:spPr>
      </p:sp>
      <p:grpSp>
        <p:nvGrpSpPr>
          <p:cNvPr name="Group 174" id="174"/>
          <p:cNvGrpSpPr/>
          <p:nvPr/>
        </p:nvGrpSpPr>
        <p:grpSpPr>
          <a:xfrm rot="0">
            <a:off x="15248954" y="4411218"/>
            <a:ext cx="109347" cy="109347"/>
            <a:chOff x="0" y="0"/>
            <a:chExt cx="145796" cy="145796"/>
          </a:xfrm>
        </p:grpSpPr>
        <p:sp>
          <p:nvSpPr>
            <p:cNvPr name="Freeform 175" id="175"/>
            <p:cNvSpPr/>
            <p:nvPr/>
          </p:nvSpPr>
          <p:spPr>
            <a:xfrm flipH="false" flipV="false" rot="0">
              <a:off x="0" y="0"/>
              <a:ext cx="145796" cy="145796"/>
            </a:xfrm>
            <a:custGeom>
              <a:avLst/>
              <a:gdLst/>
              <a:ahLst/>
              <a:cxnLst/>
              <a:rect r="r" b="b" t="t" l="l"/>
              <a:pathLst>
                <a:path h="145796" w="145796">
                  <a:moveTo>
                    <a:pt x="0" y="72898"/>
                  </a:moveTo>
                  <a:cubicBezTo>
                    <a:pt x="0" y="32639"/>
                    <a:pt x="32639" y="0"/>
                    <a:pt x="72898" y="0"/>
                  </a:cubicBezTo>
                  <a:cubicBezTo>
                    <a:pt x="113157" y="0"/>
                    <a:pt x="145796" y="32639"/>
                    <a:pt x="145796" y="72898"/>
                  </a:cubicBezTo>
                  <a:cubicBezTo>
                    <a:pt x="145796" y="113157"/>
                    <a:pt x="113157" y="145796"/>
                    <a:pt x="72898" y="145796"/>
                  </a:cubicBezTo>
                  <a:cubicBezTo>
                    <a:pt x="32639" y="145796"/>
                    <a:pt x="0" y="113157"/>
                    <a:pt x="0" y="72898"/>
                  </a:cubicBezTo>
                  <a:close/>
                </a:path>
              </a:pathLst>
            </a:custGeom>
            <a:solidFill>
              <a:srgbClr val="DCD3C3"/>
            </a:solidFill>
          </p:spPr>
        </p:sp>
      </p:grpSp>
      <p:grpSp>
        <p:nvGrpSpPr>
          <p:cNvPr name="Group 176" id="176"/>
          <p:cNvGrpSpPr/>
          <p:nvPr/>
        </p:nvGrpSpPr>
        <p:grpSpPr>
          <a:xfrm rot="0">
            <a:off x="15084933" y="4676775"/>
            <a:ext cx="93726" cy="93726"/>
            <a:chOff x="0" y="0"/>
            <a:chExt cx="124968" cy="124968"/>
          </a:xfrm>
        </p:grpSpPr>
        <p:sp>
          <p:nvSpPr>
            <p:cNvPr name="Freeform 177" id="177"/>
            <p:cNvSpPr/>
            <p:nvPr/>
          </p:nvSpPr>
          <p:spPr>
            <a:xfrm flipH="false" flipV="false" rot="0">
              <a:off x="0" y="0"/>
              <a:ext cx="124968" cy="124968"/>
            </a:xfrm>
            <a:custGeom>
              <a:avLst/>
              <a:gdLst/>
              <a:ahLst/>
              <a:cxnLst/>
              <a:rect r="r" b="b" t="t" l="l"/>
              <a:pathLst>
                <a:path h="124968" w="124968">
                  <a:moveTo>
                    <a:pt x="0" y="62484"/>
                  </a:moveTo>
                  <a:cubicBezTo>
                    <a:pt x="0" y="27940"/>
                    <a:pt x="27940" y="0"/>
                    <a:pt x="62484" y="0"/>
                  </a:cubicBezTo>
                  <a:cubicBezTo>
                    <a:pt x="97028" y="0"/>
                    <a:pt x="124968" y="27940"/>
                    <a:pt x="124968" y="62484"/>
                  </a:cubicBezTo>
                  <a:cubicBezTo>
                    <a:pt x="124968" y="97028"/>
                    <a:pt x="97028" y="124968"/>
                    <a:pt x="62484" y="124968"/>
                  </a:cubicBezTo>
                  <a:cubicBezTo>
                    <a:pt x="27940" y="124968"/>
                    <a:pt x="0" y="97028"/>
                    <a:pt x="0" y="62484"/>
                  </a:cubicBezTo>
                  <a:close/>
                </a:path>
              </a:pathLst>
            </a:custGeom>
            <a:solidFill>
              <a:srgbClr val="DCD3C3"/>
            </a:solidFill>
          </p:spPr>
        </p:sp>
      </p:grpSp>
      <p:grpSp>
        <p:nvGrpSpPr>
          <p:cNvPr name="Group 178" id="178"/>
          <p:cNvGrpSpPr/>
          <p:nvPr/>
        </p:nvGrpSpPr>
        <p:grpSpPr>
          <a:xfrm rot="0">
            <a:off x="15428595" y="4676775"/>
            <a:ext cx="93726" cy="93726"/>
            <a:chOff x="0" y="0"/>
            <a:chExt cx="124968" cy="124968"/>
          </a:xfrm>
        </p:grpSpPr>
        <p:sp>
          <p:nvSpPr>
            <p:cNvPr name="Freeform 179" id="179"/>
            <p:cNvSpPr/>
            <p:nvPr/>
          </p:nvSpPr>
          <p:spPr>
            <a:xfrm flipH="false" flipV="false" rot="0">
              <a:off x="0" y="0"/>
              <a:ext cx="124968" cy="124968"/>
            </a:xfrm>
            <a:custGeom>
              <a:avLst/>
              <a:gdLst/>
              <a:ahLst/>
              <a:cxnLst/>
              <a:rect r="r" b="b" t="t" l="l"/>
              <a:pathLst>
                <a:path h="124968" w="124968">
                  <a:moveTo>
                    <a:pt x="0" y="62484"/>
                  </a:moveTo>
                  <a:cubicBezTo>
                    <a:pt x="0" y="27940"/>
                    <a:pt x="27940" y="0"/>
                    <a:pt x="62484" y="0"/>
                  </a:cubicBezTo>
                  <a:cubicBezTo>
                    <a:pt x="97028" y="0"/>
                    <a:pt x="124968" y="27940"/>
                    <a:pt x="124968" y="62484"/>
                  </a:cubicBezTo>
                  <a:cubicBezTo>
                    <a:pt x="124968" y="97028"/>
                    <a:pt x="97028" y="124968"/>
                    <a:pt x="62484" y="124968"/>
                  </a:cubicBezTo>
                  <a:cubicBezTo>
                    <a:pt x="27940" y="124968"/>
                    <a:pt x="0" y="97028"/>
                    <a:pt x="0" y="62484"/>
                  </a:cubicBezTo>
                  <a:close/>
                </a:path>
              </a:pathLst>
            </a:custGeom>
            <a:solidFill>
              <a:srgbClr val="DCD3C3"/>
            </a:solidFill>
          </p:spPr>
        </p:sp>
      </p:grpSp>
      <p:grpSp>
        <p:nvGrpSpPr>
          <p:cNvPr name="Group 180" id="180"/>
          <p:cNvGrpSpPr/>
          <p:nvPr/>
        </p:nvGrpSpPr>
        <p:grpSpPr>
          <a:xfrm rot="0">
            <a:off x="15022449" y="4973574"/>
            <a:ext cx="78105" cy="78105"/>
            <a:chOff x="0" y="0"/>
            <a:chExt cx="104140" cy="104140"/>
          </a:xfrm>
        </p:grpSpPr>
        <p:sp>
          <p:nvSpPr>
            <p:cNvPr name="Freeform 181" id="181"/>
            <p:cNvSpPr/>
            <p:nvPr/>
          </p:nvSpPr>
          <p:spPr>
            <a:xfrm flipH="false" flipV="false" rot="0">
              <a:off x="0" y="0"/>
              <a:ext cx="104140" cy="104140"/>
            </a:xfrm>
            <a:custGeom>
              <a:avLst/>
              <a:gdLst/>
              <a:ahLst/>
              <a:cxnLst/>
              <a:rect r="r" b="b" t="t" l="l"/>
              <a:pathLst>
                <a:path h="104140" w="104140">
                  <a:moveTo>
                    <a:pt x="0" y="0"/>
                  </a:moveTo>
                  <a:lnTo>
                    <a:pt x="104140" y="0"/>
                  </a:lnTo>
                  <a:lnTo>
                    <a:pt x="104140" y="104140"/>
                  </a:lnTo>
                  <a:lnTo>
                    <a:pt x="0" y="104140"/>
                  </a:lnTo>
                  <a:close/>
                </a:path>
              </a:pathLst>
            </a:custGeom>
            <a:solidFill>
              <a:srgbClr val="DCD3C3"/>
            </a:solidFill>
          </p:spPr>
        </p:sp>
      </p:grpSp>
      <p:grpSp>
        <p:nvGrpSpPr>
          <p:cNvPr name="Group 182" id="182"/>
          <p:cNvGrpSpPr/>
          <p:nvPr/>
        </p:nvGrpSpPr>
        <p:grpSpPr>
          <a:xfrm rot="0">
            <a:off x="15163038" y="4973574"/>
            <a:ext cx="78105" cy="78105"/>
            <a:chOff x="0" y="0"/>
            <a:chExt cx="104140" cy="104140"/>
          </a:xfrm>
        </p:grpSpPr>
        <p:sp>
          <p:nvSpPr>
            <p:cNvPr name="Freeform 183" id="183"/>
            <p:cNvSpPr/>
            <p:nvPr/>
          </p:nvSpPr>
          <p:spPr>
            <a:xfrm flipH="false" flipV="false" rot="0">
              <a:off x="0" y="0"/>
              <a:ext cx="104140" cy="104140"/>
            </a:xfrm>
            <a:custGeom>
              <a:avLst/>
              <a:gdLst/>
              <a:ahLst/>
              <a:cxnLst/>
              <a:rect r="r" b="b" t="t" l="l"/>
              <a:pathLst>
                <a:path h="104140" w="104140">
                  <a:moveTo>
                    <a:pt x="0" y="0"/>
                  </a:moveTo>
                  <a:lnTo>
                    <a:pt x="104140" y="0"/>
                  </a:lnTo>
                  <a:lnTo>
                    <a:pt x="104140" y="104140"/>
                  </a:lnTo>
                  <a:lnTo>
                    <a:pt x="0" y="104140"/>
                  </a:lnTo>
                  <a:close/>
                </a:path>
              </a:pathLst>
            </a:custGeom>
            <a:solidFill>
              <a:srgbClr val="DCD3C3"/>
            </a:solidFill>
          </p:spPr>
        </p:sp>
      </p:grpSp>
      <p:grpSp>
        <p:nvGrpSpPr>
          <p:cNvPr name="Group 184" id="184"/>
          <p:cNvGrpSpPr/>
          <p:nvPr/>
        </p:nvGrpSpPr>
        <p:grpSpPr>
          <a:xfrm rot="0">
            <a:off x="15366111" y="4973574"/>
            <a:ext cx="78105" cy="78105"/>
            <a:chOff x="0" y="0"/>
            <a:chExt cx="104140" cy="104140"/>
          </a:xfrm>
        </p:grpSpPr>
        <p:sp>
          <p:nvSpPr>
            <p:cNvPr name="Freeform 185" id="185"/>
            <p:cNvSpPr/>
            <p:nvPr/>
          </p:nvSpPr>
          <p:spPr>
            <a:xfrm flipH="false" flipV="false" rot="0">
              <a:off x="0" y="0"/>
              <a:ext cx="104140" cy="104140"/>
            </a:xfrm>
            <a:custGeom>
              <a:avLst/>
              <a:gdLst/>
              <a:ahLst/>
              <a:cxnLst/>
              <a:rect r="r" b="b" t="t" l="l"/>
              <a:pathLst>
                <a:path h="104140" w="104140">
                  <a:moveTo>
                    <a:pt x="0" y="0"/>
                  </a:moveTo>
                  <a:lnTo>
                    <a:pt x="104140" y="0"/>
                  </a:lnTo>
                  <a:lnTo>
                    <a:pt x="104140" y="104140"/>
                  </a:lnTo>
                  <a:lnTo>
                    <a:pt x="0" y="104140"/>
                  </a:lnTo>
                  <a:close/>
                </a:path>
              </a:pathLst>
            </a:custGeom>
            <a:solidFill>
              <a:srgbClr val="DCD3C3"/>
            </a:solidFill>
          </p:spPr>
        </p:sp>
      </p:grpSp>
      <p:grpSp>
        <p:nvGrpSpPr>
          <p:cNvPr name="Group 186" id="186"/>
          <p:cNvGrpSpPr/>
          <p:nvPr/>
        </p:nvGrpSpPr>
        <p:grpSpPr>
          <a:xfrm rot="0">
            <a:off x="15506700" y="4973574"/>
            <a:ext cx="78105" cy="78105"/>
            <a:chOff x="0" y="0"/>
            <a:chExt cx="104140" cy="104140"/>
          </a:xfrm>
        </p:grpSpPr>
        <p:sp>
          <p:nvSpPr>
            <p:cNvPr name="Freeform 187" id="187"/>
            <p:cNvSpPr/>
            <p:nvPr/>
          </p:nvSpPr>
          <p:spPr>
            <a:xfrm flipH="false" flipV="false" rot="0">
              <a:off x="0" y="0"/>
              <a:ext cx="104140" cy="104140"/>
            </a:xfrm>
            <a:custGeom>
              <a:avLst/>
              <a:gdLst/>
              <a:ahLst/>
              <a:cxnLst/>
              <a:rect r="r" b="b" t="t" l="l"/>
              <a:pathLst>
                <a:path h="104140" w="104140">
                  <a:moveTo>
                    <a:pt x="0" y="0"/>
                  </a:moveTo>
                  <a:lnTo>
                    <a:pt x="104140" y="0"/>
                  </a:lnTo>
                  <a:lnTo>
                    <a:pt x="104140" y="104140"/>
                  </a:lnTo>
                  <a:lnTo>
                    <a:pt x="0" y="104140"/>
                  </a:lnTo>
                  <a:close/>
                </a:path>
              </a:pathLst>
            </a:custGeom>
            <a:solidFill>
              <a:srgbClr val="DCD3C3"/>
            </a:solidFill>
          </p:spPr>
        </p:sp>
      </p:grpSp>
      <p:grpSp>
        <p:nvGrpSpPr>
          <p:cNvPr name="Group 188" id="188"/>
          <p:cNvGrpSpPr/>
          <p:nvPr/>
        </p:nvGrpSpPr>
        <p:grpSpPr>
          <a:xfrm rot="0">
            <a:off x="15695676" y="4762500"/>
            <a:ext cx="209550" cy="133350"/>
            <a:chOff x="0" y="0"/>
            <a:chExt cx="279400" cy="177800"/>
          </a:xfrm>
        </p:grpSpPr>
        <p:sp>
          <p:nvSpPr>
            <p:cNvPr name="Freeform 189" id="189"/>
            <p:cNvSpPr/>
            <p:nvPr/>
          </p:nvSpPr>
          <p:spPr>
            <a:xfrm flipH="false" flipV="false" rot="0">
              <a:off x="0" y="0"/>
              <a:ext cx="279400" cy="177800"/>
            </a:xfrm>
            <a:custGeom>
              <a:avLst/>
              <a:gdLst/>
              <a:ahLst/>
              <a:cxnLst/>
              <a:rect r="r" b="b" t="t" l="l"/>
              <a:pathLst>
                <a:path h="177800" w="279400">
                  <a:moveTo>
                    <a:pt x="0" y="44450"/>
                  </a:moveTo>
                  <a:lnTo>
                    <a:pt x="190500" y="44450"/>
                  </a:lnTo>
                  <a:lnTo>
                    <a:pt x="190500" y="0"/>
                  </a:lnTo>
                  <a:lnTo>
                    <a:pt x="279400" y="88900"/>
                  </a:lnTo>
                  <a:lnTo>
                    <a:pt x="190500" y="177800"/>
                  </a:lnTo>
                  <a:lnTo>
                    <a:pt x="190500" y="133350"/>
                  </a:lnTo>
                  <a:lnTo>
                    <a:pt x="0" y="133350"/>
                  </a:lnTo>
                  <a:close/>
                </a:path>
              </a:pathLst>
            </a:custGeom>
            <a:solidFill>
              <a:srgbClr val="DCD3C3"/>
            </a:solidFill>
          </p:spPr>
        </p:sp>
      </p:grpSp>
      <p:sp>
        <p:nvSpPr>
          <p:cNvPr name="AutoShape 190" id="190"/>
          <p:cNvSpPr/>
          <p:nvPr/>
        </p:nvSpPr>
        <p:spPr>
          <a:xfrm rot="7489140">
            <a:off x="16030946" y="4693730"/>
            <a:ext cx="268243" cy="0"/>
          </a:xfrm>
          <a:prstGeom prst="line">
            <a:avLst/>
          </a:prstGeom>
          <a:ln cap="rnd" w="9525">
            <a:solidFill>
              <a:srgbClr val="A39B8B"/>
            </a:solidFill>
            <a:prstDash val="solid"/>
            <a:headEnd type="none" len="sm" w="sm"/>
            <a:tailEnd type="none" len="sm" w="sm"/>
          </a:ln>
        </p:spPr>
      </p:sp>
      <p:sp>
        <p:nvSpPr>
          <p:cNvPr name="AutoShape 191" id="191"/>
          <p:cNvSpPr/>
          <p:nvPr/>
        </p:nvSpPr>
        <p:spPr>
          <a:xfrm rot="3310860">
            <a:off x="16165058" y="4693730"/>
            <a:ext cx="268243" cy="0"/>
          </a:xfrm>
          <a:prstGeom prst="line">
            <a:avLst/>
          </a:prstGeom>
          <a:ln cap="rnd" w="9525">
            <a:solidFill>
              <a:srgbClr val="A39B8B"/>
            </a:solidFill>
            <a:prstDash val="solid"/>
            <a:headEnd type="none" len="sm" w="sm"/>
            <a:tailEnd type="none" len="sm" w="sm"/>
          </a:ln>
        </p:spPr>
      </p:sp>
      <p:sp>
        <p:nvSpPr>
          <p:cNvPr name="AutoShape 192" id="192"/>
          <p:cNvSpPr/>
          <p:nvPr/>
        </p:nvSpPr>
        <p:spPr>
          <a:xfrm rot="6408840">
            <a:off x="15942821" y="4907090"/>
            <a:ext cx="255527" cy="0"/>
          </a:xfrm>
          <a:prstGeom prst="line">
            <a:avLst/>
          </a:prstGeom>
          <a:ln cap="rnd" w="9525">
            <a:solidFill>
              <a:srgbClr val="A39B8B"/>
            </a:solidFill>
            <a:prstDash val="solid"/>
            <a:headEnd type="none" len="sm" w="sm"/>
            <a:tailEnd type="none" len="sm" w="sm"/>
          </a:ln>
        </p:spPr>
      </p:sp>
      <p:sp>
        <p:nvSpPr>
          <p:cNvPr name="AutoShape 193" id="193"/>
          <p:cNvSpPr/>
          <p:nvPr/>
        </p:nvSpPr>
        <p:spPr>
          <a:xfrm rot="4391160">
            <a:off x="15997685" y="4907090"/>
            <a:ext cx="255527" cy="0"/>
          </a:xfrm>
          <a:prstGeom prst="line">
            <a:avLst/>
          </a:prstGeom>
          <a:ln cap="rnd" w="9525">
            <a:solidFill>
              <a:srgbClr val="A39B8B"/>
            </a:solidFill>
            <a:prstDash val="solid"/>
            <a:headEnd type="none" len="sm" w="sm"/>
            <a:tailEnd type="none" len="sm" w="sm"/>
          </a:ln>
        </p:spPr>
      </p:sp>
      <p:sp>
        <p:nvSpPr>
          <p:cNvPr name="AutoShape 194" id="194"/>
          <p:cNvSpPr/>
          <p:nvPr/>
        </p:nvSpPr>
        <p:spPr>
          <a:xfrm rot="6408840">
            <a:off x="16211045" y="4907090"/>
            <a:ext cx="255527" cy="0"/>
          </a:xfrm>
          <a:prstGeom prst="line">
            <a:avLst/>
          </a:prstGeom>
          <a:ln cap="rnd" w="9525">
            <a:solidFill>
              <a:srgbClr val="A39B8B"/>
            </a:solidFill>
            <a:prstDash val="solid"/>
            <a:headEnd type="none" len="sm" w="sm"/>
            <a:tailEnd type="none" len="sm" w="sm"/>
          </a:ln>
        </p:spPr>
      </p:sp>
      <p:sp>
        <p:nvSpPr>
          <p:cNvPr name="AutoShape 195" id="195"/>
          <p:cNvSpPr/>
          <p:nvPr/>
        </p:nvSpPr>
        <p:spPr>
          <a:xfrm rot="4391160">
            <a:off x="16265909" y="4907090"/>
            <a:ext cx="255527" cy="0"/>
          </a:xfrm>
          <a:prstGeom prst="line">
            <a:avLst/>
          </a:prstGeom>
          <a:ln cap="rnd" w="9525">
            <a:solidFill>
              <a:srgbClr val="A39B8B"/>
            </a:solidFill>
            <a:prstDash val="solid"/>
            <a:headEnd type="none" len="sm" w="sm"/>
            <a:tailEnd type="none" len="sm" w="sm"/>
          </a:ln>
        </p:spPr>
      </p:sp>
      <p:grpSp>
        <p:nvGrpSpPr>
          <p:cNvPr name="Group 196" id="196"/>
          <p:cNvGrpSpPr/>
          <p:nvPr/>
        </p:nvGrpSpPr>
        <p:grpSpPr>
          <a:xfrm rot="0">
            <a:off x="16189452" y="4555236"/>
            <a:ext cx="85344" cy="85344"/>
            <a:chOff x="0" y="0"/>
            <a:chExt cx="113792" cy="113792"/>
          </a:xfrm>
        </p:grpSpPr>
        <p:sp>
          <p:nvSpPr>
            <p:cNvPr name="Freeform 197" id="197"/>
            <p:cNvSpPr/>
            <p:nvPr/>
          </p:nvSpPr>
          <p:spPr>
            <a:xfrm flipH="false" flipV="false" rot="0">
              <a:off x="0" y="0"/>
              <a:ext cx="113792" cy="113792"/>
            </a:xfrm>
            <a:custGeom>
              <a:avLst/>
              <a:gdLst/>
              <a:ahLst/>
              <a:cxnLst/>
              <a:rect r="r" b="b" t="t" l="l"/>
              <a:pathLst>
                <a:path h="113792" w="113792">
                  <a:moveTo>
                    <a:pt x="0" y="56896"/>
                  </a:moveTo>
                  <a:cubicBezTo>
                    <a:pt x="0" y="25527"/>
                    <a:pt x="25527" y="0"/>
                    <a:pt x="56896" y="0"/>
                  </a:cubicBezTo>
                  <a:cubicBezTo>
                    <a:pt x="88265" y="0"/>
                    <a:pt x="113792" y="25527"/>
                    <a:pt x="113792" y="56896"/>
                  </a:cubicBezTo>
                  <a:cubicBezTo>
                    <a:pt x="113792" y="88265"/>
                    <a:pt x="88265" y="113792"/>
                    <a:pt x="56896" y="113792"/>
                  </a:cubicBezTo>
                  <a:cubicBezTo>
                    <a:pt x="25527" y="113792"/>
                    <a:pt x="0" y="88265"/>
                    <a:pt x="0" y="56896"/>
                  </a:cubicBezTo>
                  <a:close/>
                </a:path>
              </a:pathLst>
            </a:custGeom>
            <a:solidFill>
              <a:srgbClr val="DCD3C3"/>
            </a:solidFill>
          </p:spPr>
        </p:sp>
      </p:grpSp>
      <p:grpSp>
        <p:nvGrpSpPr>
          <p:cNvPr name="Group 198" id="198"/>
          <p:cNvGrpSpPr/>
          <p:nvPr/>
        </p:nvGrpSpPr>
        <p:grpSpPr>
          <a:xfrm rot="0">
            <a:off x="16061436" y="4762500"/>
            <a:ext cx="73152" cy="73152"/>
            <a:chOff x="0" y="0"/>
            <a:chExt cx="97536" cy="97536"/>
          </a:xfrm>
        </p:grpSpPr>
        <p:sp>
          <p:nvSpPr>
            <p:cNvPr name="Freeform 199" id="199"/>
            <p:cNvSpPr/>
            <p:nvPr/>
          </p:nvSpPr>
          <p:spPr>
            <a:xfrm flipH="false" flipV="false" rot="0">
              <a:off x="0" y="0"/>
              <a:ext cx="97536" cy="97536"/>
            </a:xfrm>
            <a:custGeom>
              <a:avLst/>
              <a:gdLst/>
              <a:ahLst/>
              <a:cxnLst/>
              <a:rect r="r" b="b" t="t" l="l"/>
              <a:pathLst>
                <a:path h="97536" w="97536">
                  <a:moveTo>
                    <a:pt x="0" y="48768"/>
                  </a:moveTo>
                  <a:cubicBezTo>
                    <a:pt x="0" y="21844"/>
                    <a:pt x="21844" y="0"/>
                    <a:pt x="48768" y="0"/>
                  </a:cubicBezTo>
                  <a:cubicBezTo>
                    <a:pt x="75692" y="0"/>
                    <a:pt x="97536" y="21844"/>
                    <a:pt x="97536" y="48768"/>
                  </a:cubicBezTo>
                  <a:cubicBezTo>
                    <a:pt x="97536" y="75692"/>
                    <a:pt x="75692" y="97536"/>
                    <a:pt x="48768" y="97536"/>
                  </a:cubicBezTo>
                  <a:cubicBezTo>
                    <a:pt x="21844" y="97536"/>
                    <a:pt x="0" y="75692"/>
                    <a:pt x="0" y="48768"/>
                  </a:cubicBezTo>
                  <a:close/>
                </a:path>
              </a:pathLst>
            </a:custGeom>
            <a:solidFill>
              <a:srgbClr val="DCD3C3"/>
            </a:solidFill>
          </p:spPr>
        </p:sp>
      </p:grpSp>
      <p:grpSp>
        <p:nvGrpSpPr>
          <p:cNvPr name="Group 200" id="200"/>
          <p:cNvGrpSpPr/>
          <p:nvPr/>
        </p:nvGrpSpPr>
        <p:grpSpPr>
          <a:xfrm rot="0">
            <a:off x="16329660" y="4762500"/>
            <a:ext cx="73152" cy="73152"/>
            <a:chOff x="0" y="0"/>
            <a:chExt cx="97536" cy="97536"/>
          </a:xfrm>
        </p:grpSpPr>
        <p:sp>
          <p:nvSpPr>
            <p:cNvPr name="Freeform 201" id="201"/>
            <p:cNvSpPr/>
            <p:nvPr/>
          </p:nvSpPr>
          <p:spPr>
            <a:xfrm flipH="false" flipV="false" rot="0">
              <a:off x="0" y="0"/>
              <a:ext cx="97536" cy="97536"/>
            </a:xfrm>
            <a:custGeom>
              <a:avLst/>
              <a:gdLst/>
              <a:ahLst/>
              <a:cxnLst/>
              <a:rect r="r" b="b" t="t" l="l"/>
              <a:pathLst>
                <a:path h="97536" w="97536">
                  <a:moveTo>
                    <a:pt x="0" y="48768"/>
                  </a:moveTo>
                  <a:cubicBezTo>
                    <a:pt x="0" y="21844"/>
                    <a:pt x="21844" y="0"/>
                    <a:pt x="48768" y="0"/>
                  </a:cubicBezTo>
                  <a:cubicBezTo>
                    <a:pt x="75692" y="0"/>
                    <a:pt x="97536" y="21844"/>
                    <a:pt x="97536" y="48768"/>
                  </a:cubicBezTo>
                  <a:cubicBezTo>
                    <a:pt x="97536" y="75692"/>
                    <a:pt x="75692" y="97536"/>
                    <a:pt x="48768" y="97536"/>
                  </a:cubicBezTo>
                  <a:cubicBezTo>
                    <a:pt x="21844" y="97536"/>
                    <a:pt x="0" y="75692"/>
                    <a:pt x="0" y="48768"/>
                  </a:cubicBezTo>
                  <a:close/>
                </a:path>
              </a:pathLst>
            </a:custGeom>
            <a:solidFill>
              <a:srgbClr val="DCD3C3"/>
            </a:solidFill>
          </p:spPr>
        </p:sp>
      </p:grpSp>
      <p:grpSp>
        <p:nvGrpSpPr>
          <p:cNvPr name="Group 202" id="202"/>
          <p:cNvGrpSpPr/>
          <p:nvPr/>
        </p:nvGrpSpPr>
        <p:grpSpPr>
          <a:xfrm rot="0">
            <a:off x="16012668" y="4994148"/>
            <a:ext cx="60960" cy="60960"/>
            <a:chOff x="0" y="0"/>
            <a:chExt cx="81280" cy="81280"/>
          </a:xfrm>
        </p:grpSpPr>
        <p:sp>
          <p:nvSpPr>
            <p:cNvPr name="Freeform 203" id="203"/>
            <p:cNvSpPr/>
            <p:nvPr/>
          </p:nvSpPr>
          <p:spPr>
            <a:xfrm flipH="false" flipV="false" rot="0">
              <a:off x="0" y="0"/>
              <a:ext cx="81280" cy="81280"/>
            </a:xfrm>
            <a:custGeom>
              <a:avLst/>
              <a:gdLst/>
              <a:ahLst/>
              <a:cxnLst/>
              <a:rect r="r" b="b" t="t" l="l"/>
              <a:pathLst>
                <a:path h="81280" w="81280">
                  <a:moveTo>
                    <a:pt x="0" y="0"/>
                  </a:moveTo>
                  <a:lnTo>
                    <a:pt x="81280" y="0"/>
                  </a:lnTo>
                  <a:lnTo>
                    <a:pt x="81280" y="81280"/>
                  </a:lnTo>
                  <a:lnTo>
                    <a:pt x="0" y="81280"/>
                  </a:lnTo>
                  <a:close/>
                </a:path>
              </a:pathLst>
            </a:custGeom>
            <a:solidFill>
              <a:srgbClr val="DCD3C3"/>
            </a:solidFill>
          </p:spPr>
        </p:sp>
      </p:grpSp>
      <p:grpSp>
        <p:nvGrpSpPr>
          <p:cNvPr name="Group 204" id="204"/>
          <p:cNvGrpSpPr/>
          <p:nvPr/>
        </p:nvGrpSpPr>
        <p:grpSpPr>
          <a:xfrm rot="0">
            <a:off x="16122396" y="4994148"/>
            <a:ext cx="60960" cy="60960"/>
            <a:chOff x="0" y="0"/>
            <a:chExt cx="81280" cy="81280"/>
          </a:xfrm>
        </p:grpSpPr>
        <p:sp>
          <p:nvSpPr>
            <p:cNvPr name="Freeform 205" id="205"/>
            <p:cNvSpPr/>
            <p:nvPr/>
          </p:nvSpPr>
          <p:spPr>
            <a:xfrm flipH="false" flipV="false" rot="0">
              <a:off x="0" y="0"/>
              <a:ext cx="81280" cy="81280"/>
            </a:xfrm>
            <a:custGeom>
              <a:avLst/>
              <a:gdLst/>
              <a:ahLst/>
              <a:cxnLst/>
              <a:rect r="r" b="b" t="t" l="l"/>
              <a:pathLst>
                <a:path h="81280" w="81280">
                  <a:moveTo>
                    <a:pt x="0" y="0"/>
                  </a:moveTo>
                  <a:lnTo>
                    <a:pt x="81280" y="0"/>
                  </a:lnTo>
                  <a:lnTo>
                    <a:pt x="81280" y="81280"/>
                  </a:lnTo>
                  <a:lnTo>
                    <a:pt x="0" y="81280"/>
                  </a:lnTo>
                  <a:close/>
                </a:path>
              </a:pathLst>
            </a:custGeom>
            <a:solidFill>
              <a:srgbClr val="DCD3C3"/>
            </a:solidFill>
          </p:spPr>
        </p:sp>
      </p:grpSp>
      <p:grpSp>
        <p:nvGrpSpPr>
          <p:cNvPr name="Group 206" id="206"/>
          <p:cNvGrpSpPr/>
          <p:nvPr/>
        </p:nvGrpSpPr>
        <p:grpSpPr>
          <a:xfrm rot="0">
            <a:off x="16280892" y="4994148"/>
            <a:ext cx="60960" cy="60960"/>
            <a:chOff x="0" y="0"/>
            <a:chExt cx="81280" cy="81280"/>
          </a:xfrm>
        </p:grpSpPr>
        <p:sp>
          <p:nvSpPr>
            <p:cNvPr name="Freeform 207" id="207"/>
            <p:cNvSpPr/>
            <p:nvPr/>
          </p:nvSpPr>
          <p:spPr>
            <a:xfrm flipH="false" flipV="false" rot="0">
              <a:off x="0" y="0"/>
              <a:ext cx="81280" cy="81280"/>
            </a:xfrm>
            <a:custGeom>
              <a:avLst/>
              <a:gdLst/>
              <a:ahLst/>
              <a:cxnLst/>
              <a:rect r="r" b="b" t="t" l="l"/>
              <a:pathLst>
                <a:path h="81280" w="81280">
                  <a:moveTo>
                    <a:pt x="0" y="0"/>
                  </a:moveTo>
                  <a:lnTo>
                    <a:pt x="81280" y="0"/>
                  </a:lnTo>
                  <a:lnTo>
                    <a:pt x="81280" y="81280"/>
                  </a:lnTo>
                  <a:lnTo>
                    <a:pt x="0" y="81280"/>
                  </a:lnTo>
                  <a:close/>
                </a:path>
              </a:pathLst>
            </a:custGeom>
            <a:solidFill>
              <a:srgbClr val="DCD3C3"/>
            </a:solidFill>
          </p:spPr>
        </p:sp>
      </p:grpSp>
      <p:grpSp>
        <p:nvGrpSpPr>
          <p:cNvPr name="Group 208" id="208"/>
          <p:cNvGrpSpPr/>
          <p:nvPr/>
        </p:nvGrpSpPr>
        <p:grpSpPr>
          <a:xfrm rot="0">
            <a:off x="16390620" y="4994148"/>
            <a:ext cx="60960" cy="60960"/>
            <a:chOff x="0" y="0"/>
            <a:chExt cx="81280" cy="81280"/>
          </a:xfrm>
        </p:grpSpPr>
        <p:sp>
          <p:nvSpPr>
            <p:cNvPr name="Freeform 209" id="209"/>
            <p:cNvSpPr/>
            <p:nvPr/>
          </p:nvSpPr>
          <p:spPr>
            <a:xfrm flipH="false" flipV="false" rot="0">
              <a:off x="0" y="0"/>
              <a:ext cx="81280" cy="81280"/>
            </a:xfrm>
            <a:custGeom>
              <a:avLst/>
              <a:gdLst/>
              <a:ahLst/>
              <a:cxnLst/>
              <a:rect r="r" b="b" t="t" l="l"/>
              <a:pathLst>
                <a:path h="81280" w="81280">
                  <a:moveTo>
                    <a:pt x="0" y="0"/>
                  </a:moveTo>
                  <a:lnTo>
                    <a:pt x="81280" y="0"/>
                  </a:lnTo>
                  <a:lnTo>
                    <a:pt x="81280" y="81280"/>
                  </a:lnTo>
                  <a:lnTo>
                    <a:pt x="0" y="81280"/>
                  </a:lnTo>
                  <a:close/>
                </a:path>
              </a:pathLst>
            </a:custGeom>
            <a:solidFill>
              <a:srgbClr val="DCD3C3"/>
            </a:solidFill>
          </p:spPr>
        </p:sp>
      </p:grpSp>
      <p:grpSp>
        <p:nvGrpSpPr>
          <p:cNvPr name="Group 210" id="210"/>
          <p:cNvGrpSpPr/>
          <p:nvPr/>
        </p:nvGrpSpPr>
        <p:grpSpPr>
          <a:xfrm rot="0">
            <a:off x="15078075" y="5200650"/>
            <a:ext cx="190500" cy="266700"/>
            <a:chOff x="0" y="0"/>
            <a:chExt cx="254000" cy="355600"/>
          </a:xfrm>
        </p:grpSpPr>
        <p:sp>
          <p:nvSpPr>
            <p:cNvPr name="Freeform 211" id="211"/>
            <p:cNvSpPr/>
            <p:nvPr/>
          </p:nvSpPr>
          <p:spPr>
            <a:xfrm flipH="false" flipV="false" rot="0">
              <a:off x="0" y="0"/>
              <a:ext cx="254000" cy="355600"/>
            </a:xfrm>
            <a:custGeom>
              <a:avLst/>
              <a:gdLst/>
              <a:ahLst/>
              <a:cxnLst/>
              <a:rect r="r" b="b" t="t" l="l"/>
              <a:pathLst>
                <a:path h="355600" w="254000">
                  <a:moveTo>
                    <a:pt x="0" y="228600"/>
                  </a:moveTo>
                  <a:lnTo>
                    <a:pt x="63500" y="228600"/>
                  </a:lnTo>
                  <a:lnTo>
                    <a:pt x="63500" y="0"/>
                  </a:lnTo>
                  <a:lnTo>
                    <a:pt x="190500" y="0"/>
                  </a:lnTo>
                  <a:lnTo>
                    <a:pt x="190500" y="228600"/>
                  </a:lnTo>
                  <a:lnTo>
                    <a:pt x="254000" y="228600"/>
                  </a:lnTo>
                  <a:lnTo>
                    <a:pt x="127000" y="355600"/>
                  </a:lnTo>
                  <a:close/>
                </a:path>
              </a:pathLst>
            </a:custGeom>
            <a:solidFill>
              <a:srgbClr val="DCD3C3"/>
            </a:solidFill>
          </p:spPr>
        </p:sp>
      </p:grpSp>
      <p:grpSp>
        <p:nvGrpSpPr>
          <p:cNvPr name="Group 212" id="212"/>
          <p:cNvGrpSpPr/>
          <p:nvPr/>
        </p:nvGrpSpPr>
        <p:grpSpPr>
          <a:xfrm rot="0">
            <a:off x="14506575" y="5543550"/>
            <a:ext cx="1333500" cy="381000"/>
            <a:chOff x="0" y="0"/>
            <a:chExt cx="1778000" cy="508000"/>
          </a:xfrm>
        </p:grpSpPr>
        <p:sp>
          <p:nvSpPr>
            <p:cNvPr name="Freeform 213" id="213"/>
            <p:cNvSpPr/>
            <p:nvPr/>
          </p:nvSpPr>
          <p:spPr>
            <a:xfrm flipH="false" flipV="false" rot="0">
              <a:off x="0" y="0"/>
              <a:ext cx="1778000" cy="508000"/>
            </a:xfrm>
            <a:custGeom>
              <a:avLst/>
              <a:gdLst/>
              <a:ahLst/>
              <a:cxnLst/>
              <a:rect r="r" b="b" t="t" l="l"/>
              <a:pathLst>
                <a:path h="508000" w="1778000">
                  <a:moveTo>
                    <a:pt x="0" y="254000"/>
                  </a:moveTo>
                  <a:cubicBezTo>
                    <a:pt x="0" y="113665"/>
                    <a:pt x="113665" y="0"/>
                    <a:pt x="254000" y="0"/>
                  </a:cubicBezTo>
                  <a:lnTo>
                    <a:pt x="1524000" y="0"/>
                  </a:lnTo>
                  <a:cubicBezTo>
                    <a:pt x="1664335" y="0"/>
                    <a:pt x="1778000" y="113665"/>
                    <a:pt x="1778000" y="254000"/>
                  </a:cubicBezTo>
                  <a:cubicBezTo>
                    <a:pt x="1778000" y="394335"/>
                    <a:pt x="1664335" y="508000"/>
                    <a:pt x="1524000" y="508000"/>
                  </a:cubicBezTo>
                  <a:lnTo>
                    <a:pt x="254000" y="508000"/>
                  </a:lnTo>
                  <a:cubicBezTo>
                    <a:pt x="113665" y="508000"/>
                    <a:pt x="0" y="394335"/>
                    <a:pt x="0" y="254000"/>
                  </a:cubicBezTo>
                  <a:close/>
                </a:path>
              </a:pathLst>
            </a:custGeom>
            <a:solidFill>
              <a:srgbClr val="DCD3C3"/>
            </a:solidFill>
          </p:spPr>
        </p:sp>
        <p:sp>
          <p:nvSpPr>
            <p:cNvPr name="TextBox 214" id="214"/>
            <p:cNvSpPr txBox="true"/>
            <p:nvPr/>
          </p:nvSpPr>
          <p:spPr>
            <a:xfrm>
              <a:off x="0" y="-9525"/>
              <a:ext cx="1778000" cy="517525"/>
            </a:xfrm>
            <a:prstGeom prst="rect">
              <a:avLst/>
            </a:prstGeom>
          </p:spPr>
          <p:txBody>
            <a:bodyPr anchor="ctr" rtlCol="false" tIns="50800" lIns="50800" bIns="50800" rIns="50800"/>
            <a:lstStyle/>
            <a:p>
              <a:pPr algn="ctr">
                <a:lnSpc>
                  <a:spcPts val="2160"/>
                </a:lnSpc>
              </a:pPr>
              <a:r>
                <a:rPr lang="en-US" sz="1800" b="true">
                  <a:solidFill>
                    <a:srgbClr val="1F1E1C"/>
                  </a:solidFill>
                  <a:latin typeface="Archivo Narrow Bold"/>
                  <a:ea typeface="Archivo Narrow Bold"/>
                  <a:cs typeface="Archivo Narrow Bold"/>
                  <a:sym typeface="Archivo Narrow Bold"/>
                </a:rPr>
                <a:t>suma</a:t>
              </a:r>
            </a:p>
          </p:txBody>
        </p:sp>
      </p:grpSp>
      <p:sp>
        <p:nvSpPr>
          <p:cNvPr name="AutoShape 215" id="215"/>
          <p:cNvSpPr/>
          <p:nvPr/>
        </p:nvSpPr>
        <p:spPr>
          <a:xfrm rot="14700">
            <a:off x="13499287" y="6072188"/>
            <a:ext cx="3348066" cy="0"/>
          </a:xfrm>
          <a:prstGeom prst="line">
            <a:avLst/>
          </a:prstGeom>
          <a:ln cap="rnd" w="9525">
            <a:solidFill>
              <a:srgbClr val="6E685E"/>
            </a:solidFill>
            <a:prstDash val="solid"/>
            <a:headEnd type="none" len="sm" w="sm"/>
            <a:tailEnd type="none" len="sm" w="sm"/>
          </a:ln>
        </p:spPr>
      </p:sp>
      <p:sp>
        <p:nvSpPr>
          <p:cNvPr name="TextBox 216" id="216"/>
          <p:cNvSpPr txBox="true"/>
          <p:nvPr/>
        </p:nvSpPr>
        <p:spPr>
          <a:xfrm rot="0">
            <a:off x="13506450" y="6143625"/>
            <a:ext cx="3333750" cy="1381125"/>
          </a:xfrm>
          <a:prstGeom prst="rect">
            <a:avLst/>
          </a:prstGeom>
        </p:spPr>
        <p:txBody>
          <a:bodyPr anchor="t" rtlCol="false" tIns="0" lIns="0" bIns="0" rIns="0">
            <a:spAutoFit/>
          </a:bodyPr>
          <a:lstStyle/>
          <a:p>
            <a:pPr algn="l">
              <a:lnSpc>
                <a:spcPts val="2520"/>
              </a:lnSpc>
            </a:pPr>
            <a:r>
              <a:rPr lang="en-US" sz="1800">
                <a:solidFill>
                  <a:srgbClr val="DCD3C3"/>
                </a:solidFill>
                <a:latin typeface="Archivo Narrow"/>
                <a:ea typeface="Archivo Narrow"/>
                <a:cs typeface="Archivo Narrow"/>
                <a:sym typeface="Archivo Narrow"/>
              </a:rPr>
              <a:t>Árboles en secuencia: cada uno corrige una parte del error que dejaron los anteriores.</a:t>
            </a:r>
          </a:p>
        </p:txBody>
      </p:sp>
      <p:grpSp>
        <p:nvGrpSpPr>
          <p:cNvPr name="Group 217" id="217"/>
          <p:cNvGrpSpPr/>
          <p:nvPr/>
        </p:nvGrpSpPr>
        <p:grpSpPr>
          <a:xfrm rot="0">
            <a:off x="1219200" y="7848600"/>
            <a:ext cx="7810500" cy="838200"/>
            <a:chOff x="0" y="0"/>
            <a:chExt cx="10414000" cy="1117600"/>
          </a:xfrm>
        </p:grpSpPr>
        <p:sp>
          <p:nvSpPr>
            <p:cNvPr name="Freeform 218" id="218"/>
            <p:cNvSpPr/>
            <p:nvPr/>
          </p:nvSpPr>
          <p:spPr>
            <a:xfrm flipH="false" flipV="false" rot="0">
              <a:off x="0" y="0"/>
              <a:ext cx="10414000" cy="1117600"/>
            </a:xfrm>
            <a:custGeom>
              <a:avLst/>
              <a:gdLst/>
              <a:ahLst/>
              <a:cxnLst/>
              <a:rect r="r" b="b" t="t" l="l"/>
              <a:pathLst>
                <a:path h="1117600" w="10414000">
                  <a:moveTo>
                    <a:pt x="0" y="0"/>
                  </a:moveTo>
                  <a:lnTo>
                    <a:pt x="10414000" y="0"/>
                  </a:lnTo>
                  <a:lnTo>
                    <a:pt x="10414000" y="1117600"/>
                  </a:lnTo>
                  <a:lnTo>
                    <a:pt x="0" y="1117600"/>
                  </a:lnTo>
                  <a:close/>
                </a:path>
              </a:pathLst>
            </a:custGeom>
            <a:solidFill>
              <a:srgbClr val="DCD3C3"/>
            </a:solidFill>
          </p:spPr>
        </p:sp>
        <p:sp>
          <p:nvSpPr>
            <p:cNvPr name="TextBox 219" id="219"/>
            <p:cNvSpPr txBox="true"/>
            <p:nvPr/>
          </p:nvSpPr>
          <p:spPr>
            <a:xfrm>
              <a:off x="0" y="-47625"/>
              <a:ext cx="10414000" cy="1165225"/>
            </a:xfrm>
            <a:prstGeom prst="rect">
              <a:avLst/>
            </a:prstGeom>
          </p:spPr>
          <p:txBody>
            <a:bodyPr anchor="ctr" rtlCol="false" tIns="50800" lIns="50800" bIns="50800" rIns="50800"/>
            <a:lstStyle/>
            <a:p>
              <a:pPr algn="l">
                <a:lnSpc>
                  <a:spcPts val="2520"/>
                </a:lnSpc>
              </a:pPr>
              <a:r>
                <a:rPr lang="en-US" sz="1800" b="true">
                  <a:solidFill>
                    <a:srgbClr val="1F1E1C"/>
                  </a:solidFill>
                  <a:latin typeface="Archivo Narrow Bold"/>
                  <a:ea typeface="Archivo Narrow Bold"/>
                  <a:cs typeface="Archivo Narrow Bold"/>
                  <a:sym typeface="Archivo Narrow Bold"/>
                </a:rPr>
                <a:t>Interpretable</a:t>
              </a:r>
              <a:r>
                <a:rPr lang="en-US" sz="1800">
                  <a:solidFill>
                    <a:srgbClr val="1F1E1C"/>
                  </a:solidFill>
                  <a:latin typeface="Archivo Narrow"/>
                  <a:ea typeface="Archivo Narrow"/>
                  <a:cs typeface="Archivo Narrow"/>
                  <a:sym typeface="Archivo Narrow"/>
                </a:rPr>
                <a:t>: cada estimación se descompone en el aporte de cada variable</a:t>
              </a:r>
            </a:p>
          </p:txBody>
        </p:sp>
      </p:grpSp>
      <p:grpSp>
        <p:nvGrpSpPr>
          <p:cNvPr name="Group 220" id="220"/>
          <p:cNvGrpSpPr/>
          <p:nvPr/>
        </p:nvGrpSpPr>
        <p:grpSpPr>
          <a:xfrm rot="0">
            <a:off x="9258300" y="7848600"/>
            <a:ext cx="7810500" cy="838200"/>
            <a:chOff x="0" y="0"/>
            <a:chExt cx="10414000" cy="1117600"/>
          </a:xfrm>
        </p:grpSpPr>
        <p:sp>
          <p:nvSpPr>
            <p:cNvPr name="Freeform 221" id="221"/>
            <p:cNvSpPr/>
            <p:nvPr/>
          </p:nvSpPr>
          <p:spPr>
            <a:xfrm flipH="false" flipV="false" rot="0">
              <a:off x="0" y="0"/>
              <a:ext cx="10414000" cy="1117600"/>
            </a:xfrm>
            <a:custGeom>
              <a:avLst/>
              <a:gdLst/>
              <a:ahLst/>
              <a:cxnLst/>
              <a:rect r="r" b="b" t="t" l="l"/>
              <a:pathLst>
                <a:path h="1117600" w="10414000">
                  <a:moveTo>
                    <a:pt x="0" y="0"/>
                  </a:moveTo>
                  <a:lnTo>
                    <a:pt x="10414000" y="0"/>
                  </a:lnTo>
                  <a:lnTo>
                    <a:pt x="10414000" y="1117600"/>
                  </a:lnTo>
                  <a:lnTo>
                    <a:pt x="0" y="1117600"/>
                  </a:lnTo>
                  <a:close/>
                </a:path>
              </a:pathLst>
            </a:custGeom>
            <a:solidFill>
              <a:srgbClr val="DCD3C3"/>
            </a:solidFill>
          </p:spPr>
        </p:sp>
        <p:sp>
          <p:nvSpPr>
            <p:cNvPr name="TextBox 222" id="222"/>
            <p:cNvSpPr txBox="true"/>
            <p:nvPr/>
          </p:nvSpPr>
          <p:spPr>
            <a:xfrm>
              <a:off x="0" y="-47625"/>
              <a:ext cx="10414000" cy="1165225"/>
            </a:xfrm>
            <a:prstGeom prst="rect">
              <a:avLst/>
            </a:prstGeom>
          </p:spPr>
          <p:txBody>
            <a:bodyPr anchor="ctr" rtlCol="false" tIns="50800" lIns="50800" bIns="50800" rIns="50800"/>
            <a:lstStyle/>
            <a:p>
              <a:pPr algn="l">
                <a:lnSpc>
                  <a:spcPts val="2520"/>
                </a:lnSpc>
              </a:pPr>
              <a:r>
                <a:rPr lang="en-US" sz="1800" b="true">
                  <a:solidFill>
                    <a:srgbClr val="1F1E1C"/>
                  </a:solidFill>
                  <a:latin typeface="Archivo Narrow Bold"/>
                  <a:ea typeface="Archivo Narrow Bold"/>
                  <a:cs typeface="Archivo Narrow Bold"/>
                  <a:sym typeface="Archivo Narrow Bold"/>
                </a:rPr>
                <a:t>Capta relaciones no lineales</a:t>
              </a:r>
              <a:r>
                <a:rPr lang="en-US" sz="1800">
                  <a:solidFill>
                    <a:srgbClr val="1F1E1C"/>
                  </a:solidFill>
                  <a:latin typeface="Archivo Narrow"/>
                  <a:ea typeface="Archivo Narrow"/>
                  <a:cs typeface="Archivo Narrow"/>
                  <a:sym typeface="Archivo Narrow"/>
                </a:rPr>
                <a:t>, pero cuesta justificar una estimación puntual</a:t>
              </a:r>
            </a:p>
          </p:txBody>
        </p:sp>
      </p:grpSp>
      <p:sp>
        <p:nvSpPr>
          <p:cNvPr name="TextBox 223" id="223"/>
          <p:cNvSpPr txBox="true"/>
          <p:nvPr/>
        </p:nvSpPr>
        <p:spPr>
          <a:xfrm rot="0">
            <a:off x="1219200" y="9309735"/>
            <a:ext cx="7848600" cy="405765"/>
          </a:xfrm>
          <a:prstGeom prst="rect">
            <a:avLst/>
          </a:prstGeom>
        </p:spPr>
        <p:txBody>
          <a:bodyPr anchor="t" rtlCol="false" tIns="0" lIns="0" bIns="0" rIns="0">
            <a:spAutoFit/>
          </a:bodyPr>
          <a:lstStyle/>
          <a:p>
            <a:pPr algn="l">
              <a:lnSpc>
                <a:spcPts val="2520"/>
              </a:lnSpc>
            </a:pPr>
            <a:r>
              <a:rPr lang="en-US" sz="1800">
                <a:solidFill>
                  <a:srgbClr val="A39B8B"/>
                </a:solidFill>
                <a:latin typeface="Archivo Narrow"/>
                <a:ea typeface="Archivo Narrow"/>
                <a:cs typeface="Archivo Narrow"/>
                <a:sym typeface="Archivo Narrow"/>
              </a:rPr>
              <a:t>10 · Housing Prices · EP2</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DCD3C3"/>
        </a:solidFill>
      </p:bgPr>
    </p:bg>
    <p:spTree>
      <p:nvGrpSpPr>
        <p:cNvPr id="1" name=""/>
        <p:cNvGrpSpPr/>
        <p:nvPr/>
      </p:nvGrpSpPr>
      <p:grpSpPr>
        <a:xfrm>
          <a:off x="0" y="0"/>
          <a:ext cx="0" cy="0"/>
          <a:chOff x="0" y="0"/>
          <a:chExt cx="0" cy="0"/>
        </a:xfrm>
      </p:grpSpPr>
      <p:sp>
        <p:nvSpPr>
          <p:cNvPr name="TextBox 2" id="2"/>
          <p:cNvSpPr txBox="true"/>
          <p:nvPr/>
        </p:nvSpPr>
        <p:spPr>
          <a:xfrm rot="0">
            <a:off x="1219200" y="1333500"/>
            <a:ext cx="16325088" cy="963930"/>
          </a:xfrm>
          <a:prstGeom prst="rect">
            <a:avLst/>
          </a:prstGeom>
        </p:spPr>
        <p:txBody>
          <a:bodyPr anchor="t" rtlCol="false" tIns="0" lIns="0" bIns="0" rIns="0">
            <a:spAutoFit/>
          </a:bodyPr>
          <a:lstStyle/>
          <a:p>
            <a:pPr algn="l">
              <a:lnSpc>
                <a:spcPts val="8190"/>
              </a:lnSpc>
            </a:pPr>
            <a:r>
              <a:rPr lang="en-US" sz="7800">
                <a:solidFill>
                  <a:srgbClr val="1F1E1C"/>
                </a:solidFill>
                <a:latin typeface="Anton"/>
                <a:ea typeface="Anton"/>
                <a:cs typeface="Anton"/>
                <a:sym typeface="Anton"/>
              </a:rPr>
              <a:t>MODELOS Y PARÁMETROS</a:t>
            </a:r>
          </a:p>
        </p:txBody>
      </p:sp>
      <p:sp>
        <p:nvSpPr>
          <p:cNvPr name="TextBox 3" id="3"/>
          <p:cNvSpPr txBox="true"/>
          <p:nvPr/>
        </p:nvSpPr>
        <p:spPr>
          <a:xfrm rot="0">
            <a:off x="1219200" y="2602230"/>
            <a:ext cx="16325088" cy="436245"/>
          </a:xfrm>
          <a:prstGeom prst="rect">
            <a:avLst/>
          </a:prstGeom>
        </p:spPr>
        <p:txBody>
          <a:bodyPr anchor="t" rtlCol="false" tIns="0" lIns="0" bIns="0" rIns="0">
            <a:spAutoFit/>
          </a:bodyPr>
          <a:lstStyle/>
          <a:p>
            <a:pPr algn="l">
              <a:lnSpc>
                <a:spcPts val="2835"/>
              </a:lnSpc>
            </a:pPr>
            <a:r>
              <a:rPr lang="en-US" sz="2100">
                <a:solidFill>
                  <a:srgbClr val="4A453F"/>
                </a:solidFill>
                <a:latin typeface="Archivo Narrow"/>
                <a:ea typeface="Archivo Narrow"/>
                <a:cs typeface="Archivo Narrow"/>
                <a:sym typeface="Archivo Narrow"/>
              </a:rPr>
              <a:t>Las tres familias preseleccionadas en la EP1, con parámetros iniciales fijos.</a:t>
            </a:r>
          </a:p>
        </p:txBody>
      </p:sp>
      <p:sp>
        <p:nvSpPr>
          <p:cNvPr name="TextBox 4" id="4"/>
          <p:cNvSpPr txBox="true"/>
          <p:nvPr/>
        </p:nvSpPr>
        <p:spPr>
          <a:xfrm rot="0">
            <a:off x="1219200" y="3494722"/>
            <a:ext cx="2963504" cy="405765"/>
          </a:xfrm>
          <a:prstGeom prst="rect">
            <a:avLst/>
          </a:prstGeom>
        </p:spPr>
        <p:txBody>
          <a:bodyPr anchor="t" rtlCol="false" tIns="0" lIns="0" bIns="0" rIns="0">
            <a:spAutoFit/>
          </a:bodyPr>
          <a:lstStyle/>
          <a:p>
            <a:pPr algn="l">
              <a:lnSpc>
                <a:spcPts val="2520"/>
              </a:lnSpc>
            </a:pPr>
            <a:r>
              <a:rPr lang="en-US" sz="1800" spc="149">
                <a:solidFill>
                  <a:srgbClr val="4A453F"/>
                </a:solidFill>
                <a:latin typeface="Archivo Narrow"/>
                <a:ea typeface="Archivo Narrow"/>
                <a:cs typeface="Archivo Narrow"/>
                <a:sym typeface="Archivo Narrow"/>
              </a:rPr>
              <a:t>MENOR COMPLEJIDAD</a:t>
            </a:r>
          </a:p>
        </p:txBody>
      </p:sp>
      <p:grpSp>
        <p:nvGrpSpPr>
          <p:cNvPr name="Group 5" id="5"/>
          <p:cNvGrpSpPr/>
          <p:nvPr/>
        </p:nvGrpSpPr>
        <p:grpSpPr>
          <a:xfrm rot="0">
            <a:off x="4286888" y="3692842"/>
            <a:ext cx="9180357" cy="19050"/>
            <a:chOff x="0" y="0"/>
            <a:chExt cx="12240476" cy="25400"/>
          </a:xfrm>
        </p:grpSpPr>
        <p:sp>
          <p:nvSpPr>
            <p:cNvPr name="Freeform 6" id="6"/>
            <p:cNvSpPr/>
            <p:nvPr/>
          </p:nvSpPr>
          <p:spPr>
            <a:xfrm flipH="false" flipV="false" rot="0">
              <a:off x="0" y="0"/>
              <a:ext cx="12240514" cy="25400"/>
            </a:xfrm>
            <a:custGeom>
              <a:avLst/>
              <a:gdLst/>
              <a:ahLst/>
              <a:cxnLst/>
              <a:rect r="r" b="b" t="t" l="l"/>
              <a:pathLst>
                <a:path h="25400" w="12240514">
                  <a:moveTo>
                    <a:pt x="0" y="0"/>
                  </a:moveTo>
                  <a:lnTo>
                    <a:pt x="12240514" y="0"/>
                  </a:lnTo>
                  <a:lnTo>
                    <a:pt x="12240514" y="25400"/>
                  </a:lnTo>
                  <a:lnTo>
                    <a:pt x="0" y="25400"/>
                  </a:lnTo>
                  <a:close/>
                </a:path>
              </a:pathLst>
            </a:custGeom>
            <a:solidFill>
              <a:srgbClr val="1F1E1C"/>
            </a:solidFill>
          </p:spPr>
        </p:sp>
      </p:grpSp>
      <p:grpSp>
        <p:nvGrpSpPr>
          <p:cNvPr name="Group 7" id="7"/>
          <p:cNvGrpSpPr/>
          <p:nvPr/>
        </p:nvGrpSpPr>
        <p:grpSpPr>
          <a:xfrm rot="0">
            <a:off x="13657736" y="3607117"/>
            <a:ext cx="381000" cy="190500"/>
            <a:chOff x="0" y="0"/>
            <a:chExt cx="508000" cy="254000"/>
          </a:xfrm>
        </p:grpSpPr>
        <p:sp>
          <p:nvSpPr>
            <p:cNvPr name="Freeform 8" id="8" descr="arrow-right"/>
            <p:cNvSpPr/>
            <p:nvPr/>
          </p:nvSpPr>
          <p:spPr>
            <a:xfrm flipH="false" flipV="false" rot="0">
              <a:off x="0" y="0"/>
              <a:ext cx="508000" cy="254000"/>
            </a:xfrm>
            <a:custGeom>
              <a:avLst/>
              <a:gdLst/>
              <a:ahLst/>
              <a:cxnLst/>
              <a:rect r="r" b="b" t="t" l="l"/>
              <a:pathLst>
                <a:path h="254000" w="508000">
                  <a:moveTo>
                    <a:pt x="0" y="0"/>
                  </a:moveTo>
                  <a:lnTo>
                    <a:pt x="508000" y="0"/>
                  </a:lnTo>
                  <a:lnTo>
                    <a:pt x="508000" y="254000"/>
                  </a:lnTo>
                  <a:lnTo>
                    <a:pt x="0" y="254000"/>
                  </a:lnTo>
                  <a:lnTo>
                    <a:pt x="0" y="0"/>
                  </a:lnTo>
                  <a:close/>
                </a:path>
              </a:pathLst>
            </a:custGeom>
            <a:blipFill>
              <a:blip r:embed="rId3"/>
              <a:stretch>
                <a:fillRect l="0" t="0" r="0" b="0"/>
              </a:stretch>
            </a:blipFill>
          </p:spPr>
        </p:sp>
      </p:grpSp>
      <p:sp>
        <p:nvSpPr>
          <p:cNvPr name="TextBox 9" id="9"/>
          <p:cNvSpPr txBox="true"/>
          <p:nvPr/>
        </p:nvSpPr>
        <p:spPr>
          <a:xfrm rot="0">
            <a:off x="14229236" y="3494722"/>
            <a:ext cx="2924746" cy="405765"/>
          </a:xfrm>
          <a:prstGeom prst="rect">
            <a:avLst/>
          </a:prstGeom>
        </p:spPr>
        <p:txBody>
          <a:bodyPr anchor="t" rtlCol="false" tIns="0" lIns="0" bIns="0" rIns="0">
            <a:spAutoFit/>
          </a:bodyPr>
          <a:lstStyle/>
          <a:p>
            <a:pPr algn="l">
              <a:lnSpc>
                <a:spcPts val="2520"/>
              </a:lnSpc>
            </a:pPr>
            <a:r>
              <a:rPr lang="en-US" sz="1800" spc="149">
                <a:solidFill>
                  <a:srgbClr val="4A453F"/>
                </a:solidFill>
                <a:latin typeface="Archivo Narrow"/>
                <a:ea typeface="Archivo Narrow"/>
                <a:cs typeface="Archivo Narrow"/>
                <a:sym typeface="Archivo Narrow"/>
              </a:rPr>
              <a:t>MAYOR COMPLEJIDAD</a:t>
            </a:r>
          </a:p>
        </p:txBody>
      </p:sp>
      <p:grpSp>
        <p:nvGrpSpPr>
          <p:cNvPr name="Group 10" id="10"/>
          <p:cNvGrpSpPr/>
          <p:nvPr/>
        </p:nvGrpSpPr>
        <p:grpSpPr>
          <a:xfrm rot="0">
            <a:off x="1219200" y="4090987"/>
            <a:ext cx="3790950" cy="2726055"/>
            <a:chOff x="0" y="0"/>
            <a:chExt cx="5054600" cy="3634740"/>
          </a:xfrm>
        </p:grpSpPr>
        <p:sp>
          <p:nvSpPr>
            <p:cNvPr name="Freeform 11" id="11"/>
            <p:cNvSpPr/>
            <p:nvPr/>
          </p:nvSpPr>
          <p:spPr>
            <a:xfrm flipH="false" flipV="false" rot="0">
              <a:off x="0" y="0"/>
              <a:ext cx="5054600" cy="3634740"/>
            </a:xfrm>
            <a:custGeom>
              <a:avLst/>
              <a:gdLst/>
              <a:ahLst/>
              <a:cxnLst/>
              <a:rect r="r" b="b" t="t" l="l"/>
              <a:pathLst>
                <a:path h="3634740" w="5054600">
                  <a:moveTo>
                    <a:pt x="0" y="140716"/>
                  </a:moveTo>
                  <a:cubicBezTo>
                    <a:pt x="0" y="62992"/>
                    <a:pt x="62992" y="0"/>
                    <a:pt x="140716" y="0"/>
                  </a:cubicBezTo>
                  <a:lnTo>
                    <a:pt x="4913884" y="0"/>
                  </a:lnTo>
                  <a:cubicBezTo>
                    <a:pt x="4991608" y="0"/>
                    <a:pt x="5054600" y="62992"/>
                    <a:pt x="5054600" y="140716"/>
                  </a:cubicBezTo>
                  <a:lnTo>
                    <a:pt x="5054600" y="3494024"/>
                  </a:lnTo>
                  <a:cubicBezTo>
                    <a:pt x="5054600" y="3571748"/>
                    <a:pt x="4991608" y="3634740"/>
                    <a:pt x="4913884" y="3634740"/>
                  </a:cubicBezTo>
                  <a:lnTo>
                    <a:pt x="140716" y="3634740"/>
                  </a:lnTo>
                  <a:cubicBezTo>
                    <a:pt x="62992" y="3634740"/>
                    <a:pt x="0" y="3571748"/>
                    <a:pt x="0" y="3494024"/>
                  </a:cubicBezTo>
                  <a:close/>
                </a:path>
              </a:pathLst>
            </a:custGeom>
            <a:blipFill>
              <a:blip r:embed="rId4">
                <a:alphaModFix amt="0"/>
              </a:blip>
              <a:stretch>
                <a:fillRect l="-42262" t="0" r="-42262" b="0"/>
              </a:stretch>
            </a:blipFill>
            <a:ln w="19050" cap="sq">
              <a:solidFill>
                <a:srgbClr val="1F1E1C"/>
              </a:solidFill>
              <a:prstDash val="solid"/>
              <a:miter/>
            </a:ln>
          </p:spPr>
        </p:sp>
      </p:grpSp>
      <p:sp>
        <p:nvSpPr>
          <p:cNvPr name="TextBox 12" id="12"/>
          <p:cNvSpPr txBox="true"/>
          <p:nvPr/>
        </p:nvSpPr>
        <p:spPr>
          <a:xfrm rot="0">
            <a:off x="1577340" y="4401502"/>
            <a:ext cx="3166910" cy="405765"/>
          </a:xfrm>
          <a:prstGeom prst="rect">
            <a:avLst/>
          </a:prstGeom>
        </p:spPr>
        <p:txBody>
          <a:bodyPr anchor="t" rtlCol="false" tIns="0" lIns="0" bIns="0" rIns="0">
            <a:spAutoFit/>
          </a:bodyPr>
          <a:lstStyle/>
          <a:p>
            <a:pPr algn="l">
              <a:lnSpc>
                <a:spcPts val="2520"/>
              </a:lnSpc>
            </a:pPr>
            <a:r>
              <a:rPr lang="en-US" sz="1800" spc="37">
                <a:solidFill>
                  <a:srgbClr val="4A453F"/>
                </a:solidFill>
                <a:latin typeface="Archivo Narrow"/>
                <a:ea typeface="Archivo Narrow"/>
                <a:cs typeface="Archivo Narrow"/>
                <a:sym typeface="Archivo Narrow"/>
              </a:rPr>
              <a:t>LINEAL · L2</a:t>
            </a:r>
          </a:p>
        </p:txBody>
      </p:sp>
      <p:sp>
        <p:nvSpPr>
          <p:cNvPr name="TextBox 13" id="13"/>
          <p:cNvSpPr txBox="true"/>
          <p:nvPr/>
        </p:nvSpPr>
        <p:spPr>
          <a:xfrm rot="0">
            <a:off x="1577340" y="4950143"/>
            <a:ext cx="3166910" cy="512445"/>
          </a:xfrm>
          <a:prstGeom prst="rect">
            <a:avLst/>
          </a:prstGeom>
        </p:spPr>
        <p:txBody>
          <a:bodyPr anchor="t" rtlCol="false" tIns="0" lIns="0" bIns="0" rIns="0">
            <a:spAutoFit/>
          </a:bodyPr>
          <a:lstStyle/>
          <a:p>
            <a:pPr algn="l">
              <a:lnSpc>
                <a:spcPts val="3960"/>
              </a:lnSpc>
            </a:pPr>
            <a:r>
              <a:rPr lang="en-US" sz="3600">
                <a:solidFill>
                  <a:srgbClr val="1F1E1C"/>
                </a:solidFill>
                <a:latin typeface="Anton"/>
                <a:ea typeface="Anton"/>
                <a:cs typeface="Anton"/>
                <a:sym typeface="Anton"/>
              </a:rPr>
              <a:t>RIDGE</a:t>
            </a:r>
          </a:p>
        </p:txBody>
      </p:sp>
      <p:grpSp>
        <p:nvGrpSpPr>
          <p:cNvPr name="Group 14" id="14"/>
          <p:cNvGrpSpPr/>
          <p:nvPr/>
        </p:nvGrpSpPr>
        <p:grpSpPr>
          <a:xfrm rot="0">
            <a:off x="1577340" y="5576887"/>
            <a:ext cx="3074670" cy="9525"/>
            <a:chOff x="0" y="0"/>
            <a:chExt cx="4099560" cy="12700"/>
          </a:xfrm>
        </p:grpSpPr>
        <p:sp>
          <p:nvSpPr>
            <p:cNvPr name="Freeform 15" id="15"/>
            <p:cNvSpPr/>
            <p:nvPr/>
          </p:nvSpPr>
          <p:spPr>
            <a:xfrm flipH="false" flipV="false" rot="0">
              <a:off x="0" y="0"/>
              <a:ext cx="4099560" cy="12700"/>
            </a:xfrm>
            <a:custGeom>
              <a:avLst/>
              <a:gdLst/>
              <a:ahLst/>
              <a:cxnLst/>
              <a:rect r="r" b="b" t="t" l="l"/>
              <a:pathLst>
                <a:path h="12700" w="4099560">
                  <a:moveTo>
                    <a:pt x="0" y="0"/>
                  </a:moveTo>
                  <a:lnTo>
                    <a:pt x="4099560" y="0"/>
                  </a:lnTo>
                  <a:lnTo>
                    <a:pt x="4099560" y="12700"/>
                  </a:lnTo>
                  <a:lnTo>
                    <a:pt x="0" y="12700"/>
                  </a:lnTo>
                  <a:close/>
                </a:path>
              </a:pathLst>
            </a:custGeom>
            <a:solidFill>
              <a:srgbClr val="8C8476"/>
            </a:solidFill>
          </p:spPr>
        </p:sp>
      </p:grpSp>
      <p:sp>
        <p:nvSpPr>
          <p:cNvPr name="TextBox 16" id="16"/>
          <p:cNvSpPr txBox="true"/>
          <p:nvPr/>
        </p:nvSpPr>
        <p:spPr>
          <a:xfrm rot="0">
            <a:off x="1577340" y="5700712"/>
            <a:ext cx="3166910" cy="796290"/>
          </a:xfrm>
          <a:prstGeom prst="rect">
            <a:avLst/>
          </a:prstGeom>
        </p:spPr>
        <p:txBody>
          <a:bodyPr anchor="t" rtlCol="false" tIns="0" lIns="0" bIns="0" rIns="0">
            <a:spAutoFit/>
          </a:bodyPr>
          <a:lstStyle/>
          <a:p>
            <a:pPr algn="l">
              <a:lnSpc>
                <a:spcPts val="2835"/>
              </a:lnSpc>
            </a:pPr>
            <a:r>
              <a:rPr lang="en-US" sz="2100">
                <a:solidFill>
                  <a:srgbClr val="1F1E1C"/>
                </a:solidFill>
                <a:latin typeface="Archivo Narrow"/>
                <a:ea typeface="Archivo Narrow"/>
                <a:cs typeface="Archivo Narrow"/>
                <a:sym typeface="Archivo Narrow"/>
              </a:rPr>
              <a:t>alpha elegido con validación cruzada interna</a:t>
            </a:r>
          </a:p>
        </p:txBody>
      </p:sp>
      <p:grpSp>
        <p:nvGrpSpPr>
          <p:cNvPr name="Group 17" id="17"/>
          <p:cNvGrpSpPr/>
          <p:nvPr/>
        </p:nvGrpSpPr>
        <p:grpSpPr>
          <a:xfrm rot="0">
            <a:off x="5238750" y="4090987"/>
            <a:ext cx="3790950" cy="2726055"/>
            <a:chOff x="0" y="0"/>
            <a:chExt cx="5054600" cy="3634740"/>
          </a:xfrm>
        </p:grpSpPr>
        <p:sp>
          <p:nvSpPr>
            <p:cNvPr name="Freeform 18" id="18"/>
            <p:cNvSpPr/>
            <p:nvPr/>
          </p:nvSpPr>
          <p:spPr>
            <a:xfrm flipH="false" flipV="false" rot="0">
              <a:off x="0" y="0"/>
              <a:ext cx="5054600" cy="3634740"/>
            </a:xfrm>
            <a:custGeom>
              <a:avLst/>
              <a:gdLst/>
              <a:ahLst/>
              <a:cxnLst/>
              <a:rect r="r" b="b" t="t" l="l"/>
              <a:pathLst>
                <a:path h="3634740" w="5054600">
                  <a:moveTo>
                    <a:pt x="0" y="140716"/>
                  </a:moveTo>
                  <a:cubicBezTo>
                    <a:pt x="0" y="62992"/>
                    <a:pt x="62992" y="0"/>
                    <a:pt x="140716" y="0"/>
                  </a:cubicBezTo>
                  <a:lnTo>
                    <a:pt x="4913884" y="0"/>
                  </a:lnTo>
                  <a:cubicBezTo>
                    <a:pt x="4991608" y="0"/>
                    <a:pt x="5054600" y="62992"/>
                    <a:pt x="5054600" y="140716"/>
                  </a:cubicBezTo>
                  <a:lnTo>
                    <a:pt x="5054600" y="3494024"/>
                  </a:lnTo>
                  <a:cubicBezTo>
                    <a:pt x="5054600" y="3571748"/>
                    <a:pt x="4991608" y="3634740"/>
                    <a:pt x="4913884" y="3634740"/>
                  </a:cubicBezTo>
                  <a:lnTo>
                    <a:pt x="140716" y="3634740"/>
                  </a:lnTo>
                  <a:cubicBezTo>
                    <a:pt x="62992" y="3634740"/>
                    <a:pt x="0" y="3571748"/>
                    <a:pt x="0" y="3494024"/>
                  </a:cubicBezTo>
                  <a:close/>
                </a:path>
              </a:pathLst>
            </a:custGeom>
            <a:blipFill>
              <a:blip r:embed="rId4">
                <a:alphaModFix amt="0"/>
              </a:blip>
              <a:stretch>
                <a:fillRect l="-42262" t="0" r="-42262" b="0"/>
              </a:stretch>
            </a:blipFill>
            <a:ln w="19050" cap="sq">
              <a:solidFill>
                <a:srgbClr val="1F1E1C"/>
              </a:solidFill>
              <a:prstDash val="solid"/>
              <a:miter/>
            </a:ln>
          </p:spPr>
        </p:sp>
      </p:grpSp>
      <p:sp>
        <p:nvSpPr>
          <p:cNvPr name="TextBox 19" id="19"/>
          <p:cNvSpPr txBox="true"/>
          <p:nvPr/>
        </p:nvSpPr>
        <p:spPr>
          <a:xfrm rot="0">
            <a:off x="5596890" y="4401502"/>
            <a:ext cx="3166910" cy="405765"/>
          </a:xfrm>
          <a:prstGeom prst="rect">
            <a:avLst/>
          </a:prstGeom>
        </p:spPr>
        <p:txBody>
          <a:bodyPr anchor="t" rtlCol="false" tIns="0" lIns="0" bIns="0" rIns="0">
            <a:spAutoFit/>
          </a:bodyPr>
          <a:lstStyle/>
          <a:p>
            <a:pPr algn="l">
              <a:lnSpc>
                <a:spcPts val="2520"/>
              </a:lnSpc>
            </a:pPr>
            <a:r>
              <a:rPr lang="en-US" sz="1800" spc="37">
                <a:solidFill>
                  <a:srgbClr val="4A453F"/>
                </a:solidFill>
                <a:latin typeface="Archivo Narrow"/>
                <a:ea typeface="Archivo Narrow"/>
                <a:cs typeface="Archivo Narrow"/>
                <a:sym typeface="Archivo Narrow"/>
              </a:rPr>
              <a:t>LINEAL · L1</a:t>
            </a:r>
          </a:p>
        </p:txBody>
      </p:sp>
      <p:sp>
        <p:nvSpPr>
          <p:cNvPr name="TextBox 20" id="20"/>
          <p:cNvSpPr txBox="true"/>
          <p:nvPr/>
        </p:nvSpPr>
        <p:spPr>
          <a:xfrm rot="0">
            <a:off x="5596890" y="4950143"/>
            <a:ext cx="3166910" cy="512445"/>
          </a:xfrm>
          <a:prstGeom prst="rect">
            <a:avLst/>
          </a:prstGeom>
        </p:spPr>
        <p:txBody>
          <a:bodyPr anchor="t" rtlCol="false" tIns="0" lIns="0" bIns="0" rIns="0">
            <a:spAutoFit/>
          </a:bodyPr>
          <a:lstStyle/>
          <a:p>
            <a:pPr algn="l">
              <a:lnSpc>
                <a:spcPts val="3960"/>
              </a:lnSpc>
            </a:pPr>
            <a:r>
              <a:rPr lang="en-US" sz="3600">
                <a:solidFill>
                  <a:srgbClr val="1F1E1C"/>
                </a:solidFill>
                <a:latin typeface="Anton"/>
                <a:ea typeface="Anton"/>
                <a:cs typeface="Anton"/>
                <a:sym typeface="Anton"/>
              </a:rPr>
              <a:t>LASSO</a:t>
            </a:r>
          </a:p>
        </p:txBody>
      </p:sp>
      <p:grpSp>
        <p:nvGrpSpPr>
          <p:cNvPr name="Group 21" id="21"/>
          <p:cNvGrpSpPr/>
          <p:nvPr/>
        </p:nvGrpSpPr>
        <p:grpSpPr>
          <a:xfrm rot="0">
            <a:off x="5596890" y="5576887"/>
            <a:ext cx="3074670" cy="9525"/>
            <a:chOff x="0" y="0"/>
            <a:chExt cx="4099560" cy="12700"/>
          </a:xfrm>
        </p:grpSpPr>
        <p:sp>
          <p:nvSpPr>
            <p:cNvPr name="Freeform 22" id="22"/>
            <p:cNvSpPr/>
            <p:nvPr/>
          </p:nvSpPr>
          <p:spPr>
            <a:xfrm flipH="false" flipV="false" rot="0">
              <a:off x="0" y="0"/>
              <a:ext cx="4099560" cy="12700"/>
            </a:xfrm>
            <a:custGeom>
              <a:avLst/>
              <a:gdLst/>
              <a:ahLst/>
              <a:cxnLst/>
              <a:rect r="r" b="b" t="t" l="l"/>
              <a:pathLst>
                <a:path h="12700" w="4099560">
                  <a:moveTo>
                    <a:pt x="0" y="0"/>
                  </a:moveTo>
                  <a:lnTo>
                    <a:pt x="4099560" y="0"/>
                  </a:lnTo>
                  <a:lnTo>
                    <a:pt x="4099560" y="12700"/>
                  </a:lnTo>
                  <a:lnTo>
                    <a:pt x="0" y="12700"/>
                  </a:lnTo>
                  <a:close/>
                </a:path>
              </a:pathLst>
            </a:custGeom>
            <a:solidFill>
              <a:srgbClr val="8C8476"/>
            </a:solidFill>
          </p:spPr>
        </p:sp>
      </p:grpSp>
      <p:sp>
        <p:nvSpPr>
          <p:cNvPr name="TextBox 23" id="23"/>
          <p:cNvSpPr txBox="true"/>
          <p:nvPr/>
        </p:nvSpPr>
        <p:spPr>
          <a:xfrm rot="0">
            <a:off x="5596890" y="5700712"/>
            <a:ext cx="3166910" cy="796290"/>
          </a:xfrm>
          <a:prstGeom prst="rect">
            <a:avLst/>
          </a:prstGeom>
        </p:spPr>
        <p:txBody>
          <a:bodyPr anchor="t" rtlCol="false" tIns="0" lIns="0" bIns="0" rIns="0">
            <a:spAutoFit/>
          </a:bodyPr>
          <a:lstStyle/>
          <a:p>
            <a:pPr algn="l">
              <a:lnSpc>
                <a:spcPts val="2835"/>
              </a:lnSpc>
            </a:pPr>
            <a:r>
              <a:rPr lang="en-US" sz="2100">
                <a:solidFill>
                  <a:srgbClr val="1F1E1C"/>
                </a:solidFill>
                <a:latin typeface="Archivo Narrow"/>
                <a:ea typeface="Archivo Narrow"/>
                <a:cs typeface="Archivo Narrow"/>
                <a:sym typeface="Archivo Narrow"/>
              </a:rPr>
              <a:t>alpha elegido con validación cruzada interna</a:t>
            </a:r>
          </a:p>
        </p:txBody>
      </p:sp>
      <p:grpSp>
        <p:nvGrpSpPr>
          <p:cNvPr name="Group 24" id="24"/>
          <p:cNvGrpSpPr/>
          <p:nvPr/>
        </p:nvGrpSpPr>
        <p:grpSpPr>
          <a:xfrm rot="0">
            <a:off x="9258300" y="4090987"/>
            <a:ext cx="3790950" cy="2726055"/>
            <a:chOff x="0" y="0"/>
            <a:chExt cx="5054600" cy="3634740"/>
          </a:xfrm>
        </p:grpSpPr>
        <p:sp>
          <p:nvSpPr>
            <p:cNvPr name="Freeform 25" id="25"/>
            <p:cNvSpPr/>
            <p:nvPr/>
          </p:nvSpPr>
          <p:spPr>
            <a:xfrm flipH="false" flipV="false" rot="0">
              <a:off x="0" y="0"/>
              <a:ext cx="5054600" cy="3634740"/>
            </a:xfrm>
            <a:custGeom>
              <a:avLst/>
              <a:gdLst/>
              <a:ahLst/>
              <a:cxnLst/>
              <a:rect r="r" b="b" t="t" l="l"/>
              <a:pathLst>
                <a:path h="3634740" w="5054600">
                  <a:moveTo>
                    <a:pt x="0" y="140716"/>
                  </a:moveTo>
                  <a:cubicBezTo>
                    <a:pt x="0" y="62992"/>
                    <a:pt x="62992" y="0"/>
                    <a:pt x="140716" y="0"/>
                  </a:cubicBezTo>
                  <a:lnTo>
                    <a:pt x="4913884" y="0"/>
                  </a:lnTo>
                  <a:cubicBezTo>
                    <a:pt x="4991608" y="0"/>
                    <a:pt x="5054600" y="62992"/>
                    <a:pt x="5054600" y="140716"/>
                  </a:cubicBezTo>
                  <a:lnTo>
                    <a:pt x="5054600" y="3494024"/>
                  </a:lnTo>
                  <a:cubicBezTo>
                    <a:pt x="5054600" y="3571748"/>
                    <a:pt x="4991608" y="3634740"/>
                    <a:pt x="4913884" y="3634740"/>
                  </a:cubicBezTo>
                  <a:lnTo>
                    <a:pt x="140716" y="3634740"/>
                  </a:lnTo>
                  <a:cubicBezTo>
                    <a:pt x="62992" y="3634740"/>
                    <a:pt x="0" y="3571748"/>
                    <a:pt x="0" y="3494024"/>
                  </a:cubicBezTo>
                  <a:close/>
                </a:path>
              </a:pathLst>
            </a:custGeom>
            <a:blipFill>
              <a:blip r:embed="rId4">
                <a:alphaModFix amt="0"/>
              </a:blip>
              <a:stretch>
                <a:fillRect l="-42262" t="0" r="-42262" b="0"/>
              </a:stretch>
            </a:blipFill>
            <a:ln w="19050" cap="sq">
              <a:solidFill>
                <a:srgbClr val="1F1E1C"/>
              </a:solidFill>
              <a:prstDash val="solid"/>
              <a:miter/>
            </a:ln>
          </p:spPr>
        </p:sp>
      </p:grpSp>
      <p:sp>
        <p:nvSpPr>
          <p:cNvPr name="TextBox 26" id="26"/>
          <p:cNvSpPr txBox="true"/>
          <p:nvPr/>
        </p:nvSpPr>
        <p:spPr>
          <a:xfrm rot="0">
            <a:off x="9616440" y="4401502"/>
            <a:ext cx="3166910" cy="405765"/>
          </a:xfrm>
          <a:prstGeom prst="rect">
            <a:avLst/>
          </a:prstGeom>
        </p:spPr>
        <p:txBody>
          <a:bodyPr anchor="t" rtlCol="false" tIns="0" lIns="0" bIns="0" rIns="0">
            <a:spAutoFit/>
          </a:bodyPr>
          <a:lstStyle/>
          <a:p>
            <a:pPr algn="l">
              <a:lnSpc>
                <a:spcPts val="2520"/>
              </a:lnSpc>
            </a:pPr>
            <a:r>
              <a:rPr lang="en-US" sz="1800" spc="37">
                <a:solidFill>
                  <a:srgbClr val="4A453F"/>
                </a:solidFill>
                <a:latin typeface="Archivo Narrow"/>
                <a:ea typeface="Archivo Narrow"/>
                <a:cs typeface="Archivo Narrow"/>
                <a:sym typeface="Archivo Narrow"/>
              </a:rPr>
              <a:t>ÁRBOLES EN PARALELO</a:t>
            </a:r>
          </a:p>
        </p:txBody>
      </p:sp>
      <p:sp>
        <p:nvSpPr>
          <p:cNvPr name="TextBox 27" id="27"/>
          <p:cNvSpPr txBox="true"/>
          <p:nvPr/>
        </p:nvSpPr>
        <p:spPr>
          <a:xfrm rot="0">
            <a:off x="9616440" y="4950143"/>
            <a:ext cx="3166910" cy="512445"/>
          </a:xfrm>
          <a:prstGeom prst="rect">
            <a:avLst/>
          </a:prstGeom>
        </p:spPr>
        <p:txBody>
          <a:bodyPr anchor="t" rtlCol="false" tIns="0" lIns="0" bIns="0" rIns="0">
            <a:spAutoFit/>
          </a:bodyPr>
          <a:lstStyle/>
          <a:p>
            <a:pPr algn="l">
              <a:lnSpc>
                <a:spcPts val="3960"/>
              </a:lnSpc>
            </a:pPr>
            <a:r>
              <a:rPr lang="en-US" sz="3600">
                <a:solidFill>
                  <a:srgbClr val="1F1E1C"/>
                </a:solidFill>
                <a:latin typeface="Anton"/>
                <a:ea typeface="Anton"/>
                <a:cs typeface="Anton"/>
                <a:sym typeface="Anton"/>
              </a:rPr>
              <a:t>RANDOM FOREST</a:t>
            </a:r>
          </a:p>
        </p:txBody>
      </p:sp>
      <p:grpSp>
        <p:nvGrpSpPr>
          <p:cNvPr name="Group 28" id="28"/>
          <p:cNvGrpSpPr/>
          <p:nvPr/>
        </p:nvGrpSpPr>
        <p:grpSpPr>
          <a:xfrm rot="0">
            <a:off x="9616440" y="5576887"/>
            <a:ext cx="3074670" cy="9525"/>
            <a:chOff x="0" y="0"/>
            <a:chExt cx="4099560" cy="12700"/>
          </a:xfrm>
        </p:grpSpPr>
        <p:sp>
          <p:nvSpPr>
            <p:cNvPr name="Freeform 29" id="29"/>
            <p:cNvSpPr/>
            <p:nvPr/>
          </p:nvSpPr>
          <p:spPr>
            <a:xfrm flipH="false" flipV="false" rot="0">
              <a:off x="0" y="0"/>
              <a:ext cx="4099560" cy="12700"/>
            </a:xfrm>
            <a:custGeom>
              <a:avLst/>
              <a:gdLst/>
              <a:ahLst/>
              <a:cxnLst/>
              <a:rect r="r" b="b" t="t" l="l"/>
              <a:pathLst>
                <a:path h="12700" w="4099560">
                  <a:moveTo>
                    <a:pt x="0" y="0"/>
                  </a:moveTo>
                  <a:lnTo>
                    <a:pt x="4099560" y="0"/>
                  </a:lnTo>
                  <a:lnTo>
                    <a:pt x="4099560" y="12700"/>
                  </a:lnTo>
                  <a:lnTo>
                    <a:pt x="0" y="12700"/>
                  </a:lnTo>
                  <a:close/>
                </a:path>
              </a:pathLst>
            </a:custGeom>
            <a:solidFill>
              <a:srgbClr val="8C8476"/>
            </a:solidFill>
          </p:spPr>
        </p:sp>
      </p:grpSp>
      <p:sp>
        <p:nvSpPr>
          <p:cNvPr name="TextBox 30" id="30"/>
          <p:cNvSpPr txBox="true"/>
          <p:nvPr/>
        </p:nvSpPr>
        <p:spPr>
          <a:xfrm rot="0">
            <a:off x="9616440" y="5700712"/>
            <a:ext cx="3166910" cy="796290"/>
          </a:xfrm>
          <a:prstGeom prst="rect">
            <a:avLst/>
          </a:prstGeom>
        </p:spPr>
        <p:txBody>
          <a:bodyPr anchor="t" rtlCol="false" tIns="0" lIns="0" bIns="0" rIns="0">
            <a:spAutoFit/>
          </a:bodyPr>
          <a:lstStyle/>
          <a:p>
            <a:pPr algn="l">
              <a:lnSpc>
                <a:spcPts val="2835"/>
              </a:lnSpc>
            </a:pPr>
            <a:r>
              <a:rPr lang="en-US" sz="2100">
                <a:solidFill>
                  <a:srgbClr val="1F1E1C"/>
                </a:solidFill>
                <a:latin typeface="Archivo Narrow"/>
                <a:ea typeface="Archivo Narrow"/>
                <a:cs typeface="Archivo Narrow"/>
                <a:sym typeface="Archivo Narrow"/>
              </a:rPr>
              <a:t>300 árboles, sin límite de profundidad</a:t>
            </a:r>
          </a:p>
        </p:txBody>
      </p:sp>
      <p:grpSp>
        <p:nvGrpSpPr>
          <p:cNvPr name="Group 31" id="31"/>
          <p:cNvGrpSpPr/>
          <p:nvPr/>
        </p:nvGrpSpPr>
        <p:grpSpPr>
          <a:xfrm rot="0">
            <a:off x="13277850" y="4090987"/>
            <a:ext cx="3790950" cy="2726055"/>
            <a:chOff x="0" y="0"/>
            <a:chExt cx="5054600" cy="3634740"/>
          </a:xfrm>
        </p:grpSpPr>
        <p:sp>
          <p:nvSpPr>
            <p:cNvPr name="Freeform 32" id="32"/>
            <p:cNvSpPr/>
            <p:nvPr/>
          </p:nvSpPr>
          <p:spPr>
            <a:xfrm flipH="false" flipV="false" rot="0">
              <a:off x="0" y="0"/>
              <a:ext cx="5054600" cy="3634740"/>
            </a:xfrm>
            <a:custGeom>
              <a:avLst/>
              <a:gdLst/>
              <a:ahLst/>
              <a:cxnLst/>
              <a:rect r="r" b="b" t="t" l="l"/>
              <a:pathLst>
                <a:path h="3634740" w="5054600">
                  <a:moveTo>
                    <a:pt x="0" y="140716"/>
                  </a:moveTo>
                  <a:cubicBezTo>
                    <a:pt x="0" y="62992"/>
                    <a:pt x="62992" y="0"/>
                    <a:pt x="140716" y="0"/>
                  </a:cubicBezTo>
                  <a:lnTo>
                    <a:pt x="4913884" y="0"/>
                  </a:lnTo>
                  <a:cubicBezTo>
                    <a:pt x="4991608" y="0"/>
                    <a:pt x="5054600" y="62992"/>
                    <a:pt x="5054600" y="140716"/>
                  </a:cubicBezTo>
                  <a:lnTo>
                    <a:pt x="5054600" y="3494024"/>
                  </a:lnTo>
                  <a:cubicBezTo>
                    <a:pt x="5054600" y="3571748"/>
                    <a:pt x="4991608" y="3634740"/>
                    <a:pt x="4913884" y="3634740"/>
                  </a:cubicBezTo>
                  <a:lnTo>
                    <a:pt x="140716" y="3634740"/>
                  </a:lnTo>
                  <a:cubicBezTo>
                    <a:pt x="62992" y="3634740"/>
                    <a:pt x="0" y="3571748"/>
                    <a:pt x="0" y="3494024"/>
                  </a:cubicBezTo>
                  <a:close/>
                </a:path>
              </a:pathLst>
            </a:custGeom>
            <a:blipFill>
              <a:blip r:embed="rId4">
                <a:alphaModFix amt="0"/>
              </a:blip>
              <a:stretch>
                <a:fillRect l="-42262" t="0" r="-42262" b="0"/>
              </a:stretch>
            </a:blipFill>
            <a:ln w="19050" cap="sq">
              <a:solidFill>
                <a:srgbClr val="1F1E1C"/>
              </a:solidFill>
              <a:prstDash val="solid"/>
              <a:miter/>
            </a:ln>
          </p:spPr>
        </p:sp>
      </p:grpSp>
      <p:sp>
        <p:nvSpPr>
          <p:cNvPr name="TextBox 33" id="33"/>
          <p:cNvSpPr txBox="true"/>
          <p:nvPr/>
        </p:nvSpPr>
        <p:spPr>
          <a:xfrm rot="0">
            <a:off x="13635990" y="4401502"/>
            <a:ext cx="3166910" cy="405765"/>
          </a:xfrm>
          <a:prstGeom prst="rect">
            <a:avLst/>
          </a:prstGeom>
        </p:spPr>
        <p:txBody>
          <a:bodyPr anchor="t" rtlCol="false" tIns="0" lIns="0" bIns="0" rIns="0">
            <a:spAutoFit/>
          </a:bodyPr>
          <a:lstStyle/>
          <a:p>
            <a:pPr algn="l">
              <a:lnSpc>
                <a:spcPts val="2520"/>
              </a:lnSpc>
            </a:pPr>
            <a:r>
              <a:rPr lang="en-US" sz="1800" spc="37">
                <a:solidFill>
                  <a:srgbClr val="4A453F"/>
                </a:solidFill>
                <a:latin typeface="Archivo Narrow"/>
                <a:ea typeface="Archivo Narrow"/>
                <a:cs typeface="Archivo Narrow"/>
                <a:sym typeface="Archivo Narrow"/>
              </a:rPr>
              <a:t>ÁRBOLES EN SECUENCIA</a:t>
            </a:r>
          </a:p>
        </p:txBody>
      </p:sp>
      <p:sp>
        <p:nvSpPr>
          <p:cNvPr name="TextBox 34" id="34"/>
          <p:cNvSpPr txBox="true"/>
          <p:nvPr/>
        </p:nvSpPr>
        <p:spPr>
          <a:xfrm rot="0">
            <a:off x="13635990" y="4950143"/>
            <a:ext cx="3166910" cy="512445"/>
          </a:xfrm>
          <a:prstGeom prst="rect">
            <a:avLst/>
          </a:prstGeom>
        </p:spPr>
        <p:txBody>
          <a:bodyPr anchor="t" rtlCol="false" tIns="0" lIns="0" bIns="0" rIns="0">
            <a:spAutoFit/>
          </a:bodyPr>
          <a:lstStyle/>
          <a:p>
            <a:pPr algn="l">
              <a:lnSpc>
                <a:spcPts val="3960"/>
              </a:lnSpc>
            </a:pPr>
            <a:r>
              <a:rPr lang="en-US" sz="3600">
                <a:solidFill>
                  <a:srgbClr val="1F1E1C"/>
                </a:solidFill>
                <a:latin typeface="Anton"/>
                <a:ea typeface="Anton"/>
                <a:cs typeface="Anton"/>
                <a:sym typeface="Anton"/>
              </a:rPr>
              <a:t>XGBOOST</a:t>
            </a:r>
          </a:p>
        </p:txBody>
      </p:sp>
      <p:grpSp>
        <p:nvGrpSpPr>
          <p:cNvPr name="Group 35" id="35"/>
          <p:cNvGrpSpPr/>
          <p:nvPr/>
        </p:nvGrpSpPr>
        <p:grpSpPr>
          <a:xfrm rot="0">
            <a:off x="13635990" y="5576887"/>
            <a:ext cx="3074670" cy="9525"/>
            <a:chOff x="0" y="0"/>
            <a:chExt cx="4099560" cy="12700"/>
          </a:xfrm>
        </p:grpSpPr>
        <p:sp>
          <p:nvSpPr>
            <p:cNvPr name="Freeform 36" id="36"/>
            <p:cNvSpPr/>
            <p:nvPr/>
          </p:nvSpPr>
          <p:spPr>
            <a:xfrm flipH="false" flipV="false" rot="0">
              <a:off x="0" y="0"/>
              <a:ext cx="4099560" cy="12700"/>
            </a:xfrm>
            <a:custGeom>
              <a:avLst/>
              <a:gdLst/>
              <a:ahLst/>
              <a:cxnLst/>
              <a:rect r="r" b="b" t="t" l="l"/>
              <a:pathLst>
                <a:path h="12700" w="4099560">
                  <a:moveTo>
                    <a:pt x="0" y="0"/>
                  </a:moveTo>
                  <a:lnTo>
                    <a:pt x="4099560" y="0"/>
                  </a:lnTo>
                  <a:lnTo>
                    <a:pt x="4099560" y="12700"/>
                  </a:lnTo>
                  <a:lnTo>
                    <a:pt x="0" y="12700"/>
                  </a:lnTo>
                  <a:close/>
                </a:path>
              </a:pathLst>
            </a:custGeom>
            <a:solidFill>
              <a:srgbClr val="8C8476"/>
            </a:solidFill>
          </p:spPr>
        </p:sp>
      </p:grpSp>
      <p:sp>
        <p:nvSpPr>
          <p:cNvPr name="TextBox 37" id="37"/>
          <p:cNvSpPr txBox="true"/>
          <p:nvPr/>
        </p:nvSpPr>
        <p:spPr>
          <a:xfrm rot="0">
            <a:off x="13635990" y="5700712"/>
            <a:ext cx="3166910" cy="796290"/>
          </a:xfrm>
          <a:prstGeom prst="rect">
            <a:avLst/>
          </a:prstGeom>
        </p:spPr>
        <p:txBody>
          <a:bodyPr anchor="t" rtlCol="false" tIns="0" lIns="0" bIns="0" rIns="0">
            <a:spAutoFit/>
          </a:bodyPr>
          <a:lstStyle/>
          <a:p>
            <a:pPr algn="l">
              <a:lnSpc>
                <a:spcPts val="2835"/>
              </a:lnSpc>
            </a:pPr>
            <a:r>
              <a:rPr lang="en-US" sz="2100">
                <a:solidFill>
                  <a:srgbClr val="1F1E1C"/>
                </a:solidFill>
                <a:latin typeface="Archivo Narrow"/>
                <a:ea typeface="Archivo Narrow"/>
                <a:cs typeface="Archivo Narrow"/>
                <a:sym typeface="Archivo Narrow"/>
              </a:rPr>
              <a:t>500 árboles, tasa de aprendizaje 0,05</a:t>
            </a:r>
          </a:p>
        </p:txBody>
      </p:sp>
      <p:grpSp>
        <p:nvGrpSpPr>
          <p:cNvPr name="Group 38" id="38"/>
          <p:cNvGrpSpPr/>
          <p:nvPr/>
        </p:nvGrpSpPr>
        <p:grpSpPr>
          <a:xfrm rot="0">
            <a:off x="1219200" y="7198042"/>
            <a:ext cx="15849600" cy="914400"/>
            <a:chOff x="0" y="0"/>
            <a:chExt cx="21132800" cy="1219200"/>
          </a:xfrm>
        </p:grpSpPr>
        <p:sp>
          <p:nvSpPr>
            <p:cNvPr name="Freeform 39" id="39"/>
            <p:cNvSpPr/>
            <p:nvPr/>
          </p:nvSpPr>
          <p:spPr>
            <a:xfrm flipH="false" flipV="false" rot="0">
              <a:off x="0" y="0"/>
              <a:ext cx="21132800" cy="1219200"/>
            </a:xfrm>
            <a:custGeom>
              <a:avLst/>
              <a:gdLst/>
              <a:ahLst/>
              <a:cxnLst/>
              <a:rect r="r" b="b" t="t" l="l"/>
              <a:pathLst>
                <a:path h="1219200" w="21132800">
                  <a:moveTo>
                    <a:pt x="0" y="0"/>
                  </a:moveTo>
                  <a:lnTo>
                    <a:pt x="21132800" y="0"/>
                  </a:lnTo>
                  <a:lnTo>
                    <a:pt x="21132800" y="1219200"/>
                  </a:lnTo>
                  <a:lnTo>
                    <a:pt x="0" y="1219200"/>
                  </a:lnTo>
                  <a:close/>
                </a:path>
              </a:pathLst>
            </a:custGeom>
            <a:solidFill>
              <a:srgbClr val="1F1E1C"/>
            </a:solidFill>
          </p:spPr>
        </p:sp>
      </p:grpSp>
      <p:grpSp>
        <p:nvGrpSpPr>
          <p:cNvPr name="Group 40" id="40"/>
          <p:cNvGrpSpPr/>
          <p:nvPr/>
        </p:nvGrpSpPr>
        <p:grpSpPr>
          <a:xfrm rot="0">
            <a:off x="1600200" y="7464742"/>
            <a:ext cx="381000" cy="381000"/>
            <a:chOff x="0" y="0"/>
            <a:chExt cx="508000" cy="508000"/>
          </a:xfrm>
        </p:grpSpPr>
        <p:sp>
          <p:nvSpPr>
            <p:cNvPr name="Freeform 41" id="41" descr="Settings"/>
            <p:cNvSpPr/>
            <p:nvPr/>
          </p:nvSpPr>
          <p:spPr>
            <a:xfrm flipH="false" flipV="false" rot="0">
              <a:off x="0" y="0"/>
              <a:ext cx="508000" cy="508000"/>
            </a:xfrm>
            <a:custGeom>
              <a:avLst/>
              <a:gdLst/>
              <a:ahLst/>
              <a:cxnLst/>
              <a:rect r="r" b="b" t="t" l="l"/>
              <a:pathLst>
                <a:path h="508000" w="508000">
                  <a:moveTo>
                    <a:pt x="0" y="0"/>
                  </a:moveTo>
                  <a:lnTo>
                    <a:pt x="508000" y="0"/>
                  </a:lnTo>
                  <a:lnTo>
                    <a:pt x="508000" y="508000"/>
                  </a:lnTo>
                  <a:lnTo>
                    <a:pt x="0" y="508000"/>
                  </a:lnTo>
                  <a:lnTo>
                    <a:pt x="0" y="0"/>
                  </a:lnTo>
                  <a:close/>
                </a:path>
              </a:pathLst>
            </a:custGeom>
            <a:blipFill>
              <a:blip r:embed="rId5"/>
              <a:stretch>
                <a:fillRect l="0" t="0" r="0" b="0"/>
              </a:stretch>
            </a:blipFill>
          </p:spPr>
        </p:sp>
      </p:grpSp>
      <p:sp>
        <p:nvSpPr>
          <p:cNvPr name="TextBox 42" id="42"/>
          <p:cNvSpPr txBox="true"/>
          <p:nvPr/>
        </p:nvSpPr>
        <p:spPr>
          <a:xfrm rot="0">
            <a:off x="2209800" y="7437120"/>
            <a:ext cx="10732008" cy="436245"/>
          </a:xfrm>
          <a:prstGeom prst="rect">
            <a:avLst/>
          </a:prstGeom>
        </p:spPr>
        <p:txBody>
          <a:bodyPr anchor="t" rtlCol="false" tIns="0" lIns="0" bIns="0" rIns="0">
            <a:spAutoFit/>
          </a:bodyPr>
          <a:lstStyle/>
          <a:p>
            <a:pPr algn="l">
              <a:lnSpc>
                <a:spcPts val="2835"/>
              </a:lnSpc>
            </a:pPr>
            <a:r>
              <a:rPr lang="en-US" sz="2100">
                <a:solidFill>
                  <a:srgbClr val="DCD3C3"/>
                </a:solidFill>
                <a:latin typeface="Archivo Narrow"/>
                <a:ea typeface="Archivo Narrow"/>
                <a:cs typeface="Archivo Narrow"/>
                <a:sym typeface="Archivo Narrow"/>
              </a:rPr>
              <a:t>Los cuatro se entrenan sobre log(precio). Sin búsqueda de hiperparámetros.</a:t>
            </a:r>
          </a:p>
        </p:txBody>
      </p:sp>
      <p:sp>
        <p:nvSpPr>
          <p:cNvPr name="TextBox 43" id="43"/>
          <p:cNvSpPr txBox="true"/>
          <p:nvPr/>
        </p:nvSpPr>
        <p:spPr>
          <a:xfrm rot="0">
            <a:off x="1219200" y="9309735"/>
            <a:ext cx="7848600" cy="405765"/>
          </a:xfrm>
          <a:prstGeom prst="rect">
            <a:avLst/>
          </a:prstGeom>
        </p:spPr>
        <p:txBody>
          <a:bodyPr anchor="t" rtlCol="false" tIns="0" lIns="0" bIns="0" rIns="0">
            <a:spAutoFit/>
          </a:bodyPr>
          <a:lstStyle/>
          <a:p>
            <a:pPr algn="l">
              <a:lnSpc>
                <a:spcPts val="2520"/>
              </a:lnSpc>
            </a:pPr>
            <a:r>
              <a:rPr lang="en-US" sz="1800">
                <a:solidFill>
                  <a:srgbClr val="4A453F"/>
                </a:solidFill>
                <a:latin typeface="Archivo Narrow"/>
                <a:ea typeface="Archivo Narrow"/>
                <a:cs typeface="Archivo Narrow"/>
                <a:sym typeface="Archivo Narrow"/>
              </a:rPr>
              <a:t>11 · Housing Prices · EP2</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1F1E1C"/>
        </a:solidFill>
      </p:bgPr>
    </p:bg>
    <p:spTree>
      <p:nvGrpSpPr>
        <p:cNvPr id="1" name=""/>
        <p:cNvGrpSpPr/>
        <p:nvPr/>
      </p:nvGrpSpPr>
      <p:grpSpPr>
        <a:xfrm>
          <a:off x="0" y="0"/>
          <a:ext cx="0" cy="0"/>
          <a:chOff x="0" y="0"/>
          <a:chExt cx="0" cy="0"/>
        </a:xfrm>
      </p:grpSpPr>
      <p:sp>
        <p:nvSpPr>
          <p:cNvPr name="TextBox 2" id="2"/>
          <p:cNvSpPr txBox="true"/>
          <p:nvPr/>
        </p:nvSpPr>
        <p:spPr>
          <a:xfrm rot="0">
            <a:off x="1219200" y="1333500"/>
            <a:ext cx="16325088" cy="963930"/>
          </a:xfrm>
          <a:prstGeom prst="rect">
            <a:avLst/>
          </a:prstGeom>
        </p:spPr>
        <p:txBody>
          <a:bodyPr anchor="t" rtlCol="false" tIns="0" lIns="0" bIns="0" rIns="0">
            <a:spAutoFit/>
          </a:bodyPr>
          <a:lstStyle/>
          <a:p>
            <a:pPr algn="l">
              <a:lnSpc>
                <a:spcPts val="8190"/>
              </a:lnSpc>
            </a:pPr>
            <a:r>
              <a:rPr lang="en-US" sz="7800">
                <a:solidFill>
                  <a:srgbClr val="DCD3C3"/>
                </a:solidFill>
                <a:latin typeface="Anton"/>
                <a:ea typeface="Anton"/>
                <a:cs typeface="Anton"/>
                <a:sym typeface="Anton"/>
              </a:rPr>
              <a:t>RESULTADOS DE LA VALIDACIÓN CRUZADA</a:t>
            </a:r>
          </a:p>
        </p:txBody>
      </p:sp>
      <p:sp>
        <p:nvSpPr>
          <p:cNvPr name="TextBox 3" id="3"/>
          <p:cNvSpPr txBox="true"/>
          <p:nvPr/>
        </p:nvSpPr>
        <p:spPr>
          <a:xfrm rot="0">
            <a:off x="1219200" y="2602230"/>
            <a:ext cx="16325088" cy="436245"/>
          </a:xfrm>
          <a:prstGeom prst="rect">
            <a:avLst/>
          </a:prstGeom>
        </p:spPr>
        <p:txBody>
          <a:bodyPr anchor="t" rtlCol="false" tIns="0" lIns="0" bIns="0" rIns="0">
            <a:spAutoFit/>
          </a:bodyPr>
          <a:lstStyle/>
          <a:p>
            <a:pPr algn="l">
              <a:lnSpc>
                <a:spcPts val="2835"/>
              </a:lnSpc>
            </a:pPr>
            <a:r>
              <a:rPr lang="en-US" sz="2100">
                <a:solidFill>
                  <a:srgbClr val="A39B8B"/>
                </a:solidFill>
                <a:latin typeface="Archivo Narrow"/>
                <a:ea typeface="Archivo Narrow"/>
                <a:cs typeface="Archivo Narrow"/>
                <a:sym typeface="Archivo Narrow"/>
              </a:rPr>
              <a:t>Los árboles casi memorizan train: rinden mucho mejor en las casas que ya vieron.</a:t>
            </a:r>
          </a:p>
        </p:txBody>
      </p:sp>
      <p:sp>
        <p:nvSpPr>
          <p:cNvPr name="TextBox 4" id="4"/>
          <p:cNvSpPr txBox="true"/>
          <p:nvPr/>
        </p:nvSpPr>
        <p:spPr>
          <a:xfrm rot="0">
            <a:off x="1219200" y="4509135"/>
            <a:ext cx="2552700" cy="405765"/>
          </a:xfrm>
          <a:prstGeom prst="rect">
            <a:avLst/>
          </a:prstGeom>
        </p:spPr>
        <p:txBody>
          <a:bodyPr anchor="t" rtlCol="false" tIns="0" lIns="0" bIns="0" rIns="0">
            <a:spAutoFit/>
          </a:bodyPr>
          <a:lstStyle/>
          <a:p>
            <a:pPr algn="l">
              <a:lnSpc>
                <a:spcPts val="2520"/>
              </a:lnSpc>
            </a:pPr>
            <a:r>
              <a:rPr lang="en-US" sz="1800" spc="149">
                <a:solidFill>
                  <a:srgbClr val="A39B8B"/>
                </a:solidFill>
                <a:latin typeface="Archivo Narrow"/>
                <a:ea typeface="Archivo Narrow"/>
                <a:cs typeface="Archivo Narrow"/>
                <a:sym typeface="Archivo Narrow"/>
              </a:rPr>
              <a:t>MODELO</a:t>
            </a:r>
          </a:p>
        </p:txBody>
      </p:sp>
      <p:grpSp>
        <p:nvGrpSpPr>
          <p:cNvPr name="Group 5" id="5"/>
          <p:cNvGrpSpPr/>
          <p:nvPr/>
        </p:nvGrpSpPr>
        <p:grpSpPr>
          <a:xfrm rot="0">
            <a:off x="4000500" y="4602480"/>
            <a:ext cx="228600" cy="228600"/>
            <a:chOff x="0" y="0"/>
            <a:chExt cx="304800" cy="304800"/>
          </a:xfrm>
        </p:grpSpPr>
        <p:sp>
          <p:nvSpPr>
            <p:cNvPr name="Freeform 6" id="6"/>
            <p:cNvSpPr/>
            <p:nvPr/>
          </p:nvSpPr>
          <p:spPr>
            <a:xfrm flipH="false" flipV="false" rot="0">
              <a:off x="0" y="0"/>
              <a:ext cx="304800" cy="304800"/>
            </a:xfrm>
            <a:custGeom>
              <a:avLst/>
              <a:gdLst/>
              <a:ahLst/>
              <a:cxnLst/>
              <a:rect r="r" b="b" t="t" l="l"/>
              <a:pathLst>
                <a:path h="304800" w="304800">
                  <a:moveTo>
                    <a:pt x="0" y="152400"/>
                  </a:moveTo>
                  <a:cubicBezTo>
                    <a:pt x="0" y="68199"/>
                    <a:pt x="68199" y="0"/>
                    <a:pt x="152400" y="0"/>
                  </a:cubicBezTo>
                  <a:cubicBezTo>
                    <a:pt x="236601" y="0"/>
                    <a:pt x="304800" y="68199"/>
                    <a:pt x="304800" y="152400"/>
                  </a:cubicBezTo>
                  <a:cubicBezTo>
                    <a:pt x="304800" y="236601"/>
                    <a:pt x="236601" y="304800"/>
                    <a:pt x="152400" y="304800"/>
                  </a:cubicBezTo>
                  <a:cubicBezTo>
                    <a:pt x="68199" y="304800"/>
                    <a:pt x="0" y="236601"/>
                    <a:pt x="0" y="152400"/>
                  </a:cubicBezTo>
                  <a:close/>
                </a:path>
              </a:pathLst>
            </a:custGeom>
            <a:solidFill>
              <a:srgbClr val="DCD3C3"/>
            </a:solidFill>
          </p:spPr>
        </p:sp>
      </p:grpSp>
      <p:sp>
        <p:nvSpPr>
          <p:cNvPr name="TextBox 7" id="7"/>
          <p:cNvSpPr txBox="true"/>
          <p:nvPr/>
        </p:nvSpPr>
        <p:spPr>
          <a:xfrm rot="0">
            <a:off x="4343400" y="4509135"/>
            <a:ext cx="1249490" cy="405765"/>
          </a:xfrm>
          <a:prstGeom prst="rect">
            <a:avLst/>
          </a:prstGeom>
        </p:spPr>
        <p:txBody>
          <a:bodyPr anchor="t" rtlCol="false" tIns="0" lIns="0" bIns="0" rIns="0">
            <a:spAutoFit/>
          </a:bodyPr>
          <a:lstStyle/>
          <a:p>
            <a:pPr algn="l">
              <a:lnSpc>
                <a:spcPts val="2520"/>
              </a:lnSpc>
            </a:pPr>
            <a:r>
              <a:rPr lang="en-US" sz="1800">
                <a:solidFill>
                  <a:srgbClr val="DCD3C3"/>
                </a:solidFill>
                <a:latin typeface="Archivo Narrow"/>
                <a:ea typeface="Archivo Narrow"/>
                <a:cs typeface="Archivo Narrow"/>
                <a:sym typeface="Archivo Narrow"/>
              </a:rPr>
              <a:t>R² en train</a:t>
            </a:r>
          </a:p>
        </p:txBody>
      </p:sp>
      <p:grpSp>
        <p:nvGrpSpPr>
          <p:cNvPr name="Group 8" id="8"/>
          <p:cNvGrpSpPr/>
          <p:nvPr/>
        </p:nvGrpSpPr>
        <p:grpSpPr>
          <a:xfrm rot="0">
            <a:off x="5765644" y="4602480"/>
            <a:ext cx="228600" cy="228600"/>
            <a:chOff x="0" y="0"/>
            <a:chExt cx="304800" cy="304800"/>
          </a:xfrm>
        </p:grpSpPr>
        <p:sp>
          <p:nvSpPr>
            <p:cNvPr name="Freeform 9" id="9"/>
            <p:cNvSpPr/>
            <p:nvPr/>
          </p:nvSpPr>
          <p:spPr>
            <a:xfrm flipH="false" flipV="false" rot="0">
              <a:off x="0" y="0"/>
              <a:ext cx="304800" cy="304800"/>
            </a:xfrm>
            <a:custGeom>
              <a:avLst/>
              <a:gdLst/>
              <a:ahLst/>
              <a:cxnLst/>
              <a:rect r="r" b="b" t="t" l="l"/>
              <a:pathLst>
                <a:path h="304800" w="304800">
                  <a:moveTo>
                    <a:pt x="0" y="152400"/>
                  </a:moveTo>
                  <a:cubicBezTo>
                    <a:pt x="0" y="68199"/>
                    <a:pt x="68199" y="0"/>
                    <a:pt x="152400" y="0"/>
                  </a:cubicBezTo>
                  <a:cubicBezTo>
                    <a:pt x="236601" y="0"/>
                    <a:pt x="304800" y="68199"/>
                    <a:pt x="304800" y="152400"/>
                  </a:cubicBezTo>
                  <a:cubicBezTo>
                    <a:pt x="304800" y="236601"/>
                    <a:pt x="236601" y="304800"/>
                    <a:pt x="152400" y="304800"/>
                  </a:cubicBezTo>
                  <a:cubicBezTo>
                    <a:pt x="68199" y="304800"/>
                    <a:pt x="0" y="236601"/>
                    <a:pt x="0" y="152400"/>
                  </a:cubicBezTo>
                  <a:close/>
                </a:path>
              </a:pathLst>
            </a:custGeom>
            <a:solidFill>
              <a:srgbClr val="1F1E1C"/>
            </a:solidFill>
            <a:ln w="38100" cap="sq">
              <a:solidFill>
                <a:srgbClr val="DCD3C3"/>
              </a:solidFill>
              <a:prstDash val="solid"/>
              <a:miter/>
            </a:ln>
          </p:spPr>
        </p:sp>
      </p:grpSp>
      <p:sp>
        <p:nvSpPr>
          <p:cNvPr name="TextBox 10" id="10"/>
          <p:cNvSpPr txBox="true"/>
          <p:nvPr/>
        </p:nvSpPr>
        <p:spPr>
          <a:xfrm rot="0">
            <a:off x="6108544" y="4509135"/>
            <a:ext cx="2997136" cy="405765"/>
          </a:xfrm>
          <a:prstGeom prst="rect">
            <a:avLst/>
          </a:prstGeom>
        </p:spPr>
        <p:txBody>
          <a:bodyPr anchor="t" rtlCol="false" tIns="0" lIns="0" bIns="0" rIns="0">
            <a:spAutoFit/>
          </a:bodyPr>
          <a:lstStyle/>
          <a:p>
            <a:pPr algn="l">
              <a:lnSpc>
                <a:spcPts val="2520"/>
              </a:lnSpc>
            </a:pPr>
            <a:r>
              <a:rPr lang="en-US" sz="1800">
                <a:solidFill>
                  <a:srgbClr val="A39B8B"/>
                </a:solidFill>
                <a:latin typeface="Archivo Narrow"/>
                <a:ea typeface="Archivo Narrow"/>
                <a:cs typeface="Archivo Narrow"/>
                <a:sym typeface="Archivo Narrow"/>
              </a:rPr>
              <a:t>R² en validación (5 folds)</a:t>
            </a:r>
          </a:p>
        </p:txBody>
      </p:sp>
      <p:sp>
        <p:nvSpPr>
          <p:cNvPr name="TextBox 11" id="11"/>
          <p:cNvSpPr txBox="true"/>
          <p:nvPr/>
        </p:nvSpPr>
        <p:spPr>
          <a:xfrm rot="0">
            <a:off x="14592300" y="4509135"/>
            <a:ext cx="2552700" cy="405765"/>
          </a:xfrm>
          <a:prstGeom prst="rect">
            <a:avLst/>
          </a:prstGeom>
        </p:spPr>
        <p:txBody>
          <a:bodyPr anchor="t" rtlCol="false" tIns="0" lIns="0" bIns="0" rIns="0">
            <a:spAutoFit/>
          </a:bodyPr>
          <a:lstStyle/>
          <a:p>
            <a:pPr algn="l">
              <a:lnSpc>
                <a:spcPts val="2520"/>
              </a:lnSpc>
            </a:pPr>
            <a:r>
              <a:rPr lang="en-US" sz="1800" spc="149">
                <a:solidFill>
                  <a:srgbClr val="A39B8B"/>
                </a:solidFill>
                <a:latin typeface="Archivo Narrow"/>
                <a:ea typeface="Archivo Narrow"/>
                <a:cs typeface="Archivo Narrow"/>
                <a:sym typeface="Archivo Narrow"/>
              </a:rPr>
              <a:t>BRECHA · MÁX. 5</a:t>
            </a:r>
          </a:p>
        </p:txBody>
      </p:sp>
      <p:sp>
        <p:nvSpPr>
          <p:cNvPr name="AutoShape 12" id="12"/>
          <p:cNvSpPr/>
          <p:nvPr/>
        </p:nvSpPr>
        <p:spPr>
          <a:xfrm rot="2040">
            <a:off x="1214438" y="5067300"/>
            <a:ext cx="15859125" cy="0"/>
          </a:xfrm>
          <a:prstGeom prst="line">
            <a:avLst/>
          </a:prstGeom>
          <a:ln cap="rnd" w="9525">
            <a:solidFill>
              <a:srgbClr val="6E685E"/>
            </a:solidFill>
            <a:prstDash val="solid"/>
            <a:headEnd type="none" len="sm" w="sm"/>
            <a:tailEnd type="none" len="sm" w="sm"/>
          </a:ln>
        </p:spPr>
      </p:sp>
      <p:sp>
        <p:nvSpPr>
          <p:cNvPr name="TextBox 13" id="13"/>
          <p:cNvSpPr txBox="true"/>
          <p:nvPr/>
        </p:nvSpPr>
        <p:spPr>
          <a:xfrm rot="0">
            <a:off x="1219200" y="5297805"/>
            <a:ext cx="2552700" cy="459105"/>
          </a:xfrm>
          <a:prstGeom prst="rect">
            <a:avLst/>
          </a:prstGeom>
        </p:spPr>
        <p:txBody>
          <a:bodyPr anchor="t" rtlCol="false" tIns="0" lIns="0" bIns="0" rIns="0">
            <a:spAutoFit/>
          </a:bodyPr>
          <a:lstStyle/>
          <a:p>
            <a:pPr algn="l">
              <a:lnSpc>
                <a:spcPts val="2940"/>
              </a:lnSpc>
            </a:pPr>
            <a:r>
              <a:rPr lang="en-US" sz="2100" b="true">
                <a:solidFill>
                  <a:srgbClr val="DCD3C3"/>
                </a:solidFill>
                <a:latin typeface="Archivo Narrow Bold"/>
                <a:ea typeface="Archivo Narrow Bold"/>
                <a:cs typeface="Archivo Narrow Bold"/>
                <a:sym typeface="Archivo Narrow Bold"/>
              </a:rPr>
              <a:t>Ridge</a:t>
            </a:r>
          </a:p>
        </p:txBody>
      </p:sp>
      <p:grpSp>
        <p:nvGrpSpPr>
          <p:cNvPr name="Group 14" id="14"/>
          <p:cNvGrpSpPr/>
          <p:nvPr/>
        </p:nvGrpSpPr>
        <p:grpSpPr>
          <a:xfrm rot="0">
            <a:off x="4000500" y="5522595"/>
            <a:ext cx="9144000" cy="19050"/>
            <a:chOff x="0" y="0"/>
            <a:chExt cx="12192000" cy="25400"/>
          </a:xfrm>
        </p:grpSpPr>
        <p:sp>
          <p:nvSpPr>
            <p:cNvPr name="Freeform 15" id="15"/>
            <p:cNvSpPr/>
            <p:nvPr/>
          </p:nvSpPr>
          <p:spPr>
            <a:xfrm flipH="false" flipV="false" rot="0">
              <a:off x="0" y="0"/>
              <a:ext cx="12192000" cy="25400"/>
            </a:xfrm>
            <a:custGeom>
              <a:avLst/>
              <a:gdLst/>
              <a:ahLst/>
              <a:cxnLst/>
              <a:rect r="r" b="b" t="t" l="l"/>
              <a:pathLst>
                <a:path h="25400" w="12192000">
                  <a:moveTo>
                    <a:pt x="0" y="0"/>
                  </a:moveTo>
                  <a:lnTo>
                    <a:pt x="12192000" y="0"/>
                  </a:lnTo>
                  <a:lnTo>
                    <a:pt x="12192000" y="25400"/>
                  </a:lnTo>
                  <a:lnTo>
                    <a:pt x="0" y="25400"/>
                  </a:lnTo>
                  <a:close/>
                </a:path>
              </a:pathLst>
            </a:custGeom>
            <a:solidFill>
              <a:srgbClr val="4A4741"/>
            </a:solidFill>
          </p:spPr>
        </p:sp>
      </p:grpSp>
      <p:grpSp>
        <p:nvGrpSpPr>
          <p:cNvPr name="Group 16" id="16"/>
          <p:cNvGrpSpPr/>
          <p:nvPr/>
        </p:nvGrpSpPr>
        <p:grpSpPr>
          <a:xfrm rot="0">
            <a:off x="8220075" y="5503545"/>
            <a:ext cx="704850" cy="57150"/>
            <a:chOff x="0" y="0"/>
            <a:chExt cx="939800" cy="76200"/>
          </a:xfrm>
        </p:grpSpPr>
        <p:sp>
          <p:nvSpPr>
            <p:cNvPr name="Freeform 17" id="17"/>
            <p:cNvSpPr/>
            <p:nvPr/>
          </p:nvSpPr>
          <p:spPr>
            <a:xfrm flipH="false" flipV="false" rot="0">
              <a:off x="0" y="0"/>
              <a:ext cx="939800" cy="76200"/>
            </a:xfrm>
            <a:custGeom>
              <a:avLst/>
              <a:gdLst/>
              <a:ahLst/>
              <a:cxnLst/>
              <a:rect r="r" b="b" t="t" l="l"/>
              <a:pathLst>
                <a:path h="76200" w="939800">
                  <a:moveTo>
                    <a:pt x="0" y="0"/>
                  </a:moveTo>
                  <a:lnTo>
                    <a:pt x="939800" y="0"/>
                  </a:lnTo>
                  <a:lnTo>
                    <a:pt x="939800" y="76200"/>
                  </a:lnTo>
                  <a:lnTo>
                    <a:pt x="0" y="76200"/>
                  </a:lnTo>
                  <a:close/>
                </a:path>
              </a:pathLst>
            </a:custGeom>
            <a:solidFill>
              <a:srgbClr val="DCD3C3"/>
            </a:solidFill>
          </p:spPr>
        </p:sp>
      </p:grpSp>
      <p:grpSp>
        <p:nvGrpSpPr>
          <p:cNvPr name="Group 18" id="18"/>
          <p:cNvGrpSpPr/>
          <p:nvPr/>
        </p:nvGrpSpPr>
        <p:grpSpPr>
          <a:xfrm rot="0">
            <a:off x="8086725" y="5398770"/>
            <a:ext cx="266700" cy="266700"/>
            <a:chOff x="0" y="0"/>
            <a:chExt cx="355600" cy="355600"/>
          </a:xfrm>
        </p:grpSpPr>
        <p:sp>
          <p:nvSpPr>
            <p:cNvPr name="Freeform 19" id="19"/>
            <p:cNvSpPr/>
            <p:nvPr/>
          </p:nvSpPr>
          <p:spPr>
            <a:xfrm flipH="false" flipV="false" rot="0">
              <a:off x="0" y="0"/>
              <a:ext cx="355600" cy="355600"/>
            </a:xfrm>
            <a:custGeom>
              <a:avLst/>
              <a:gdLst/>
              <a:ahLst/>
              <a:cxnLst/>
              <a:rect r="r" b="b" t="t" l="l"/>
              <a:pathLst>
                <a:path h="355600" w="355600">
                  <a:moveTo>
                    <a:pt x="0" y="177800"/>
                  </a:moveTo>
                  <a:cubicBezTo>
                    <a:pt x="0" y="79629"/>
                    <a:pt x="79629" y="0"/>
                    <a:pt x="177800" y="0"/>
                  </a:cubicBezTo>
                  <a:cubicBezTo>
                    <a:pt x="275971" y="0"/>
                    <a:pt x="355600" y="79629"/>
                    <a:pt x="355600" y="177800"/>
                  </a:cubicBezTo>
                  <a:cubicBezTo>
                    <a:pt x="355600" y="275971"/>
                    <a:pt x="275971" y="355600"/>
                    <a:pt x="177800" y="355600"/>
                  </a:cubicBezTo>
                  <a:cubicBezTo>
                    <a:pt x="79629" y="355600"/>
                    <a:pt x="0" y="275971"/>
                    <a:pt x="0" y="177800"/>
                  </a:cubicBezTo>
                  <a:close/>
                </a:path>
              </a:pathLst>
            </a:custGeom>
            <a:solidFill>
              <a:srgbClr val="1F1E1C"/>
            </a:solidFill>
            <a:ln w="38100" cap="sq">
              <a:solidFill>
                <a:srgbClr val="DCD3C3"/>
              </a:solidFill>
              <a:prstDash val="solid"/>
              <a:miter/>
            </a:ln>
          </p:spPr>
        </p:sp>
      </p:grpSp>
      <p:grpSp>
        <p:nvGrpSpPr>
          <p:cNvPr name="Group 20" id="20"/>
          <p:cNvGrpSpPr/>
          <p:nvPr/>
        </p:nvGrpSpPr>
        <p:grpSpPr>
          <a:xfrm rot="0">
            <a:off x="8791575" y="5398770"/>
            <a:ext cx="266700" cy="266700"/>
            <a:chOff x="0" y="0"/>
            <a:chExt cx="355600" cy="355600"/>
          </a:xfrm>
        </p:grpSpPr>
        <p:sp>
          <p:nvSpPr>
            <p:cNvPr name="Freeform 21" id="21"/>
            <p:cNvSpPr/>
            <p:nvPr/>
          </p:nvSpPr>
          <p:spPr>
            <a:xfrm flipH="false" flipV="false" rot="0">
              <a:off x="0" y="0"/>
              <a:ext cx="355600" cy="355600"/>
            </a:xfrm>
            <a:custGeom>
              <a:avLst/>
              <a:gdLst/>
              <a:ahLst/>
              <a:cxnLst/>
              <a:rect r="r" b="b" t="t" l="l"/>
              <a:pathLst>
                <a:path h="355600" w="355600">
                  <a:moveTo>
                    <a:pt x="0" y="177800"/>
                  </a:moveTo>
                  <a:cubicBezTo>
                    <a:pt x="0" y="79629"/>
                    <a:pt x="79629" y="0"/>
                    <a:pt x="177800" y="0"/>
                  </a:cubicBezTo>
                  <a:cubicBezTo>
                    <a:pt x="275971" y="0"/>
                    <a:pt x="355600" y="79629"/>
                    <a:pt x="355600" y="177800"/>
                  </a:cubicBezTo>
                  <a:cubicBezTo>
                    <a:pt x="355600" y="275971"/>
                    <a:pt x="275971" y="355600"/>
                    <a:pt x="177800" y="355600"/>
                  </a:cubicBezTo>
                  <a:cubicBezTo>
                    <a:pt x="79629" y="355600"/>
                    <a:pt x="0" y="275971"/>
                    <a:pt x="0" y="177800"/>
                  </a:cubicBezTo>
                  <a:close/>
                </a:path>
              </a:pathLst>
            </a:custGeom>
            <a:solidFill>
              <a:srgbClr val="DCD3C3"/>
            </a:solidFill>
          </p:spPr>
        </p:sp>
      </p:grpSp>
      <p:sp>
        <p:nvSpPr>
          <p:cNvPr name="TextBox 22" id="22"/>
          <p:cNvSpPr txBox="true"/>
          <p:nvPr/>
        </p:nvSpPr>
        <p:spPr>
          <a:xfrm rot="0">
            <a:off x="6981825" y="5216900"/>
            <a:ext cx="990600" cy="405765"/>
          </a:xfrm>
          <a:prstGeom prst="rect">
            <a:avLst/>
          </a:prstGeom>
        </p:spPr>
        <p:txBody>
          <a:bodyPr anchor="t" rtlCol="false" tIns="0" lIns="0" bIns="0" rIns="0">
            <a:spAutoFit/>
          </a:bodyPr>
          <a:lstStyle/>
          <a:p>
            <a:pPr algn="r">
              <a:lnSpc>
                <a:spcPts val="2520"/>
              </a:lnSpc>
            </a:pPr>
            <a:r>
              <a:rPr lang="en-US" sz="1800">
                <a:solidFill>
                  <a:srgbClr val="A39B8B"/>
                </a:solidFill>
                <a:latin typeface="Archivo Narrow"/>
                <a:ea typeface="Archivo Narrow"/>
                <a:cs typeface="Archivo Narrow"/>
                <a:sym typeface="Archivo Narrow"/>
              </a:rPr>
              <a:t>0,930</a:t>
            </a:r>
          </a:p>
        </p:txBody>
      </p:sp>
      <p:sp>
        <p:nvSpPr>
          <p:cNvPr name="TextBox 23" id="23"/>
          <p:cNvSpPr txBox="true"/>
          <p:nvPr/>
        </p:nvSpPr>
        <p:spPr>
          <a:xfrm rot="0">
            <a:off x="9172575" y="5465445"/>
            <a:ext cx="990600" cy="405765"/>
          </a:xfrm>
          <a:prstGeom prst="rect">
            <a:avLst/>
          </a:prstGeom>
        </p:spPr>
        <p:txBody>
          <a:bodyPr anchor="t" rtlCol="false" tIns="0" lIns="0" bIns="0" rIns="0">
            <a:spAutoFit/>
          </a:bodyPr>
          <a:lstStyle/>
          <a:p>
            <a:pPr algn="l">
              <a:lnSpc>
                <a:spcPts val="2520"/>
              </a:lnSpc>
            </a:pPr>
            <a:r>
              <a:rPr lang="en-US" sz="1800">
                <a:solidFill>
                  <a:srgbClr val="DCD3C3"/>
                </a:solidFill>
                <a:latin typeface="Archivo Narrow"/>
                <a:ea typeface="Archivo Narrow"/>
                <a:cs typeface="Archivo Narrow"/>
                <a:sym typeface="Archivo Narrow"/>
              </a:rPr>
              <a:t>0,940</a:t>
            </a:r>
          </a:p>
        </p:txBody>
      </p:sp>
      <p:sp>
        <p:nvSpPr>
          <p:cNvPr name="TextBox 24" id="24"/>
          <p:cNvSpPr txBox="true"/>
          <p:nvPr/>
        </p:nvSpPr>
        <p:spPr>
          <a:xfrm rot="0">
            <a:off x="14592300" y="5360670"/>
            <a:ext cx="582168" cy="438150"/>
          </a:xfrm>
          <a:prstGeom prst="rect">
            <a:avLst/>
          </a:prstGeom>
        </p:spPr>
        <p:txBody>
          <a:bodyPr anchor="t" rtlCol="false" tIns="0" lIns="0" bIns="0" rIns="0">
            <a:spAutoFit/>
          </a:bodyPr>
          <a:lstStyle/>
          <a:p>
            <a:pPr algn="l">
              <a:lnSpc>
                <a:spcPts val="3600"/>
              </a:lnSpc>
            </a:pPr>
            <a:r>
              <a:rPr lang="en-US" sz="3600">
                <a:solidFill>
                  <a:srgbClr val="DCD3C3"/>
                </a:solidFill>
                <a:latin typeface="Anton"/>
                <a:ea typeface="Anton"/>
                <a:cs typeface="Anton"/>
                <a:sym typeface="Anton"/>
              </a:rPr>
              <a:t>1,0</a:t>
            </a:r>
          </a:p>
        </p:txBody>
      </p:sp>
      <p:grpSp>
        <p:nvGrpSpPr>
          <p:cNvPr name="Group 25" id="25"/>
          <p:cNvGrpSpPr/>
          <p:nvPr/>
        </p:nvGrpSpPr>
        <p:grpSpPr>
          <a:xfrm rot="0">
            <a:off x="15229837" y="5326380"/>
            <a:ext cx="1013774" cy="411480"/>
            <a:chOff x="0" y="0"/>
            <a:chExt cx="1351699" cy="548640"/>
          </a:xfrm>
        </p:grpSpPr>
        <p:sp>
          <p:nvSpPr>
            <p:cNvPr name="Freeform 26" id="26"/>
            <p:cNvSpPr/>
            <p:nvPr/>
          </p:nvSpPr>
          <p:spPr>
            <a:xfrm flipH="false" flipV="false" rot="0">
              <a:off x="0" y="0"/>
              <a:ext cx="1351661" cy="548640"/>
            </a:xfrm>
            <a:custGeom>
              <a:avLst/>
              <a:gdLst/>
              <a:ahLst/>
              <a:cxnLst/>
              <a:rect r="r" b="b" t="t" l="l"/>
              <a:pathLst>
                <a:path h="548640" w="1351661">
                  <a:moveTo>
                    <a:pt x="270510" y="0"/>
                  </a:moveTo>
                  <a:lnTo>
                    <a:pt x="1081151" y="0"/>
                  </a:lnTo>
                  <a:cubicBezTo>
                    <a:pt x="1230503" y="0"/>
                    <a:pt x="1351661" y="122809"/>
                    <a:pt x="1351661" y="274320"/>
                  </a:cubicBezTo>
                  <a:cubicBezTo>
                    <a:pt x="1351661" y="425831"/>
                    <a:pt x="1230630" y="548640"/>
                    <a:pt x="1081151" y="548640"/>
                  </a:cubicBezTo>
                  <a:lnTo>
                    <a:pt x="270510" y="548640"/>
                  </a:lnTo>
                  <a:cubicBezTo>
                    <a:pt x="121158" y="548640"/>
                    <a:pt x="0" y="425831"/>
                    <a:pt x="0" y="274320"/>
                  </a:cubicBezTo>
                  <a:cubicBezTo>
                    <a:pt x="0" y="122809"/>
                    <a:pt x="121158" y="0"/>
                    <a:pt x="270510" y="0"/>
                  </a:cubicBezTo>
                  <a:close/>
                </a:path>
              </a:pathLst>
            </a:custGeom>
            <a:blipFill>
              <a:blip r:embed="rId3">
                <a:alphaModFix amt="0"/>
              </a:blip>
              <a:stretch>
                <a:fillRect l="-2077" t="0" r="-2079" b="0"/>
              </a:stretch>
            </a:blipFill>
            <a:ln w="9525" cap="sq">
              <a:solidFill>
                <a:srgbClr val="6E685E"/>
              </a:solidFill>
              <a:prstDash val="solid"/>
              <a:miter/>
            </a:ln>
          </p:spPr>
        </p:sp>
        <p:sp>
          <p:nvSpPr>
            <p:cNvPr name="TextBox 27" id="27"/>
            <p:cNvSpPr txBox="true"/>
            <p:nvPr/>
          </p:nvSpPr>
          <p:spPr>
            <a:xfrm>
              <a:off x="0" y="-47625"/>
              <a:ext cx="1351699" cy="596265"/>
            </a:xfrm>
            <a:prstGeom prst="rect">
              <a:avLst/>
            </a:prstGeom>
          </p:spPr>
          <p:txBody>
            <a:bodyPr anchor="ctr" rtlCol="false" tIns="50800" lIns="50800" bIns="50800" rIns="50800"/>
            <a:lstStyle/>
            <a:p>
              <a:pPr algn="ctr">
                <a:lnSpc>
                  <a:spcPts val="2520"/>
                </a:lnSpc>
              </a:pPr>
              <a:r>
                <a:rPr lang="en-US" sz="1800">
                  <a:solidFill>
                    <a:srgbClr val="A39B8B"/>
                  </a:solidFill>
                  <a:latin typeface="Archivo Narrow"/>
                  <a:ea typeface="Archivo Narrow"/>
                  <a:cs typeface="Archivo Narrow"/>
                  <a:sym typeface="Archivo Narrow"/>
                </a:rPr>
                <a:t>Dentro</a:t>
              </a:r>
            </a:p>
          </p:txBody>
        </p:sp>
      </p:grpSp>
      <p:sp>
        <p:nvSpPr>
          <p:cNvPr name="AutoShape 28" id="28"/>
          <p:cNvSpPr/>
          <p:nvPr/>
        </p:nvSpPr>
        <p:spPr>
          <a:xfrm rot="2040">
            <a:off x="1214438" y="5989320"/>
            <a:ext cx="15859125" cy="0"/>
          </a:xfrm>
          <a:prstGeom prst="line">
            <a:avLst/>
          </a:prstGeom>
          <a:ln cap="rnd" w="9525">
            <a:solidFill>
              <a:srgbClr val="6E685E"/>
            </a:solidFill>
            <a:prstDash val="solid"/>
            <a:headEnd type="none" len="sm" w="sm"/>
            <a:tailEnd type="none" len="sm" w="sm"/>
          </a:ln>
        </p:spPr>
      </p:sp>
      <p:sp>
        <p:nvSpPr>
          <p:cNvPr name="TextBox 29" id="29"/>
          <p:cNvSpPr txBox="true"/>
          <p:nvPr/>
        </p:nvSpPr>
        <p:spPr>
          <a:xfrm rot="0">
            <a:off x="1219200" y="6219825"/>
            <a:ext cx="2552700" cy="459105"/>
          </a:xfrm>
          <a:prstGeom prst="rect">
            <a:avLst/>
          </a:prstGeom>
        </p:spPr>
        <p:txBody>
          <a:bodyPr anchor="t" rtlCol="false" tIns="0" lIns="0" bIns="0" rIns="0">
            <a:spAutoFit/>
          </a:bodyPr>
          <a:lstStyle/>
          <a:p>
            <a:pPr algn="l">
              <a:lnSpc>
                <a:spcPts val="2940"/>
              </a:lnSpc>
            </a:pPr>
            <a:r>
              <a:rPr lang="en-US" sz="2100" b="true">
                <a:solidFill>
                  <a:srgbClr val="DCD3C3"/>
                </a:solidFill>
                <a:latin typeface="Archivo Narrow Bold"/>
                <a:ea typeface="Archivo Narrow Bold"/>
                <a:cs typeface="Archivo Narrow Bold"/>
                <a:sym typeface="Archivo Narrow Bold"/>
              </a:rPr>
              <a:t>Lasso</a:t>
            </a:r>
          </a:p>
        </p:txBody>
      </p:sp>
      <p:grpSp>
        <p:nvGrpSpPr>
          <p:cNvPr name="Group 30" id="30"/>
          <p:cNvGrpSpPr/>
          <p:nvPr/>
        </p:nvGrpSpPr>
        <p:grpSpPr>
          <a:xfrm rot="0">
            <a:off x="4000500" y="6444615"/>
            <a:ext cx="9144000" cy="19050"/>
            <a:chOff x="0" y="0"/>
            <a:chExt cx="12192000" cy="25400"/>
          </a:xfrm>
        </p:grpSpPr>
        <p:sp>
          <p:nvSpPr>
            <p:cNvPr name="Freeform 31" id="31"/>
            <p:cNvSpPr/>
            <p:nvPr/>
          </p:nvSpPr>
          <p:spPr>
            <a:xfrm flipH="false" flipV="false" rot="0">
              <a:off x="0" y="0"/>
              <a:ext cx="12192000" cy="25400"/>
            </a:xfrm>
            <a:custGeom>
              <a:avLst/>
              <a:gdLst/>
              <a:ahLst/>
              <a:cxnLst/>
              <a:rect r="r" b="b" t="t" l="l"/>
              <a:pathLst>
                <a:path h="25400" w="12192000">
                  <a:moveTo>
                    <a:pt x="0" y="0"/>
                  </a:moveTo>
                  <a:lnTo>
                    <a:pt x="12192000" y="0"/>
                  </a:lnTo>
                  <a:lnTo>
                    <a:pt x="12192000" y="25400"/>
                  </a:lnTo>
                  <a:lnTo>
                    <a:pt x="0" y="25400"/>
                  </a:lnTo>
                  <a:close/>
                </a:path>
              </a:pathLst>
            </a:custGeom>
            <a:solidFill>
              <a:srgbClr val="4A4741"/>
            </a:solidFill>
          </p:spPr>
        </p:sp>
      </p:grpSp>
      <p:grpSp>
        <p:nvGrpSpPr>
          <p:cNvPr name="Group 32" id="32"/>
          <p:cNvGrpSpPr/>
          <p:nvPr/>
        </p:nvGrpSpPr>
        <p:grpSpPr>
          <a:xfrm rot="0">
            <a:off x="8181975" y="6425565"/>
            <a:ext cx="676275" cy="57150"/>
            <a:chOff x="0" y="0"/>
            <a:chExt cx="901700" cy="76200"/>
          </a:xfrm>
        </p:grpSpPr>
        <p:sp>
          <p:nvSpPr>
            <p:cNvPr name="Freeform 33" id="33"/>
            <p:cNvSpPr/>
            <p:nvPr/>
          </p:nvSpPr>
          <p:spPr>
            <a:xfrm flipH="false" flipV="false" rot="0">
              <a:off x="0" y="0"/>
              <a:ext cx="901700" cy="76200"/>
            </a:xfrm>
            <a:custGeom>
              <a:avLst/>
              <a:gdLst/>
              <a:ahLst/>
              <a:cxnLst/>
              <a:rect r="r" b="b" t="t" l="l"/>
              <a:pathLst>
                <a:path h="76200" w="901700">
                  <a:moveTo>
                    <a:pt x="0" y="0"/>
                  </a:moveTo>
                  <a:lnTo>
                    <a:pt x="901700" y="0"/>
                  </a:lnTo>
                  <a:lnTo>
                    <a:pt x="901700" y="76200"/>
                  </a:lnTo>
                  <a:lnTo>
                    <a:pt x="0" y="76200"/>
                  </a:lnTo>
                  <a:close/>
                </a:path>
              </a:pathLst>
            </a:custGeom>
            <a:solidFill>
              <a:srgbClr val="DCD3C3"/>
            </a:solidFill>
          </p:spPr>
        </p:sp>
      </p:grpSp>
      <p:grpSp>
        <p:nvGrpSpPr>
          <p:cNvPr name="Group 34" id="34"/>
          <p:cNvGrpSpPr/>
          <p:nvPr/>
        </p:nvGrpSpPr>
        <p:grpSpPr>
          <a:xfrm rot="0">
            <a:off x="8048625" y="6320790"/>
            <a:ext cx="266700" cy="266700"/>
            <a:chOff x="0" y="0"/>
            <a:chExt cx="355600" cy="355600"/>
          </a:xfrm>
        </p:grpSpPr>
        <p:sp>
          <p:nvSpPr>
            <p:cNvPr name="Freeform 35" id="35"/>
            <p:cNvSpPr/>
            <p:nvPr/>
          </p:nvSpPr>
          <p:spPr>
            <a:xfrm flipH="false" flipV="false" rot="0">
              <a:off x="0" y="0"/>
              <a:ext cx="355600" cy="355600"/>
            </a:xfrm>
            <a:custGeom>
              <a:avLst/>
              <a:gdLst/>
              <a:ahLst/>
              <a:cxnLst/>
              <a:rect r="r" b="b" t="t" l="l"/>
              <a:pathLst>
                <a:path h="355600" w="355600">
                  <a:moveTo>
                    <a:pt x="0" y="177800"/>
                  </a:moveTo>
                  <a:cubicBezTo>
                    <a:pt x="0" y="79629"/>
                    <a:pt x="79629" y="0"/>
                    <a:pt x="177800" y="0"/>
                  </a:cubicBezTo>
                  <a:cubicBezTo>
                    <a:pt x="275971" y="0"/>
                    <a:pt x="355600" y="79629"/>
                    <a:pt x="355600" y="177800"/>
                  </a:cubicBezTo>
                  <a:cubicBezTo>
                    <a:pt x="355600" y="275971"/>
                    <a:pt x="275971" y="355600"/>
                    <a:pt x="177800" y="355600"/>
                  </a:cubicBezTo>
                  <a:cubicBezTo>
                    <a:pt x="79629" y="355600"/>
                    <a:pt x="0" y="275971"/>
                    <a:pt x="0" y="177800"/>
                  </a:cubicBezTo>
                  <a:close/>
                </a:path>
              </a:pathLst>
            </a:custGeom>
            <a:solidFill>
              <a:srgbClr val="1F1E1C"/>
            </a:solidFill>
            <a:ln w="38100" cap="sq">
              <a:solidFill>
                <a:srgbClr val="DCD3C3"/>
              </a:solidFill>
              <a:prstDash val="solid"/>
              <a:miter/>
            </a:ln>
          </p:spPr>
        </p:sp>
      </p:grpSp>
      <p:grpSp>
        <p:nvGrpSpPr>
          <p:cNvPr name="Group 36" id="36"/>
          <p:cNvGrpSpPr/>
          <p:nvPr/>
        </p:nvGrpSpPr>
        <p:grpSpPr>
          <a:xfrm rot="0">
            <a:off x="8724900" y="6320790"/>
            <a:ext cx="266700" cy="266700"/>
            <a:chOff x="0" y="0"/>
            <a:chExt cx="355600" cy="355600"/>
          </a:xfrm>
        </p:grpSpPr>
        <p:sp>
          <p:nvSpPr>
            <p:cNvPr name="Freeform 37" id="37"/>
            <p:cNvSpPr/>
            <p:nvPr/>
          </p:nvSpPr>
          <p:spPr>
            <a:xfrm flipH="false" flipV="false" rot="0">
              <a:off x="0" y="0"/>
              <a:ext cx="355600" cy="355600"/>
            </a:xfrm>
            <a:custGeom>
              <a:avLst/>
              <a:gdLst/>
              <a:ahLst/>
              <a:cxnLst/>
              <a:rect r="r" b="b" t="t" l="l"/>
              <a:pathLst>
                <a:path h="355600" w="355600">
                  <a:moveTo>
                    <a:pt x="0" y="177800"/>
                  </a:moveTo>
                  <a:cubicBezTo>
                    <a:pt x="0" y="79629"/>
                    <a:pt x="79629" y="0"/>
                    <a:pt x="177800" y="0"/>
                  </a:cubicBezTo>
                  <a:cubicBezTo>
                    <a:pt x="275971" y="0"/>
                    <a:pt x="355600" y="79629"/>
                    <a:pt x="355600" y="177800"/>
                  </a:cubicBezTo>
                  <a:cubicBezTo>
                    <a:pt x="355600" y="275971"/>
                    <a:pt x="275971" y="355600"/>
                    <a:pt x="177800" y="355600"/>
                  </a:cubicBezTo>
                  <a:cubicBezTo>
                    <a:pt x="79629" y="355600"/>
                    <a:pt x="0" y="275971"/>
                    <a:pt x="0" y="177800"/>
                  </a:cubicBezTo>
                  <a:close/>
                </a:path>
              </a:pathLst>
            </a:custGeom>
            <a:solidFill>
              <a:srgbClr val="DCD3C3"/>
            </a:solidFill>
          </p:spPr>
        </p:sp>
      </p:grpSp>
      <p:sp>
        <p:nvSpPr>
          <p:cNvPr name="TextBox 38" id="38"/>
          <p:cNvSpPr txBox="true"/>
          <p:nvPr/>
        </p:nvSpPr>
        <p:spPr>
          <a:xfrm rot="0">
            <a:off x="6943725" y="6136900"/>
            <a:ext cx="990600" cy="405765"/>
          </a:xfrm>
          <a:prstGeom prst="rect">
            <a:avLst/>
          </a:prstGeom>
        </p:spPr>
        <p:txBody>
          <a:bodyPr anchor="t" rtlCol="false" tIns="0" lIns="0" bIns="0" rIns="0">
            <a:spAutoFit/>
          </a:bodyPr>
          <a:lstStyle/>
          <a:p>
            <a:pPr algn="r">
              <a:lnSpc>
                <a:spcPts val="2520"/>
              </a:lnSpc>
            </a:pPr>
            <a:r>
              <a:rPr lang="en-US" sz="1800">
                <a:solidFill>
                  <a:srgbClr val="A39B8B"/>
                </a:solidFill>
                <a:latin typeface="Archivo Narrow"/>
                <a:ea typeface="Archivo Narrow"/>
                <a:cs typeface="Archivo Narrow"/>
                <a:sym typeface="Archivo Narrow"/>
              </a:rPr>
              <a:t>0,930</a:t>
            </a:r>
          </a:p>
        </p:txBody>
      </p:sp>
      <p:sp>
        <p:nvSpPr>
          <p:cNvPr name="TextBox 39" id="39"/>
          <p:cNvSpPr txBox="true"/>
          <p:nvPr/>
        </p:nvSpPr>
        <p:spPr>
          <a:xfrm rot="0">
            <a:off x="9105900" y="6360795"/>
            <a:ext cx="990600" cy="405765"/>
          </a:xfrm>
          <a:prstGeom prst="rect">
            <a:avLst/>
          </a:prstGeom>
        </p:spPr>
        <p:txBody>
          <a:bodyPr anchor="t" rtlCol="false" tIns="0" lIns="0" bIns="0" rIns="0">
            <a:spAutoFit/>
          </a:bodyPr>
          <a:lstStyle/>
          <a:p>
            <a:pPr algn="l">
              <a:lnSpc>
                <a:spcPts val="2520"/>
              </a:lnSpc>
            </a:pPr>
            <a:r>
              <a:rPr lang="en-US" sz="1800">
                <a:solidFill>
                  <a:srgbClr val="DCD3C3"/>
                </a:solidFill>
                <a:latin typeface="Archivo Narrow"/>
                <a:ea typeface="Archivo Narrow"/>
                <a:cs typeface="Archivo Narrow"/>
                <a:sym typeface="Archivo Narrow"/>
              </a:rPr>
              <a:t>0,939</a:t>
            </a:r>
          </a:p>
        </p:txBody>
      </p:sp>
      <p:sp>
        <p:nvSpPr>
          <p:cNvPr name="TextBox 40" id="40"/>
          <p:cNvSpPr txBox="true"/>
          <p:nvPr/>
        </p:nvSpPr>
        <p:spPr>
          <a:xfrm rot="0">
            <a:off x="14592300" y="6282690"/>
            <a:ext cx="671894" cy="438150"/>
          </a:xfrm>
          <a:prstGeom prst="rect">
            <a:avLst/>
          </a:prstGeom>
        </p:spPr>
        <p:txBody>
          <a:bodyPr anchor="t" rtlCol="false" tIns="0" lIns="0" bIns="0" rIns="0">
            <a:spAutoFit/>
          </a:bodyPr>
          <a:lstStyle/>
          <a:p>
            <a:pPr algn="l">
              <a:lnSpc>
                <a:spcPts val="3600"/>
              </a:lnSpc>
            </a:pPr>
            <a:r>
              <a:rPr lang="en-US" sz="3600">
                <a:solidFill>
                  <a:srgbClr val="DCD3C3"/>
                </a:solidFill>
                <a:latin typeface="Anton"/>
                <a:ea typeface="Anton"/>
                <a:cs typeface="Anton"/>
                <a:sym typeface="Anton"/>
              </a:rPr>
              <a:t>0,9</a:t>
            </a:r>
          </a:p>
        </p:txBody>
      </p:sp>
      <p:grpSp>
        <p:nvGrpSpPr>
          <p:cNvPr name="Group 41" id="41"/>
          <p:cNvGrpSpPr/>
          <p:nvPr/>
        </p:nvGrpSpPr>
        <p:grpSpPr>
          <a:xfrm rot="0">
            <a:off x="15304608" y="6248400"/>
            <a:ext cx="1013774" cy="411480"/>
            <a:chOff x="0" y="0"/>
            <a:chExt cx="1351699" cy="548640"/>
          </a:xfrm>
        </p:grpSpPr>
        <p:sp>
          <p:nvSpPr>
            <p:cNvPr name="Freeform 42" id="42"/>
            <p:cNvSpPr/>
            <p:nvPr/>
          </p:nvSpPr>
          <p:spPr>
            <a:xfrm flipH="false" flipV="false" rot="0">
              <a:off x="0" y="0"/>
              <a:ext cx="1351661" cy="548640"/>
            </a:xfrm>
            <a:custGeom>
              <a:avLst/>
              <a:gdLst/>
              <a:ahLst/>
              <a:cxnLst/>
              <a:rect r="r" b="b" t="t" l="l"/>
              <a:pathLst>
                <a:path h="548640" w="1351661">
                  <a:moveTo>
                    <a:pt x="270510" y="0"/>
                  </a:moveTo>
                  <a:lnTo>
                    <a:pt x="1081151" y="0"/>
                  </a:lnTo>
                  <a:cubicBezTo>
                    <a:pt x="1230503" y="0"/>
                    <a:pt x="1351661" y="122809"/>
                    <a:pt x="1351661" y="274320"/>
                  </a:cubicBezTo>
                  <a:cubicBezTo>
                    <a:pt x="1351661" y="425831"/>
                    <a:pt x="1230630" y="548640"/>
                    <a:pt x="1081151" y="548640"/>
                  </a:cubicBezTo>
                  <a:lnTo>
                    <a:pt x="270510" y="548640"/>
                  </a:lnTo>
                  <a:cubicBezTo>
                    <a:pt x="121158" y="548640"/>
                    <a:pt x="0" y="425831"/>
                    <a:pt x="0" y="274320"/>
                  </a:cubicBezTo>
                  <a:cubicBezTo>
                    <a:pt x="0" y="122809"/>
                    <a:pt x="121158" y="0"/>
                    <a:pt x="270510" y="0"/>
                  </a:cubicBezTo>
                  <a:close/>
                </a:path>
              </a:pathLst>
            </a:custGeom>
            <a:blipFill>
              <a:blip r:embed="rId3">
                <a:alphaModFix amt="0"/>
              </a:blip>
              <a:stretch>
                <a:fillRect l="-2077" t="0" r="-2079" b="0"/>
              </a:stretch>
            </a:blipFill>
            <a:ln w="9525" cap="sq">
              <a:solidFill>
                <a:srgbClr val="6E685E"/>
              </a:solidFill>
              <a:prstDash val="solid"/>
              <a:miter/>
            </a:ln>
          </p:spPr>
        </p:sp>
        <p:sp>
          <p:nvSpPr>
            <p:cNvPr name="TextBox 43" id="43"/>
            <p:cNvSpPr txBox="true"/>
            <p:nvPr/>
          </p:nvSpPr>
          <p:spPr>
            <a:xfrm>
              <a:off x="0" y="-47625"/>
              <a:ext cx="1351699" cy="596265"/>
            </a:xfrm>
            <a:prstGeom prst="rect">
              <a:avLst/>
            </a:prstGeom>
          </p:spPr>
          <p:txBody>
            <a:bodyPr anchor="ctr" rtlCol="false" tIns="50800" lIns="50800" bIns="50800" rIns="50800"/>
            <a:lstStyle/>
            <a:p>
              <a:pPr algn="ctr">
                <a:lnSpc>
                  <a:spcPts val="2520"/>
                </a:lnSpc>
              </a:pPr>
              <a:r>
                <a:rPr lang="en-US" sz="1800">
                  <a:solidFill>
                    <a:srgbClr val="A39B8B"/>
                  </a:solidFill>
                  <a:latin typeface="Archivo Narrow"/>
                  <a:ea typeface="Archivo Narrow"/>
                  <a:cs typeface="Archivo Narrow"/>
                  <a:sym typeface="Archivo Narrow"/>
                </a:rPr>
                <a:t>Dentro</a:t>
              </a:r>
            </a:p>
          </p:txBody>
        </p:sp>
      </p:grpSp>
      <p:sp>
        <p:nvSpPr>
          <p:cNvPr name="AutoShape 44" id="44"/>
          <p:cNvSpPr/>
          <p:nvPr/>
        </p:nvSpPr>
        <p:spPr>
          <a:xfrm rot="2040">
            <a:off x="1214438" y="6911340"/>
            <a:ext cx="15859125" cy="0"/>
          </a:xfrm>
          <a:prstGeom prst="line">
            <a:avLst/>
          </a:prstGeom>
          <a:ln cap="rnd" w="9525">
            <a:solidFill>
              <a:srgbClr val="6E685E"/>
            </a:solidFill>
            <a:prstDash val="solid"/>
            <a:headEnd type="none" len="sm" w="sm"/>
            <a:tailEnd type="none" len="sm" w="sm"/>
          </a:ln>
        </p:spPr>
      </p:sp>
      <p:sp>
        <p:nvSpPr>
          <p:cNvPr name="TextBox 45" id="45"/>
          <p:cNvSpPr txBox="true"/>
          <p:nvPr/>
        </p:nvSpPr>
        <p:spPr>
          <a:xfrm rot="0">
            <a:off x="1219200" y="7141845"/>
            <a:ext cx="2552700" cy="459105"/>
          </a:xfrm>
          <a:prstGeom prst="rect">
            <a:avLst/>
          </a:prstGeom>
        </p:spPr>
        <p:txBody>
          <a:bodyPr anchor="t" rtlCol="false" tIns="0" lIns="0" bIns="0" rIns="0">
            <a:spAutoFit/>
          </a:bodyPr>
          <a:lstStyle/>
          <a:p>
            <a:pPr algn="l">
              <a:lnSpc>
                <a:spcPts val="2940"/>
              </a:lnSpc>
            </a:pPr>
            <a:r>
              <a:rPr lang="en-US" sz="2100" b="true">
                <a:solidFill>
                  <a:srgbClr val="DCD3C3"/>
                </a:solidFill>
                <a:latin typeface="Archivo Narrow Bold"/>
                <a:ea typeface="Archivo Narrow Bold"/>
                <a:cs typeface="Archivo Narrow Bold"/>
                <a:sym typeface="Archivo Narrow Bold"/>
              </a:rPr>
              <a:t>XGBoost</a:t>
            </a:r>
          </a:p>
        </p:txBody>
      </p:sp>
      <p:grpSp>
        <p:nvGrpSpPr>
          <p:cNvPr name="Group 46" id="46"/>
          <p:cNvGrpSpPr/>
          <p:nvPr/>
        </p:nvGrpSpPr>
        <p:grpSpPr>
          <a:xfrm rot="0">
            <a:off x="4000500" y="7366635"/>
            <a:ext cx="9144000" cy="19050"/>
            <a:chOff x="0" y="0"/>
            <a:chExt cx="12192000" cy="25400"/>
          </a:xfrm>
        </p:grpSpPr>
        <p:sp>
          <p:nvSpPr>
            <p:cNvPr name="Freeform 47" id="47"/>
            <p:cNvSpPr/>
            <p:nvPr/>
          </p:nvSpPr>
          <p:spPr>
            <a:xfrm flipH="false" flipV="false" rot="0">
              <a:off x="0" y="0"/>
              <a:ext cx="12192000" cy="25400"/>
            </a:xfrm>
            <a:custGeom>
              <a:avLst/>
              <a:gdLst/>
              <a:ahLst/>
              <a:cxnLst/>
              <a:rect r="r" b="b" t="t" l="l"/>
              <a:pathLst>
                <a:path h="25400" w="12192000">
                  <a:moveTo>
                    <a:pt x="0" y="0"/>
                  </a:moveTo>
                  <a:lnTo>
                    <a:pt x="12192000" y="0"/>
                  </a:lnTo>
                  <a:lnTo>
                    <a:pt x="12192000" y="25400"/>
                  </a:lnTo>
                  <a:lnTo>
                    <a:pt x="0" y="25400"/>
                  </a:lnTo>
                  <a:close/>
                </a:path>
              </a:pathLst>
            </a:custGeom>
            <a:solidFill>
              <a:srgbClr val="4A4741"/>
            </a:solidFill>
          </p:spPr>
        </p:sp>
      </p:grpSp>
      <p:grpSp>
        <p:nvGrpSpPr>
          <p:cNvPr name="Group 48" id="48"/>
          <p:cNvGrpSpPr/>
          <p:nvPr/>
        </p:nvGrpSpPr>
        <p:grpSpPr>
          <a:xfrm rot="0">
            <a:off x="7029450" y="7347585"/>
            <a:ext cx="5972175" cy="57150"/>
            <a:chOff x="0" y="0"/>
            <a:chExt cx="7962900" cy="76200"/>
          </a:xfrm>
        </p:grpSpPr>
        <p:sp>
          <p:nvSpPr>
            <p:cNvPr name="Freeform 49" id="49"/>
            <p:cNvSpPr/>
            <p:nvPr/>
          </p:nvSpPr>
          <p:spPr>
            <a:xfrm flipH="false" flipV="false" rot="0">
              <a:off x="0" y="0"/>
              <a:ext cx="7962900" cy="76200"/>
            </a:xfrm>
            <a:custGeom>
              <a:avLst/>
              <a:gdLst/>
              <a:ahLst/>
              <a:cxnLst/>
              <a:rect r="r" b="b" t="t" l="l"/>
              <a:pathLst>
                <a:path h="76200" w="7962900">
                  <a:moveTo>
                    <a:pt x="0" y="0"/>
                  </a:moveTo>
                  <a:lnTo>
                    <a:pt x="7962900" y="0"/>
                  </a:lnTo>
                  <a:lnTo>
                    <a:pt x="7962900" y="76200"/>
                  </a:lnTo>
                  <a:lnTo>
                    <a:pt x="0" y="76200"/>
                  </a:lnTo>
                  <a:close/>
                </a:path>
              </a:pathLst>
            </a:custGeom>
            <a:solidFill>
              <a:srgbClr val="DCD3C3"/>
            </a:solidFill>
          </p:spPr>
        </p:sp>
      </p:grpSp>
      <p:grpSp>
        <p:nvGrpSpPr>
          <p:cNvPr name="Group 50" id="50"/>
          <p:cNvGrpSpPr/>
          <p:nvPr/>
        </p:nvGrpSpPr>
        <p:grpSpPr>
          <a:xfrm rot="0">
            <a:off x="6896100" y="7242810"/>
            <a:ext cx="266700" cy="266700"/>
            <a:chOff x="0" y="0"/>
            <a:chExt cx="355600" cy="355600"/>
          </a:xfrm>
        </p:grpSpPr>
        <p:sp>
          <p:nvSpPr>
            <p:cNvPr name="Freeform 51" id="51"/>
            <p:cNvSpPr/>
            <p:nvPr/>
          </p:nvSpPr>
          <p:spPr>
            <a:xfrm flipH="false" flipV="false" rot="0">
              <a:off x="0" y="0"/>
              <a:ext cx="355600" cy="355600"/>
            </a:xfrm>
            <a:custGeom>
              <a:avLst/>
              <a:gdLst/>
              <a:ahLst/>
              <a:cxnLst/>
              <a:rect r="r" b="b" t="t" l="l"/>
              <a:pathLst>
                <a:path h="355600" w="355600">
                  <a:moveTo>
                    <a:pt x="0" y="177800"/>
                  </a:moveTo>
                  <a:cubicBezTo>
                    <a:pt x="0" y="79629"/>
                    <a:pt x="79629" y="0"/>
                    <a:pt x="177800" y="0"/>
                  </a:cubicBezTo>
                  <a:cubicBezTo>
                    <a:pt x="275971" y="0"/>
                    <a:pt x="355600" y="79629"/>
                    <a:pt x="355600" y="177800"/>
                  </a:cubicBezTo>
                  <a:cubicBezTo>
                    <a:pt x="355600" y="275971"/>
                    <a:pt x="275971" y="355600"/>
                    <a:pt x="177800" y="355600"/>
                  </a:cubicBezTo>
                  <a:cubicBezTo>
                    <a:pt x="79629" y="355600"/>
                    <a:pt x="0" y="275971"/>
                    <a:pt x="0" y="177800"/>
                  </a:cubicBezTo>
                  <a:close/>
                </a:path>
              </a:pathLst>
            </a:custGeom>
            <a:solidFill>
              <a:srgbClr val="1F1E1C"/>
            </a:solidFill>
            <a:ln w="38100" cap="sq">
              <a:solidFill>
                <a:srgbClr val="DCD3C3"/>
              </a:solidFill>
              <a:prstDash val="solid"/>
              <a:miter/>
            </a:ln>
          </p:spPr>
        </p:sp>
      </p:grpSp>
      <p:grpSp>
        <p:nvGrpSpPr>
          <p:cNvPr name="Group 52" id="52"/>
          <p:cNvGrpSpPr/>
          <p:nvPr/>
        </p:nvGrpSpPr>
        <p:grpSpPr>
          <a:xfrm rot="0">
            <a:off x="12868275" y="7242810"/>
            <a:ext cx="266700" cy="266700"/>
            <a:chOff x="0" y="0"/>
            <a:chExt cx="355600" cy="355600"/>
          </a:xfrm>
        </p:grpSpPr>
        <p:sp>
          <p:nvSpPr>
            <p:cNvPr name="Freeform 53" id="53"/>
            <p:cNvSpPr/>
            <p:nvPr/>
          </p:nvSpPr>
          <p:spPr>
            <a:xfrm flipH="false" flipV="false" rot="0">
              <a:off x="0" y="0"/>
              <a:ext cx="355600" cy="355600"/>
            </a:xfrm>
            <a:custGeom>
              <a:avLst/>
              <a:gdLst/>
              <a:ahLst/>
              <a:cxnLst/>
              <a:rect r="r" b="b" t="t" l="l"/>
              <a:pathLst>
                <a:path h="355600" w="355600">
                  <a:moveTo>
                    <a:pt x="0" y="177800"/>
                  </a:moveTo>
                  <a:cubicBezTo>
                    <a:pt x="0" y="79629"/>
                    <a:pt x="79629" y="0"/>
                    <a:pt x="177800" y="0"/>
                  </a:cubicBezTo>
                  <a:cubicBezTo>
                    <a:pt x="275971" y="0"/>
                    <a:pt x="355600" y="79629"/>
                    <a:pt x="355600" y="177800"/>
                  </a:cubicBezTo>
                  <a:cubicBezTo>
                    <a:pt x="355600" y="275971"/>
                    <a:pt x="275971" y="355600"/>
                    <a:pt x="177800" y="355600"/>
                  </a:cubicBezTo>
                  <a:cubicBezTo>
                    <a:pt x="79629" y="355600"/>
                    <a:pt x="0" y="275971"/>
                    <a:pt x="0" y="177800"/>
                  </a:cubicBezTo>
                  <a:close/>
                </a:path>
              </a:pathLst>
            </a:custGeom>
            <a:solidFill>
              <a:srgbClr val="DCD3C3"/>
            </a:solidFill>
          </p:spPr>
        </p:sp>
      </p:grpSp>
      <p:sp>
        <p:nvSpPr>
          <p:cNvPr name="TextBox 54" id="54"/>
          <p:cNvSpPr txBox="true"/>
          <p:nvPr/>
        </p:nvSpPr>
        <p:spPr>
          <a:xfrm rot="0">
            <a:off x="5791200" y="7071360"/>
            <a:ext cx="990600" cy="405765"/>
          </a:xfrm>
          <a:prstGeom prst="rect">
            <a:avLst/>
          </a:prstGeom>
        </p:spPr>
        <p:txBody>
          <a:bodyPr anchor="t" rtlCol="false" tIns="0" lIns="0" bIns="0" rIns="0">
            <a:spAutoFit/>
          </a:bodyPr>
          <a:lstStyle/>
          <a:p>
            <a:pPr algn="r">
              <a:lnSpc>
                <a:spcPts val="2520"/>
              </a:lnSpc>
            </a:pPr>
            <a:r>
              <a:rPr lang="en-US" sz="1800">
                <a:solidFill>
                  <a:srgbClr val="A39B8B"/>
                </a:solidFill>
                <a:latin typeface="Archivo Narrow"/>
                <a:ea typeface="Archivo Narrow"/>
                <a:cs typeface="Archivo Narrow"/>
                <a:sym typeface="Archivo Narrow"/>
              </a:rPr>
              <a:t>0,913</a:t>
            </a:r>
          </a:p>
        </p:txBody>
      </p:sp>
      <p:sp>
        <p:nvSpPr>
          <p:cNvPr name="TextBox 55" id="55"/>
          <p:cNvSpPr txBox="true"/>
          <p:nvPr/>
        </p:nvSpPr>
        <p:spPr>
          <a:xfrm rot="0">
            <a:off x="13249275" y="7166610"/>
            <a:ext cx="990600" cy="405765"/>
          </a:xfrm>
          <a:prstGeom prst="rect">
            <a:avLst/>
          </a:prstGeom>
        </p:spPr>
        <p:txBody>
          <a:bodyPr anchor="t" rtlCol="false" tIns="0" lIns="0" bIns="0" rIns="0">
            <a:spAutoFit/>
          </a:bodyPr>
          <a:lstStyle/>
          <a:p>
            <a:pPr algn="l">
              <a:lnSpc>
                <a:spcPts val="2520"/>
              </a:lnSpc>
            </a:pPr>
            <a:r>
              <a:rPr lang="en-US" sz="1800">
                <a:solidFill>
                  <a:srgbClr val="DCD3C3"/>
                </a:solidFill>
                <a:latin typeface="Archivo Narrow"/>
                <a:ea typeface="Archivo Narrow"/>
                <a:cs typeface="Archivo Narrow"/>
                <a:sym typeface="Archivo Narrow"/>
              </a:rPr>
              <a:t>0,998</a:t>
            </a:r>
          </a:p>
        </p:txBody>
      </p:sp>
      <p:sp>
        <p:nvSpPr>
          <p:cNvPr name="TextBox 56" id="56"/>
          <p:cNvSpPr txBox="true"/>
          <p:nvPr/>
        </p:nvSpPr>
        <p:spPr>
          <a:xfrm rot="0">
            <a:off x="14592300" y="7204710"/>
            <a:ext cx="671894" cy="438150"/>
          </a:xfrm>
          <a:prstGeom prst="rect">
            <a:avLst/>
          </a:prstGeom>
        </p:spPr>
        <p:txBody>
          <a:bodyPr anchor="t" rtlCol="false" tIns="0" lIns="0" bIns="0" rIns="0">
            <a:spAutoFit/>
          </a:bodyPr>
          <a:lstStyle/>
          <a:p>
            <a:pPr algn="l">
              <a:lnSpc>
                <a:spcPts val="3600"/>
              </a:lnSpc>
            </a:pPr>
            <a:r>
              <a:rPr lang="en-US" sz="3600">
                <a:solidFill>
                  <a:srgbClr val="DCD3C3"/>
                </a:solidFill>
                <a:latin typeface="Anton"/>
                <a:ea typeface="Anton"/>
                <a:cs typeface="Anton"/>
                <a:sym typeface="Anton"/>
              </a:rPr>
              <a:t>8,5</a:t>
            </a:r>
          </a:p>
        </p:txBody>
      </p:sp>
      <p:grpSp>
        <p:nvGrpSpPr>
          <p:cNvPr name="Group 57" id="57"/>
          <p:cNvGrpSpPr/>
          <p:nvPr/>
        </p:nvGrpSpPr>
        <p:grpSpPr>
          <a:xfrm rot="0">
            <a:off x="15304608" y="7178040"/>
            <a:ext cx="1087117" cy="396240"/>
            <a:chOff x="0" y="0"/>
            <a:chExt cx="1449489" cy="528320"/>
          </a:xfrm>
        </p:grpSpPr>
        <p:sp>
          <p:nvSpPr>
            <p:cNvPr name="Freeform 58" id="58"/>
            <p:cNvSpPr/>
            <p:nvPr/>
          </p:nvSpPr>
          <p:spPr>
            <a:xfrm flipH="false" flipV="false" rot="0">
              <a:off x="0" y="0"/>
              <a:ext cx="1449451" cy="528320"/>
            </a:xfrm>
            <a:custGeom>
              <a:avLst/>
              <a:gdLst/>
              <a:ahLst/>
              <a:cxnLst/>
              <a:rect r="r" b="b" t="t" l="l"/>
              <a:pathLst>
                <a:path h="528320" w="1449451">
                  <a:moveTo>
                    <a:pt x="264160" y="0"/>
                  </a:moveTo>
                  <a:lnTo>
                    <a:pt x="1185291" y="0"/>
                  </a:lnTo>
                  <a:cubicBezTo>
                    <a:pt x="1331214" y="0"/>
                    <a:pt x="1449451" y="118237"/>
                    <a:pt x="1449451" y="264160"/>
                  </a:cubicBezTo>
                  <a:cubicBezTo>
                    <a:pt x="1449451" y="410083"/>
                    <a:pt x="1331214" y="528320"/>
                    <a:pt x="1185291" y="528320"/>
                  </a:cubicBezTo>
                  <a:lnTo>
                    <a:pt x="264160" y="528320"/>
                  </a:lnTo>
                  <a:cubicBezTo>
                    <a:pt x="118237" y="528320"/>
                    <a:pt x="0" y="410083"/>
                    <a:pt x="0" y="264160"/>
                  </a:cubicBezTo>
                  <a:cubicBezTo>
                    <a:pt x="0" y="118237"/>
                    <a:pt x="118237" y="0"/>
                    <a:pt x="264160" y="0"/>
                  </a:cubicBezTo>
                  <a:close/>
                </a:path>
              </a:pathLst>
            </a:custGeom>
            <a:solidFill>
              <a:srgbClr val="DCD3C3"/>
            </a:solidFill>
          </p:spPr>
        </p:sp>
        <p:sp>
          <p:nvSpPr>
            <p:cNvPr name="TextBox 59" id="59"/>
            <p:cNvSpPr txBox="true"/>
            <p:nvPr/>
          </p:nvSpPr>
          <p:spPr>
            <a:xfrm>
              <a:off x="0" y="-47625"/>
              <a:ext cx="1449489" cy="575945"/>
            </a:xfrm>
            <a:prstGeom prst="rect">
              <a:avLst/>
            </a:prstGeom>
          </p:spPr>
          <p:txBody>
            <a:bodyPr anchor="ctr" rtlCol="false" tIns="50800" lIns="50800" bIns="50800" rIns="50800"/>
            <a:lstStyle/>
            <a:p>
              <a:pPr algn="ctr">
                <a:lnSpc>
                  <a:spcPts val="2520"/>
                </a:lnSpc>
              </a:pPr>
              <a:r>
                <a:rPr lang="en-US" sz="1800" b="true">
                  <a:solidFill>
                    <a:srgbClr val="1F1E1C"/>
                  </a:solidFill>
                  <a:latin typeface="Archivo Narrow Bold"/>
                  <a:ea typeface="Archivo Narrow Bold"/>
                  <a:cs typeface="Archivo Narrow Bold"/>
                  <a:sym typeface="Archivo Narrow Bold"/>
                </a:rPr>
                <a:t>Supera</a:t>
              </a:r>
            </a:p>
          </p:txBody>
        </p:sp>
      </p:grpSp>
      <p:sp>
        <p:nvSpPr>
          <p:cNvPr name="AutoShape 60" id="60"/>
          <p:cNvSpPr/>
          <p:nvPr/>
        </p:nvSpPr>
        <p:spPr>
          <a:xfrm rot="2040">
            <a:off x="1214438" y="7833360"/>
            <a:ext cx="15859125" cy="0"/>
          </a:xfrm>
          <a:prstGeom prst="line">
            <a:avLst/>
          </a:prstGeom>
          <a:ln cap="rnd" w="9525">
            <a:solidFill>
              <a:srgbClr val="6E685E"/>
            </a:solidFill>
            <a:prstDash val="solid"/>
            <a:headEnd type="none" len="sm" w="sm"/>
            <a:tailEnd type="none" len="sm" w="sm"/>
          </a:ln>
        </p:spPr>
      </p:sp>
      <p:sp>
        <p:nvSpPr>
          <p:cNvPr name="AutoShape 61" id="61"/>
          <p:cNvSpPr/>
          <p:nvPr/>
        </p:nvSpPr>
        <p:spPr>
          <a:xfrm rot="2040">
            <a:off x="1214438" y="8753475"/>
            <a:ext cx="15859125" cy="0"/>
          </a:xfrm>
          <a:prstGeom prst="line">
            <a:avLst/>
          </a:prstGeom>
          <a:ln cap="rnd" w="9525">
            <a:solidFill>
              <a:srgbClr val="6E685E"/>
            </a:solidFill>
            <a:prstDash val="solid"/>
            <a:headEnd type="none" len="sm" w="sm"/>
            <a:tailEnd type="none" len="sm" w="sm"/>
          </a:ln>
        </p:spPr>
      </p:sp>
      <p:sp>
        <p:nvSpPr>
          <p:cNvPr name="TextBox 62" id="62"/>
          <p:cNvSpPr txBox="true"/>
          <p:nvPr/>
        </p:nvSpPr>
        <p:spPr>
          <a:xfrm rot="0">
            <a:off x="1219200" y="8063865"/>
            <a:ext cx="2552700" cy="459105"/>
          </a:xfrm>
          <a:prstGeom prst="rect">
            <a:avLst/>
          </a:prstGeom>
        </p:spPr>
        <p:txBody>
          <a:bodyPr anchor="t" rtlCol="false" tIns="0" lIns="0" bIns="0" rIns="0">
            <a:spAutoFit/>
          </a:bodyPr>
          <a:lstStyle/>
          <a:p>
            <a:pPr algn="l">
              <a:lnSpc>
                <a:spcPts val="2940"/>
              </a:lnSpc>
            </a:pPr>
            <a:r>
              <a:rPr lang="en-US" sz="2100" b="true">
                <a:solidFill>
                  <a:srgbClr val="DCD3C3"/>
                </a:solidFill>
                <a:latin typeface="Archivo Narrow Bold"/>
                <a:ea typeface="Archivo Narrow Bold"/>
                <a:cs typeface="Archivo Narrow Bold"/>
                <a:sym typeface="Archivo Narrow Bold"/>
              </a:rPr>
              <a:t>Random Forest</a:t>
            </a:r>
          </a:p>
        </p:txBody>
      </p:sp>
      <p:grpSp>
        <p:nvGrpSpPr>
          <p:cNvPr name="Group 63" id="63"/>
          <p:cNvGrpSpPr/>
          <p:nvPr/>
        </p:nvGrpSpPr>
        <p:grpSpPr>
          <a:xfrm rot="0">
            <a:off x="4000500" y="8288655"/>
            <a:ext cx="9144000" cy="19050"/>
            <a:chOff x="0" y="0"/>
            <a:chExt cx="12192000" cy="25400"/>
          </a:xfrm>
        </p:grpSpPr>
        <p:sp>
          <p:nvSpPr>
            <p:cNvPr name="Freeform 64" id="64"/>
            <p:cNvSpPr/>
            <p:nvPr/>
          </p:nvSpPr>
          <p:spPr>
            <a:xfrm flipH="false" flipV="false" rot="0">
              <a:off x="0" y="0"/>
              <a:ext cx="12192000" cy="25400"/>
            </a:xfrm>
            <a:custGeom>
              <a:avLst/>
              <a:gdLst/>
              <a:ahLst/>
              <a:cxnLst/>
              <a:rect r="r" b="b" t="t" l="l"/>
              <a:pathLst>
                <a:path h="25400" w="12192000">
                  <a:moveTo>
                    <a:pt x="0" y="0"/>
                  </a:moveTo>
                  <a:lnTo>
                    <a:pt x="12192000" y="0"/>
                  </a:lnTo>
                  <a:lnTo>
                    <a:pt x="12192000" y="25400"/>
                  </a:lnTo>
                  <a:lnTo>
                    <a:pt x="0" y="25400"/>
                  </a:lnTo>
                  <a:close/>
                </a:path>
              </a:pathLst>
            </a:custGeom>
            <a:solidFill>
              <a:srgbClr val="4A4741"/>
            </a:solidFill>
          </p:spPr>
        </p:sp>
      </p:grpSp>
      <p:grpSp>
        <p:nvGrpSpPr>
          <p:cNvPr name="Group 65" id="65"/>
          <p:cNvGrpSpPr/>
          <p:nvPr/>
        </p:nvGrpSpPr>
        <p:grpSpPr>
          <a:xfrm rot="0">
            <a:off x="5476875" y="8269605"/>
            <a:ext cx="6610350" cy="57150"/>
            <a:chOff x="0" y="0"/>
            <a:chExt cx="8813800" cy="76200"/>
          </a:xfrm>
        </p:grpSpPr>
        <p:sp>
          <p:nvSpPr>
            <p:cNvPr name="Freeform 66" id="66"/>
            <p:cNvSpPr/>
            <p:nvPr/>
          </p:nvSpPr>
          <p:spPr>
            <a:xfrm flipH="false" flipV="false" rot="0">
              <a:off x="0" y="0"/>
              <a:ext cx="8813800" cy="76200"/>
            </a:xfrm>
            <a:custGeom>
              <a:avLst/>
              <a:gdLst/>
              <a:ahLst/>
              <a:cxnLst/>
              <a:rect r="r" b="b" t="t" l="l"/>
              <a:pathLst>
                <a:path h="76200" w="8813800">
                  <a:moveTo>
                    <a:pt x="0" y="0"/>
                  </a:moveTo>
                  <a:lnTo>
                    <a:pt x="8813800" y="0"/>
                  </a:lnTo>
                  <a:lnTo>
                    <a:pt x="8813800" y="76200"/>
                  </a:lnTo>
                  <a:lnTo>
                    <a:pt x="0" y="76200"/>
                  </a:lnTo>
                  <a:close/>
                </a:path>
              </a:pathLst>
            </a:custGeom>
            <a:solidFill>
              <a:srgbClr val="DCD3C3"/>
            </a:solidFill>
          </p:spPr>
        </p:sp>
      </p:grpSp>
      <p:grpSp>
        <p:nvGrpSpPr>
          <p:cNvPr name="Group 67" id="67"/>
          <p:cNvGrpSpPr/>
          <p:nvPr/>
        </p:nvGrpSpPr>
        <p:grpSpPr>
          <a:xfrm rot="0">
            <a:off x="5343525" y="8164830"/>
            <a:ext cx="266700" cy="266700"/>
            <a:chOff x="0" y="0"/>
            <a:chExt cx="355600" cy="355600"/>
          </a:xfrm>
        </p:grpSpPr>
        <p:sp>
          <p:nvSpPr>
            <p:cNvPr name="Freeform 68" id="68"/>
            <p:cNvSpPr/>
            <p:nvPr/>
          </p:nvSpPr>
          <p:spPr>
            <a:xfrm flipH="false" flipV="false" rot="0">
              <a:off x="0" y="0"/>
              <a:ext cx="355600" cy="355600"/>
            </a:xfrm>
            <a:custGeom>
              <a:avLst/>
              <a:gdLst/>
              <a:ahLst/>
              <a:cxnLst/>
              <a:rect r="r" b="b" t="t" l="l"/>
              <a:pathLst>
                <a:path h="355600" w="355600">
                  <a:moveTo>
                    <a:pt x="0" y="177800"/>
                  </a:moveTo>
                  <a:cubicBezTo>
                    <a:pt x="0" y="79629"/>
                    <a:pt x="79629" y="0"/>
                    <a:pt x="177800" y="0"/>
                  </a:cubicBezTo>
                  <a:cubicBezTo>
                    <a:pt x="275971" y="0"/>
                    <a:pt x="355600" y="79629"/>
                    <a:pt x="355600" y="177800"/>
                  </a:cubicBezTo>
                  <a:cubicBezTo>
                    <a:pt x="355600" y="275971"/>
                    <a:pt x="275971" y="355600"/>
                    <a:pt x="177800" y="355600"/>
                  </a:cubicBezTo>
                  <a:cubicBezTo>
                    <a:pt x="79629" y="355600"/>
                    <a:pt x="0" y="275971"/>
                    <a:pt x="0" y="177800"/>
                  </a:cubicBezTo>
                  <a:close/>
                </a:path>
              </a:pathLst>
            </a:custGeom>
            <a:solidFill>
              <a:srgbClr val="1F1E1C"/>
            </a:solidFill>
            <a:ln w="38100" cap="sq">
              <a:solidFill>
                <a:srgbClr val="DCD3C3"/>
              </a:solidFill>
              <a:prstDash val="solid"/>
              <a:miter/>
            </a:ln>
          </p:spPr>
        </p:sp>
      </p:grpSp>
      <p:grpSp>
        <p:nvGrpSpPr>
          <p:cNvPr name="Group 69" id="69"/>
          <p:cNvGrpSpPr/>
          <p:nvPr/>
        </p:nvGrpSpPr>
        <p:grpSpPr>
          <a:xfrm rot="0">
            <a:off x="11953875" y="8164830"/>
            <a:ext cx="266700" cy="266700"/>
            <a:chOff x="0" y="0"/>
            <a:chExt cx="355600" cy="355600"/>
          </a:xfrm>
        </p:grpSpPr>
        <p:sp>
          <p:nvSpPr>
            <p:cNvPr name="Freeform 70" id="70"/>
            <p:cNvSpPr/>
            <p:nvPr/>
          </p:nvSpPr>
          <p:spPr>
            <a:xfrm flipH="false" flipV="false" rot="0">
              <a:off x="0" y="0"/>
              <a:ext cx="355600" cy="355600"/>
            </a:xfrm>
            <a:custGeom>
              <a:avLst/>
              <a:gdLst/>
              <a:ahLst/>
              <a:cxnLst/>
              <a:rect r="r" b="b" t="t" l="l"/>
              <a:pathLst>
                <a:path h="355600" w="355600">
                  <a:moveTo>
                    <a:pt x="0" y="177800"/>
                  </a:moveTo>
                  <a:cubicBezTo>
                    <a:pt x="0" y="79629"/>
                    <a:pt x="79629" y="0"/>
                    <a:pt x="177800" y="0"/>
                  </a:cubicBezTo>
                  <a:cubicBezTo>
                    <a:pt x="275971" y="0"/>
                    <a:pt x="355600" y="79629"/>
                    <a:pt x="355600" y="177800"/>
                  </a:cubicBezTo>
                  <a:cubicBezTo>
                    <a:pt x="355600" y="275971"/>
                    <a:pt x="275971" y="355600"/>
                    <a:pt x="177800" y="355600"/>
                  </a:cubicBezTo>
                  <a:cubicBezTo>
                    <a:pt x="79629" y="355600"/>
                    <a:pt x="0" y="275971"/>
                    <a:pt x="0" y="177800"/>
                  </a:cubicBezTo>
                  <a:close/>
                </a:path>
              </a:pathLst>
            </a:custGeom>
            <a:solidFill>
              <a:srgbClr val="DCD3C3"/>
            </a:solidFill>
          </p:spPr>
        </p:sp>
      </p:grpSp>
      <p:sp>
        <p:nvSpPr>
          <p:cNvPr name="TextBox 71" id="71"/>
          <p:cNvSpPr txBox="true"/>
          <p:nvPr/>
        </p:nvSpPr>
        <p:spPr>
          <a:xfrm rot="0">
            <a:off x="4238625" y="8006715"/>
            <a:ext cx="990600" cy="405765"/>
          </a:xfrm>
          <a:prstGeom prst="rect">
            <a:avLst/>
          </a:prstGeom>
        </p:spPr>
        <p:txBody>
          <a:bodyPr anchor="t" rtlCol="false" tIns="0" lIns="0" bIns="0" rIns="0">
            <a:spAutoFit/>
          </a:bodyPr>
          <a:lstStyle/>
          <a:p>
            <a:pPr algn="r">
              <a:lnSpc>
                <a:spcPts val="2520"/>
              </a:lnSpc>
            </a:pPr>
            <a:r>
              <a:rPr lang="en-US" sz="1800">
                <a:solidFill>
                  <a:srgbClr val="A39B8B"/>
                </a:solidFill>
                <a:latin typeface="Archivo Narrow"/>
                <a:ea typeface="Archivo Narrow"/>
                <a:cs typeface="Archivo Narrow"/>
                <a:sym typeface="Archivo Narrow"/>
              </a:rPr>
              <a:t>0,891</a:t>
            </a:r>
          </a:p>
        </p:txBody>
      </p:sp>
      <p:sp>
        <p:nvSpPr>
          <p:cNvPr name="TextBox 72" id="72"/>
          <p:cNvSpPr txBox="true"/>
          <p:nvPr/>
        </p:nvSpPr>
        <p:spPr>
          <a:xfrm rot="0">
            <a:off x="12334875" y="8219065"/>
            <a:ext cx="990600" cy="405765"/>
          </a:xfrm>
          <a:prstGeom prst="rect">
            <a:avLst/>
          </a:prstGeom>
        </p:spPr>
        <p:txBody>
          <a:bodyPr anchor="t" rtlCol="false" tIns="0" lIns="0" bIns="0" rIns="0">
            <a:spAutoFit/>
          </a:bodyPr>
          <a:lstStyle/>
          <a:p>
            <a:pPr algn="l">
              <a:lnSpc>
                <a:spcPts val="2520"/>
              </a:lnSpc>
            </a:pPr>
            <a:r>
              <a:rPr lang="en-US" sz="1800">
                <a:solidFill>
                  <a:srgbClr val="DCD3C3"/>
                </a:solidFill>
                <a:latin typeface="Archivo Narrow"/>
                <a:ea typeface="Archivo Narrow"/>
                <a:cs typeface="Archivo Narrow"/>
                <a:sym typeface="Archivo Narrow"/>
              </a:rPr>
              <a:t>0,985</a:t>
            </a:r>
          </a:p>
        </p:txBody>
      </p:sp>
      <p:sp>
        <p:nvSpPr>
          <p:cNvPr name="TextBox 73" id="73"/>
          <p:cNvSpPr txBox="true"/>
          <p:nvPr/>
        </p:nvSpPr>
        <p:spPr>
          <a:xfrm rot="0">
            <a:off x="14592300" y="8126730"/>
            <a:ext cx="671894" cy="438150"/>
          </a:xfrm>
          <a:prstGeom prst="rect">
            <a:avLst/>
          </a:prstGeom>
        </p:spPr>
        <p:txBody>
          <a:bodyPr anchor="t" rtlCol="false" tIns="0" lIns="0" bIns="0" rIns="0">
            <a:spAutoFit/>
          </a:bodyPr>
          <a:lstStyle/>
          <a:p>
            <a:pPr algn="l">
              <a:lnSpc>
                <a:spcPts val="3600"/>
              </a:lnSpc>
            </a:pPr>
            <a:r>
              <a:rPr lang="en-US" sz="3600">
                <a:solidFill>
                  <a:srgbClr val="DCD3C3"/>
                </a:solidFill>
                <a:latin typeface="Anton"/>
                <a:ea typeface="Anton"/>
                <a:cs typeface="Anton"/>
                <a:sym typeface="Anton"/>
              </a:rPr>
              <a:t>9,3</a:t>
            </a:r>
          </a:p>
        </p:txBody>
      </p:sp>
      <p:grpSp>
        <p:nvGrpSpPr>
          <p:cNvPr name="Group 74" id="74"/>
          <p:cNvGrpSpPr/>
          <p:nvPr/>
        </p:nvGrpSpPr>
        <p:grpSpPr>
          <a:xfrm rot="0">
            <a:off x="15304608" y="8100060"/>
            <a:ext cx="1087117" cy="396240"/>
            <a:chOff x="0" y="0"/>
            <a:chExt cx="1449489" cy="528320"/>
          </a:xfrm>
        </p:grpSpPr>
        <p:sp>
          <p:nvSpPr>
            <p:cNvPr name="Freeform 75" id="75"/>
            <p:cNvSpPr/>
            <p:nvPr/>
          </p:nvSpPr>
          <p:spPr>
            <a:xfrm flipH="false" flipV="false" rot="0">
              <a:off x="0" y="0"/>
              <a:ext cx="1449451" cy="528320"/>
            </a:xfrm>
            <a:custGeom>
              <a:avLst/>
              <a:gdLst/>
              <a:ahLst/>
              <a:cxnLst/>
              <a:rect r="r" b="b" t="t" l="l"/>
              <a:pathLst>
                <a:path h="528320" w="1449451">
                  <a:moveTo>
                    <a:pt x="264160" y="0"/>
                  </a:moveTo>
                  <a:lnTo>
                    <a:pt x="1185291" y="0"/>
                  </a:lnTo>
                  <a:cubicBezTo>
                    <a:pt x="1331214" y="0"/>
                    <a:pt x="1449451" y="118237"/>
                    <a:pt x="1449451" y="264160"/>
                  </a:cubicBezTo>
                  <a:cubicBezTo>
                    <a:pt x="1449451" y="410083"/>
                    <a:pt x="1331214" y="528320"/>
                    <a:pt x="1185291" y="528320"/>
                  </a:cubicBezTo>
                  <a:lnTo>
                    <a:pt x="264160" y="528320"/>
                  </a:lnTo>
                  <a:cubicBezTo>
                    <a:pt x="118237" y="528320"/>
                    <a:pt x="0" y="410083"/>
                    <a:pt x="0" y="264160"/>
                  </a:cubicBezTo>
                  <a:cubicBezTo>
                    <a:pt x="0" y="118237"/>
                    <a:pt x="118237" y="0"/>
                    <a:pt x="264160" y="0"/>
                  </a:cubicBezTo>
                  <a:close/>
                </a:path>
              </a:pathLst>
            </a:custGeom>
            <a:solidFill>
              <a:srgbClr val="DCD3C3"/>
            </a:solidFill>
          </p:spPr>
        </p:sp>
        <p:sp>
          <p:nvSpPr>
            <p:cNvPr name="TextBox 76" id="76"/>
            <p:cNvSpPr txBox="true"/>
            <p:nvPr/>
          </p:nvSpPr>
          <p:spPr>
            <a:xfrm>
              <a:off x="0" y="-47625"/>
              <a:ext cx="1449489" cy="575945"/>
            </a:xfrm>
            <a:prstGeom prst="rect">
              <a:avLst/>
            </a:prstGeom>
          </p:spPr>
          <p:txBody>
            <a:bodyPr anchor="ctr" rtlCol="false" tIns="50800" lIns="50800" bIns="50800" rIns="50800"/>
            <a:lstStyle/>
            <a:p>
              <a:pPr algn="ctr">
                <a:lnSpc>
                  <a:spcPts val="2520"/>
                </a:lnSpc>
              </a:pPr>
              <a:r>
                <a:rPr lang="en-US" sz="1800" b="true">
                  <a:solidFill>
                    <a:srgbClr val="1F1E1C"/>
                  </a:solidFill>
                  <a:latin typeface="Archivo Narrow Bold"/>
                  <a:ea typeface="Archivo Narrow Bold"/>
                  <a:cs typeface="Archivo Narrow Bold"/>
                  <a:sym typeface="Archivo Narrow Bold"/>
                </a:rPr>
                <a:t>Supera</a:t>
              </a:r>
            </a:p>
          </p:txBody>
        </p:sp>
      </p:grpSp>
      <p:sp>
        <p:nvSpPr>
          <p:cNvPr name="TextBox 77" id="77"/>
          <p:cNvSpPr txBox="true"/>
          <p:nvPr/>
        </p:nvSpPr>
        <p:spPr>
          <a:xfrm rot="0">
            <a:off x="1219200" y="9309735"/>
            <a:ext cx="7848600" cy="405765"/>
          </a:xfrm>
          <a:prstGeom prst="rect">
            <a:avLst/>
          </a:prstGeom>
        </p:spPr>
        <p:txBody>
          <a:bodyPr anchor="t" rtlCol="false" tIns="0" lIns="0" bIns="0" rIns="0">
            <a:spAutoFit/>
          </a:bodyPr>
          <a:lstStyle/>
          <a:p>
            <a:pPr algn="l">
              <a:lnSpc>
                <a:spcPts val="2520"/>
              </a:lnSpc>
            </a:pPr>
            <a:r>
              <a:rPr lang="en-US" sz="1800">
                <a:solidFill>
                  <a:srgbClr val="A39B8B"/>
                </a:solidFill>
                <a:latin typeface="Archivo Narrow"/>
                <a:ea typeface="Archivo Narrow"/>
                <a:cs typeface="Archivo Narrow"/>
                <a:sym typeface="Archivo Narrow"/>
              </a:rPr>
              <a:t>12 · Housing Prices · EP2</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DCD3C3"/>
        </a:solidFill>
      </p:bgPr>
    </p:bg>
    <p:spTree>
      <p:nvGrpSpPr>
        <p:cNvPr id="1" name=""/>
        <p:cNvGrpSpPr/>
        <p:nvPr/>
      </p:nvGrpSpPr>
      <p:grpSpPr>
        <a:xfrm>
          <a:off x="0" y="0"/>
          <a:ext cx="0" cy="0"/>
          <a:chOff x="0" y="0"/>
          <a:chExt cx="0" cy="0"/>
        </a:xfrm>
      </p:grpSpPr>
      <p:sp>
        <p:nvSpPr>
          <p:cNvPr name="TextBox 2" id="2"/>
          <p:cNvSpPr txBox="true"/>
          <p:nvPr/>
        </p:nvSpPr>
        <p:spPr>
          <a:xfrm rot="0">
            <a:off x="1219200" y="1333500"/>
            <a:ext cx="16325088" cy="963930"/>
          </a:xfrm>
          <a:prstGeom prst="rect">
            <a:avLst/>
          </a:prstGeom>
        </p:spPr>
        <p:txBody>
          <a:bodyPr anchor="t" rtlCol="false" tIns="0" lIns="0" bIns="0" rIns="0">
            <a:spAutoFit/>
          </a:bodyPr>
          <a:lstStyle/>
          <a:p>
            <a:pPr algn="l">
              <a:lnSpc>
                <a:spcPts val="8190"/>
              </a:lnSpc>
            </a:pPr>
            <a:r>
              <a:rPr lang="en-US" sz="7800">
                <a:solidFill>
                  <a:srgbClr val="1F1E1C"/>
                </a:solidFill>
                <a:latin typeface="Anton"/>
                <a:ea typeface="Anton"/>
                <a:cs typeface="Anton"/>
                <a:sym typeface="Anton"/>
              </a:rPr>
              <a:t>TEST FRENTE A LOS KPI</a:t>
            </a:r>
          </a:p>
        </p:txBody>
      </p:sp>
      <p:sp>
        <p:nvSpPr>
          <p:cNvPr name="TextBox 3" id="3"/>
          <p:cNvSpPr txBox="true"/>
          <p:nvPr/>
        </p:nvSpPr>
        <p:spPr>
          <a:xfrm rot="0">
            <a:off x="1219200" y="2602230"/>
            <a:ext cx="16325088" cy="436245"/>
          </a:xfrm>
          <a:prstGeom prst="rect">
            <a:avLst/>
          </a:prstGeom>
        </p:spPr>
        <p:txBody>
          <a:bodyPr anchor="t" rtlCol="false" tIns="0" lIns="0" bIns="0" rIns="0">
            <a:spAutoFit/>
          </a:bodyPr>
          <a:lstStyle/>
          <a:p>
            <a:pPr algn="l">
              <a:lnSpc>
                <a:spcPts val="2835"/>
              </a:lnSpc>
            </a:pPr>
            <a:r>
              <a:rPr lang="en-US" sz="2100">
                <a:solidFill>
                  <a:srgbClr val="4A453F"/>
                </a:solidFill>
                <a:latin typeface="Archivo Narrow"/>
                <a:ea typeface="Archivo Narrow"/>
                <a:cs typeface="Archivo Narrow"/>
                <a:sym typeface="Archivo Narrow"/>
              </a:rPr>
              <a:t>582 casas que no se usaron antes. Solo Ridge y Lasso cumplen los seis.</a:t>
            </a:r>
          </a:p>
        </p:txBody>
      </p:sp>
      <p:sp>
        <p:nvSpPr>
          <p:cNvPr name="AutoShape 4" id="4"/>
          <p:cNvSpPr/>
          <p:nvPr/>
        </p:nvSpPr>
        <p:spPr>
          <a:xfrm rot="4140">
            <a:off x="1209665" y="4174808"/>
            <a:ext cx="15868660" cy="0"/>
          </a:xfrm>
          <a:prstGeom prst="line">
            <a:avLst/>
          </a:prstGeom>
          <a:ln cap="rnd" w="9525">
            <a:solidFill>
              <a:srgbClr val="1F1E1C"/>
            </a:solidFill>
            <a:prstDash val="solid"/>
            <a:headEnd type="none" len="sm" w="sm"/>
            <a:tailEnd type="none" len="sm" w="sm"/>
          </a:ln>
        </p:spPr>
      </p:sp>
      <p:sp>
        <p:nvSpPr>
          <p:cNvPr name="TextBox 5" id="5"/>
          <p:cNvSpPr txBox="true"/>
          <p:nvPr/>
        </p:nvSpPr>
        <p:spPr>
          <a:xfrm rot="0">
            <a:off x="1219200" y="3653790"/>
            <a:ext cx="2943225" cy="405765"/>
          </a:xfrm>
          <a:prstGeom prst="rect">
            <a:avLst/>
          </a:prstGeom>
        </p:spPr>
        <p:txBody>
          <a:bodyPr anchor="t" rtlCol="false" tIns="0" lIns="0" bIns="0" rIns="0">
            <a:spAutoFit/>
          </a:bodyPr>
          <a:lstStyle/>
          <a:p>
            <a:pPr algn="l">
              <a:lnSpc>
                <a:spcPts val="2520"/>
              </a:lnSpc>
            </a:pPr>
            <a:r>
              <a:rPr lang="en-US" b="true" sz="1800" spc="75">
                <a:solidFill>
                  <a:srgbClr val="1F1E1C"/>
                </a:solidFill>
                <a:latin typeface="Archivo Narrow Bold"/>
                <a:ea typeface="Archivo Narrow Bold"/>
                <a:cs typeface="Archivo Narrow Bold"/>
                <a:sym typeface="Archivo Narrow Bold"/>
              </a:rPr>
              <a:t>MODELO</a:t>
            </a:r>
          </a:p>
        </p:txBody>
      </p:sp>
      <p:sp>
        <p:nvSpPr>
          <p:cNvPr name="TextBox 6" id="6"/>
          <p:cNvSpPr txBox="true"/>
          <p:nvPr/>
        </p:nvSpPr>
        <p:spPr>
          <a:xfrm rot="0">
            <a:off x="4076700" y="3333750"/>
            <a:ext cx="1885950" cy="725805"/>
          </a:xfrm>
          <a:prstGeom prst="rect">
            <a:avLst/>
          </a:prstGeom>
        </p:spPr>
        <p:txBody>
          <a:bodyPr anchor="t" rtlCol="false" tIns="0" lIns="0" bIns="0" rIns="0">
            <a:spAutoFit/>
          </a:bodyPr>
          <a:lstStyle/>
          <a:p>
            <a:pPr algn="l">
              <a:lnSpc>
                <a:spcPts val="2520"/>
              </a:lnSpc>
            </a:pPr>
            <a:r>
              <a:rPr lang="en-US" b="true" sz="1800" spc="75">
                <a:solidFill>
                  <a:srgbClr val="1F1E1C"/>
                </a:solidFill>
                <a:latin typeface="Archivo Narrow Bold"/>
                <a:ea typeface="Archivo Narrow Bold"/>
                <a:cs typeface="Archivo Narrow Bold"/>
                <a:sym typeface="Archivo Narrow Bold"/>
              </a:rPr>
              <a:t>R²</a:t>
            </a:r>
          </a:p>
          <a:p>
            <a:pPr algn="l">
              <a:lnSpc>
                <a:spcPts val="2520"/>
              </a:lnSpc>
            </a:pPr>
            <a:r>
              <a:rPr lang="en-US" b="true" sz="1800" spc="75">
                <a:solidFill>
                  <a:srgbClr val="4A453F"/>
                </a:solidFill>
                <a:latin typeface="Archivo Narrow Bold"/>
                <a:ea typeface="Archivo Narrow Bold"/>
                <a:cs typeface="Archivo Narrow Bold"/>
                <a:sym typeface="Archivo Narrow Bold"/>
              </a:rPr>
              <a:t>≥ 0,85</a:t>
            </a:r>
          </a:p>
        </p:txBody>
      </p:sp>
      <p:sp>
        <p:nvSpPr>
          <p:cNvPr name="TextBox 7" id="7"/>
          <p:cNvSpPr txBox="true"/>
          <p:nvPr/>
        </p:nvSpPr>
        <p:spPr>
          <a:xfrm rot="0">
            <a:off x="5886450" y="3333750"/>
            <a:ext cx="2171700" cy="725805"/>
          </a:xfrm>
          <a:prstGeom prst="rect">
            <a:avLst/>
          </a:prstGeom>
        </p:spPr>
        <p:txBody>
          <a:bodyPr anchor="t" rtlCol="false" tIns="0" lIns="0" bIns="0" rIns="0">
            <a:spAutoFit/>
          </a:bodyPr>
          <a:lstStyle/>
          <a:p>
            <a:pPr algn="l">
              <a:lnSpc>
                <a:spcPts val="2520"/>
              </a:lnSpc>
            </a:pPr>
            <a:r>
              <a:rPr lang="en-US" b="true" sz="1800" spc="75">
                <a:solidFill>
                  <a:srgbClr val="1F1E1C"/>
                </a:solidFill>
                <a:latin typeface="Archivo Narrow Bold"/>
                <a:ea typeface="Archivo Narrow Bold"/>
                <a:cs typeface="Archivo Narrow Bold"/>
                <a:sym typeface="Archivo Narrow Bold"/>
              </a:rPr>
              <a:t>RMSE (USD)</a:t>
            </a:r>
          </a:p>
          <a:p>
            <a:pPr algn="l">
              <a:lnSpc>
                <a:spcPts val="2520"/>
              </a:lnSpc>
            </a:pPr>
            <a:r>
              <a:rPr lang="en-US" b="true" sz="1800" spc="75">
                <a:solidFill>
                  <a:srgbClr val="4A453F"/>
                </a:solidFill>
                <a:latin typeface="Archivo Narrow Bold"/>
                <a:ea typeface="Archivo Narrow Bold"/>
                <a:cs typeface="Archivo Narrow Bold"/>
                <a:sym typeface="Archivo Narrow Bold"/>
              </a:rPr>
              <a:t>≤ 30.000</a:t>
            </a:r>
          </a:p>
        </p:txBody>
      </p:sp>
      <p:sp>
        <p:nvSpPr>
          <p:cNvPr name="TextBox 8" id="8"/>
          <p:cNvSpPr txBox="true"/>
          <p:nvPr/>
        </p:nvSpPr>
        <p:spPr>
          <a:xfrm rot="0">
            <a:off x="7981950" y="3333750"/>
            <a:ext cx="1885950" cy="725805"/>
          </a:xfrm>
          <a:prstGeom prst="rect">
            <a:avLst/>
          </a:prstGeom>
        </p:spPr>
        <p:txBody>
          <a:bodyPr anchor="t" rtlCol="false" tIns="0" lIns="0" bIns="0" rIns="0">
            <a:spAutoFit/>
          </a:bodyPr>
          <a:lstStyle/>
          <a:p>
            <a:pPr algn="l">
              <a:lnSpc>
                <a:spcPts val="2520"/>
              </a:lnSpc>
            </a:pPr>
            <a:r>
              <a:rPr lang="en-US" b="true" sz="1800" spc="75">
                <a:solidFill>
                  <a:srgbClr val="1F1E1C"/>
                </a:solidFill>
                <a:latin typeface="Archivo Narrow Bold"/>
                <a:ea typeface="Archivo Narrow Bold"/>
                <a:cs typeface="Archivo Narrow Bold"/>
                <a:sym typeface="Archivo Narrow Bold"/>
              </a:rPr>
              <a:t>MAPE</a:t>
            </a:r>
          </a:p>
          <a:p>
            <a:pPr algn="l">
              <a:lnSpc>
                <a:spcPts val="2520"/>
              </a:lnSpc>
            </a:pPr>
            <a:r>
              <a:rPr lang="en-US" b="true" sz="1800" spc="75">
                <a:solidFill>
                  <a:srgbClr val="4A453F"/>
                </a:solidFill>
                <a:latin typeface="Archivo Narrow Bold"/>
                <a:ea typeface="Archivo Narrow Bold"/>
                <a:cs typeface="Archivo Narrow Bold"/>
                <a:sym typeface="Archivo Narrow Bold"/>
              </a:rPr>
              <a:t>≤ 12 %</a:t>
            </a:r>
          </a:p>
        </p:txBody>
      </p:sp>
      <p:sp>
        <p:nvSpPr>
          <p:cNvPr name="TextBox 9" id="9"/>
          <p:cNvSpPr txBox="true"/>
          <p:nvPr/>
        </p:nvSpPr>
        <p:spPr>
          <a:xfrm rot="0">
            <a:off x="9791700" y="3333750"/>
            <a:ext cx="2457450" cy="725805"/>
          </a:xfrm>
          <a:prstGeom prst="rect">
            <a:avLst/>
          </a:prstGeom>
        </p:spPr>
        <p:txBody>
          <a:bodyPr anchor="t" rtlCol="false" tIns="0" lIns="0" bIns="0" rIns="0">
            <a:spAutoFit/>
          </a:bodyPr>
          <a:lstStyle/>
          <a:p>
            <a:pPr algn="l">
              <a:lnSpc>
                <a:spcPts val="2520"/>
              </a:lnSpc>
            </a:pPr>
            <a:r>
              <a:rPr lang="en-US" b="true" sz="1800" spc="75">
                <a:solidFill>
                  <a:srgbClr val="1F1E1C"/>
                </a:solidFill>
                <a:latin typeface="Archivo Narrow Bold"/>
                <a:ea typeface="Archivo Narrow Bold"/>
                <a:cs typeface="Archivo Narrow Bold"/>
                <a:sym typeface="Archivo Narrow Bold"/>
              </a:rPr>
              <a:t>BRECHA R²</a:t>
            </a:r>
          </a:p>
          <a:p>
            <a:pPr algn="l">
              <a:lnSpc>
                <a:spcPts val="2520"/>
              </a:lnSpc>
            </a:pPr>
            <a:r>
              <a:rPr lang="en-US" b="true" sz="1800" spc="75">
                <a:solidFill>
                  <a:srgbClr val="4A453F"/>
                </a:solidFill>
                <a:latin typeface="Archivo Narrow Bold"/>
                <a:ea typeface="Archivo Narrow Bold"/>
                <a:cs typeface="Archivo Narrow Bold"/>
                <a:sym typeface="Archivo Narrow Bold"/>
              </a:rPr>
              <a:t>≤ 5 PTS</a:t>
            </a:r>
          </a:p>
        </p:txBody>
      </p:sp>
      <p:sp>
        <p:nvSpPr>
          <p:cNvPr name="TextBox 10" id="10"/>
          <p:cNvSpPr txBox="true"/>
          <p:nvPr/>
        </p:nvSpPr>
        <p:spPr>
          <a:xfrm rot="0">
            <a:off x="12172950" y="3333750"/>
            <a:ext cx="2457450" cy="725805"/>
          </a:xfrm>
          <a:prstGeom prst="rect">
            <a:avLst/>
          </a:prstGeom>
        </p:spPr>
        <p:txBody>
          <a:bodyPr anchor="t" rtlCol="false" tIns="0" lIns="0" bIns="0" rIns="0">
            <a:spAutoFit/>
          </a:bodyPr>
          <a:lstStyle/>
          <a:p>
            <a:pPr algn="l">
              <a:lnSpc>
                <a:spcPts val="2520"/>
              </a:lnSpc>
            </a:pPr>
            <a:r>
              <a:rPr lang="en-US" b="true" sz="1800" spc="75">
                <a:solidFill>
                  <a:srgbClr val="1F1E1C"/>
                </a:solidFill>
                <a:latin typeface="Archivo Narrow Bold"/>
                <a:ea typeface="Archivo Narrow Bold"/>
                <a:cs typeface="Archivo Narrow Bold"/>
                <a:sym typeface="Archivo Narrow Bold"/>
              </a:rPr>
              <a:t>BRECHA BARRIOS</a:t>
            </a:r>
          </a:p>
          <a:p>
            <a:pPr algn="l">
              <a:lnSpc>
                <a:spcPts val="2520"/>
              </a:lnSpc>
            </a:pPr>
            <a:r>
              <a:rPr lang="en-US" b="true" sz="1800" spc="75">
                <a:solidFill>
                  <a:srgbClr val="4A453F"/>
                </a:solidFill>
                <a:latin typeface="Archivo Narrow Bold"/>
                <a:ea typeface="Archivo Narrow Bold"/>
                <a:cs typeface="Archivo Narrow Bold"/>
                <a:sym typeface="Archivo Narrow Bold"/>
              </a:rPr>
              <a:t>≤ 8 PTS</a:t>
            </a:r>
          </a:p>
        </p:txBody>
      </p:sp>
      <p:sp>
        <p:nvSpPr>
          <p:cNvPr name="TextBox 11" id="11"/>
          <p:cNvSpPr txBox="true"/>
          <p:nvPr/>
        </p:nvSpPr>
        <p:spPr>
          <a:xfrm rot="0">
            <a:off x="14554200" y="3333750"/>
            <a:ext cx="2590800" cy="725805"/>
          </a:xfrm>
          <a:prstGeom prst="rect">
            <a:avLst/>
          </a:prstGeom>
        </p:spPr>
        <p:txBody>
          <a:bodyPr anchor="t" rtlCol="false" tIns="0" lIns="0" bIns="0" rIns="0">
            <a:spAutoFit/>
          </a:bodyPr>
          <a:lstStyle/>
          <a:p>
            <a:pPr algn="l">
              <a:lnSpc>
                <a:spcPts val="2520"/>
              </a:lnSpc>
            </a:pPr>
            <a:r>
              <a:rPr lang="en-US" b="true" sz="1800" spc="75">
                <a:solidFill>
                  <a:srgbClr val="1F1E1C"/>
                </a:solidFill>
                <a:latin typeface="Archivo Narrow Bold"/>
                <a:ea typeface="Archivo Narrow Bold"/>
                <a:cs typeface="Archivo Narrow Bold"/>
                <a:sym typeface="Archivo Narrow Bold"/>
              </a:rPr>
              <a:t>CUMPLE</a:t>
            </a:r>
          </a:p>
          <a:p>
            <a:pPr algn="l">
              <a:lnSpc>
                <a:spcPts val="2520"/>
              </a:lnSpc>
            </a:pPr>
            <a:r>
              <a:rPr lang="en-US" b="true" sz="1800" spc="75">
                <a:solidFill>
                  <a:srgbClr val="1F1E1C"/>
                </a:solidFill>
                <a:latin typeface="Archivo Narrow Bold"/>
                <a:ea typeface="Archivo Narrow Bold"/>
                <a:cs typeface="Archivo Narrow Bold"/>
                <a:sym typeface="Archivo Narrow Bold"/>
              </a:rPr>
              <a:t>LOS SEIS</a:t>
            </a:r>
          </a:p>
        </p:txBody>
      </p:sp>
      <p:sp>
        <p:nvSpPr>
          <p:cNvPr name="AutoShape 12" id="12"/>
          <p:cNvSpPr/>
          <p:nvPr/>
        </p:nvSpPr>
        <p:spPr>
          <a:xfrm rot="2040">
            <a:off x="1214438" y="4987290"/>
            <a:ext cx="15859125" cy="0"/>
          </a:xfrm>
          <a:prstGeom prst="line">
            <a:avLst/>
          </a:prstGeom>
          <a:ln cap="rnd" w="9525">
            <a:solidFill>
              <a:srgbClr val="8C8476"/>
            </a:solidFill>
            <a:prstDash val="solid"/>
            <a:headEnd type="none" len="sm" w="sm"/>
            <a:tailEnd type="none" len="sm" w="sm"/>
          </a:ln>
        </p:spPr>
      </p:sp>
      <p:sp>
        <p:nvSpPr>
          <p:cNvPr name="TextBox 13" id="13"/>
          <p:cNvSpPr txBox="true"/>
          <p:nvPr/>
        </p:nvSpPr>
        <p:spPr>
          <a:xfrm rot="0">
            <a:off x="1219200" y="4354830"/>
            <a:ext cx="2943225" cy="459105"/>
          </a:xfrm>
          <a:prstGeom prst="rect">
            <a:avLst/>
          </a:prstGeom>
        </p:spPr>
        <p:txBody>
          <a:bodyPr anchor="t" rtlCol="false" tIns="0" lIns="0" bIns="0" rIns="0">
            <a:spAutoFit/>
          </a:bodyPr>
          <a:lstStyle/>
          <a:p>
            <a:pPr algn="l">
              <a:lnSpc>
                <a:spcPts val="2940"/>
              </a:lnSpc>
            </a:pPr>
            <a:r>
              <a:rPr lang="en-US" sz="2100" b="true">
                <a:solidFill>
                  <a:srgbClr val="1F1E1C"/>
                </a:solidFill>
                <a:latin typeface="Archivo Narrow Bold"/>
                <a:ea typeface="Archivo Narrow Bold"/>
                <a:cs typeface="Archivo Narrow Bold"/>
                <a:sym typeface="Archivo Narrow Bold"/>
              </a:rPr>
              <a:t>Ridge</a:t>
            </a:r>
          </a:p>
        </p:txBody>
      </p:sp>
      <p:sp>
        <p:nvSpPr>
          <p:cNvPr name="TextBox 14" id="14"/>
          <p:cNvSpPr txBox="true"/>
          <p:nvPr/>
        </p:nvSpPr>
        <p:spPr>
          <a:xfrm rot="0">
            <a:off x="4076700" y="4354830"/>
            <a:ext cx="1885950" cy="459105"/>
          </a:xfrm>
          <a:prstGeom prst="rect">
            <a:avLst/>
          </a:prstGeom>
        </p:spPr>
        <p:txBody>
          <a:bodyPr anchor="t" rtlCol="false" tIns="0" lIns="0" bIns="0" rIns="0">
            <a:spAutoFit/>
          </a:bodyPr>
          <a:lstStyle/>
          <a:p>
            <a:pPr algn="l">
              <a:lnSpc>
                <a:spcPts val="2940"/>
              </a:lnSpc>
            </a:pPr>
            <a:r>
              <a:rPr lang="en-US" sz="2100">
                <a:solidFill>
                  <a:srgbClr val="1F1E1C"/>
                </a:solidFill>
                <a:latin typeface="Archivo Narrow"/>
                <a:ea typeface="Archivo Narrow"/>
                <a:cs typeface="Archivo Narrow"/>
                <a:sym typeface="Archivo Narrow"/>
              </a:rPr>
              <a:t>0,948</a:t>
            </a:r>
          </a:p>
        </p:txBody>
      </p:sp>
      <p:sp>
        <p:nvSpPr>
          <p:cNvPr name="TextBox 15" id="15"/>
          <p:cNvSpPr txBox="true"/>
          <p:nvPr/>
        </p:nvSpPr>
        <p:spPr>
          <a:xfrm rot="0">
            <a:off x="5886450" y="4354830"/>
            <a:ext cx="2171700" cy="459105"/>
          </a:xfrm>
          <a:prstGeom prst="rect">
            <a:avLst/>
          </a:prstGeom>
        </p:spPr>
        <p:txBody>
          <a:bodyPr anchor="t" rtlCol="false" tIns="0" lIns="0" bIns="0" rIns="0">
            <a:spAutoFit/>
          </a:bodyPr>
          <a:lstStyle/>
          <a:p>
            <a:pPr algn="l">
              <a:lnSpc>
                <a:spcPts val="2940"/>
              </a:lnSpc>
            </a:pPr>
            <a:r>
              <a:rPr lang="en-US" sz="2100">
                <a:solidFill>
                  <a:srgbClr val="1F1E1C"/>
                </a:solidFill>
                <a:latin typeface="Archivo Narrow"/>
                <a:ea typeface="Archivo Narrow"/>
                <a:cs typeface="Archivo Narrow"/>
                <a:sym typeface="Archivo Narrow"/>
              </a:rPr>
              <a:t>19.126</a:t>
            </a:r>
          </a:p>
        </p:txBody>
      </p:sp>
      <p:sp>
        <p:nvSpPr>
          <p:cNvPr name="TextBox 16" id="16"/>
          <p:cNvSpPr txBox="true"/>
          <p:nvPr/>
        </p:nvSpPr>
        <p:spPr>
          <a:xfrm rot="0">
            <a:off x="7981950" y="4354830"/>
            <a:ext cx="1885950" cy="459105"/>
          </a:xfrm>
          <a:prstGeom prst="rect">
            <a:avLst/>
          </a:prstGeom>
        </p:spPr>
        <p:txBody>
          <a:bodyPr anchor="t" rtlCol="false" tIns="0" lIns="0" bIns="0" rIns="0">
            <a:spAutoFit/>
          </a:bodyPr>
          <a:lstStyle/>
          <a:p>
            <a:pPr algn="l">
              <a:lnSpc>
                <a:spcPts val="2940"/>
              </a:lnSpc>
            </a:pPr>
            <a:r>
              <a:rPr lang="en-US" sz="2100">
                <a:solidFill>
                  <a:srgbClr val="1F1E1C"/>
                </a:solidFill>
                <a:latin typeface="Archivo Narrow"/>
                <a:ea typeface="Archivo Narrow"/>
                <a:cs typeface="Archivo Narrow"/>
                <a:sym typeface="Archivo Narrow"/>
              </a:rPr>
              <a:t>6,75 %</a:t>
            </a:r>
          </a:p>
        </p:txBody>
      </p:sp>
      <p:sp>
        <p:nvSpPr>
          <p:cNvPr name="TextBox 17" id="17"/>
          <p:cNvSpPr txBox="true"/>
          <p:nvPr/>
        </p:nvSpPr>
        <p:spPr>
          <a:xfrm rot="0">
            <a:off x="9791700" y="4354830"/>
            <a:ext cx="2457450" cy="459105"/>
          </a:xfrm>
          <a:prstGeom prst="rect">
            <a:avLst/>
          </a:prstGeom>
        </p:spPr>
        <p:txBody>
          <a:bodyPr anchor="t" rtlCol="false" tIns="0" lIns="0" bIns="0" rIns="0">
            <a:spAutoFit/>
          </a:bodyPr>
          <a:lstStyle/>
          <a:p>
            <a:pPr algn="l">
              <a:lnSpc>
                <a:spcPts val="2940"/>
              </a:lnSpc>
            </a:pPr>
            <a:r>
              <a:rPr lang="en-US" sz="2100">
                <a:solidFill>
                  <a:srgbClr val="1F1E1C"/>
                </a:solidFill>
                <a:latin typeface="Archivo Narrow"/>
                <a:ea typeface="Archivo Narrow"/>
                <a:cs typeface="Archivo Narrow"/>
                <a:sym typeface="Archivo Narrow"/>
              </a:rPr>
              <a:t>−0,9</a:t>
            </a:r>
          </a:p>
        </p:txBody>
      </p:sp>
      <p:sp>
        <p:nvSpPr>
          <p:cNvPr name="TextBox 18" id="18"/>
          <p:cNvSpPr txBox="true"/>
          <p:nvPr/>
        </p:nvSpPr>
        <p:spPr>
          <a:xfrm rot="0">
            <a:off x="12172950" y="4354830"/>
            <a:ext cx="2457450" cy="459105"/>
          </a:xfrm>
          <a:prstGeom prst="rect">
            <a:avLst/>
          </a:prstGeom>
        </p:spPr>
        <p:txBody>
          <a:bodyPr anchor="t" rtlCol="false" tIns="0" lIns="0" bIns="0" rIns="0">
            <a:spAutoFit/>
          </a:bodyPr>
          <a:lstStyle/>
          <a:p>
            <a:pPr algn="l">
              <a:lnSpc>
                <a:spcPts val="2940"/>
              </a:lnSpc>
            </a:pPr>
            <a:r>
              <a:rPr lang="en-US" sz="2100">
                <a:solidFill>
                  <a:srgbClr val="1F1E1C"/>
                </a:solidFill>
                <a:latin typeface="Archivo Narrow"/>
                <a:ea typeface="Archivo Narrow"/>
                <a:cs typeface="Archivo Narrow"/>
                <a:sym typeface="Archivo Narrow"/>
              </a:rPr>
              <a:t>6,1</a:t>
            </a:r>
          </a:p>
        </p:txBody>
      </p:sp>
      <p:grpSp>
        <p:nvGrpSpPr>
          <p:cNvPr name="Group 19" id="19"/>
          <p:cNvGrpSpPr/>
          <p:nvPr/>
        </p:nvGrpSpPr>
        <p:grpSpPr>
          <a:xfrm rot="0">
            <a:off x="14554200" y="4379595"/>
            <a:ext cx="419100" cy="419100"/>
            <a:chOff x="0" y="0"/>
            <a:chExt cx="558800" cy="558800"/>
          </a:xfrm>
        </p:grpSpPr>
        <p:sp>
          <p:nvSpPr>
            <p:cNvPr name="Freeform 20" id="20"/>
            <p:cNvSpPr/>
            <p:nvPr/>
          </p:nvSpPr>
          <p:spPr>
            <a:xfrm flipH="false" flipV="false" rot="0">
              <a:off x="0" y="0"/>
              <a:ext cx="558800" cy="558800"/>
            </a:xfrm>
            <a:custGeom>
              <a:avLst/>
              <a:gdLst/>
              <a:ahLst/>
              <a:cxnLst/>
              <a:rect r="r" b="b" t="t" l="l"/>
              <a:pathLst>
                <a:path h="558800" w="558800">
                  <a:moveTo>
                    <a:pt x="0" y="279400"/>
                  </a:moveTo>
                  <a:cubicBezTo>
                    <a:pt x="0" y="125095"/>
                    <a:pt x="125095" y="0"/>
                    <a:pt x="279400" y="0"/>
                  </a:cubicBezTo>
                  <a:cubicBezTo>
                    <a:pt x="433705" y="0"/>
                    <a:pt x="558800" y="125095"/>
                    <a:pt x="558800" y="279400"/>
                  </a:cubicBezTo>
                  <a:cubicBezTo>
                    <a:pt x="558800" y="433705"/>
                    <a:pt x="433705" y="558800"/>
                    <a:pt x="279400" y="558800"/>
                  </a:cubicBezTo>
                  <a:cubicBezTo>
                    <a:pt x="125095" y="558800"/>
                    <a:pt x="0" y="433705"/>
                    <a:pt x="0" y="279400"/>
                  </a:cubicBezTo>
                  <a:close/>
                </a:path>
              </a:pathLst>
            </a:custGeom>
            <a:solidFill>
              <a:srgbClr val="1F1E1C"/>
            </a:solidFill>
          </p:spPr>
        </p:sp>
      </p:grpSp>
      <p:grpSp>
        <p:nvGrpSpPr>
          <p:cNvPr name="Group 21" id="21"/>
          <p:cNvGrpSpPr/>
          <p:nvPr/>
        </p:nvGrpSpPr>
        <p:grpSpPr>
          <a:xfrm rot="0">
            <a:off x="14611350" y="4436745"/>
            <a:ext cx="304800" cy="304800"/>
            <a:chOff x="0" y="0"/>
            <a:chExt cx="406400" cy="406400"/>
          </a:xfrm>
        </p:grpSpPr>
        <p:sp>
          <p:nvSpPr>
            <p:cNvPr name="Freeform 22" id="22" descr="Check"/>
            <p:cNvSpPr/>
            <p:nvPr/>
          </p:nvSpPr>
          <p:spPr>
            <a:xfrm flipH="false" flipV="false" rot="0">
              <a:off x="0" y="0"/>
              <a:ext cx="406400" cy="406400"/>
            </a:xfrm>
            <a:custGeom>
              <a:avLst/>
              <a:gdLst/>
              <a:ahLst/>
              <a:cxnLst/>
              <a:rect r="r" b="b" t="t" l="l"/>
              <a:pathLst>
                <a:path h="406400" w="406400">
                  <a:moveTo>
                    <a:pt x="0" y="0"/>
                  </a:moveTo>
                  <a:lnTo>
                    <a:pt x="406400" y="0"/>
                  </a:lnTo>
                  <a:lnTo>
                    <a:pt x="406400" y="406400"/>
                  </a:lnTo>
                  <a:lnTo>
                    <a:pt x="0" y="406400"/>
                  </a:lnTo>
                  <a:lnTo>
                    <a:pt x="0" y="0"/>
                  </a:lnTo>
                  <a:close/>
                </a:path>
              </a:pathLst>
            </a:custGeom>
            <a:blipFill>
              <a:blip r:embed="rId3"/>
              <a:stretch>
                <a:fillRect l="0" t="0" r="0" b="0"/>
              </a:stretch>
            </a:blipFill>
          </p:spPr>
        </p:sp>
      </p:grpSp>
      <p:sp>
        <p:nvSpPr>
          <p:cNvPr name="TextBox 23" id="23"/>
          <p:cNvSpPr txBox="true"/>
          <p:nvPr/>
        </p:nvSpPr>
        <p:spPr>
          <a:xfrm rot="0">
            <a:off x="15087600" y="4354830"/>
            <a:ext cx="328612" cy="459105"/>
          </a:xfrm>
          <a:prstGeom prst="rect">
            <a:avLst/>
          </a:prstGeom>
        </p:spPr>
        <p:txBody>
          <a:bodyPr anchor="t" rtlCol="false" tIns="0" lIns="0" bIns="0" rIns="0">
            <a:spAutoFit/>
          </a:bodyPr>
          <a:lstStyle/>
          <a:p>
            <a:pPr algn="l">
              <a:lnSpc>
                <a:spcPts val="2940"/>
              </a:lnSpc>
            </a:pPr>
            <a:r>
              <a:rPr lang="en-US" sz="2100" b="true">
                <a:solidFill>
                  <a:srgbClr val="1F1E1C"/>
                </a:solidFill>
                <a:latin typeface="Archivo Narrow Bold"/>
                <a:ea typeface="Archivo Narrow Bold"/>
                <a:cs typeface="Archivo Narrow Bold"/>
                <a:sym typeface="Archivo Narrow Bold"/>
              </a:rPr>
              <a:t>Sí</a:t>
            </a:r>
          </a:p>
        </p:txBody>
      </p:sp>
      <p:sp>
        <p:nvSpPr>
          <p:cNvPr name="AutoShape 24" id="24"/>
          <p:cNvSpPr/>
          <p:nvPr/>
        </p:nvSpPr>
        <p:spPr>
          <a:xfrm rot="2040">
            <a:off x="1214438" y="5795010"/>
            <a:ext cx="15859125" cy="0"/>
          </a:xfrm>
          <a:prstGeom prst="line">
            <a:avLst/>
          </a:prstGeom>
          <a:ln cap="rnd" w="9525">
            <a:solidFill>
              <a:srgbClr val="8C8476"/>
            </a:solidFill>
            <a:prstDash val="solid"/>
            <a:headEnd type="none" len="sm" w="sm"/>
            <a:tailEnd type="none" len="sm" w="sm"/>
          </a:ln>
        </p:spPr>
      </p:sp>
      <p:sp>
        <p:nvSpPr>
          <p:cNvPr name="TextBox 25" id="25"/>
          <p:cNvSpPr txBox="true"/>
          <p:nvPr/>
        </p:nvSpPr>
        <p:spPr>
          <a:xfrm rot="0">
            <a:off x="1219200" y="5162550"/>
            <a:ext cx="2943225" cy="459105"/>
          </a:xfrm>
          <a:prstGeom prst="rect">
            <a:avLst/>
          </a:prstGeom>
        </p:spPr>
        <p:txBody>
          <a:bodyPr anchor="t" rtlCol="false" tIns="0" lIns="0" bIns="0" rIns="0">
            <a:spAutoFit/>
          </a:bodyPr>
          <a:lstStyle/>
          <a:p>
            <a:pPr algn="l">
              <a:lnSpc>
                <a:spcPts val="2940"/>
              </a:lnSpc>
            </a:pPr>
            <a:r>
              <a:rPr lang="en-US" sz="2100" b="true">
                <a:solidFill>
                  <a:srgbClr val="1F1E1C"/>
                </a:solidFill>
                <a:latin typeface="Archivo Narrow Bold"/>
                <a:ea typeface="Archivo Narrow Bold"/>
                <a:cs typeface="Archivo Narrow Bold"/>
                <a:sym typeface="Archivo Narrow Bold"/>
              </a:rPr>
              <a:t>Lasso</a:t>
            </a:r>
          </a:p>
        </p:txBody>
      </p:sp>
      <p:sp>
        <p:nvSpPr>
          <p:cNvPr name="TextBox 26" id="26"/>
          <p:cNvSpPr txBox="true"/>
          <p:nvPr/>
        </p:nvSpPr>
        <p:spPr>
          <a:xfrm rot="0">
            <a:off x="4076700" y="5162550"/>
            <a:ext cx="1885950" cy="459105"/>
          </a:xfrm>
          <a:prstGeom prst="rect">
            <a:avLst/>
          </a:prstGeom>
        </p:spPr>
        <p:txBody>
          <a:bodyPr anchor="t" rtlCol="false" tIns="0" lIns="0" bIns="0" rIns="0">
            <a:spAutoFit/>
          </a:bodyPr>
          <a:lstStyle/>
          <a:p>
            <a:pPr algn="l">
              <a:lnSpc>
                <a:spcPts val="2940"/>
              </a:lnSpc>
            </a:pPr>
            <a:r>
              <a:rPr lang="en-US" sz="2100">
                <a:solidFill>
                  <a:srgbClr val="1F1E1C"/>
                </a:solidFill>
                <a:latin typeface="Archivo Narrow"/>
                <a:ea typeface="Archivo Narrow"/>
                <a:cs typeface="Archivo Narrow"/>
                <a:sym typeface="Archivo Narrow"/>
              </a:rPr>
              <a:t>0,948</a:t>
            </a:r>
          </a:p>
        </p:txBody>
      </p:sp>
      <p:sp>
        <p:nvSpPr>
          <p:cNvPr name="TextBox 27" id="27"/>
          <p:cNvSpPr txBox="true"/>
          <p:nvPr/>
        </p:nvSpPr>
        <p:spPr>
          <a:xfrm rot="0">
            <a:off x="5886450" y="5162550"/>
            <a:ext cx="2171700" cy="459105"/>
          </a:xfrm>
          <a:prstGeom prst="rect">
            <a:avLst/>
          </a:prstGeom>
        </p:spPr>
        <p:txBody>
          <a:bodyPr anchor="t" rtlCol="false" tIns="0" lIns="0" bIns="0" rIns="0">
            <a:spAutoFit/>
          </a:bodyPr>
          <a:lstStyle/>
          <a:p>
            <a:pPr algn="l">
              <a:lnSpc>
                <a:spcPts val="2940"/>
              </a:lnSpc>
            </a:pPr>
            <a:r>
              <a:rPr lang="en-US" sz="2100">
                <a:solidFill>
                  <a:srgbClr val="1F1E1C"/>
                </a:solidFill>
                <a:latin typeface="Archivo Narrow"/>
                <a:ea typeface="Archivo Narrow"/>
                <a:cs typeface="Archivo Narrow"/>
                <a:sym typeface="Archivo Narrow"/>
              </a:rPr>
              <a:t>19.241</a:t>
            </a:r>
          </a:p>
        </p:txBody>
      </p:sp>
      <p:sp>
        <p:nvSpPr>
          <p:cNvPr name="TextBox 28" id="28"/>
          <p:cNvSpPr txBox="true"/>
          <p:nvPr/>
        </p:nvSpPr>
        <p:spPr>
          <a:xfrm rot="0">
            <a:off x="7981950" y="5162550"/>
            <a:ext cx="1885950" cy="459105"/>
          </a:xfrm>
          <a:prstGeom prst="rect">
            <a:avLst/>
          </a:prstGeom>
        </p:spPr>
        <p:txBody>
          <a:bodyPr anchor="t" rtlCol="false" tIns="0" lIns="0" bIns="0" rIns="0">
            <a:spAutoFit/>
          </a:bodyPr>
          <a:lstStyle/>
          <a:p>
            <a:pPr algn="l">
              <a:lnSpc>
                <a:spcPts val="2940"/>
              </a:lnSpc>
            </a:pPr>
            <a:r>
              <a:rPr lang="en-US" sz="2100">
                <a:solidFill>
                  <a:srgbClr val="1F1E1C"/>
                </a:solidFill>
                <a:latin typeface="Archivo Narrow"/>
                <a:ea typeface="Archivo Narrow"/>
                <a:cs typeface="Archivo Narrow"/>
                <a:sym typeface="Archivo Narrow"/>
              </a:rPr>
              <a:t>6,77 %</a:t>
            </a:r>
          </a:p>
        </p:txBody>
      </p:sp>
      <p:sp>
        <p:nvSpPr>
          <p:cNvPr name="TextBox 29" id="29"/>
          <p:cNvSpPr txBox="true"/>
          <p:nvPr/>
        </p:nvSpPr>
        <p:spPr>
          <a:xfrm rot="0">
            <a:off x="9791700" y="5162550"/>
            <a:ext cx="2457450" cy="459105"/>
          </a:xfrm>
          <a:prstGeom prst="rect">
            <a:avLst/>
          </a:prstGeom>
        </p:spPr>
        <p:txBody>
          <a:bodyPr anchor="t" rtlCol="false" tIns="0" lIns="0" bIns="0" rIns="0">
            <a:spAutoFit/>
          </a:bodyPr>
          <a:lstStyle/>
          <a:p>
            <a:pPr algn="l">
              <a:lnSpc>
                <a:spcPts val="2940"/>
              </a:lnSpc>
            </a:pPr>
            <a:r>
              <a:rPr lang="en-US" sz="2100">
                <a:solidFill>
                  <a:srgbClr val="1F1E1C"/>
                </a:solidFill>
                <a:latin typeface="Archivo Narrow"/>
                <a:ea typeface="Archivo Narrow"/>
                <a:cs typeface="Archivo Narrow"/>
                <a:sym typeface="Archivo Narrow"/>
              </a:rPr>
              <a:t>−0,9</a:t>
            </a:r>
          </a:p>
        </p:txBody>
      </p:sp>
      <p:sp>
        <p:nvSpPr>
          <p:cNvPr name="TextBox 30" id="30"/>
          <p:cNvSpPr txBox="true"/>
          <p:nvPr/>
        </p:nvSpPr>
        <p:spPr>
          <a:xfrm rot="0">
            <a:off x="12172950" y="5162550"/>
            <a:ext cx="2457450" cy="459105"/>
          </a:xfrm>
          <a:prstGeom prst="rect">
            <a:avLst/>
          </a:prstGeom>
        </p:spPr>
        <p:txBody>
          <a:bodyPr anchor="t" rtlCol="false" tIns="0" lIns="0" bIns="0" rIns="0">
            <a:spAutoFit/>
          </a:bodyPr>
          <a:lstStyle/>
          <a:p>
            <a:pPr algn="l">
              <a:lnSpc>
                <a:spcPts val="2940"/>
              </a:lnSpc>
            </a:pPr>
            <a:r>
              <a:rPr lang="en-US" sz="2100">
                <a:solidFill>
                  <a:srgbClr val="1F1E1C"/>
                </a:solidFill>
                <a:latin typeface="Archivo Narrow"/>
                <a:ea typeface="Archivo Narrow"/>
                <a:cs typeface="Archivo Narrow"/>
                <a:sym typeface="Archivo Narrow"/>
              </a:rPr>
              <a:t>6,1</a:t>
            </a:r>
          </a:p>
        </p:txBody>
      </p:sp>
      <p:grpSp>
        <p:nvGrpSpPr>
          <p:cNvPr name="Group 31" id="31"/>
          <p:cNvGrpSpPr/>
          <p:nvPr/>
        </p:nvGrpSpPr>
        <p:grpSpPr>
          <a:xfrm rot="0">
            <a:off x="14554200" y="5187315"/>
            <a:ext cx="419100" cy="419100"/>
            <a:chOff x="0" y="0"/>
            <a:chExt cx="558800" cy="558800"/>
          </a:xfrm>
        </p:grpSpPr>
        <p:sp>
          <p:nvSpPr>
            <p:cNvPr name="Freeform 32" id="32"/>
            <p:cNvSpPr/>
            <p:nvPr/>
          </p:nvSpPr>
          <p:spPr>
            <a:xfrm flipH="false" flipV="false" rot="0">
              <a:off x="0" y="0"/>
              <a:ext cx="558800" cy="558800"/>
            </a:xfrm>
            <a:custGeom>
              <a:avLst/>
              <a:gdLst/>
              <a:ahLst/>
              <a:cxnLst/>
              <a:rect r="r" b="b" t="t" l="l"/>
              <a:pathLst>
                <a:path h="558800" w="558800">
                  <a:moveTo>
                    <a:pt x="0" y="279400"/>
                  </a:moveTo>
                  <a:cubicBezTo>
                    <a:pt x="0" y="125095"/>
                    <a:pt x="125095" y="0"/>
                    <a:pt x="279400" y="0"/>
                  </a:cubicBezTo>
                  <a:cubicBezTo>
                    <a:pt x="433705" y="0"/>
                    <a:pt x="558800" y="125095"/>
                    <a:pt x="558800" y="279400"/>
                  </a:cubicBezTo>
                  <a:cubicBezTo>
                    <a:pt x="558800" y="433705"/>
                    <a:pt x="433705" y="558800"/>
                    <a:pt x="279400" y="558800"/>
                  </a:cubicBezTo>
                  <a:cubicBezTo>
                    <a:pt x="125095" y="558800"/>
                    <a:pt x="0" y="433705"/>
                    <a:pt x="0" y="279400"/>
                  </a:cubicBezTo>
                  <a:close/>
                </a:path>
              </a:pathLst>
            </a:custGeom>
            <a:solidFill>
              <a:srgbClr val="1F1E1C"/>
            </a:solidFill>
          </p:spPr>
        </p:sp>
      </p:grpSp>
      <p:grpSp>
        <p:nvGrpSpPr>
          <p:cNvPr name="Group 33" id="33"/>
          <p:cNvGrpSpPr/>
          <p:nvPr/>
        </p:nvGrpSpPr>
        <p:grpSpPr>
          <a:xfrm rot="0">
            <a:off x="14611350" y="5244465"/>
            <a:ext cx="304800" cy="304800"/>
            <a:chOff x="0" y="0"/>
            <a:chExt cx="406400" cy="406400"/>
          </a:xfrm>
        </p:grpSpPr>
        <p:sp>
          <p:nvSpPr>
            <p:cNvPr name="Freeform 34" id="34" descr="Check"/>
            <p:cNvSpPr/>
            <p:nvPr/>
          </p:nvSpPr>
          <p:spPr>
            <a:xfrm flipH="false" flipV="false" rot="0">
              <a:off x="0" y="0"/>
              <a:ext cx="406400" cy="406400"/>
            </a:xfrm>
            <a:custGeom>
              <a:avLst/>
              <a:gdLst/>
              <a:ahLst/>
              <a:cxnLst/>
              <a:rect r="r" b="b" t="t" l="l"/>
              <a:pathLst>
                <a:path h="406400" w="406400">
                  <a:moveTo>
                    <a:pt x="0" y="0"/>
                  </a:moveTo>
                  <a:lnTo>
                    <a:pt x="406400" y="0"/>
                  </a:lnTo>
                  <a:lnTo>
                    <a:pt x="406400" y="406400"/>
                  </a:lnTo>
                  <a:lnTo>
                    <a:pt x="0" y="406400"/>
                  </a:lnTo>
                  <a:lnTo>
                    <a:pt x="0" y="0"/>
                  </a:lnTo>
                  <a:close/>
                </a:path>
              </a:pathLst>
            </a:custGeom>
            <a:blipFill>
              <a:blip r:embed="rId3"/>
              <a:stretch>
                <a:fillRect l="0" t="0" r="0" b="0"/>
              </a:stretch>
            </a:blipFill>
          </p:spPr>
        </p:sp>
      </p:grpSp>
      <p:sp>
        <p:nvSpPr>
          <p:cNvPr name="TextBox 35" id="35"/>
          <p:cNvSpPr txBox="true"/>
          <p:nvPr/>
        </p:nvSpPr>
        <p:spPr>
          <a:xfrm rot="0">
            <a:off x="15087600" y="5162550"/>
            <a:ext cx="328612" cy="459105"/>
          </a:xfrm>
          <a:prstGeom prst="rect">
            <a:avLst/>
          </a:prstGeom>
        </p:spPr>
        <p:txBody>
          <a:bodyPr anchor="t" rtlCol="false" tIns="0" lIns="0" bIns="0" rIns="0">
            <a:spAutoFit/>
          </a:bodyPr>
          <a:lstStyle/>
          <a:p>
            <a:pPr algn="l">
              <a:lnSpc>
                <a:spcPts val="2940"/>
              </a:lnSpc>
            </a:pPr>
            <a:r>
              <a:rPr lang="en-US" sz="2100" b="true">
                <a:solidFill>
                  <a:srgbClr val="1F1E1C"/>
                </a:solidFill>
                <a:latin typeface="Archivo Narrow Bold"/>
                <a:ea typeface="Archivo Narrow Bold"/>
                <a:cs typeface="Archivo Narrow Bold"/>
                <a:sym typeface="Archivo Narrow Bold"/>
              </a:rPr>
              <a:t>Sí</a:t>
            </a:r>
          </a:p>
        </p:txBody>
      </p:sp>
      <p:sp>
        <p:nvSpPr>
          <p:cNvPr name="AutoShape 36" id="36"/>
          <p:cNvSpPr/>
          <p:nvPr/>
        </p:nvSpPr>
        <p:spPr>
          <a:xfrm rot="2040">
            <a:off x="1214438" y="6633210"/>
            <a:ext cx="15859125" cy="0"/>
          </a:xfrm>
          <a:prstGeom prst="line">
            <a:avLst/>
          </a:prstGeom>
          <a:ln cap="rnd" w="9525">
            <a:solidFill>
              <a:srgbClr val="8C8476"/>
            </a:solidFill>
            <a:prstDash val="solid"/>
            <a:headEnd type="none" len="sm" w="sm"/>
            <a:tailEnd type="none" len="sm" w="sm"/>
          </a:ln>
        </p:spPr>
      </p:sp>
      <p:sp>
        <p:nvSpPr>
          <p:cNvPr name="TextBox 37" id="37"/>
          <p:cNvSpPr txBox="true"/>
          <p:nvPr/>
        </p:nvSpPr>
        <p:spPr>
          <a:xfrm rot="0">
            <a:off x="1219200" y="5985510"/>
            <a:ext cx="2943225" cy="459105"/>
          </a:xfrm>
          <a:prstGeom prst="rect">
            <a:avLst/>
          </a:prstGeom>
        </p:spPr>
        <p:txBody>
          <a:bodyPr anchor="t" rtlCol="false" tIns="0" lIns="0" bIns="0" rIns="0">
            <a:spAutoFit/>
          </a:bodyPr>
          <a:lstStyle/>
          <a:p>
            <a:pPr algn="l">
              <a:lnSpc>
                <a:spcPts val="2940"/>
              </a:lnSpc>
            </a:pPr>
            <a:r>
              <a:rPr lang="en-US" sz="2100" b="true">
                <a:solidFill>
                  <a:srgbClr val="1F1E1C"/>
                </a:solidFill>
                <a:latin typeface="Archivo Narrow Bold"/>
                <a:ea typeface="Archivo Narrow Bold"/>
                <a:cs typeface="Archivo Narrow Bold"/>
                <a:sym typeface="Archivo Narrow Bold"/>
              </a:rPr>
              <a:t>XGBoost</a:t>
            </a:r>
          </a:p>
        </p:txBody>
      </p:sp>
      <p:sp>
        <p:nvSpPr>
          <p:cNvPr name="TextBox 38" id="38"/>
          <p:cNvSpPr txBox="true"/>
          <p:nvPr/>
        </p:nvSpPr>
        <p:spPr>
          <a:xfrm rot="0">
            <a:off x="4076700" y="5985510"/>
            <a:ext cx="1885950" cy="459105"/>
          </a:xfrm>
          <a:prstGeom prst="rect">
            <a:avLst/>
          </a:prstGeom>
        </p:spPr>
        <p:txBody>
          <a:bodyPr anchor="t" rtlCol="false" tIns="0" lIns="0" bIns="0" rIns="0">
            <a:spAutoFit/>
          </a:bodyPr>
          <a:lstStyle/>
          <a:p>
            <a:pPr algn="l">
              <a:lnSpc>
                <a:spcPts val="2940"/>
              </a:lnSpc>
            </a:pPr>
            <a:r>
              <a:rPr lang="en-US" sz="2100">
                <a:solidFill>
                  <a:srgbClr val="1F1E1C"/>
                </a:solidFill>
                <a:latin typeface="Archivo Narrow"/>
                <a:ea typeface="Archivo Narrow"/>
                <a:cs typeface="Archivo Narrow"/>
                <a:sym typeface="Archivo Narrow"/>
              </a:rPr>
              <a:t>0,934</a:t>
            </a:r>
          </a:p>
        </p:txBody>
      </p:sp>
      <p:sp>
        <p:nvSpPr>
          <p:cNvPr name="TextBox 39" id="39"/>
          <p:cNvSpPr txBox="true"/>
          <p:nvPr/>
        </p:nvSpPr>
        <p:spPr>
          <a:xfrm rot="0">
            <a:off x="5886450" y="5985510"/>
            <a:ext cx="2171700" cy="459105"/>
          </a:xfrm>
          <a:prstGeom prst="rect">
            <a:avLst/>
          </a:prstGeom>
        </p:spPr>
        <p:txBody>
          <a:bodyPr anchor="t" rtlCol="false" tIns="0" lIns="0" bIns="0" rIns="0">
            <a:spAutoFit/>
          </a:bodyPr>
          <a:lstStyle/>
          <a:p>
            <a:pPr algn="l">
              <a:lnSpc>
                <a:spcPts val="2940"/>
              </a:lnSpc>
            </a:pPr>
            <a:r>
              <a:rPr lang="en-US" sz="2100">
                <a:solidFill>
                  <a:srgbClr val="1F1E1C"/>
                </a:solidFill>
                <a:latin typeface="Archivo Narrow"/>
                <a:ea typeface="Archivo Narrow"/>
                <a:cs typeface="Archivo Narrow"/>
                <a:sym typeface="Archivo Narrow"/>
              </a:rPr>
              <a:t>21.660</a:t>
            </a:r>
          </a:p>
        </p:txBody>
      </p:sp>
      <p:sp>
        <p:nvSpPr>
          <p:cNvPr name="TextBox 40" id="40"/>
          <p:cNvSpPr txBox="true"/>
          <p:nvPr/>
        </p:nvSpPr>
        <p:spPr>
          <a:xfrm rot="0">
            <a:off x="7981950" y="5985510"/>
            <a:ext cx="1885950" cy="459105"/>
          </a:xfrm>
          <a:prstGeom prst="rect">
            <a:avLst/>
          </a:prstGeom>
        </p:spPr>
        <p:txBody>
          <a:bodyPr anchor="t" rtlCol="false" tIns="0" lIns="0" bIns="0" rIns="0">
            <a:spAutoFit/>
          </a:bodyPr>
          <a:lstStyle/>
          <a:p>
            <a:pPr algn="l">
              <a:lnSpc>
                <a:spcPts val="2940"/>
              </a:lnSpc>
            </a:pPr>
            <a:r>
              <a:rPr lang="en-US" sz="2100">
                <a:solidFill>
                  <a:srgbClr val="1F1E1C"/>
                </a:solidFill>
                <a:latin typeface="Archivo Narrow"/>
                <a:ea typeface="Archivo Narrow"/>
                <a:cs typeface="Archivo Narrow"/>
                <a:sym typeface="Archivo Narrow"/>
              </a:rPr>
              <a:t>7,39 %</a:t>
            </a:r>
          </a:p>
        </p:txBody>
      </p:sp>
      <p:grpSp>
        <p:nvGrpSpPr>
          <p:cNvPr name="Group 41" id="41"/>
          <p:cNvGrpSpPr/>
          <p:nvPr/>
        </p:nvGrpSpPr>
        <p:grpSpPr>
          <a:xfrm rot="0">
            <a:off x="9791700" y="5995035"/>
            <a:ext cx="1300477" cy="449580"/>
            <a:chOff x="0" y="0"/>
            <a:chExt cx="1733969" cy="599440"/>
          </a:xfrm>
        </p:grpSpPr>
        <p:sp>
          <p:nvSpPr>
            <p:cNvPr name="Freeform 42" id="42"/>
            <p:cNvSpPr/>
            <p:nvPr/>
          </p:nvSpPr>
          <p:spPr>
            <a:xfrm flipH="false" flipV="false" rot="0">
              <a:off x="0" y="0"/>
              <a:ext cx="1733931" cy="599440"/>
            </a:xfrm>
            <a:custGeom>
              <a:avLst/>
              <a:gdLst/>
              <a:ahLst/>
              <a:cxnLst/>
              <a:rect r="r" b="b" t="t" l="l"/>
              <a:pathLst>
                <a:path h="599440" w="1733931">
                  <a:moveTo>
                    <a:pt x="299720" y="0"/>
                  </a:moveTo>
                  <a:lnTo>
                    <a:pt x="1434211" y="0"/>
                  </a:lnTo>
                  <a:cubicBezTo>
                    <a:pt x="1599692" y="0"/>
                    <a:pt x="1733931" y="134239"/>
                    <a:pt x="1733931" y="299720"/>
                  </a:cubicBezTo>
                  <a:cubicBezTo>
                    <a:pt x="1733931" y="465201"/>
                    <a:pt x="1599692" y="599440"/>
                    <a:pt x="1434211" y="599440"/>
                  </a:cubicBezTo>
                  <a:lnTo>
                    <a:pt x="299720" y="599440"/>
                  </a:lnTo>
                  <a:cubicBezTo>
                    <a:pt x="134239" y="599440"/>
                    <a:pt x="0" y="465201"/>
                    <a:pt x="0" y="299720"/>
                  </a:cubicBezTo>
                  <a:cubicBezTo>
                    <a:pt x="0" y="134239"/>
                    <a:pt x="134239" y="0"/>
                    <a:pt x="299720" y="0"/>
                  </a:cubicBezTo>
                  <a:close/>
                </a:path>
              </a:pathLst>
            </a:custGeom>
            <a:solidFill>
              <a:srgbClr val="1F1E1C"/>
            </a:solidFill>
          </p:spPr>
        </p:sp>
        <p:sp>
          <p:nvSpPr>
            <p:cNvPr name="TextBox 43" id="43"/>
            <p:cNvSpPr txBox="true"/>
            <p:nvPr/>
          </p:nvSpPr>
          <p:spPr>
            <a:xfrm>
              <a:off x="0" y="-47625"/>
              <a:ext cx="1733969" cy="647065"/>
            </a:xfrm>
            <a:prstGeom prst="rect">
              <a:avLst/>
            </a:prstGeom>
          </p:spPr>
          <p:txBody>
            <a:bodyPr anchor="ctr" rtlCol="false" tIns="50800" lIns="50800" bIns="50800" rIns="50800"/>
            <a:lstStyle/>
            <a:p>
              <a:pPr algn="ctr">
                <a:lnSpc>
                  <a:spcPts val="2940"/>
                </a:lnSpc>
              </a:pPr>
              <a:r>
                <a:rPr lang="en-US" sz="2100" b="true">
                  <a:solidFill>
                    <a:srgbClr val="DCD3C3"/>
                  </a:solidFill>
                  <a:latin typeface="Archivo Narrow Bold"/>
                  <a:ea typeface="Archivo Narrow Bold"/>
                  <a:cs typeface="Archivo Narrow Bold"/>
                  <a:sym typeface="Archivo Narrow Bold"/>
                </a:rPr>
                <a:t>6,3 · No</a:t>
              </a:r>
            </a:p>
          </p:txBody>
        </p:sp>
      </p:grpSp>
      <p:sp>
        <p:nvSpPr>
          <p:cNvPr name="TextBox 44" id="44"/>
          <p:cNvSpPr txBox="true"/>
          <p:nvPr/>
        </p:nvSpPr>
        <p:spPr>
          <a:xfrm rot="0">
            <a:off x="12172950" y="5985510"/>
            <a:ext cx="2457450" cy="459105"/>
          </a:xfrm>
          <a:prstGeom prst="rect">
            <a:avLst/>
          </a:prstGeom>
        </p:spPr>
        <p:txBody>
          <a:bodyPr anchor="t" rtlCol="false" tIns="0" lIns="0" bIns="0" rIns="0">
            <a:spAutoFit/>
          </a:bodyPr>
          <a:lstStyle/>
          <a:p>
            <a:pPr algn="l">
              <a:lnSpc>
                <a:spcPts val="2940"/>
              </a:lnSpc>
            </a:pPr>
            <a:r>
              <a:rPr lang="en-US" sz="2100">
                <a:solidFill>
                  <a:srgbClr val="1F1E1C"/>
                </a:solidFill>
                <a:latin typeface="Archivo Narrow"/>
                <a:ea typeface="Archivo Narrow"/>
                <a:cs typeface="Archivo Narrow"/>
                <a:sym typeface="Archivo Narrow"/>
              </a:rPr>
              <a:t>7,7</a:t>
            </a:r>
          </a:p>
        </p:txBody>
      </p:sp>
      <p:grpSp>
        <p:nvGrpSpPr>
          <p:cNvPr name="Group 45" id="45"/>
          <p:cNvGrpSpPr/>
          <p:nvPr/>
        </p:nvGrpSpPr>
        <p:grpSpPr>
          <a:xfrm rot="0">
            <a:off x="14554200" y="6010275"/>
            <a:ext cx="419100" cy="419100"/>
            <a:chOff x="0" y="0"/>
            <a:chExt cx="558800" cy="558800"/>
          </a:xfrm>
        </p:grpSpPr>
        <p:sp>
          <p:nvSpPr>
            <p:cNvPr name="Freeform 46" id="46"/>
            <p:cNvSpPr/>
            <p:nvPr/>
          </p:nvSpPr>
          <p:spPr>
            <a:xfrm flipH="false" flipV="false" rot="0">
              <a:off x="0" y="0"/>
              <a:ext cx="558800" cy="558800"/>
            </a:xfrm>
            <a:custGeom>
              <a:avLst/>
              <a:gdLst/>
              <a:ahLst/>
              <a:cxnLst/>
              <a:rect r="r" b="b" t="t" l="l"/>
              <a:pathLst>
                <a:path h="558800" w="558800">
                  <a:moveTo>
                    <a:pt x="0" y="279400"/>
                  </a:moveTo>
                  <a:cubicBezTo>
                    <a:pt x="0" y="125095"/>
                    <a:pt x="125095" y="0"/>
                    <a:pt x="279400" y="0"/>
                  </a:cubicBezTo>
                  <a:cubicBezTo>
                    <a:pt x="433705" y="0"/>
                    <a:pt x="558800" y="125095"/>
                    <a:pt x="558800" y="279400"/>
                  </a:cubicBezTo>
                  <a:cubicBezTo>
                    <a:pt x="558800" y="433705"/>
                    <a:pt x="433705" y="558800"/>
                    <a:pt x="279400" y="558800"/>
                  </a:cubicBezTo>
                  <a:cubicBezTo>
                    <a:pt x="125095" y="558800"/>
                    <a:pt x="0" y="433705"/>
                    <a:pt x="0" y="279400"/>
                  </a:cubicBezTo>
                  <a:close/>
                </a:path>
              </a:pathLst>
            </a:custGeom>
            <a:blipFill>
              <a:blip r:embed="rId4">
                <a:alphaModFix amt="0"/>
              </a:blip>
              <a:stretch>
                <a:fillRect l="-78303" t="0" r="-78303" b="0"/>
              </a:stretch>
            </a:blipFill>
            <a:ln w="19050" cap="sq">
              <a:solidFill>
                <a:srgbClr val="1F1E1C"/>
              </a:solidFill>
              <a:prstDash val="solid"/>
              <a:miter/>
            </a:ln>
          </p:spPr>
        </p:sp>
      </p:grpSp>
      <p:grpSp>
        <p:nvGrpSpPr>
          <p:cNvPr name="Group 47" id="47"/>
          <p:cNvGrpSpPr/>
          <p:nvPr/>
        </p:nvGrpSpPr>
        <p:grpSpPr>
          <a:xfrm rot="0">
            <a:off x="14611350" y="6067425"/>
            <a:ext cx="304800" cy="304800"/>
            <a:chOff x="0" y="0"/>
            <a:chExt cx="406400" cy="406400"/>
          </a:xfrm>
        </p:grpSpPr>
        <p:sp>
          <p:nvSpPr>
            <p:cNvPr name="Freeform 48" id="48" descr="Warning"/>
            <p:cNvSpPr/>
            <p:nvPr/>
          </p:nvSpPr>
          <p:spPr>
            <a:xfrm flipH="false" flipV="false" rot="0">
              <a:off x="0" y="0"/>
              <a:ext cx="406400" cy="406400"/>
            </a:xfrm>
            <a:custGeom>
              <a:avLst/>
              <a:gdLst/>
              <a:ahLst/>
              <a:cxnLst/>
              <a:rect r="r" b="b" t="t" l="l"/>
              <a:pathLst>
                <a:path h="406400" w="406400">
                  <a:moveTo>
                    <a:pt x="0" y="0"/>
                  </a:moveTo>
                  <a:lnTo>
                    <a:pt x="406400" y="0"/>
                  </a:lnTo>
                  <a:lnTo>
                    <a:pt x="406400" y="406400"/>
                  </a:lnTo>
                  <a:lnTo>
                    <a:pt x="0" y="406400"/>
                  </a:lnTo>
                  <a:lnTo>
                    <a:pt x="0" y="0"/>
                  </a:lnTo>
                  <a:close/>
                </a:path>
              </a:pathLst>
            </a:custGeom>
            <a:blipFill>
              <a:blip r:embed="rId5"/>
              <a:stretch>
                <a:fillRect l="0" t="0" r="0" b="0"/>
              </a:stretch>
            </a:blipFill>
          </p:spPr>
        </p:sp>
      </p:grpSp>
      <p:sp>
        <p:nvSpPr>
          <p:cNvPr name="TextBox 49" id="49"/>
          <p:cNvSpPr txBox="true"/>
          <p:nvPr/>
        </p:nvSpPr>
        <p:spPr>
          <a:xfrm rot="0">
            <a:off x="15087600" y="5985510"/>
            <a:ext cx="440846" cy="459105"/>
          </a:xfrm>
          <a:prstGeom prst="rect">
            <a:avLst/>
          </a:prstGeom>
        </p:spPr>
        <p:txBody>
          <a:bodyPr anchor="t" rtlCol="false" tIns="0" lIns="0" bIns="0" rIns="0">
            <a:spAutoFit/>
          </a:bodyPr>
          <a:lstStyle/>
          <a:p>
            <a:pPr algn="l">
              <a:lnSpc>
                <a:spcPts val="2940"/>
              </a:lnSpc>
            </a:pPr>
            <a:r>
              <a:rPr lang="en-US" sz="2100" b="true">
                <a:solidFill>
                  <a:srgbClr val="1F1E1C"/>
                </a:solidFill>
                <a:latin typeface="Archivo Narrow Bold"/>
                <a:ea typeface="Archivo Narrow Bold"/>
                <a:cs typeface="Archivo Narrow Bold"/>
                <a:sym typeface="Archivo Narrow Bold"/>
              </a:rPr>
              <a:t>No</a:t>
            </a:r>
          </a:p>
        </p:txBody>
      </p:sp>
      <p:sp>
        <p:nvSpPr>
          <p:cNvPr name="AutoShape 50" id="50"/>
          <p:cNvSpPr/>
          <p:nvPr/>
        </p:nvSpPr>
        <p:spPr>
          <a:xfrm rot="2040">
            <a:off x="1214438" y="7471410"/>
            <a:ext cx="15859125" cy="0"/>
          </a:xfrm>
          <a:prstGeom prst="line">
            <a:avLst/>
          </a:prstGeom>
          <a:ln cap="rnd" w="9525">
            <a:solidFill>
              <a:srgbClr val="8C8476"/>
            </a:solidFill>
            <a:prstDash val="solid"/>
            <a:headEnd type="none" len="sm" w="sm"/>
            <a:tailEnd type="none" len="sm" w="sm"/>
          </a:ln>
        </p:spPr>
      </p:sp>
      <p:sp>
        <p:nvSpPr>
          <p:cNvPr name="TextBox 51" id="51"/>
          <p:cNvSpPr txBox="true"/>
          <p:nvPr/>
        </p:nvSpPr>
        <p:spPr>
          <a:xfrm rot="0">
            <a:off x="1219200" y="6823710"/>
            <a:ext cx="2943225" cy="459105"/>
          </a:xfrm>
          <a:prstGeom prst="rect">
            <a:avLst/>
          </a:prstGeom>
        </p:spPr>
        <p:txBody>
          <a:bodyPr anchor="t" rtlCol="false" tIns="0" lIns="0" bIns="0" rIns="0">
            <a:spAutoFit/>
          </a:bodyPr>
          <a:lstStyle/>
          <a:p>
            <a:pPr algn="l">
              <a:lnSpc>
                <a:spcPts val="2940"/>
              </a:lnSpc>
            </a:pPr>
            <a:r>
              <a:rPr lang="en-US" sz="2100" b="true">
                <a:solidFill>
                  <a:srgbClr val="1F1E1C"/>
                </a:solidFill>
                <a:latin typeface="Archivo Narrow Bold"/>
                <a:ea typeface="Archivo Narrow Bold"/>
                <a:cs typeface="Archivo Narrow Bold"/>
                <a:sym typeface="Archivo Narrow Bold"/>
              </a:rPr>
              <a:t>Random Forest</a:t>
            </a:r>
          </a:p>
        </p:txBody>
      </p:sp>
      <p:sp>
        <p:nvSpPr>
          <p:cNvPr name="TextBox 52" id="52"/>
          <p:cNvSpPr txBox="true"/>
          <p:nvPr/>
        </p:nvSpPr>
        <p:spPr>
          <a:xfrm rot="0">
            <a:off x="4076700" y="6823710"/>
            <a:ext cx="1885950" cy="459105"/>
          </a:xfrm>
          <a:prstGeom prst="rect">
            <a:avLst/>
          </a:prstGeom>
        </p:spPr>
        <p:txBody>
          <a:bodyPr anchor="t" rtlCol="false" tIns="0" lIns="0" bIns="0" rIns="0">
            <a:spAutoFit/>
          </a:bodyPr>
          <a:lstStyle/>
          <a:p>
            <a:pPr algn="l">
              <a:lnSpc>
                <a:spcPts val="2940"/>
              </a:lnSpc>
            </a:pPr>
            <a:r>
              <a:rPr lang="en-US" sz="2100">
                <a:solidFill>
                  <a:srgbClr val="1F1E1C"/>
                </a:solidFill>
                <a:latin typeface="Archivo Narrow"/>
                <a:ea typeface="Archivo Narrow"/>
                <a:cs typeface="Archivo Narrow"/>
                <a:sym typeface="Archivo Narrow"/>
              </a:rPr>
              <a:t>0,924</a:t>
            </a:r>
          </a:p>
        </p:txBody>
      </p:sp>
      <p:sp>
        <p:nvSpPr>
          <p:cNvPr name="TextBox 53" id="53"/>
          <p:cNvSpPr txBox="true"/>
          <p:nvPr/>
        </p:nvSpPr>
        <p:spPr>
          <a:xfrm rot="0">
            <a:off x="5886450" y="6823710"/>
            <a:ext cx="2171700" cy="459105"/>
          </a:xfrm>
          <a:prstGeom prst="rect">
            <a:avLst/>
          </a:prstGeom>
        </p:spPr>
        <p:txBody>
          <a:bodyPr anchor="t" rtlCol="false" tIns="0" lIns="0" bIns="0" rIns="0">
            <a:spAutoFit/>
          </a:bodyPr>
          <a:lstStyle/>
          <a:p>
            <a:pPr algn="l">
              <a:lnSpc>
                <a:spcPts val="2940"/>
              </a:lnSpc>
            </a:pPr>
            <a:r>
              <a:rPr lang="en-US" sz="2100">
                <a:solidFill>
                  <a:srgbClr val="1F1E1C"/>
                </a:solidFill>
                <a:latin typeface="Archivo Narrow"/>
                <a:ea typeface="Archivo Narrow"/>
                <a:cs typeface="Archivo Narrow"/>
                <a:sym typeface="Archivo Narrow"/>
              </a:rPr>
              <a:t>23.219</a:t>
            </a:r>
          </a:p>
        </p:txBody>
      </p:sp>
      <p:sp>
        <p:nvSpPr>
          <p:cNvPr name="TextBox 54" id="54"/>
          <p:cNvSpPr txBox="true"/>
          <p:nvPr/>
        </p:nvSpPr>
        <p:spPr>
          <a:xfrm rot="0">
            <a:off x="7981950" y="6823710"/>
            <a:ext cx="1885950" cy="459105"/>
          </a:xfrm>
          <a:prstGeom prst="rect">
            <a:avLst/>
          </a:prstGeom>
        </p:spPr>
        <p:txBody>
          <a:bodyPr anchor="t" rtlCol="false" tIns="0" lIns="0" bIns="0" rIns="0">
            <a:spAutoFit/>
          </a:bodyPr>
          <a:lstStyle/>
          <a:p>
            <a:pPr algn="l">
              <a:lnSpc>
                <a:spcPts val="2940"/>
              </a:lnSpc>
            </a:pPr>
            <a:r>
              <a:rPr lang="en-US" sz="2100">
                <a:solidFill>
                  <a:srgbClr val="1F1E1C"/>
                </a:solidFill>
                <a:latin typeface="Archivo Narrow"/>
                <a:ea typeface="Archivo Narrow"/>
                <a:cs typeface="Archivo Narrow"/>
                <a:sym typeface="Archivo Narrow"/>
              </a:rPr>
              <a:t>7,94 %</a:t>
            </a:r>
          </a:p>
        </p:txBody>
      </p:sp>
      <p:grpSp>
        <p:nvGrpSpPr>
          <p:cNvPr name="Group 55" id="55"/>
          <p:cNvGrpSpPr/>
          <p:nvPr/>
        </p:nvGrpSpPr>
        <p:grpSpPr>
          <a:xfrm rot="0">
            <a:off x="9791700" y="6833235"/>
            <a:ext cx="1300477" cy="449580"/>
            <a:chOff x="0" y="0"/>
            <a:chExt cx="1733969" cy="599440"/>
          </a:xfrm>
        </p:grpSpPr>
        <p:sp>
          <p:nvSpPr>
            <p:cNvPr name="Freeform 56" id="56"/>
            <p:cNvSpPr/>
            <p:nvPr/>
          </p:nvSpPr>
          <p:spPr>
            <a:xfrm flipH="false" flipV="false" rot="0">
              <a:off x="0" y="0"/>
              <a:ext cx="1733931" cy="599440"/>
            </a:xfrm>
            <a:custGeom>
              <a:avLst/>
              <a:gdLst/>
              <a:ahLst/>
              <a:cxnLst/>
              <a:rect r="r" b="b" t="t" l="l"/>
              <a:pathLst>
                <a:path h="599440" w="1733931">
                  <a:moveTo>
                    <a:pt x="299720" y="0"/>
                  </a:moveTo>
                  <a:lnTo>
                    <a:pt x="1434211" y="0"/>
                  </a:lnTo>
                  <a:cubicBezTo>
                    <a:pt x="1599692" y="0"/>
                    <a:pt x="1733931" y="134239"/>
                    <a:pt x="1733931" y="299720"/>
                  </a:cubicBezTo>
                  <a:cubicBezTo>
                    <a:pt x="1733931" y="465201"/>
                    <a:pt x="1599692" y="599440"/>
                    <a:pt x="1434211" y="599440"/>
                  </a:cubicBezTo>
                  <a:lnTo>
                    <a:pt x="299720" y="599440"/>
                  </a:lnTo>
                  <a:cubicBezTo>
                    <a:pt x="134239" y="599440"/>
                    <a:pt x="0" y="465201"/>
                    <a:pt x="0" y="299720"/>
                  </a:cubicBezTo>
                  <a:cubicBezTo>
                    <a:pt x="0" y="134239"/>
                    <a:pt x="134239" y="0"/>
                    <a:pt x="299720" y="0"/>
                  </a:cubicBezTo>
                  <a:close/>
                </a:path>
              </a:pathLst>
            </a:custGeom>
            <a:solidFill>
              <a:srgbClr val="1F1E1C"/>
            </a:solidFill>
          </p:spPr>
        </p:sp>
        <p:sp>
          <p:nvSpPr>
            <p:cNvPr name="TextBox 57" id="57"/>
            <p:cNvSpPr txBox="true"/>
            <p:nvPr/>
          </p:nvSpPr>
          <p:spPr>
            <a:xfrm>
              <a:off x="0" y="-47625"/>
              <a:ext cx="1733969" cy="647065"/>
            </a:xfrm>
            <a:prstGeom prst="rect">
              <a:avLst/>
            </a:prstGeom>
          </p:spPr>
          <p:txBody>
            <a:bodyPr anchor="ctr" rtlCol="false" tIns="50800" lIns="50800" bIns="50800" rIns="50800"/>
            <a:lstStyle/>
            <a:p>
              <a:pPr algn="ctr">
                <a:lnSpc>
                  <a:spcPts val="2940"/>
                </a:lnSpc>
              </a:pPr>
              <a:r>
                <a:rPr lang="en-US" sz="2100" b="true">
                  <a:solidFill>
                    <a:srgbClr val="DCD3C3"/>
                  </a:solidFill>
                  <a:latin typeface="Archivo Narrow Bold"/>
                  <a:ea typeface="Archivo Narrow Bold"/>
                  <a:cs typeface="Archivo Narrow Bold"/>
                  <a:sym typeface="Archivo Narrow Bold"/>
                </a:rPr>
                <a:t>6,1 · No</a:t>
              </a:r>
            </a:p>
          </p:txBody>
        </p:sp>
      </p:grpSp>
      <p:grpSp>
        <p:nvGrpSpPr>
          <p:cNvPr name="Group 58" id="58"/>
          <p:cNvGrpSpPr/>
          <p:nvPr/>
        </p:nvGrpSpPr>
        <p:grpSpPr>
          <a:xfrm rot="0">
            <a:off x="12172950" y="6833235"/>
            <a:ext cx="1459068" cy="449580"/>
            <a:chOff x="0" y="0"/>
            <a:chExt cx="1945424" cy="599440"/>
          </a:xfrm>
        </p:grpSpPr>
        <p:sp>
          <p:nvSpPr>
            <p:cNvPr name="Freeform 59" id="59"/>
            <p:cNvSpPr/>
            <p:nvPr/>
          </p:nvSpPr>
          <p:spPr>
            <a:xfrm flipH="false" flipV="false" rot="0">
              <a:off x="0" y="0"/>
              <a:ext cx="1945386" cy="599440"/>
            </a:xfrm>
            <a:custGeom>
              <a:avLst/>
              <a:gdLst/>
              <a:ahLst/>
              <a:cxnLst/>
              <a:rect r="r" b="b" t="t" l="l"/>
              <a:pathLst>
                <a:path h="599440" w="1945386">
                  <a:moveTo>
                    <a:pt x="299720" y="0"/>
                  </a:moveTo>
                  <a:lnTo>
                    <a:pt x="1645666" y="0"/>
                  </a:lnTo>
                  <a:cubicBezTo>
                    <a:pt x="1811147" y="0"/>
                    <a:pt x="1945386" y="134239"/>
                    <a:pt x="1945386" y="299720"/>
                  </a:cubicBezTo>
                  <a:cubicBezTo>
                    <a:pt x="1945386" y="465201"/>
                    <a:pt x="1811147" y="599440"/>
                    <a:pt x="1645666" y="599440"/>
                  </a:cubicBezTo>
                  <a:lnTo>
                    <a:pt x="299720" y="599440"/>
                  </a:lnTo>
                  <a:cubicBezTo>
                    <a:pt x="134239" y="599440"/>
                    <a:pt x="0" y="465201"/>
                    <a:pt x="0" y="299720"/>
                  </a:cubicBezTo>
                  <a:cubicBezTo>
                    <a:pt x="0" y="134239"/>
                    <a:pt x="134239" y="0"/>
                    <a:pt x="299720" y="0"/>
                  </a:cubicBezTo>
                  <a:close/>
                </a:path>
              </a:pathLst>
            </a:custGeom>
            <a:solidFill>
              <a:srgbClr val="1F1E1C"/>
            </a:solidFill>
          </p:spPr>
        </p:sp>
        <p:sp>
          <p:nvSpPr>
            <p:cNvPr name="TextBox 60" id="60"/>
            <p:cNvSpPr txBox="true"/>
            <p:nvPr/>
          </p:nvSpPr>
          <p:spPr>
            <a:xfrm>
              <a:off x="0" y="-47625"/>
              <a:ext cx="1945424" cy="647065"/>
            </a:xfrm>
            <a:prstGeom prst="rect">
              <a:avLst/>
            </a:prstGeom>
          </p:spPr>
          <p:txBody>
            <a:bodyPr anchor="ctr" rtlCol="false" tIns="50800" lIns="50800" bIns="50800" rIns="50800"/>
            <a:lstStyle/>
            <a:p>
              <a:pPr algn="ctr">
                <a:lnSpc>
                  <a:spcPts val="2940"/>
                </a:lnSpc>
              </a:pPr>
              <a:r>
                <a:rPr lang="en-US" sz="2100" b="true">
                  <a:solidFill>
                    <a:srgbClr val="DCD3C3"/>
                  </a:solidFill>
                  <a:latin typeface="Archivo Narrow Bold"/>
                  <a:ea typeface="Archivo Narrow Bold"/>
                  <a:cs typeface="Archivo Narrow Bold"/>
                  <a:sym typeface="Archivo Narrow Bold"/>
                </a:rPr>
                <a:t>10,0 · No</a:t>
              </a:r>
            </a:p>
          </p:txBody>
        </p:sp>
      </p:grpSp>
      <p:grpSp>
        <p:nvGrpSpPr>
          <p:cNvPr name="Group 61" id="61"/>
          <p:cNvGrpSpPr/>
          <p:nvPr/>
        </p:nvGrpSpPr>
        <p:grpSpPr>
          <a:xfrm rot="0">
            <a:off x="14554200" y="6848475"/>
            <a:ext cx="419100" cy="419100"/>
            <a:chOff x="0" y="0"/>
            <a:chExt cx="558800" cy="558800"/>
          </a:xfrm>
        </p:grpSpPr>
        <p:sp>
          <p:nvSpPr>
            <p:cNvPr name="Freeform 62" id="62"/>
            <p:cNvSpPr/>
            <p:nvPr/>
          </p:nvSpPr>
          <p:spPr>
            <a:xfrm flipH="false" flipV="false" rot="0">
              <a:off x="0" y="0"/>
              <a:ext cx="558800" cy="558800"/>
            </a:xfrm>
            <a:custGeom>
              <a:avLst/>
              <a:gdLst/>
              <a:ahLst/>
              <a:cxnLst/>
              <a:rect r="r" b="b" t="t" l="l"/>
              <a:pathLst>
                <a:path h="558800" w="558800">
                  <a:moveTo>
                    <a:pt x="0" y="279400"/>
                  </a:moveTo>
                  <a:cubicBezTo>
                    <a:pt x="0" y="125095"/>
                    <a:pt x="125095" y="0"/>
                    <a:pt x="279400" y="0"/>
                  </a:cubicBezTo>
                  <a:cubicBezTo>
                    <a:pt x="433705" y="0"/>
                    <a:pt x="558800" y="125095"/>
                    <a:pt x="558800" y="279400"/>
                  </a:cubicBezTo>
                  <a:cubicBezTo>
                    <a:pt x="558800" y="433705"/>
                    <a:pt x="433705" y="558800"/>
                    <a:pt x="279400" y="558800"/>
                  </a:cubicBezTo>
                  <a:cubicBezTo>
                    <a:pt x="125095" y="558800"/>
                    <a:pt x="0" y="433705"/>
                    <a:pt x="0" y="279400"/>
                  </a:cubicBezTo>
                  <a:close/>
                </a:path>
              </a:pathLst>
            </a:custGeom>
            <a:blipFill>
              <a:blip r:embed="rId4">
                <a:alphaModFix amt="0"/>
              </a:blip>
              <a:stretch>
                <a:fillRect l="-78303" t="0" r="-78303" b="0"/>
              </a:stretch>
            </a:blipFill>
            <a:ln w="19050" cap="sq">
              <a:solidFill>
                <a:srgbClr val="1F1E1C"/>
              </a:solidFill>
              <a:prstDash val="solid"/>
              <a:miter/>
            </a:ln>
          </p:spPr>
        </p:sp>
      </p:grpSp>
      <p:grpSp>
        <p:nvGrpSpPr>
          <p:cNvPr name="Group 63" id="63"/>
          <p:cNvGrpSpPr/>
          <p:nvPr/>
        </p:nvGrpSpPr>
        <p:grpSpPr>
          <a:xfrm rot="0">
            <a:off x="14611350" y="6905625"/>
            <a:ext cx="304800" cy="304800"/>
            <a:chOff x="0" y="0"/>
            <a:chExt cx="406400" cy="406400"/>
          </a:xfrm>
        </p:grpSpPr>
        <p:sp>
          <p:nvSpPr>
            <p:cNvPr name="Freeform 64" id="64" descr="Warning"/>
            <p:cNvSpPr/>
            <p:nvPr/>
          </p:nvSpPr>
          <p:spPr>
            <a:xfrm flipH="false" flipV="false" rot="0">
              <a:off x="0" y="0"/>
              <a:ext cx="406400" cy="406400"/>
            </a:xfrm>
            <a:custGeom>
              <a:avLst/>
              <a:gdLst/>
              <a:ahLst/>
              <a:cxnLst/>
              <a:rect r="r" b="b" t="t" l="l"/>
              <a:pathLst>
                <a:path h="406400" w="406400">
                  <a:moveTo>
                    <a:pt x="0" y="0"/>
                  </a:moveTo>
                  <a:lnTo>
                    <a:pt x="406400" y="0"/>
                  </a:lnTo>
                  <a:lnTo>
                    <a:pt x="406400" y="406400"/>
                  </a:lnTo>
                  <a:lnTo>
                    <a:pt x="0" y="406400"/>
                  </a:lnTo>
                  <a:lnTo>
                    <a:pt x="0" y="0"/>
                  </a:lnTo>
                  <a:close/>
                </a:path>
              </a:pathLst>
            </a:custGeom>
            <a:blipFill>
              <a:blip r:embed="rId5"/>
              <a:stretch>
                <a:fillRect l="0" t="0" r="0" b="0"/>
              </a:stretch>
            </a:blipFill>
          </p:spPr>
        </p:sp>
      </p:grpSp>
      <p:sp>
        <p:nvSpPr>
          <p:cNvPr name="TextBox 65" id="65"/>
          <p:cNvSpPr txBox="true"/>
          <p:nvPr/>
        </p:nvSpPr>
        <p:spPr>
          <a:xfrm rot="0">
            <a:off x="15087600" y="6823710"/>
            <a:ext cx="440846" cy="459105"/>
          </a:xfrm>
          <a:prstGeom prst="rect">
            <a:avLst/>
          </a:prstGeom>
        </p:spPr>
        <p:txBody>
          <a:bodyPr anchor="t" rtlCol="false" tIns="0" lIns="0" bIns="0" rIns="0">
            <a:spAutoFit/>
          </a:bodyPr>
          <a:lstStyle/>
          <a:p>
            <a:pPr algn="l">
              <a:lnSpc>
                <a:spcPts val="2940"/>
              </a:lnSpc>
            </a:pPr>
            <a:r>
              <a:rPr lang="en-US" sz="2100" b="true">
                <a:solidFill>
                  <a:srgbClr val="1F1E1C"/>
                </a:solidFill>
                <a:latin typeface="Archivo Narrow Bold"/>
                <a:ea typeface="Archivo Narrow Bold"/>
                <a:cs typeface="Archivo Narrow Bold"/>
                <a:sym typeface="Archivo Narrow Bold"/>
              </a:rPr>
              <a:t>No</a:t>
            </a:r>
          </a:p>
        </p:txBody>
      </p:sp>
      <p:sp>
        <p:nvSpPr>
          <p:cNvPr name="AutoShape 66" id="66"/>
          <p:cNvSpPr/>
          <p:nvPr/>
        </p:nvSpPr>
        <p:spPr>
          <a:xfrm rot="5072040">
            <a:off x="1038273" y="8032432"/>
            <a:ext cx="399964" cy="0"/>
          </a:xfrm>
          <a:prstGeom prst="line">
            <a:avLst/>
          </a:prstGeom>
          <a:ln cap="rnd" w="19050">
            <a:solidFill>
              <a:srgbClr val="1F1E1C"/>
            </a:solidFill>
            <a:prstDash val="solid"/>
            <a:headEnd type="none" len="sm" w="sm"/>
            <a:tailEnd type="none" len="sm" w="sm"/>
          </a:ln>
        </p:spPr>
      </p:sp>
      <p:sp>
        <p:nvSpPr>
          <p:cNvPr name="TextBox 67" id="67"/>
          <p:cNvSpPr txBox="true"/>
          <p:nvPr/>
        </p:nvSpPr>
        <p:spPr>
          <a:xfrm rot="0">
            <a:off x="1485900" y="7823835"/>
            <a:ext cx="16050387" cy="436245"/>
          </a:xfrm>
          <a:prstGeom prst="rect">
            <a:avLst/>
          </a:prstGeom>
        </p:spPr>
        <p:txBody>
          <a:bodyPr anchor="t" rtlCol="false" tIns="0" lIns="0" bIns="0" rIns="0">
            <a:spAutoFit/>
          </a:bodyPr>
          <a:lstStyle/>
          <a:p>
            <a:pPr algn="l">
              <a:lnSpc>
                <a:spcPts val="2835"/>
              </a:lnSpc>
            </a:pPr>
            <a:r>
              <a:rPr lang="en-US" sz="2100">
                <a:solidFill>
                  <a:srgbClr val="1F1E1C"/>
                </a:solidFill>
                <a:latin typeface="Archivo Narrow"/>
                <a:ea typeface="Archivo Narrow"/>
                <a:cs typeface="Archivo Narrow"/>
                <a:sym typeface="Archivo Narrow"/>
              </a:rPr>
              <a:t>Con la venta normal impuesta, el escenario de uso real, Ridge y Lasso siguen cumpliendo los seis.</a:t>
            </a:r>
          </a:p>
        </p:txBody>
      </p:sp>
      <p:sp>
        <p:nvSpPr>
          <p:cNvPr name="TextBox 68" id="68"/>
          <p:cNvSpPr txBox="true"/>
          <p:nvPr/>
        </p:nvSpPr>
        <p:spPr>
          <a:xfrm rot="0">
            <a:off x="1219200" y="9309735"/>
            <a:ext cx="7848600" cy="405765"/>
          </a:xfrm>
          <a:prstGeom prst="rect">
            <a:avLst/>
          </a:prstGeom>
        </p:spPr>
        <p:txBody>
          <a:bodyPr anchor="t" rtlCol="false" tIns="0" lIns="0" bIns="0" rIns="0">
            <a:spAutoFit/>
          </a:bodyPr>
          <a:lstStyle/>
          <a:p>
            <a:pPr algn="l">
              <a:lnSpc>
                <a:spcPts val="2520"/>
              </a:lnSpc>
            </a:pPr>
            <a:r>
              <a:rPr lang="en-US" sz="1800">
                <a:solidFill>
                  <a:srgbClr val="4A453F"/>
                </a:solidFill>
                <a:latin typeface="Archivo Narrow"/>
                <a:ea typeface="Archivo Narrow"/>
                <a:cs typeface="Archivo Narrow"/>
                <a:sym typeface="Archivo Narrow"/>
              </a:rPr>
              <a:t>13 · Housing Prices · EP2</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1F1E1C"/>
        </a:solidFill>
      </p:bgPr>
    </p:bg>
    <p:spTree>
      <p:nvGrpSpPr>
        <p:cNvPr id="1" name=""/>
        <p:cNvGrpSpPr/>
        <p:nvPr/>
      </p:nvGrpSpPr>
      <p:grpSpPr>
        <a:xfrm>
          <a:off x="0" y="0"/>
          <a:ext cx="0" cy="0"/>
          <a:chOff x="0" y="0"/>
          <a:chExt cx="0" cy="0"/>
        </a:xfrm>
      </p:grpSpPr>
      <p:sp>
        <p:nvSpPr>
          <p:cNvPr name="TextBox 2" id="2"/>
          <p:cNvSpPr txBox="true"/>
          <p:nvPr/>
        </p:nvSpPr>
        <p:spPr>
          <a:xfrm rot="0">
            <a:off x="1219200" y="1333500"/>
            <a:ext cx="16325088" cy="963930"/>
          </a:xfrm>
          <a:prstGeom prst="rect">
            <a:avLst/>
          </a:prstGeom>
        </p:spPr>
        <p:txBody>
          <a:bodyPr anchor="t" rtlCol="false" tIns="0" lIns="0" bIns="0" rIns="0">
            <a:spAutoFit/>
          </a:bodyPr>
          <a:lstStyle/>
          <a:p>
            <a:pPr algn="l">
              <a:lnSpc>
                <a:spcPts val="8190"/>
              </a:lnSpc>
            </a:pPr>
            <a:r>
              <a:rPr lang="en-US" sz="7800">
                <a:solidFill>
                  <a:srgbClr val="DCD3C3"/>
                </a:solidFill>
                <a:latin typeface="Anton"/>
                <a:ea typeface="Anton"/>
                <a:cs typeface="Anton"/>
                <a:sym typeface="Anton"/>
              </a:rPr>
              <a:t>ELECCIÓN: LASSO</a:t>
            </a:r>
          </a:p>
        </p:txBody>
      </p:sp>
      <p:sp>
        <p:nvSpPr>
          <p:cNvPr name="TextBox 3" id="3"/>
          <p:cNvSpPr txBox="true"/>
          <p:nvPr/>
        </p:nvSpPr>
        <p:spPr>
          <a:xfrm rot="0">
            <a:off x="1219200" y="2602230"/>
            <a:ext cx="16325088" cy="436245"/>
          </a:xfrm>
          <a:prstGeom prst="rect">
            <a:avLst/>
          </a:prstGeom>
        </p:spPr>
        <p:txBody>
          <a:bodyPr anchor="t" rtlCol="false" tIns="0" lIns="0" bIns="0" rIns="0">
            <a:spAutoFit/>
          </a:bodyPr>
          <a:lstStyle/>
          <a:p>
            <a:pPr algn="l">
              <a:lnSpc>
                <a:spcPts val="2835"/>
              </a:lnSpc>
            </a:pPr>
            <a:r>
              <a:rPr lang="en-US" sz="2100">
                <a:solidFill>
                  <a:srgbClr val="A39B8B"/>
                </a:solidFill>
                <a:latin typeface="Archivo Narrow"/>
                <a:ea typeface="Archivo Narrow"/>
                <a:cs typeface="Archivo Narrow"/>
                <a:sym typeface="Archivo Narrow"/>
              </a:rPr>
              <a:t>Regla fijada antes de evaluar. Se decide con validación, no con test.</a:t>
            </a:r>
          </a:p>
        </p:txBody>
      </p:sp>
      <p:grpSp>
        <p:nvGrpSpPr>
          <p:cNvPr name="Group 4" id="4"/>
          <p:cNvGrpSpPr/>
          <p:nvPr/>
        </p:nvGrpSpPr>
        <p:grpSpPr>
          <a:xfrm rot="0">
            <a:off x="1219200" y="3810000"/>
            <a:ext cx="4191000" cy="4191000"/>
            <a:chOff x="0" y="0"/>
            <a:chExt cx="5588000" cy="5588000"/>
          </a:xfrm>
        </p:grpSpPr>
        <p:sp>
          <p:nvSpPr>
            <p:cNvPr name="Freeform 5" id="5"/>
            <p:cNvSpPr/>
            <p:nvPr/>
          </p:nvSpPr>
          <p:spPr>
            <a:xfrm flipH="false" flipV="false" rot="0">
              <a:off x="0" y="0"/>
              <a:ext cx="5588000" cy="5588000"/>
            </a:xfrm>
            <a:custGeom>
              <a:avLst/>
              <a:gdLst/>
              <a:ahLst/>
              <a:cxnLst/>
              <a:rect r="r" b="b" t="t" l="l"/>
              <a:pathLst>
                <a:path h="5588000" w="5588000">
                  <a:moveTo>
                    <a:pt x="0" y="2794000"/>
                  </a:moveTo>
                  <a:cubicBezTo>
                    <a:pt x="0" y="1250950"/>
                    <a:pt x="1250950" y="0"/>
                    <a:pt x="2794000" y="0"/>
                  </a:cubicBezTo>
                  <a:cubicBezTo>
                    <a:pt x="4337050" y="0"/>
                    <a:pt x="5588000" y="1250950"/>
                    <a:pt x="5588000" y="2794000"/>
                  </a:cubicBezTo>
                  <a:cubicBezTo>
                    <a:pt x="5588000" y="4337050"/>
                    <a:pt x="4337050" y="5588000"/>
                    <a:pt x="2794000" y="5588000"/>
                  </a:cubicBezTo>
                  <a:cubicBezTo>
                    <a:pt x="1250950" y="5588000"/>
                    <a:pt x="0" y="4337050"/>
                    <a:pt x="0" y="2794000"/>
                  </a:cubicBezTo>
                  <a:close/>
                </a:path>
              </a:pathLst>
            </a:custGeom>
            <a:blipFill>
              <a:blip r:embed="rId3">
                <a:alphaModFix amt="0"/>
              </a:blip>
              <a:stretch>
                <a:fillRect l="-78303" t="0" r="-78303" b="0"/>
              </a:stretch>
            </a:blipFill>
            <a:ln w="19050" cap="sq">
              <a:solidFill>
                <a:srgbClr val="DCD3C3"/>
              </a:solidFill>
              <a:prstDash val="solid"/>
              <a:miter/>
            </a:ln>
          </p:spPr>
        </p:sp>
      </p:grpSp>
      <p:sp>
        <p:nvSpPr>
          <p:cNvPr name="TextBox 6" id="6"/>
          <p:cNvSpPr txBox="true"/>
          <p:nvPr/>
        </p:nvSpPr>
        <p:spPr>
          <a:xfrm rot="0">
            <a:off x="3088005" y="5208270"/>
            <a:ext cx="453228" cy="512445"/>
          </a:xfrm>
          <a:prstGeom prst="rect">
            <a:avLst/>
          </a:prstGeom>
        </p:spPr>
        <p:txBody>
          <a:bodyPr anchor="t" rtlCol="false" tIns="0" lIns="0" bIns="0" rIns="0">
            <a:spAutoFit/>
          </a:bodyPr>
          <a:lstStyle/>
          <a:p>
            <a:pPr algn="ctr">
              <a:lnSpc>
                <a:spcPts val="3960"/>
              </a:lnSpc>
            </a:pPr>
            <a:r>
              <a:rPr lang="en-US" sz="3600">
                <a:solidFill>
                  <a:srgbClr val="DCD3C3"/>
                </a:solidFill>
                <a:latin typeface="Anton"/>
                <a:ea typeface="Anton"/>
                <a:cs typeface="Anton"/>
                <a:sym typeface="Anton"/>
              </a:rPr>
              <a:t>01</a:t>
            </a:r>
          </a:p>
        </p:txBody>
      </p:sp>
      <p:sp>
        <p:nvSpPr>
          <p:cNvPr name="TextBox 7" id="7"/>
          <p:cNvSpPr txBox="true"/>
          <p:nvPr/>
        </p:nvSpPr>
        <p:spPr>
          <a:xfrm rot="0">
            <a:off x="1814722" y="5758815"/>
            <a:ext cx="2999804" cy="436245"/>
          </a:xfrm>
          <a:prstGeom prst="rect">
            <a:avLst/>
          </a:prstGeom>
        </p:spPr>
        <p:txBody>
          <a:bodyPr anchor="t" rtlCol="false" tIns="0" lIns="0" bIns="0" rIns="0">
            <a:spAutoFit/>
          </a:bodyPr>
          <a:lstStyle/>
          <a:p>
            <a:pPr algn="ctr">
              <a:lnSpc>
                <a:spcPts val="2835"/>
              </a:lnSpc>
            </a:pPr>
            <a:r>
              <a:rPr lang="en-US" sz="2100">
                <a:solidFill>
                  <a:srgbClr val="A39B8B"/>
                </a:solidFill>
                <a:latin typeface="Archivo Narrow"/>
                <a:ea typeface="Archivo Narrow"/>
                <a:cs typeface="Archivo Narrow"/>
                <a:sym typeface="Archivo Narrow"/>
              </a:rPr>
              <a:t>Cumplen los seis KPI</a:t>
            </a:r>
          </a:p>
        </p:txBody>
      </p:sp>
      <p:sp>
        <p:nvSpPr>
          <p:cNvPr name="TextBox 8" id="8"/>
          <p:cNvSpPr txBox="true"/>
          <p:nvPr/>
        </p:nvSpPr>
        <p:spPr>
          <a:xfrm rot="0">
            <a:off x="2253634" y="6233160"/>
            <a:ext cx="2121980" cy="436245"/>
          </a:xfrm>
          <a:prstGeom prst="rect">
            <a:avLst/>
          </a:prstGeom>
        </p:spPr>
        <p:txBody>
          <a:bodyPr anchor="t" rtlCol="false" tIns="0" lIns="0" bIns="0" rIns="0">
            <a:spAutoFit/>
          </a:bodyPr>
          <a:lstStyle/>
          <a:p>
            <a:pPr algn="ctr">
              <a:lnSpc>
                <a:spcPts val="2835"/>
              </a:lnSpc>
            </a:pPr>
            <a:r>
              <a:rPr lang="en-US" sz="2100" b="true">
                <a:solidFill>
                  <a:srgbClr val="DCD3C3"/>
                </a:solidFill>
                <a:latin typeface="Archivo Narrow Bold"/>
                <a:ea typeface="Archivo Narrow Bold"/>
                <a:cs typeface="Archivo Narrow Bold"/>
                <a:sym typeface="Archivo Narrow Bold"/>
              </a:rPr>
              <a:t>Ridge y Lasso</a:t>
            </a:r>
          </a:p>
        </p:txBody>
      </p:sp>
      <p:grpSp>
        <p:nvGrpSpPr>
          <p:cNvPr name="Group 9" id="9"/>
          <p:cNvGrpSpPr/>
          <p:nvPr/>
        </p:nvGrpSpPr>
        <p:grpSpPr>
          <a:xfrm rot="0">
            <a:off x="5105400" y="3810000"/>
            <a:ext cx="4191000" cy="4191000"/>
            <a:chOff x="0" y="0"/>
            <a:chExt cx="5588000" cy="5588000"/>
          </a:xfrm>
        </p:grpSpPr>
        <p:sp>
          <p:nvSpPr>
            <p:cNvPr name="Freeform 10" id="10"/>
            <p:cNvSpPr/>
            <p:nvPr/>
          </p:nvSpPr>
          <p:spPr>
            <a:xfrm flipH="false" flipV="false" rot="0">
              <a:off x="0" y="0"/>
              <a:ext cx="5588000" cy="5588000"/>
            </a:xfrm>
            <a:custGeom>
              <a:avLst/>
              <a:gdLst/>
              <a:ahLst/>
              <a:cxnLst/>
              <a:rect r="r" b="b" t="t" l="l"/>
              <a:pathLst>
                <a:path h="5588000" w="5588000">
                  <a:moveTo>
                    <a:pt x="0" y="2794000"/>
                  </a:moveTo>
                  <a:cubicBezTo>
                    <a:pt x="0" y="1250950"/>
                    <a:pt x="1250950" y="0"/>
                    <a:pt x="2794000" y="0"/>
                  </a:cubicBezTo>
                  <a:cubicBezTo>
                    <a:pt x="4337050" y="0"/>
                    <a:pt x="5588000" y="1250950"/>
                    <a:pt x="5588000" y="2794000"/>
                  </a:cubicBezTo>
                  <a:cubicBezTo>
                    <a:pt x="5588000" y="4337050"/>
                    <a:pt x="4337050" y="5588000"/>
                    <a:pt x="2794000" y="5588000"/>
                  </a:cubicBezTo>
                  <a:cubicBezTo>
                    <a:pt x="1250950" y="5588000"/>
                    <a:pt x="0" y="4337050"/>
                    <a:pt x="0" y="2794000"/>
                  </a:cubicBezTo>
                  <a:close/>
                </a:path>
              </a:pathLst>
            </a:custGeom>
            <a:blipFill>
              <a:blip r:embed="rId3">
                <a:alphaModFix amt="0"/>
              </a:blip>
              <a:stretch>
                <a:fillRect l="-78303" t="0" r="-78303" b="0"/>
              </a:stretch>
            </a:blipFill>
            <a:ln w="19050" cap="sq">
              <a:solidFill>
                <a:srgbClr val="DCD3C3"/>
              </a:solidFill>
              <a:prstDash val="solid"/>
              <a:miter/>
            </a:ln>
          </p:spPr>
        </p:sp>
      </p:grpSp>
      <p:sp>
        <p:nvSpPr>
          <p:cNvPr name="TextBox 11" id="11"/>
          <p:cNvSpPr txBox="true"/>
          <p:nvPr/>
        </p:nvSpPr>
        <p:spPr>
          <a:xfrm rot="0">
            <a:off x="6929818" y="5028247"/>
            <a:ext cx="542163" cy="512445"/>
          </a:xfrm>
          <a:prstGeom prst="rect">
            <a:avLst/>
          </a:prstGeom>
        </p:spPr>
        <p:txBody>
          <a:bodyPr anchor="t" rtlCol="false" tIns="0" lIns="0" bIns="0" rIns="0">
            <a:spAutoFit/>
          </a:bodyPr>
          <a:lstStyle/>
          <a:p>
            <a:pPr algn="ctr">
              <a:lnSpc>
                <a:spcPts val="3960"/>
              </a:lnSpc>
            </a:pPr>
            <a:r>
              <a:rPr lang="en-US" sz="3600">
                <a:solidFill>
                  <a:srgbClr val="DCD3C3"/>
                </a:solidFill>
                <a:latin typeface="Anton"/>
                <a:ea typeface="Anton"/>
                <a:cs typeface="Anton"/>
                <a:sym typeface="Anton"/>
              </a:rPr>
              <a:t>02</a:t>
            </a:r>
          </a:p>
        </p:txBody>
      </p:sp>
      <p:sp>
        <p:nvSpPr>
          <p:cNvPr name="TextBox 12" id="12"/>
          <p:cNvSpPr txBox="true"/>
          <p:nvPr/>
        </p:nvSpPr>
        <p:spPr>
          <a:xfrm rot="0">
            <a:off x="5686120" y="5578792"/>
            <a:ext cx="3029560" cy="796290"/>
          </a:xfrm>
          <a:prstGeom prst="rect">
            <a:avLst/>
          </a:prstGeom>
        </p:spPr>
        <p:txBody>
          <a:bodyPr anchor="t" rtlCol="false" tIns="0" lIns="0" bIns="0" rIns="0">
            <a:spAutoFit/>
          </a:bodyPr>
          <a:lstStyle/>
          <a:p>
            <a:pPr algn="ctr">
              <a:lnSpc>
                <a:spcPts val="2835"/>
              </a:lnSpc>
            </a:pPr>
            <a:r>
              <a:rPr lang="en-US" sz="2100">
                <a:solidFill>
                  <a:srgbClr val="A39B8B"/>
                </a:solidFill>
                <a:latin typeface="Archivo Narrow"/>
                <a:ea typeface="Archivo Narrow"/>
                <a:cs typeface="Archivo Narrow"/>
                <a:sym typeface="Archivo Narrow"/>
              </a:rPr>
              <a:t>Menor RMSE en validación</a:t>
            </a:r>
          </a:p>
        </p:txBody>
      </p:sp>
      <p:sp>
        <p:nvSpPr>
          <p:cNvPr name="TextBox 13" id="13"/>
          <p:cNvSpPr txBox="true"/>
          <p:nvPr/>
        </p:nvSpPr>
        <p:spPr>
          <a:xfrm rot="0">
            <a:off x="5816727" y="6413182"/>
            <a:ext cx="2768346" cy="436245"/>
          </a:xfrm>
          <a:prstGeom prst="rect">
            <a:avLst/>
          </a:prstGeom>
        </p:spPr>
        <p:txBody>
          <a:bodyPr anchor="t" rtlCol="false" tIns="0" lIns="0" bIns="0" rIns="0">
            <a:spAutoFit/>
          </a:bodyPr>
          <a:lstStyle/>
          <a:p>
            <a:pPr algn="ctr">
              <a:lnSpc>
                <a:spcPts val="2835"/>
              </a:lnSpc>
            </a:pPr>
            <a:r>
              <a:rPr lang="en-US" sz="2100" b="true">
                <a:solidFill>
                  <a:srgbClr val="DCD3C3"/>
                </a:solidFill>
                <a:latin typeface="Archivo Narrow Bold"/>
                <a:ea typeface="Archivo Narrow Bold"/>
                <a:cs typeface="Archivo Narrow Bold"/>
                <a:sym typeface="Archivo Narrow Bold"/>
              </a:rPr>
              <a:t>Ridge, por 54 USD</a:t>
            </a:r>
          </a:p>
        </p:txBody>
      </p:sp>
      <p:grpSp>
        <p:nvGrpSpPr>
          <p:cNvPr name="Group 14" id="14"/>
          <p:cNvGrpSpPr/>
          <p:nvPr/>
        </p:nvGrpSpPr>
        <p:grpSpPr>
          <a:xfrm rot="0">
            <a:off x="8991600" y="3810000"/>
            <a:ext cx="4191000" cy="4191000"/>
            <a:chOff x="0" y="0"/>
            <a:chExt cx="5588000" cy="5588000"/>
          </a:xfrm>
        </p:grpSpPr>
        <p:sp>
          <p:nvSpPr>
            <p:cNvPr name="Freeform 15" id="15"/>
            <p:cNvSpPr/>
            <p:nvPr/>
          </p:nvSpPr>
          <p:spPr>
            <a:xfrm flipH="false" flipV="false" rot="0">
              <a:off x="0" y="0"/>
              <a:ext cx="5588000" cy="5588000"/>
            </a:xfrm>
            <a:custGeom>
              <a:avLst/>
              <a:gdLst/>
              <a:ahLst/>
              <a:cxnLst/>
              <a:rect r="r" b="b" t="t" l="l"/>
              <a:pathLst>
                <a:path h="5588000" w="5588000">
                  <a:moveTo>
                    <a:pt x="0" y="2794000"/>
                  </a:moveTo>
                  <a:cubicBezTo>
                    <a:pt x="0" y="1250950"/>
                    <a:pt x="1250950" y="0"/>
                    <a:pt x="2794000" y="0"/>
                  </a:cubicBezTo>
                  <a:cubicBezTo>
                    <a:pt x="4337050" y="0"/>
                    <a:pt x="5588000" y="1250950"/>
                    <a:pt x="5588000" y="2794000"/>
                  </a:cubicBezTo>
                  <a:cubicBezTo>
                    <a:pt x="5588000" y="4337050"/>
                    <a:pt x="4337050" y="5588000"/>
                    <a:pt x="2794000" y="5588000"/>
                  </a:cubicBezTo>
                  <a:cubicBezTo>
                    <a:pt x="1250950" y="5588000"/>
                    <a:pt x="0" y="4337050"/>
                    <a:pt x="0" y="2794000"/>
                  </a:cubicBezTo>
                  <a:close/>
                </a:path>
              </a:pathLst>
            </a:custGeom>
            <a:blipFill>
              <a:blip r:embed="rId3">
                <a:alphaModFix amt="0"/>
              </a:blip>
              <a:stretch>
                <a:fillRect l="-78303" t="0" r="-78303" b="0"/>
              </a:stretch>
            </a:blipFill>
            <a:ln w="19050" cap="sq">
              <a:solidFill>
                <a:srgbClr val="DCD3C3"/>
              </a:solidFill>
              <a:prstDash val="solid"/>
              <a:miter/>
            </a:ln>
          </p:spPr>
        </p:sp>
      </p:grpSp>
      <p:sp>
        <p:nvSpPr>
          <p:cNvPr name="TextBox 16" id="16"/>
          <p:cNvSpPr txBox="true"/>
          <p:nvPr/>
        </p:nvSpPr>
        <p:spPr>
          <a:xfrm rot="0">
            <a:off x="10816018" y="5028247"/>
            <a:ext cx="542163" cy="512445"/>
          </a:xfrm>
          <a:prstGeom prst="rect">
            <a:avLst/>
          </a:prstGeom>
        </p:spPr>
        <p:txBody>
          <a:bodyPr anchor="t" rtlCol="false" tIns="0" lIns="0" bIns="0" rIns="0">
            <a:spAutoFit/>
          </a:bodyPr>
          <a:lstStyle/>
          <a:p>
            <a:pPr algn="ctr">
              <a:lnSpc>
                <a:spcPts val="3960"/>
              </a:lnSpc>
            </a:pPr>
            <a:r>
              <a:rPr lang="en-US" sz="3600">
                <a:solidFill>
                  <a:srgbClr val="DCD3C3"/>
                </a:solidFill>
                <a:latin typeface="Anton"/>
                <a:ea typeface="Anton"/>
                <a:cs typeface="Anton"/>
                <a:sym typeface="Anton"/>
              </a:rPr>
              <a:t>03</a:t>
            </a:r>
          </a:p>
        </p:txBody>
      </p:sp>
      <p:sp>
        <p:nvSpPr>
          <p:cNvPr name="TextBox 17" id="17"/>
          <p:cNvSpPr txBox="true"/>
          <p:nvPr/>
        </p:nvSpPr>
        <p:spPr>
          <a:xfrm rot="0">
            <a:off x="9572320" y="5578792"/>
            <a:ext cx="3029560" cy="796290"/>
          </a:xfrm>
          <a:prstGeom prst="rect">
            <a:avLst/>
          </a:prstGeom>
        </p:spPr>
        <p:txBody>
          <a:bodyPr anchor="t" rtlCol="false" tIns="0" lIns="0" bIns="0" rIns="0">
            <a:spAutoFit/>
          </a:bodyPr>
          <a:lstStyle/>
          <a:p>
            <a:pPr algn="ctr">
              <a:lnSpc>
                <a:spcPts val="2835"/>
              </a:lnSpc>
            </a:pPr>
            <a:r>
              <a:rPr lang="en-US" sz="2100">
                <a:solidFill>
                  <a:srgbClr val="A39B8B"/>
                </a:solidFill>
                <a:latin typeface="Archivo Narrow"/>
                <a:ea typeface="Archivo Narrow"/>
                <a:cs typeface="Archivo Narrow"/>
                <a:sym typeface="Archivo Narrow"/>
              </a:rPr>
              <a:t>Diferencia de R² menor a 1 punto</a:t>
            </a:r>
          </a:p>
        </p:txBody>
      </p:sp>
      <p:sp>
        <p:nvSpPr>
          <p:cNvPr name="TextBox 18" id="18"/>
          <p:cNvSpPr txBox="true"/>
          <p:nvPr/>
        </p:nvSpPr>
        <p:spPr>
          <a:xfrm rot="0">
            <a:off x="9614554" y="6413182"/>
            <a:ext cx="2944940" cy="436245"/>
          </a:xfrm>
          <a:prstGeom prst="rect">
            <a:avLst/>
          </a:prstGeom>
        </p:spPr>
        <p:txBody>
          <a:bodyPr anchor="t" rtlCol="false" tIns="0" lIns="0" bIns="0" rIns="0">
            <a:spAutoFit/>
          </a:bodyPr>
          <a:lstStyle/>
          <a:p>
            <a:pPr algn="ctr">
              <a:lnSpc>
                <a:spcPts val="2835"/>
              </a:lnSpc>
            </a:pPr>
            <a:r>
              <a:rPr lang="en-US" sz="2100" b="true">
                <a:solidFill>
                  <a:srgbClr val="DCD3C3"/>
                </a:solidFill>
                <a:latin typeface="Archivo Narrow Bold"/>
                <a:ea typeface="Archivo Narrow Bold"/>
                <a:cs typeface="Archivo Narrow Bold"/>
                <a:sym typeface="Archivo Narrow Bold"/>
              </a:rPr>
              <a:t>Gana el más simple</a:t>
            </a:r>
          </a:p>
        </p:txBody>
      </p:sp>
      <p:grpSp>
        <p:nvGrpSpPr>
          <p:cNvPr name="Group 19" id="19"/>
          <p:cNvGrpSpPr/>
          <p:nvPr/>
        </p:nvGrpSpPr>
        <p:grpSpPr>
          <a:xfrm rot="0">
            <a:off x="12877800" y="3810000"/>
            <a:ext cx="4191000" cy="4191000"/>
            <a:chOff x="0" y="0"/>
            <a:chExt cx="5588000" cy="5588000"/>
          </a:xfrm>
        </p:grpSpPr>
        <p:sp>
          <p:nvSpPr>
            <p:cNvPr name="Freeform 20" id="20"/>
            <p:cNvSpPr/>
            <p:nvPr/>
          </p:nvSpPr>
          <p:spPr>
            <a:xfrm flipH="false" flipV="false" rot="0">
              <a:off x="0" y="0"/>
              <a:ext cx="5588000" cy="5588000"/>
            </a:xfrm>
            <a:custGeom>
              <a:avLst/>
              <a:gdLst/>
              <a:ahLst/>
              <a:cxnLst/>
              <a:rect r="r" b="b" t="t" l="l"/>
              <a:pathLst>
                <a:path h="5588000" w="5588000">
                  <a:moveTo>
                    <a:pt x="0" y="2794000"/>
                  </a:moveTo>
                  <a:cubicBezTo>
                    <a:pt x="0" y="1250950"/>
                    <a:pt x="1250950" y="0"/>
                    <a:pt x="2794000" y="0"/>
                  </a:cubicBezTo>
                  <a:cubicBezTo>
                    <a:pt x="4337050" y="0"/>
                    <a:pt x="5588000" y="1250950"/>
                    <a:pt x="5588000" y="2794000"/>
                  </a:cubicBezTo>
                  <a:cubicBezTo>
                    <a:pt x="5588000" y="4337050"/>
                    <a:pt x="4337050" y="5588000"/>
                    <a:pt x="2794000" y="5588000"/>
                  </a:cubicBezTo>
                  <a:cubicBezTo>
                    <a:pt x="1250950" y="5588000"/>
                    <a:pt x="0" y="4337050"/>
                    <a:pt x="0" y="2794000"/>
                  </a:cubicBezTo>
                  <a:close/>
                </a:path>
              </a:pathLst>
            </a:custGeom>
            <a:solidFill>
              <a:srgbClr val="DCD3C3"/>
            </a:solidFill>
            <a:ln w="19050" cap="sq">
              <a:solidFill>
                <a:srgbClr val="DCD3C3"/>
              </a:solidFill>
              <a:prstDash val="solid"/>
              <a:miter/>
            </a:ln>
          </p:spPr>
        </p:sp>
      </p:grpSp>
      <p:sp>
        <p:nvSpPr>
          <p:cNvPr name="TextBox 21" id="21"/>
          <p:cNvSpPr txBox="true"/>
          <p:nvPr/>
        </p:nvSpPr>
        <p:spPr>
          <a:xfrm rot="0">
            <a:off x="14276070" y="4941570"/>
            <a:ext cx="1394460" cy="405765"/>
          </a:xfrm>
          <a:prstGeom prst="rect">
            <a:avLst/>
          </a:prstGeom>
        </p:spPr>
        <p:txBody>
          <a:bodyPr anchor="t" rtlCol="false" tIns="0" lIns="0" bIns="0" rIns="0">
            <a:spAutoFit/>
          </a:bodyPr>
          <a:lstStyle/>
          <a:p>
            <a:pPr algn="ctr">
              <a:lnSpc>
                <a:spcPts val="2520"/>
              </a:lnSpc>
            </a:pPr>
            <a:r>
              <a:rPr lang="en-US" b="true" sz="1800" spc="149">
                <a:solidFill>
                  <a:srgbClr val="4A453F"/>
                </a:solidFill>
                <a:latin typeface="Archivo Narrow Bold"/>
                <a:ea typeface="Archivo Narrow Bold"/>
                <a:cs typeface="Archivo Narrow Bold"/>
                <a:sym typeface="Archivo Narrow Bold"/>
              </a:rPr>
              <a:t>ELEGIDO</a:t>
            </a:r>
          </a:p>
        </p:txBody>
      </p:sp>
      <p:sp>
        <p:nvSpPr>
          <p:cNvPr name="TextBox 22" id="22"/>
          <p:cNvSpPr txBox="true"/>
          <p:nvPr/>
        </p:nvSpPr>
        <p:spPr>
          <a:xfrm rot="0">
            <a:off x="13611035" y="5499735"/>
            <a:ext cx="2724531" cy="963930"/>
          </a:xfrm>
          <a:prstGeom prst="rect">
            <a:avLst/>
          </a:prstGeom>
        </p:spPr>
        <p:txBody>
          <a:bodyPr anchor="t" rtlCol="false" tIns="0" lIns="0" bIns="0" rIns="0">
            <a:spAutoFit/>
          </a:bodyPr>
          <a:lstStyle/>
          <a:p>
            <a:pPr algn="ctr">
              <a:lnSpc>
                <a:spcPts val="8190"/>
              </a:lnSpc>
            </a:pPr>
            <a:r>
              <a:rPr lang="en-US" sz="7800">
                <a:solidFill>
                  <a:srgbClr val="1F1E1C"/>
                </a:solidFill>
                <a:latin typeface="Anton"/>
                <a:ea typeface="Anton"/>
                <a:cs typeface="Anton"/>
                <a:sym typeface="Anton"/>
              </a:rPr>
              <a:t>LASSO</a:t>
            </a:r>
          </a:p>
        </p:txBody>
      </p:sp>
      <p:sp>
        <p:nvSpPr>
          <p:cNvPr name="TextBox 23" id="23"/>
          <p:cNvSpPr txBox="true"/>
          <p:nvPr/>
        </p:nvSpPr>
        <p:spPr>
          <a:xfrm rot="0">
            <a:off x="13258438" y="6454140"/>
            <a:ext cx="3429572" cy="405765"/>
          </a:xfrm>
          <a:prstGeom prst="rect">
            <a:avLst/>
          </a:prstGeom>
        </p:spPr>
        <p:txBody>
          <a:bodyPr anchor="t" rtlCol="false" tIns="0" lIns="0" bIns="0" rIns="0">
            <a:spAutoFit/>
          </a:bodyPr>
          <a:lstStyle/>
          <a:p>
            <a:pPr algn="ctr">
              <a:lnSpc>
                <a:spcPts val="2520"/>
              </a:lnSpc>
            </a:pPr>
            <a:r>
              <a:rPr lang="en-US" sz="1800">
                <a:solidFill>
                  <a:srgbClr val="1F1E1C"/>
                </a:solidFill>
                <a:latin typeface="Archivo Narrow"/>
                <a:ea typeface="Archivo Narrow"/>
                <a:cs typeface="Archivo Narrow"/>
                <a:sym typeface="Archivo Narrow"/>
              </a:rPr>
              <a:t>105 columnas en vez de 138</a:t>
            </a:r>
          </a:p>
        </p:txBody>
      </p:sp>
      <p:sp>
        <p:nvSpPr>
          <p:cNvPr name="TextBox 24" id="24"/>
          <p:cNvSpPr txBox="true"/>
          <p:nvPr/>
        </p:nvSpPr>
        <p:spPr>
          <a:xfrm rot="0">
            <a:off x="1219200" y="9309735"/>
            <a:ext cx="7848600" cy="405765"/>
          </a:xfrm>
          <a:prstGeom prst="rect">
            <a:avLst/>
          </a:prstGeom>
        </p:spPr>
        <p:txBody>
          <a:bodyPr anchor="t" rtlCol="false" tIns="0" lIns="0" bIns="0" rIns="0">
            <a:spAutoFit/>
          </a:bodyPr>
          <a:lstStyle/>
          <a:p>
            <a:pPr algn="l">
              <a:lnSpc>
                <a:spcPts val="2520"/>
              </a:lnSpc>
            </a:pPr>
            <a:r>
              <a:rPr lang="en-US" sz="1800">
                <a:solidFill>
                  <a:srgbClr val="A39B8B"/>
                </a:solidFill>
                <a:latin typeface="Archivo Narrow"/>
                <a:ea typeface="Archivo Narrow"/>
                <a:cs typeface="Archivo Narrow"/>
                <a:sym typeface="Archivo Narrow"/>
              </a:rPr>
              <a:t>14 · Housing Prices · EP2</a:t>
            </a:r>
          </a:p>
        </p:txBody>
      </p:sp>
    </p:spTree>
  </p:cSld>
  <p:clrMapOvr>
    <a:masterClrMapping/>
  </p:clrMapOvr>
</p:sld>
</file>

<file path=ppt/slides/slide15.xml><?xml version="1.0" encoding="utf-8"?>
<p:sld xmlns:p="http://schemas.openxmlformats.org/presentationml/2006/main" xmlns:a="http://schemas.openxmlformats.org/drawingml/2006/main">
  <p:cSld>
    <p:bg>
      <p:bgPr>
        <a:solidFill>
          <a:srgbClr val="DCD3C3"/>
        </a:solidFill>
      </p:bgPr>
    </p:bg>
    <p:spTree>
      <p:nvGrpSpPr>
        <p:cNvPr id="1" name=""/>
        <p:cNvGrpSpPr/>
        <p:nvPr/>
      </p:nvGrpSpPr>
      <p:grpSpPr>
        <a:xfrm>
          <a:off x="0" y="0"/>
          <a:ext cx="0" cy="0"/>
          <a:chOff x="0" y="0"/>
          <a:chExt cx="0" cy="0"/>
        </a:xfrm>
      </p:grpSpPr>
      <p:grpSp>
        <p:nvGrpSpPr>
          <p:cNvPr name="Group 2" id="2"/>
          <p:cNvGrpSpPr/>
          <p:nvPr/>
        </p:nvGrpSpPr>
        <p:grpSpPr>
          <a:xfrm rot="0">
            <a:off x="9906000" y="2667000"/>
            <a:ext cx="8382000" cy="7620000"/>
            <a:chOff x="0" y="0"/>
            <a:chExt cx="11176000" cy="10160000"/>
          </a:xfrm>
        </p:grpSpPr>
        <p:sp>
          <p:nvSpPr>
            <p:cNvPr name="Freeform 3" id="3"/>
            <p:cNvSpPr/>
            <p:nvPr/>
          </p:nvSpPr>
          <p:spPr>
            <a:xfrm flipH="false" flipV="false" rot="0">
              <a:off x="0" y="0"/>
              <a:ext cx="11176000" cy="10160000"/>
            </a:xfrm>
            <a:custGeom>
              <a:avLst/>
              <a:gdLst/>
              <a:ahLst/>
              <a:cxnLst/>
              <a:rect r="r" b="b" t="t" l="l"/>
              <a:pathLst>
                <a:path h="10160000" w="11176000">
                  <a:moveTo>
                    <a:pt x="0" y="0"/>
                  </a:moveTo>
                  <a:lnTo>
                    <a:pt x="11176000" y="0"/>
                  </a:lnTo>
                  <a:lnTo>
                    <a:pt x="11176000" y="10160000"/>
                  </a:lnTo>
                  <a:lnTo>
                    <a:pt x="0" y="10160000"/>
                  </a:lnTo>
                  <a:close/>
                </a:path>
              </a:pathLst>
            </a:custGeom>
            <a:solidFill>
              <a:srgbClr val="1F1E1C"/>
            </a:solidFill>
          </p:spPr>
        </p:sp>
      </p:grpSp>
      <p:sp>
        <p:nvSpPr>
          <p:cNvPr name="TextBox 4" id="4"/>
          <p:cNvSpPr txBox="true"/>
          <p:nvPr/>
        </p:nvSpPr>
        <p:spPr>
          <a:xfrm rot="0">
            <a:off x="10515600" y="3152775"/>
            <a:ext cx="6749796" cy="405765"/>
          </a:xfrm>
          <a:prstGeom prst="rect">
            <a:avLst/>
          </a:prstGeom>
        </p:spPr>
        <p:txBody>
          <a:bodyPr anchor="t" rtlCol="false" tIns="0" lIns="0" bIns="0" rIns="0">
            <a:spAutoFit/>
          </a:bodyPr>
          <a:lstStyle/>
          <a:p>
            <a:pPr algn="l">
              <a:lnSpc>
                <a:spcPts val="2520"/>
              </a:lnSpc>
            </a:pPr>
            <a:r>
              <a:rPr lang="en-US" b="true" sz="1800" spc="149">
                <a:solidFill>
                  <a:srgbClr val="A39B8B"/>
                </a:solidFill>
                <a:latin typeface="Archivo Narrow Bold"/>
                <a:ea typeface="Archivo Narrow Bold"/>
                <a:cs typeface="Archivo Narrow Bold"/>
                <a:sym typeface="Archivo Narrow Bold"/>
              </a:rPr>
              <a:t>VARIABLES QUE MÁS PESAN</a:t>
            </a:r>
          </a:p>
        </p:txBody>
      </p:sp>
      <p:sp>
        <p:nvSpPr>
          <p:cNvPr name="TextBox 5" id="5"/>
          <p:cNvSpPr txBox="true"/>
          <p:nvPr/>
        </p:nvSpPr>
        <p:spPr>
          <a:xfrm rot="0">
            <a:off x="10515600" y="3510915"/>
            <a:ext cx="6749796" cy="405765"/>
          </a:xfrm>
          <a:prstGeom prst="rect">
            <a:avLst/>
          </a:prstGeom>
        </p:spPr>
        <p:txBody>
          <a:bodyPr anchor="t" rtlCol="false" tIns="0" lIns="0" bIns="0" rIns="0">
            <a:spAutoFit/>
          </a:bodyPr>
          <a:lstStyle/>
          <a:p>
            <a:pPr algn="l">
              <a:lnSpc>
                <a:spcPts val="2520"/>
              </a:lnSpc>
            </a:pPr>
            <a:r>
              <a:rPr lang="en-US" sz="1800">
                <a:solidFill>
                  <a:srgbClr val="A39B8B"/>
                </a:solidFill>
                <a:latin typeface="Archivo Narrow"/>
                <a:ea typeface="Archivo Narrow"/>
                <a:cs typeface="Archivo Narrow"/>
                <a:sym typeface="Archivo Narrow"/>
              </a:rPr>
              <a:t>Aumento del RMSE en test al desordenarla (USD)</a:t>
            </a:r>
          </a:p>
        </p:txBody>
      </p:sp>
      <p:sp>
        <p:nvSpPr>
          <p:cNvPr name="TextBox 6" id="6"/>
          <p:cNvSpPr txBox="true"/>
          <p:nvPr/>
        </p:nvSpPr>
        <p:spPr>
          <a:xfrm rot="0">
            <a:off x="10515600" y="4097655"/>
            <a:ext cx="6749796" cy="405765"/>
          </a:xfrm>
          <a:prstGeom prst="rect">
            <a:avLst/>
          </a:prstGeom>
        </p:spPr>
        <p:txBody>
          <a:bodyPr anchor="t" rtlCol="false" tIns="0" lIns="0" bIns="0" rIns="0">
            <a:spAutoFit/>
          </a:bodyPr>
          <a:lstStyle/>
          <a:p>
            <a:pPr algn="l">
              <a:lnSpc>
                <a:spcPts val="2520"/>
              </a:lnSpc>
            </a:pPr>
            <a:r>
              <a:rPr lang="en-US" sz="1800">
                <a:solidFill>
                  <a:srgbClr val="DCD3C3"/>
                </a:solidFill>
                <a:latin typeface="Archivo Narrow"/>
                <a:ea typeface="Archivo Narrow"/>
                <a:cs typeface="Archivo Narrow"/>
                <a:sym typeface="Archivo Narrow"/>
              </a:rPr>
              <a:t>Gr Liv Area · superficie habitable</a:t>
            </a:r>
          </a:p>
        </p:txBody>
      </p:sp>
      <p:grpSp>
        <p:nvGrpSpPr>
          <p:cNvPr name="Group 7" id="7"/>
          <p:cNvGrpSpPr/>
          <p:nvPr/>
        </p:nvGrpSpPr>
        <p:grpSpPr>
          <a:xfrm rot="0">
            <a:off x="10515600" y="4568190"/>
            <a:ext cx="5410200" cy="228600"/>
            <a:chOff x="0" y="0"/>
            <a:chExt cx="7213600" cy="304800"/>
          </a:xfrm>
        </p:grpSpPr>
        <p:sp>
          <p:nvSpPr>
            <p:cNvPr name="Freeform 8" id="8"/>
            <p:cNvSpPr/>
            <p:nvPr/>
          </p:nvSpPr>
          <p:spPr>
            <a:xfrm flipH="false" flipV="false" rot="0">
              <a:off x="0" y="0"/>
              <a:ext cx="7213600" cy="304800"/>
            </a:xfrm>
            <a:custGeom>
              <a:avLst/>
              <a:gdLst/>
              <a:ahLst/>
              <a:cxnLst/>
              <a:rect r="r" b="b" t="t" l="l"/>
              <a:pathLst>
                <a:path h="304800" w="7213600">
                  <a:moveTo>
                    <a:pt x="0" y="0"/>
                  </a:moveTo>
                  <a:lnTo>
                    <a:pt x="7213600" y="0"/>
                  </a:lnTo>
                  <a:lnTo>
                    <a:pt x="7213600" y="304800"/>
                  </a:lnTo>
                  <a:lnTo>
                    <a:pt x="0" y="304800"/>
                  </a:lnTo>
                  <a:close/>
                </a:path>
              </a:pathLst>
            </a:custGeom>
            <a:solidFill>
              <a:srgbClr val="DCD3C3"/>
            </a:solidFill>
          </p:spPr>
        </p:sp>
      </p:grpSp>
      <p:sp>
        <p:nvSpPr>
          <p:cNvPr name="TextBox 9" id="9"/>
          <p:cNvSpPr txBox="true"/>
          <p:nvPr/>
        </p:nvSpPr>
        <p:spPr>
          <a:xfrm rot="0">
            <a:off x="16116300" y="4474845"/>
            <a:ext cx="901256" cy="405765"/>
          </a:xfrm>
          <a:prstGeom prst="rect">
            <a:avLst/>
          </a:prstGeom>
        </p:spPr>
        <p:txBody>
          <a:bodyPr anchor="t" rtlCol="false" tIns="0" lIns="0" bIns="0" rIns="0">
            <a:spAutoFit/>
          </a:bodyPr>
          <a:lstStyle/>
          <a:p>
            <a:pPr algn="l">
              <a:lnSpc>
                <a:spcPts val="2520"/>
              </a:lnSpc>
            </a:pPr>
            <a:r>
              <a:rPr lang="en-US" sz="1800" b="true">
                <a:solidFill>
                  <a:srgbClr val="DCD3C3"/>
                </a:solidFill>
                <a:latin typeface="Archivo Narrow Bold"/>
                <a:ea typeface="Archivo Narrow Bold"/>
                <a:cs typeface="Archivo Narrow Bold"/>
                <a:sym typeface="Archivo Narrow Bold"/>
              </a:rPr>
              <a:t>21.926</a:t>
            </a:r>
          </a:p>
        </p:txBody>
      </p:sp>
      <p:sp>
        <p:nvSpPr>
          <p:cNvPr name="TextBox 10" id="10"/>
          <p:cNvSpPr txBox="true"/>
          <p:nvPr/>
        </p:nvSpPr>
        <p:spPr>
          <a:xfrm rot="0">
            <a:off x="10515600" y="4890135"/>
            <a:ext cx="6749796" cy="405765"/>
          </a:xfrm>
          <a:prstGeom prst="rect">
            <a:avLst/>
          </a:prstGeom>
        </p:spPr>
        <p:txBody>
          <a:bodyPr anchor="t" rtlCol="false" tIns="0" lIns="0" bIns="0" rIns="0">
            <a:spAutoFit/>
          </a:bodyPr>
          <a:lstStyle/>
          <a:p>
            <a:pPr algn="l">
              <a:lnSpc>
                <a:spcPts val="2520"/>
              </a:lnSpc>
            </a:pPr>
            <a:r>
              <a:rPr lang="en-US" sz="1800">
                <a:solidFill>
                  <a:srgbClr val="DCD3C3"/>
                </a:solidFill>
                <a:latin typeface="Archivo Narrow"/>
                <a:ea typeface="Archivo Narrow"/>
                <a:cs typeface="Archivo Narrow"/>
                <a:sym typeface="Archivo Narrow"/>
              </a:rPr>
              <a:t>Overall Qual · calidad general</a:t>
            </a:r>
          </a:p>
        </p:txBody>
      </p:sp>
      <p:grpSp>
        <p:nvGrpSpPr>
          <p:cNvPr name="Group 11" id="11"/>
          <p:cNvGrpSpPr/>
          <p:nvPr/>
        </p:nvGrpSpPr>
        <p:grpSpPr>
          <a:xfrm rot="0">
            <a:off x="10515600" y="5360670"/>
            <a:ext cx="3381375" cy="228600"/>
            <a:chOff x="0" y="0"/>
            <a:chExt cx="4508500" cy="304800"/>
          </a:xfrm>
        </p:grpSpPr>
        <p:sp>
          <p:nvSpPr>
            <p:cNvPr name="Freeform 12" id="12"/>
            <p:cNvSpPr/>
            <p:nvPr/>
          </p:nvSpPr>
          <p:spPr>
            <a:xfrm flipH="false" flipV="false" rot="0">
              <a:off x="0" y="0"/>
              <a:ext cx="4508500" cy="304800"/>
            </a:xfrm>
            <a:custGeom>
              <a:avLst/>
              <a:gdLst/>
              <a:ahLst/>
              <a:cxnLst/>
              <a:rect r="r" b="b" t="t" l="l"/>
              <a:pathLst>
                <a:path h="304800" w="4508500">
                  <a:moveTo>
                    <a:pt x="0" y="0"/>
                  </a:moveTo>
                  <a:lnTo>
                    <a:pt x="4508500" y="0"/>
                  </a:lnTo>
                  <a:lnTo>
                    <a:pt x="4508500" y="304800"/>
                  </a:lnTo>
                  <a:lnTo>
                    <a:pt x="0" y="304800"/>
                  </a:lnTo>
                  <a:close/>
                </a:path>
              </a:pathLst>
            </a:custGeom>
            <a:solidFill>
              <a:srgbClr val="DCD3C3"/>
            </a:solidFill>
          </p:spPr>
        </p:sp>
      </p:grpSp>
      <p:sp>
        <p:nvSpPr>
          <p:cNvPr name="TextBox 13" id="13"/>
          <p:cNvSpPr txBox="true"/>
          <p:nvPr/>
        </p:nvSpPr>
        <p:spPr>
          <a:xfrm rot="0">
            <a:off x="14087475" y="5267325"/>
            <a:ext cx="901256" cy="405765"/>
          </a:xfrm>
          <a:prstGeom prst="rect">
            <a:avLst/>
          </a:prstGeom>
        </p:spPr>
        <p:txBody>
          <a:bodyPr anchor="t" rtlCol="false" tIns="0" lIns="0" bIns="0" rIns="0">
            <a:spAutoFit/>
          </a:bodyPr>
          <a:lstStyle/>
          <a:p>
            <a:pPr algn="l">
              <a:lnSpc>
                <a:spcPts val="2520"/>
              </a:lnSpc>
            </a:pPr>
            <a:r>
              <a:rPr lang="en-US" sz="1800" b="true">
                <a:solidFill>
                  <a:srgbClr val="DCD3C3"/>
                </a:solidFill>
                <a:latin typeface="Archivo Narrow Bold"/>
                <a:ea typeface="Archivo Narrow Bold"/>
                <a:cs typeface="Archivo Narrow Bold"/>
                <a:sym typeface="Archivo Narrow Bold"/>
              </a:rPr>
              <a:t>13.710</a:t>
            </a:r>
          </a:p>
        </p:txBody>
      </p:sp>
      <p:sp>
        <p:nvSpPr>
          <p:cNvPr name="TextBox 14" id="14"/>
          <p:cNvSpPr txBox="true"/>
          <p:nvPr/>
        </p:nvSpPr>
        <p:spPr>
          <a:xfrm rot="0">
            <a:off x="10515600" y="5682615"/>
            <a:ext cx="6749796" cy="405765"/>
          </a:xfrm>
          <a:prstGeom prst="rect">
            <a:avLst/>
          </a:prstGeom>
        </p:spPr>
        <p:txBody>
          <a:bodyPr anchor="t" rtlCol="false" tIns="0" lIns="0" bIns="0" rIns="0">
            <a:spAutoFit/>
          </a:bodyPr>
          <a:lstStyle/>
          <a:p>
            <a:pPr algn="l">
              <a:lnSpc>
                <a:spcPts val="2520"/>
              </a:lnSpc>
            </a:pPr>
            <a:r>
              <a:rPr lang="en-US" sz="1800">
                <a:solidFill>
                  <a:srgbClr val="DCD3C3"/>
                </a:solidFill>
                <a:latin typeface="Archivo Narrow"/>
                <a:ea typeface="Archivo Narrow"/>
                <a:cs typeface="Archivo Narrow"/>
                <a:sym typeface="Archivo Narrow"/>
              </a:rPr>
              <a:t>Total Bsmt SF · superficie del sótano</a:t>
            </a:r>
          </a:p>
        </p:txBody>
      </p:sp>
      <p:grpSp>
        <p:nvGrpSpPr>
          <p:cNvPr name="Group 15" id="15"/>
          <p:cNvGrpSpPr/>
          <p:nvPr/>
        </p:nvGrpSpPr>
        <p:grpSpPr>
          <a:xfrm rot="0">
            <a:off x="10515600" y="6153150"/>
            <a:ext cx="3143250" cy="228600"/>
            <a:chOff x="0" y="0"/>
            <a:chExt cx="4191000" cy="304800"/>
          </a:xfrm>
        </p:grpSpPr>
        <p:sp>
          <p:nvSpPr>
            <p:cNvPr name="Freeform 16" id="16"/>
            <p:cNvSpPr/>
            <p:nvPr/>
          </p:nvSpPr>
          <p:spPr>
            <a:xfrm flipH="false" flipV="false" rot="0">
              <a:off x="0" y="0"/>
              <a:ext cx="4191000" cy="304800"/>
            </a:xfrm>
            <a:custGeom>
              <a:avLst/>
              <a:gdLst/>
              <a:ahLst/>
              <a:cxnLst/>
              <a:rect r="r" b="b" t="t" l="l"/>
              <a:pathLst>
                <a:path h="304800" w="4191000">
                  <a:moveTo>
                    <a:pt x="0" y="0"/>
                  </a:moveTo>
                  <a:lnTo>
                    <a:pt x="4191000" y="0"/>
                  </a:lnTo>
                  <a:lnTo>
                    <a:pt x="4191000" y="304800"/>
                  </a:lnTo>
                  <a:lnTo>
                    <a:pt x="0" y="304800"/>
                  </a:lnTo>
                  <a:close/>
                </a:path>
              </a:pathLst>
            </a:custGeom>
            <a:solidFill>
              <a:srgbClr val="DCD3C3"/>
            </a:solidFill>
          </p:spPr>
        </p:sp>
      </p:grpSp>
      <p:sp>
        <p:nvSpPr>
          <p:cNvPr name="TextBox 17" id="17"/>
          <p:cNvSpPr txBox="true"/>
          <p:nvPr/>
        </p:nvSpPr>
        <p:spPr>
          <a:xfrm rot="0">
            <a:off x="13849350" y="6059805"/>
            <a:ext cx="901256" cy="405765"/>
          </a:xfrm>
          <a:prstGeom prst="rect">
            <a:avLst/>
          </a:prstGeom>
        </p:spPr>
        <p:txBody>
          <a:bodyPr anchor="t" rtlCol="false" tIns="0" lIns="0" bIns="0" rIns="0">
            <a:spAutoFit/>
          </a:bodyPr>
          <a:lstStyle/>
          <a:p>
            <a:pPr algn="l">
              <a:lnSpc>
                <a:spcPts val="2520"/>
              </a:lnSpc>
            </a:pPr>
            <a:r>
              <a:rPr lang="en-US" sz="1800" b="true">
                <a:solidFill>
                  <a:srgbClr val="DCD3C3"/>
                </a:solidFill>
                <a:latin typeface="Archivo Narrow Bold"/>
                <a:ea typeface="Archivo Narrow Bold"/>
                <a:cs typeface="Archivo Narrow Bold"/>
                <a:sym typeface="Archivo Narrow Bold"/>
              </a:rPr>
              <a:t>12.753</a:t>
            </a:r>
          </a:p>
        </p:txBody>
      </p:sp>
      <p:sp>
        <p:nvSpPr>
          <p:cNvPr name="TextBox 18" id="18"/>
          <p:cNvSpPr txBox="true"/>
          <p:nvPr/>
        </p:nvSpPr>
        <p:spPr>
          <a:xfrm rot="0">
            <a:off x="10515600" y="6475095"/>
            <a:ext cx="6749796" cy="405765"/>
          </a:xfrm>
          <a:prstGeom prst="rect">
            <a:avLst/>
          </a:prstGeom>
        </p:spPr>
        <p:txBody>
          <a:bodyPr anchor="t" rtlCol="false" tIns="0" lIns="0" bIns="0" rIns="0">
            <a:spAutoFit/>
          </a:bodyPr>
          <a:lstStyle/>
          <a:p>
            <a:pPr algn="l">
              <a:lnSpc>
                <a:spcPts val="2520"/>
              </a:lnSpc>
            </a:pPr>
            <a:r>
              <a:rPr lang="en-US" sz="1800">
                <a:solidFill>
                  <a:srgbClr val="DCD3C3"/>
                </a:solidFill>
                <a:latin typeface="Archivo Narrow"/>
                <a:ea typeface="Archivo Narrow"/>
                <a:cs typeface="Archivo Narrow"/>
                <a:sym typeface="Archivo Narrow"/>
              </a:rPr>
              <a:t>Year Built · año de construcción</a:t>
            </a:r>
          </a:p>
        </p:txBody>
      </p:sp>
      <p:grpSp>
        <p:nvGrpSpPr>
          <p:cNvPr name="Group 19" id="19"/>
          <p:cNvGrpSpPr/>
          <p:nvPr/>
        </p:nvGrpSpPr>
        <p:grpSpPr>
          <a:xfrm rot="0">
            <a:off x="10515600" y="6945630"/>
            <a:ext cx="1238250" cy="228600"/>
            <a:chOff x="0" y="0"/>
            <a:chExt cx="1651000" cy="304800"/>
          </a:xfrm>
        </p:grpSpPr>
        <p:sp>
          <p:nvSpPr>
            <p:cNvPr name="Freeform 20" id="20"/>
            <p:cNvSpPr/>
            <p:nvPr/>
          </p:nvSpPr>
          <p:spPr>
            <a:xfrm flipH="false" flipV="false" rot="0">
              <a:off x="0" y="0"/>
              <a:ext cx="1651000" cy="304800"/>
            </a:xfrm>
            <a:custGeom>
              <a:avLst/>
              <a:gdLst/>
              <a:ahLst/>
              <a:cxnLst/>
              <a:rect r="r" b="b" t="t" l="l"/>
              <a:pathLst>
                <a:path h="304800" w="1651000">
                  <a:moveTo>
                    <a:pt x="0" y="0"/>
                  </a:moveTo>
                  <a:lnTo>
                    <a:pt x="1651000" y="0"/>
                  </a:lnTo>
                  <a:lnTo>
                    <a:pt x="1651000" y="304800"/>
                  </a:lnTo>
                  <a:lnTo>
                    <a:pt x="0" y="304800"/>
                  </a:lnTo>
                  <a:close/>
                </a:path>
              </a:pathLst>
            </a:custGeom>
            <a:solidFill>
              <a:srgbClr val="DCD3C3"/>
            </a:solidFill>
          </p:spPr>
        </p:sp>
      </p:grpSp>
      <p:sp>
        <p:nvSpPr>
          <p:cNvPr name="TextBox 21" id="21"/>
          <p:cNvSpPr txBox="true"/>
          <p:nvPr/>
        </p:nvSpPr>
        <p:spPr>
          <a:xfrm rot="0">
            <a:off x="11944350" y="6852285"/>
            <a:ext cx="737426" cy="405765"/>
          </a:xfrm>
          <a:prstGeom prst="rect">
            <a:avLst/>
          </a:prstGeom>
        </p:spPr>
        <p:txBody>
          <a:bodyPr anchor="t" rtlCol="false" tIns="0" lIns="0" bIns="0" rIns="0">
            <a:spAutoFit/>
          </a:bodyPr>
          <a:lstStyle/>
          <a:p>
            <a:pPr algn="l">
              <a:lnSpc>
                <a:spcPts val="2520"/>
              </a:lnSpc>
            </a:pPr>
            <a:r>
              <a:rPr lang="en-US" sz="1800" b="true">
                <a:solidFill>
                  <a:srgbClr val="DCD3C3"/>
                </a:solidFill>
                <a:latin typeface="Archivo Narrow Bold"/>
                <a:ea typeface="Archivo Narrow Bold"/>
                <a:cs typeface="Archivo Narrow Bold"/>
                <a:sym typeface="Archivo Narrow Bold"/>
              </a:rPr>
              <a:t>5.003</a:t>
            </a:r>
          </a:p>
        </p:txBody>
      </p:sp>
      <p:sp>
        <p:nvSpPr>
          <p:cNvPr name="TextBox 22" id="22"/>
          <p:cNvSpPr txBox="true"/>
          <p:nvPr/>
        </p:nvSpPr>
        <p:spPr>
          <a:xfrm rot="0">
            <a:off x="10515600" y="7267575"/>
            <a:ext cx="6749796" cy="405765"/>
          </a:xfrm>
          <a:prstGeom prst="rect">
            <a:avLst/>
          </a:prstGeom>
        </p:spPr>
        <p:txBody>
          <a:bodyPr anchor="t" rtlCol="false" tIns="0" lIns="0" bIns="0" rIns="0">
            <a:spAutoFit/>
          </a:bodyPr>
          <a:lstStyle/>
          <a:p>
            <a:pPr algn="l">
              <a:lnSpc>
                <a:spcPts val="2520"/>
              </a:lnSpc>
            </a:pPr>
            <a:r>
              <a:rPr lang="en-US" sz="1800">
                <a:solidFill>
                  <a:srgbClr val="DCD3C3"/>
                </a:solidFill>
                <a:latin typeface="Archivo Narrow"/>
                <a:ea typeface="Archivo Narrow"/>
                <a:cs typeface="Archivo Narrow"/>
                <a:sym typeface="Archivo Narrow"/>
              </a:rPr>
              <a:t>Neighborhood · barrio</a:t>
            </a:r>
          </a:p>
        </p:txBody>
      </p:sp>
      <p:grpSp>
        <p:nvGrpSpPr>
          <p:cNvPr name="Group 23" id="23"/>
          <p:cNvGrpSpPr/>
          <p:nvPr/>
        </p:nvGrpSpPr>
        <p:grpSpPr>
          <a:xfrm rot="0">
            <a:off x="10515600" y="7738110"/>
            <a:ext cx="952500" cy="228600"/>
            <a:chOff x="0" y="0"/>
            <a:chExt cx="1270000" cy="304800"/>
          </a:xfrm>
        </p:grpSpPr>
        <p:sp>
          <p:nvSpPr>
            <p:cNvPr name="Freeform 24" id="24"/>
            <p:cNvSpPr/>
            <p:nvPr/>
          </p:nvSpPr>
          <p:spPr>
            <a:xfrm flipH="false" flipV="false" rot="0">
              <a:off x="0" y="0"/>
              <a:ext cx="1270000" cy="304800"/>
            </a:xfrm>
            <a:custGeom>
              <a:avLst/>
              <a:gdLst/>
              <a:ahLst/>
              <a:cxnLst/>
              <a:rect r="r" b="b" t="t" l="l"/>
              <a:pathLst>
                <a:path h="304800" w="1270000">
                  <a:moveTo>
                    <a:pt x="0" y="0"/>
                  </a:moveTo>
                  <a:lnTo>
                    <a:pt x="1270000" y="0"/>
                  </a:lnTo>
                  <a:lnTo>
                    <a:pt x="1270000" y="304800"/>
                  </a:lnTo>
                  <a:lnTo>
                    <a:pt x="0" y="304800"/>
                  </a:lnTo>
                  <a:close/>
                </a:path>
              </a:pathLst>
            </a:custGeom>
            <a:solidFill>
              <a:srgbClr val="DCD3C3"/>
            </a:solidFill>
          </p:spPr>
        </p:sp>
      </p:grpSp>
      <p:sp>
        <p:nvSpPr>
          <p:cNvPr name="TextBox 25" id="25"/>
          <p:cNvSpPr txBox="true"/>
          <p:nvPr/>
        </p:nvSpPr>
        <p:spPr>
          <a:xfrm rot="0">
            <a:off x="11658600" y="7644765"/>
            <a:ext cx="738188" cy="405765"/>
          </a:xfrm>
          <a:prstGeom prst="rect">
            <a:avLst/>
          </a:prstGeom>
        </p:spPr>
        <p:txBody>
          <a:bodyPr anchor="t" rtlCol="false" tIns="0" lIns="0" bIns="0" rIns="0">
            <a:spAutoFit/>
          </a:bodyPr>
          <a:lstStyle/>
          <a:p>
            <a:pPr algn="l">
              <a:lnSpc>
                <a:spcPts val="2520"/>
              </a:lnSpc>
            </a:pPr>
            <a:r>
              <a:rPr lang="en-US" sz="1800" b="true">
                <a:solidFill>
                  <a:srgbClr val="DCD3C3"/>
                </a:solidFill>
                <a:latin typeface="Archivo Narrow Bold"/>
                <a:ea typeface="Archivo Narrow Bold"/>
                <a:cs typeface="Archivo Narrow Bold"/>
                <a:sym typeface="Archivo Narrow Bold"/>
              </a:rPr>
              <a:t>3.854</a:t>
            </a:r>
          </a:p>
        </p:txBody>
      </p:sp>
      <p:sp>
        <p:nvSpPr>
          <p:cNvPr name="TextBox 26" id="26"/>
          <p:cNvSpPr txBox="true"/>
          <p:nvPr/>
        </p:nvSpPr>
        <p:spPr>
          <a:xfrm rot="0">
            <a:off x="10515600" y="8060055"/>
            <a:ext cx="6749796" cy="405765"/>
          </a:xfrm>
          <a:prstGeom prst="rect">
            <a:avLst/>
          </a:prstGeom>
        </p:spPr>
        <p:txBody>
          <a:bodyPr anchor="t" rtlCol="false" tIns="0" lIns="0" bIns="0" rIns="0">
            <a:spAutoFit/>
          </a:bodyPr>
          <a:lstStyle/>
          <a:p>
            <a:pPr algn="l">
              <a:lnSpc>
                <a:spcPts val="2520"/>
              </a:lnSpc>
            </a:pPr>
            <a:r>
              <a:rPr lang="en-US" sz="1800">
                <a:solidFill>
                  <a:srgbClr val="DCD3C3"/>
                </a:solidFill>
                <a:latin typeface="Archivo Narrow"/>
                <a:ea typeface="Archivo Narrow"/>
                <a:cs typeface="Archivo Narrow"/>
                <a:sym typeface="Archivo Narrow"/>
              </a:rPr>
              <a:t>Lot Area · superficie del terreno</a:t>
            </a:r>
          </a:p>
        </p:txBody>
      </p:sp>
      <p:grpSp>
        <p:nvGrpSpPr>
          <p:cNvPr name="Group 27" id="27"/>
          <p:cNvGrpSpPr/>
          <p:nvPr/>
        </p:nvGrpSpPr>
        <p:grpSpPr>
          <a:xfrm rot="0">
            <a:off x="10515600" y="8530590"/>
            <a:ext cx="923925" cy="228600"/>
            <a:chOff x="0" y="0"/>
            <a:chExt cx="1231900" cy="304800"/>
          </a:xfrm>
        </p:grpSpPr>
        <p:sp>
          <p:nvSpPr>
            <p:cNvPr name="Freeform 28" id="28"/>
            <p:cNvSpPr/>
            <p:nvPr/>
          </p:nvSpPr>
          <p:spPr>
            <a:xfrm flipH="false" flipV="false" rot="0">
              <a:off x="0" y="0"/>
              <a:ext cx="1231900" cy="304800"/>
            </a:xfrm>
            <a:custGeom>
              <a:avLst/>
              <a:gdLst/>
              <a:ahLst/>
              <a:cxnLst/>
              <a:rect r="r" b="b" t="t" l="l"/>
              <a:pathLst>
                <a:path h="304800" w="1231900">
                  <a:moveTo>
                    <a:pt x="0" y="0"/>
                  </a:moveTo>
                  <a:lnTo>
                    <a:pt x="1231900" y="0"/>
                  </a:lnTo>
                  <a:lnTo>
                    <a:pt x="1231900" y="304800"/>
                  </a:lnTo>
                  <a:lnTo>
                    <a:pt x="0" y="304800"/>
                  </a:lnTo>
                  <a:close/>
                </a:path>
              </a:pathLst>
            </a:custGeom>
            <a:solidFill>
              <a:srgbClr val="DCD3C3"/>
            </a:solidFill>
          </p:spPr>
        </p:sp>
      </p:grpSp>
      <p:sp>
        <p:nvSpPr>
          <p:cNvPr name="TextBox 29" id="29"/>
          <p:cNvSpPr txBox="true"/>
          <p:nvPr/>
        </p:nvSpPr>
        <p:spPr>
          <a:xfrm rot="0">
            <a:off x="11630025" y="8437245"/>
            <a:ext cx="738759" cy="405765"/>
          </a:xfrm>
          <a:prstGeom prst="rect">
            <a:avLst/>
          </a:prstGeom>
        </p:spPr>
        <p:txBody>
          <a:bodyPr anchor="t" rtlCol="false" tIns="0" lIns="0" bIns="0" rIns="0">
            <a:spAutoFit/>
          </a:bodyPr>
          <a:lstStyle/>
          <a:p>
            <a:pPr algn="l">
              <a:lnSpc>
                <a:spcPts val="2520"/>
              </a:lnSpc>
            </a:pPr>
            <a:r>
              <a:rPr lang="en-US" sz="1800" b="true">
                <a:solidFill>
                  <a:srgbClr val="DCD3C3"/>
                </a:solidFill>
                <a:latin typeface="Archivo Narrow Bold"/>
                <a:ea typeface="Archivo Narrow Bold"/>
                <a:cs typeface="Archivo Narrow Bold"/>
                <a:sym typeface="Archivo Narrow Bold"/>
              </a:rPr>
              <a:t>3.744</a:t>
            </a:r>
          </a:p>
        </p:txBody>
      </p:sp>
      <p:sp>
        <p:nvSpPr>
          <p:cNvPr name="TextBox 30" id="30"/>
          <p:cNvSpPr txBox="true"/>
          <p:nvPr/>
        </p:nvSpPr>
        <p:spPr>
          <a:xfrm rot="0">
            <a:off x="1219200" y="1333500"/>
            <a:ext cx="16325088" cy="963930"/>
          </a:xfrm>
          <a:prstGeom prst="rect">
            <a:avLst/>
          </a:prstGeom>
        </p:spPr>
        <p:txBody>
          <a:bodyPr anchor="t" rtlCol="false" tIns="0" lIns="0" bIns="0" rIns="0">
            <a:spAutoFit/>
          </a:bodyPr>
          <a:lstStyle/>
          <a:p>
            <a:pPr algn="l">
              <a:lnSpc>
                <a:spcPts val="8190"/>
              </a:lnSpc>
            </a:pPr>
            <a:r>
              <a:rPr lang="en-US" sz="7800">
                <a:solidFill>
                  <a:srgbClr val="1F1E1C"/>
                </a:solidFill>
                <a:latin typeface="Anton"/>
                <a:ea typeface="Anton"/>
                <a:cs typeface="Anton"/>
                <a:sym typeface="Anton"/>
              </a:rPr>
              <a:t>QUÉ SIGNIFICA PARA EL NEGOCIO</a:t>
            </a:r>
          </a:p>
        </p:txBody>
      </p:sp>
      <p:sp>
        <p:nvSpPr>
          <p:cNvPr name="TextBox 31" id="31"/>
          <p:cNvSpPr txBox="true"/>
          <p:nvPr/>
        </p:nvSpPr>
        <p:spPr>
          <a:xfrm rot="0">
            <a:off x="1219200" y="2602230"/>
            <a:ext cx="8241030" cy="436245"/>
          </a:xfrm>
          <a:prstGeom prst="rect">
            <a:avLst/>
          </a:prstGeom>
        </p:spPr>
        <p:txBody>
          <a:bodyPr anchor="t" rtlCol="false" tIns="0" lIns="0" bIns="0" rIns="0">
            <a:spAutoFit/>
          </a:bodyPr>
          <a:lstStyle/>
          <a:p>
            <a:pPr algn="l">
              <a:lnSpc>
                <a:spcPts val="2835"/>
              </a:lnSpc>
            </a:pPr>
            <a:r>
              <a:rPr lang="en-US" sz="2100">
                <a:solidFill>
                  <a:srgbClr val="4A453F"/>
                </a:solidFill>
                <a:latin typeface="Archivo Narrow"/>
                <a:ea typeface="Archivo Narrow"/>
                <a:cs typeface="Archivo Narrow"/>
                <a:sym typeface="Archivo Narrow"/>
              </a:rPr>
              <a:t>Un valor de partida para el perito, con el detalle de qué lo movió.</a:t>
            </a:r>
          </a:p>
        </p:txBody>
      </p:sp>
      <p:sp>
        <p:nvSpPr>
          <p:cNvPr name="AutoShape 32" id="32"/>
          <p:cNvSpPr/>
          <p:nvPr/>
        </p:nvSpPr>
        <p:spPr>
          <a:xfrm rot="4080">
            <a:off x="1214438" y="3381375"/>
            <a:ext cx="8010535" cy="0"/>
          </a:xfrm>
          <a:prstGeom prst="line">
            <a:avLst/>
          </a:prstGeom>
          <a:ln cap="rnd" w="9525">
            <a:solidFill>
              <a:srgbClr val="8C8476"/>
            </a:solidFill>
            <a:prstDash val="solid"/>
            <a:headEnd type="none" len="sm" w="sm"/>
            <a:tailEnd type="none" len="sm" w="sm"/>
          </a:ln>
        </p:spPr>
      </p:sp>
      <p:sp>
        <p:nvSpPr>
          <p:cNvPr name="TextBox 33" id="33"/>
          <p:cNvSpPr txBox="true"/>
          <p:nvPr/>
        </p:nvSpPr>
        <p:spPr>
          <a:xfrm rot="0">
            <a:off x="1219200" y="3760470"/>
            <a:ext cx="3139440" cy="885825"/>
          </a:xfrm>
          <a:prstGeom prst="rect">
            <a:avLst/>
          </a:prstGeom>
        </p:spPr>
        <p:txBody>
          <a:bodyPr anchor="t" rtlCol="false" tIns="0" lIns="0" bIns="0" rIns="0">
            <a:spAutoFit/>
          </a:bodyPr>
          <a:lstStyle/>
          <a:p>
            <a:pPr algn="l">
              <a:lnSpc>
                <a:spcPts val="7800"/>
              </a:lnSpc>
            </a:pPr>
            <a:r>
              <a:rPr lang="en-US" sz="7800">
                <a:solidFill>
                  <a:srgbClr val="1F1E1C"/>
                </a:solidFill>
                <a:latin typeface="Anton"/>
                <a:ea typeface="Anton"/>
                <a:cs typeface="Anton"/>
                <a:sym typeface="Anton"/>
              </a:rPr>
              <a:t>5,3 %</a:t>
            </a:r>
          </a:p>
        </p:txBody>
      </p:sp>
      <p:sp>
        <p:nvSpPr>
          <p:cNvPr name="TextBox 34" id="34"/>
          <p:cNvSpPr txBox="true"/>
          <p:nvPr/>
        </p:nvSpPr>
        <p:spPr>
          <a:xfrm rot="0">
            <a:off x="4572000" y="3714750"/>
            <a:ext cx="4787646" cy="796290"/>
          </a:xfrm>
          <a:prstGeom prst="rect">
            <a:avLst/>
          </a:prstGeom>
        </p:spPr>
        <p:txBody>
          <a:bodyPr anchor="t" rtlCol="false" tIns="0" lIns="0" bIns="0" rIns="0">
            <a:spAutoFit/>
          </a:bodyPr>
          <a:lstStyle/>
          <a:p>
            <a:pPr algn="l">
              <a:lnSpc>
                <a:spcPts val="2835"/>
              </a:lnSpc>
            </a:pPr>
            <a:r>
              <a:rPr lang="en-US" sz="2100">
                <a:solidFill>
                  <a:srgbClr val="4A453F"/>
                </a:solidFill>
                <a:latin typeface="Archivo Narrow"/>
                <a:ea typeface="Archivo Narrow"/>
                <a:cs typeface="Archivo Narrow"/>
                <a:sym typeface="Archivo Narrow"/>
              </a:rPr>
              <a:t>error de la casa típica (mediana: 8.659 USD)</a:t>
            </a:r>
          </a:p>
        </p:txBody>
      </p:sp>
      <p:sp>
        <p:nvSpPr>
          <p:cNvPr name="AutoShape 35" id="35"/>
          <p:cNvSpPr/>
          <p:nvPr/>
        </p:nvSpPr>
        <p:spPr>
          <a:xfrm rot="4080">
            <a:off x="1214438" y="4836795"/>
            <a:ext cx="8010535" cy="0"/>
          </a:xfrm>
          <a:prstGeom prst="line">
            <a:avLst/>
          </a:prstGeom>
          <a:ln cap="rnd" w="9525">
            <a:solidFill>
              <a:srgbClr val="8C8476"/>
            </a:solidFill>
            <a:prstDash val="solid"/>
            <a:headEnd type="none" len="sm" w="sm"/>
            <a:tailEnd type="none" len="sm" w="sm"/>
          </a:ln>
        </p:spPr>
      </p:sp>
      <p:sp>
        <p:nvSpPr>
          <p:cNvPr name="TextBox 36" id="36"/>
          <p:cNvSpPr txBox="true"/>
          <p:nvPr/>
        </p:nvSpPr>
        <p:spPr>
          <a:xfrm rot="0">
            <a:off x="1219200" y="5215890"/>
            <a:ext cx="3139440" cy="885825"/>
          </a:xfrm>
          <a:prstGeom prst="rect">
            <a:avLst/>
          </a:prstGeom>
        </p:spPr>
        <p:txBody>
          <a:bodyPr anchor="t" rtlCol="false" tIns="0" lIns="0" bIns="0" rIns="0">
            <a:spAutoFit/>
          </a:bodyPr>
          <a:lstStyle/>
          <a:p>
            <a:pPr algn="l">
              <a:lnSpc>
                <a:spcPts val="7800"/>
              </a:lnSpc>
            </a:pPr>
            <a:r>
              <a:rPr lang="en-US" sz="7800">
                <a:solidFill>
                  <a:srgbClr val="1F1E1C"/>
                </a:solidFill>
                <a:latin typeface="Anton"/>
                <a:ea typeface="Anton"/>
                <a:cs typeface="Anton"/>
                <a:sym typeface="Anton"/>
              </a:rPr>
              <a:t>77,8 %</a:t>
            </a:r>
          </a:p>
        </p:txBody>
      </p:sp>
      <p:sp>
        <p:nvSpPr>
          <p:cNvPr name="TextBox 37" id="37"/>
          <p:cNvSpPr txBox="true"/>
          <p:nvPr/>
        </p:nvSpPr>
        <p:spPr>
          <a:xfrm rot="0">
            <a:off x="4572000" y="5350192"/>
            <a:ext cx="4648200" cy="436245"/>
          </a:xfrm>
          <a:prstGeom prst="rect">
            <a:avLst/>
          </a:prstGeom>
        </p:spPr>
        <p:txBody>
          <a:bodyPr anchor="t" rtlCol="false" tIns="0" lIns="0" bIns="0" rIns="0">
            <a:spAutoFit/>
          </a:bodyPr>
          <a:lstStyle/>
          <a:p>
            <a:pPr algn="l">
              <a:lnSpc>
                <a:spcPts val="2835"/>
              </a:lnSpc>
            </a:pPr>
            <a:r>
              <a:rPr lang="en-US" sz="2100">
                <a:solidFill>
                  <a:srgbClr val="4A453F"/>
                </a:solidFill>
                <a:latin typeface="Archivo Narrow"/>
                <a:ea typeface="Archivo Narrow"/>
                <a:cs typeface="Archivo Narrow"/>
                <a:sym typeface="Archivo Narrow"/>
              </a:rPr>
              <a:t>de las casas con error menor a 10 %</a:t>
            </a:r>
          </a:p>
        </p:txBody>
      </p:sp>
      <p:sp>
        <p:nvSpPr>
          <p:cNvPr name="AutoShape 38" id="38"/>
          <p:cNvSpPr/>
          <p:nvPr/>
        </p:nvSpPr>
        <p:spPr>
          <a:xfrm rot="4080">
            <a:off x="1214438" y="6292215"/>
            <a:ext cx="8010535" cy="0"/>
          </a:xfrm>
          <a:prstGeom prst="line">
            <a:avLst/>
          </a:prstGeom>
          <a:ln cap="rnd" w="9525">
            <a:solidFill>
              <a:srgbClr val="8C8476"/>
            </a:solidFill>
            <a:prstDash val="solid"/>
            <a:headEnd type="none" len="sm" w="sm"/>
            <a:tailEnd type="none" len="sm" w="sm"/>
          </a:ln>
        </p:spPr>
      </p:sp>
      <p:sp>
        <p:nvSpPr>
          <p:cNvPr name="TextBox 39" id="39"/>
          <p:cNvSpPr txBox="true"/>
          <p:nvPr/>
        </p:nvSpPr>
        <p:spPr>
          <a:xfrm rot="0">
            <a:off x="1219200" y="6671310"/>
            <a:ext cx="3139440" cy="885825"/>
          </a:xfrm>
          <a:prstGeom prst="rect">
            <a:avLst/>
          </a:prstGeom>
        </p:spPr>
        <p:txBody>
          <a:bodyPr anchor="t" rtlCol="false" tIns="0" lIns="0" bIns="0" rIns="0">
            <a:spAutoFit/>
          </a:bodyPr>
          <a:lstStyle/>
          <a:p>
            <a:pPr algn="l">
              <a:lnSpc>
                <a:spcPts val="7800"/>
              </a:lnSpc>
            </a:pPr>
            <a:r>
              <a:rPr lang="en-US" sz="7800">
                <a:solidFill>
                  <a:srgbClr val="1F1E1C"/>
                </a:solidFill>
                <a:latin typeface="Anton"/>
                <a:ea typeface="Anton"/>
                <a:cs typeface="Anton"/>
                <a:sym typeface="Anton"/>
              </a:rPr>
              <a:t>96,6 %</a:t>
            </a:r>
          </a:p>
        </p:txBody>
      </p:sp>
      <p:sp>
        <p:nvSpPr>
          <p:cNvPr name="TextBox 40" id="40"/>
          <p:cNvSpPr txBox="true"/>
          <p:nvPr/>
        </p:nvSpPr>
        <p:spPr>
          <a:xfrm rot="0">
            <a:off x="4572000" y="6805612"/>
            <a:ext cx="4648200" cy="436245"/>
          </a:xfrm>
          <a:prstGeom prst="rect">
            <a:avLst/>
          </a:prstGeom>
        </p:spPr>
        <p:txBody>
          <a:bodyPr anchor="t" rtlCol="false" tIns="0" lIns="0" bIns="0" rIns="0">
            <a:spAutoFit/>
          </a:bodyPr>
          <a:lstStyle/>
          <a:p>
            <a:pPr algn="l">
              <a:lnSpc>
                <a:spcPts val="2835"/>
              </a:lnSpc>
            </a:pPr>
            <a:r>
              <a:rPr lang="en-US" sz="2100">
                <a:solidFill>
                  <a:srgbClr val="4A453F"/>
                </a:solidFill>
                <a:latin typeface="Archivo Narrow"/>
                <a:ea typeface="Archivo Narrow"/>
                <a:cs typeface="Archivo Narrow"/>
                <a:sym typeface="Archivo Narrow"/>
              </a:rPr>
              <a:t>de las casas con error menor a 20 %</a:t>
            </a:r>
          </a:p>
        </p:txBody>
      </p:sp>
      <p:sp>
        <p:nvSpPr>
          <p:cNvPr name="TextBox 41" id="41"/>
          <p:cNvSpPr txBox="true"/>
          <p:nvPr/>
        </p:nvSpPr>
        <p:spPr>
          <a:xfrm rot="0">
            <a:off x="1219200" y="9309735"/>
            <a:ext cx="7848600" cy="405765"/>
          </a:xfrm>
          <a:prstGeom prst="rect">
            <a:avLst/>
          </a:prstGeom>
        </p:spPr>
        <p:txBody>
          <a:bodyPr anchor="t" rtlCol="false" tIns="0" lIns="0" bIns="0" rIns="0">
            <a:spAutoFit/>
          </a:bodyPr>
          <a:lstStyle/>
          <a:p>
            <a:pPr algn="l">
              <a:lnSpc>
                <a:spcPts val="2520"/>
              </a:lnSpc>
            </a:pPr>
            <a:r>
              <a:rPr lang="en-US" sz="1800">
                <a:solidFill>
                  <a:srgbClr val="4A453F"/>
                </a:solidFill>
                <a:latin typeface="Archivo Narrow"/>
                <a:ea typeface="Archivo Narrow"/>
                <a:cs typeface="Archivo Narrow"/>
                <a:sym typeface="Archivo Narrow"/>
              </a:rPr>
              <a:t>15 · Housing Prices · EP2</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DCD3C3"/>
        </a:solidFill>
      </p:bgPr>
    </p:bg>
    <p:spTree>
      <p:nvGrpSpPr>
        <p:cNvPr id="1" name=""/>
        <p:cNvGrpSpPr/>
        <p:nvPr/>
      </p:nvGrpSpPr>
      <p:grpSpPr>
        <a:xfrm>
          <a:off x="0" y="0"/>
          <a:ext cx="0" cy="0"/>
          <a:chOff x="0" y="0"/>
          <a:chExt cx="0" cy="0"/>
        </a:xfrm>
      </p:grpSpPr>
      <p:sp>
        <p:nvSpPr>
          <p:cNvPr name="TextBox 2" id="2"/>
          <p:cNvSpPr txBox="true"/>
          <p:nvPr/>
        </p:nvSpPr>
        <p:spPr>
          <a:xfrm rot="0">
            <a:off x="1219200" y="1333500"/>
            <a:ext cx="16325088" cy="963930"/>
          </a:xfrm>
          <a:prstGeom prst="rect">
            <a:avLst/>
          </a:prstGeom>
        </p:spPr>
        <p:txBody>
          <a:bodyPr anchor="t" rtlCol="false" tIns="0" lIns="0" bIns="0" rIns="0">
            <a:spAutoFit/>
          </a:bodyPr>
          <a:lstStyle/>
          <a:p>
            <a:pPr algn="l">
              <a:lnSpc>
                <a:spcPts val="8190"/>
              </a:lnSpc>
            </a:pPr>
            <a:r>
              <a:rPr lang="en-US" sz="7800">
                <a:solidFill>
                  <a:srgbClr val="1F1E1C"/>
                </a:solidFill>
                <a:latin typeface="Anton"/>
                <a:ea typeface="Anton"/>
                <a:cs typeface="Anton"/>
                <a:sym typeface="Anton"/>
              </a:rPr>
              <a:t>USO RECOMENDADO Y LIMITACIONES</a:t>
            </a:r>
          </a:p>
        </p:txBody>
      </p:sp>
      <p:sp>
        <p:nvSpPr>
          <p:cNvPr name="TextBox 3" id="3"/>
          <p:cNvSpPr txBox="true"/>
          <p:nvPr/>
        </p:nvSpPr>
        <p:spPr>
          <a:xfrm rot="0">
            <a:off x="1219200" y="2602230"/>
            <a:ext cx="16325088" cy="436245"/>
          </a:xfrm>
          <a:prstGeom prst="rect">
            <a:avLst/>
          </a:prstGeom>
        </p:spPr>
        <p:txBody>
          <a:bodyPr anchor="t" rtlCol="false" tIns="0" lIns="0" bIns="0" rIns="0">
            <a:spAutoFit/>
          </a:bodyPr>
          <a:lstStyle/>
          <a:p>
            <a:pPr algn="l">
              <a:lnSpc>
                <a:spcPts val="2835"/>
              </a:lnSpc>
            </a:pPr>
            <a:r>
              <a:rPr lang="en-US" sz="2100">
                <a:solidFill>
                  <a:srgbClr val="4A453F"/>
                </a:solidFill>
                <a:latin typeface="Archivo Narrow"/>
                <a:ea typeface="Archivo Narrow"/>
                <a:cs typeface="Archivo Narrow"/>
                <a:sym typeface="Archivo Narrow"/>
              </a:rPr>
              <a:t>Un punto de partida para el perito, no un reemplazo de la tasación.</a:t>
            </a:r>
          </a:p>
        </p:txBody>
      </p:sp>
      <p:grpSp>
        <p:nvGrpSpPr>
          <p:cNvPr name="Group 4" id="4"/>
          <p:cNvGrpSpPr/>
          <p:nvPr/>
        </p:nvGrpSpPr>
        <p:grpSpPr>
          <a:xfrm rot="0">
            <a:off x="1219200" y="3381375"/>
            <a:ext cx="5715000" cy="5381625"/>
            <a:chOff x="0" y="0"/>
            <a:chExt cx="7620000" cy="7175500"/>
          </a:xfrm>
        </p:grpSpPr>
        <p:sp>
          <p:nvSpPr>
            <p:cNvPr name="Freeform 5" id="5"/>
            <p:cNvSpPr/>
            <p:nvPr/>
          </p:nvSpPr>
          <p:spPr>
            <a:xfrm flipH="false" flipV="false" rot="0">
              <a:off x="0" y="0"/>
              <a:ext cx="7620000" cy="7175500"/>
            </a:xfrm>
            <a:custGeom>
              <a:avLst/>
              <a:gdLst/>
              <a:ahLst/>
              <a:cxnLst/>
              <a:rect r="r" b="b" t="t" l="l"/>
              <a:pathLst>
                <a:path h="7175500" w="7620000">
                  <a:moveTo>
                    <a:pt x="0" y="0"/>
                  </a:moveTo>
                  <a:lnTo>
                    <a:pt x="7620000" y="0"/>
                  </a:lnTo>
                  <a:lnTo>
                    <a:pt x="7620000" y="7175500"/>
                  </a:lnTo>
                  <a:lnTo>
                    <a:pt x="0" y="7175500"/>
                  </a:lnTo>
                  <a:close/>
                </a:path>
              </a:pathLst>
            </a:custGeom>
            <a:solidFill>
              <a:srgbClr val="1F1E1C"/>
            </a:solidFill>
          </p:spPr>
        </p:sp>
      </p:grpSp>
      <p:sp>
        <p:nvSpPr>
          <p:cNvPr name="TextBox 6" id="6"/>
          <p:cNvSpPr txBox="true"/>
          <p:nvPr/>
        </p:nvSpPr>
        <p:spPr>
          <a:xfrm rot="0">
            <a:off x="1752600" y="3867150"/>
            <a:ext cx="4787646" cy="405765"/>
          </a:xfrm>
          <a:prstGeom prst="rect">
            <a:avLst/>
          </a:prstGeom>
        </p:spPr>
        <p:txBody>
          <a:bodyPr anchor="t" rtlCol="false" tIns="0" lIns="0" bIns="0" rIns="0">
            <a:spAutoFit/>
          </a:bodyPr>
          <a:lstStyle/>
          <a:p>
            <a:pPr algn="l">
              <a:lnSpc>
                <a:spcPts val="2520"/>
              </a:lnSpc>
            </a:pPr>
            <a:r>
              <a:rPr lang="en-US" b="true" sz="1800" spc="149">
                <a:solidFill>
                  <a:srgbClr val="A39B8B"/>
                </a:solidFill>
                <a:latin typeface="Archivo Narrow Bold"/>
                <a:ea typeface="Archivo Narrow Bold"/>
                <a:cs typeface="Archivo Narrow Bold"/>
                <a:sym typeface="Archivo Narrow Bold"/>
              </a:rPr>
              <a:t>SIRVE PARA</a:t>
            </a:r>
          </a:p>
        </p:txBody>
      </p:sp>
      <p:grpSp>
        <p:nvGrpSpPr>
          <p:cNvPr name="Group 7" id="7"/>
          <p:cNvGrpSpPr/>
          <p:nvPr/>
        </p:nvGrpSpPr>
        <p:grpSpPr>
          <a:xfrm rot="0">
            <a:off x="1752600" y="4501515"/>
            <a:ext cx="419100" cy="419100"/>
            <a:chOff x="0" y="0"/>
            <a:chExt cx="558800" cy="558800"/>
          </a:xfrm>
        </p:grpSpPr>
        <p:sp>
          <p:nvSpPr>
            <p:cNvPr name="Freeform 8" id="8"/>
            <p:cNvSpPr/>
            <p:nvPr/>
          </p:nvSpPr>
          <p:spPr>
            <a:xfrm flipH="false" flipV="false" rot="0">
              <a:off x="0" y="0"/>
              <a:ext cx="558800" cy="558800"/>
            </a:xfrm>
            <a:custGeom>
              <a:avLst/>
              <a:gdLst/>
              <a:ahLst/>
              <a:cxnLst/>
              <a:rect r="r" b="b" t="t" l="l"/>
              <a:pathLst>
                <a:path h="558800" w="558800">
                  <a:moveTo>
                    <a:pt x="0" y="279400"/>
                  </a:moveTo>
                  <a:cubicBezTo>
                    <a:pt x="0" y="125095"/>
                    <a:pt x="125095" y="0"/>
                    <a:pt x="279400" y="0"/>
                  </a:cubicBezTo>
                  <a:cubicBezTo>
                    <a:pt x="433705" y="0"/>
                    <a:pt x="558800" y="125095"/>
                    <a:pt x="558800" y="279400"/>
                  </a:cubicBezTo>
                  <a:cubicBezTo>
                    <a:pt x="558800" y="433705"/>
                    <a:pt x="433705" y="558800"/>
                    <a:pt x="279400" y="558800"/>
                  </a:cubicBezTo>
                  <a:cubicBezTo>
                    <a:pt x="125095" y="558800"/>
                    <a:pt x="0" y="433705"/>
                    <a:pt x="0" y="279400"/>
                  </a:cubicBezTo>
                  <a:close/>
                </a:path>
              </a:pathLst>
            </a:custGeom>
            <a:solidFill>
              <a:srgbClr val="DCD3C3"/>
            </a:solidFill>
          </p:spPr>
        </p:sp>
      </p:grpSp>
      <p:grpSp>
        <p:nvGrpSpPr>
          <p:cNvPr name="Group 9" id="9"/>
          <p:cNvGrpSpPr/>
          <p:nvPr/>
        </p:nvGrpSpPr>
        <p:grpSpPr>
          <a:xfrm rot="0">
            <a:off x="1809750" y="4558665"/>
            <a:ext cx="304800" cy="304800"/>
            <a:chOff x="0" y="0"/>
            <a:chExt cx="406400" cy="406400"/>
          </a:xfrm>
        </p:grpSpPr>
        <p:sp>
          <p:nvSpPr>
            <p:cNvPr name="Freeform 10" id="10" descr="Check"/>
            <p:cNvSpPr/>
            <p:nvPr/>
          </p:nvSpPr>
          <p:spPr>
            <a:xfrm flipH="false" flipV="false" rot="0">
              <a:off x="0" y="0"/>
              <a:ext cx="406400" cy="406400"/>
            </a:xfrm>
            <a:custGeom>
              <a:avLst/>
              <a:gdLst/>
              <a:ahLst/>
              <a:cxnLst/>
              <a:rect r="r" b="b" t="t" l="l"/>
              <a:pathLst>
                <a:path h="406400" w="406400">
                  <a:moveTo>
                    <a:pt x="0" y="0"/>
                  </a:moveTo>
                  <a:lnTo>
                    <a:pt x="406400" y="0"/>
                  </a:lnTo>
                  <a:lnTo>
                    <a:pt x="406400" y="406400"/>
                  </a:lnTo>
                  <a:lnTo>
                    <a:pt x="0" y="406400"/>
                  </a:lnTo>
                  <a:lnTo>
                    <a:pt x="0" y="0"/>
                  </a:lnTo>
                  <a:close/>
                </a:path>
              </a:pathLst>
            </a:custGeom>
            <a:blipFill>
              <a:blip r:embed="rId3"/>
              <a:stretch>
                <a:fillRect l="0" t="0" r="0" b="0"/>
              </a:stretch>
            </a:blipFill>
          </p:spPr>
        </p:sp>
      </p:grpSp>
      <p:sp>
        <p:nvSpPr>
          <p:cNvPr name="TextBox 11" id="11"/>
          <p:cNvSpPr txBox="true"/>
          <p:nvPr/>
        </p:nvSpPr>
        <p:spPr>
          <a:xfrm rot="0">
            <a:off x="2362200" y="4463415"/>
            <a:ext cx="4169854" cy="436245"/>
          </a:xfrm>
          <a:prstGeom prst="rect">
            <a:avLst/>
          </a:prstGeom>
        </p:spPr>
        <p:txBody>
          <a:bodyPr anchor="t" rtlCol="false" tIns="0" lIns="0" bIns="0" rIns="0">
            <a:spAutoFit/>
          </a:bodyPr>
          <a:lstStyle/>
          <a:p>
            <a:pPr algn="l">
              <a:lnSpc>
                <a:spcPts val="2835"/>
              </a:lnSpc>
            </a:pPr>
            <a:r>
              <a:rPr lang="en-US" sz="2100">
                <a:solidFill>
                  <a:srgbClr val="DCD3C3"/>
                </a:solidFill>
                <a:latin typeface="Archivo Narrow"/>
                <a:ea typeface="Archivo Narrow"/>
                <a:cs typeface="Archivo Narrow"/>
                <a:sym typeface="Archivo Narrow"/>
              </a:rPr>
              <a:t>Viviendas en zona residencial</a:t>
            </a:r>
          </a:p>
        </p:txBody>
      </p:sp>
      <p:grpSp>
        <p:nvGrpSpPr>
          <p:cNvPr name="Group 12" id="12"/>
          <p:cNvGrpSpPr/>
          <p:nvPr/>
        </p:nvGrpSpPr>
        <p:grpSpPr>
          <a:xfrm rot="0">
            <a:off x="1752600" y="5187315"/>
            <a:ext cx="419100" cy="419100"/>
            <a:chOff x="0" y="0"/>
            <a:chExt cx="558800" cy="558800"/>
          </a:xfrm>
        </p:grpSpPr>
        <p:sp>
          <p:nvSpPr>
            <p:cNvPr name="Freeform 13" id="13"/>
            <p:cNvSpPr/>
            <p:nvPr/>
          </p:nvSpPr>
          <p:spPr>
            <a:xfrm flipH="false" flipV="false" rot="0">
              <a:off x="0" y="0"/>
              <a:ext cx="558800" cy="558800"/>
            </a:xfrm>
            <a:custGeom>
              <a:avLst/>
              <a:gdLst/>
              <a:ahLst/>
              <a:cxnLst/>
              <a:rect r="r" b="b" t="t" l="l"/>
              <a:pathLst>
                <a:path h="558800" w="558800">
                  <a:moveTo>
                    <a:pt x="0" y="279400"/>
                  </a:moveTo>
                  <a:cubicBezTo>
                    <a:pt x="0" y="125095"/>
                    <a:pt x="125095" y="0"/>
                    <a:pt x="279400" y="0"/>
                  </a:cubicBezTo>
                  <a:cubicBezTo>
                    <a:pt x="433705" y="0"/>
                    <a:pt x="558800" y="125095"/>
                    <a:pt x="558800" y="279400"/>
                  </a:cubicBezTo>
                  <a:cubicBezTo>
                    <a:pt x="558800" y="433705"/>
                    <a:pt x="433705" y="558800"/>
                    <a:pt x="279400" y="558800"/>
                  </a:cubicBezTo>
                  <a:cubicBezTo>
                    <a:pt x="125095" y="558800"/>
                    <a:pt x="0" y="433705"/>
                    <a:pt x="0" y="279400"/>
                  </a:cubicBezTo>
                  <a:close/>
                </a:path>
              </a:pathLst>
            </a:custGeom>
            <a:solidFill>
              <a:srgbClr val="DCD3C3"/>
            </a:solidFill>
          </p:spPr>
        </p:sp>
      </p:grpSp>
      <p:grpSp>
        <p:nvGrpSpPr>
          <p:cNvPr name="Group 14" id="14"/>
          <p:cNvGrpSpPr/>
          <p:nvPr/>
        </p:nvGrpSpPr>
        <p:grpSpPr>
          <a:xfrm rot="0">
            <a:off x="1809750" y="5244465"/>
            <a:ext cx="304800" cy="304800"/>
            <a:chOff x="0" y="0"/>
            <a:chExt cx="406400" cy="406400"/>
          </a:xfrm>
        </p:grpSpPr>
        <p:sp>
          <p:nvSpPr>
            <p:cNvPr name="Freeform 15" id="15" descr="Check"/>
            <p:cNvSpPr/>
            <p:nvPr/>
          </p:nvSpPr>
          <p:spPr>
            <a:xfrm flipH="false" flipV="false" rot="0">
              <a:off x="0" y="0"/>
              <a:ext cx="406400" cy="406400"/>
            </a:xfrm>
            <a:custGeom>
              <a:avLst/>
              <a:gdLst/>
              <a:ahLst/>
              <a:cxnLst/>
              <a:rect r="r" b="b" t="t" l="l"/>
              <a:pathLst>
                <a:path h="406400" w="406400">
                  <a:moveTo>
                    <a:pt x="0" y="0"/>
                  </a:moveTo>
                  <a:lnTo>
                    <a:pt x="406400" y="0"/>
                  </a:lnTo>
                  <a:lnTo>
                    <a:pt x="406400" y="406400"/>
                  </a:lnTo>
                  <a:lnTo>
                    <a:pt x="0" y="406400"/>
                  </a:lnTo>
                  <a:lnTo>
                    <a:pt x="0" y="0"/>
                  </a:lnTo>
                  <a:close/>
                </a:path>
              </a:pathLst>
            </a:custGeom>
            <a:blipFill>
              <a:blip r:embed="rId3"/>
              <a:stretch>
                <a:fillRect l="0" t="0" r="0" b="0"/>
              </a:stretch>
            </a:blipFill>
          </p:spPr>
        </p:sp>
      </p:grpSp>
      <p:sp>
        <p:nvSpPr>
          <p:cNvPr name="TextBox 16" id="16"/>
          <p:cNvSpPr txBox="true"/>
          <p:nvPr/>
        </p:nvSpPr>
        <p:spPr>
          <a:xfrm rot="0">
            <a:off x="2362200" y="5149215"/>
            <a:ext cx="4159758" cy="796290"/>
          </a:xfrm>
          <a:prstGeom prst="rect">
            <a:avLst/>
          </a:prstGeom>
        </p:spPr>
        <p:txBody>
          <a:bodyPr anchor="t" rtlCol="false" tIns="0" lIns="0" bIns="0" rIns="0">
            <a:spAutoFit/>
          </a:bodyPr>
          <a:lstStyle/>
          <a:p>
            <a:pPr algn="l">
              <a:lnSpc>
                <a:spcPts val="2835"/>
              </a:lnSpc>
            </a:pPr>
            <a:r>
              <a:rPr lang="en-US" sz="2100">
                <a:solidFill>
                  <a:srgbClr val="DCD3C3"/>
                </a:solidFill>
                <a:latin typeface="Archivo Narrow"/>
                <a:ea typeface="Archivo Narrow"/>
                <a:cs typeface="Archivo Narrow"/>
                <a:sym typeface="Archivo Narrow"/>
              </a:rPr>
              <a:t>Valor de partida para el perito, tasado como venta normal</a:t>
            </a:r>
          </a:p>
        </p:txBody>
      </p:sp>
      <p:sp>
        <p:nvSpPr>
          <p:cNvPr name="AutoShape 17" id="17"/>
          <p:cNvSpPr/>
          <p:nvPr/>
        </p:nvSpPr>
        <p:spPr>
          <a:xfrm rot="7020">
            <a:off x="1747828" y="7353300"/>
            <a:ext cx="4657735" cy="0"/>
          </a:xfrm>
          <a:prstGeom prst="line">
            <a:avLst/>
          </a:prstGeom>
          <a:ln cap="rnd" w="9525">
            <a:solidFill>
              <a:srgbClr val="6E685E"/>
            </a:solidFill>
            <a:prstDash val="solid"/>
            <a:headEnd type="none" len="sm" w="sm"/>
            <a:tailEnd type="none" len="sm" w="sm"/>
          </a:ln>
        </p:spPr>
      </p:sp>
      <p:sp>
        <p:nvSpPr>
          <p:cNvPr name="TextBox 18" id="18"/>
          <p:cNvSpPr txBox="true"/>
          <p:nvPr/>
        </p:nvSpPr>
        <p:spPr>
          <a:xfrm rot="0">
            <a:off x="1752600" y="7541895"/>
            <a:ext cx="4787646" cy="725805"/>
          </a:xfrm>
          <a:prstGeom prst="rect">
            <a:avLst/>
          </a:prstGeom>
        </p:spPr>
        <p:txBody>
          <a:bodyPr anchor="t" rtlCol="false" tIns="0" lIns="0" bIns="0" rIns="0">
            <a:spAutoFit/>
          </a:bodyPr>
          <a:lstStyle/>
          <a:p>
            <a:pPr algn="l">
              <a:lnSpc>
                <a:spcPts val="2520"/>
              </a:lnSpc>
            </a:pPr>
            <a:r>
              <a:rPr lang="en-US" sz="1800">
                <a:solidFill>
                  <a:srgbClr val="A39B8B"/>
                </a:solidFill>
                <a:latin typeface="Archivo Narrow"/>
                <a:ea typeface="Archivo Narrow"/>
                <a:cs typeface="Archivo Narrow"/>
                <a:sym typeface="Archivo Narrow"/>
              </a:rPr>
              <a:t>Fuera de alcance: zonas no residenciales, que van a tasación manual.</a:t>
            </a:r>
          </a:p>
        </p:txBody>
      </p:sp>
      <p:sp>
        <p:nvSpPr>
          <p:cNvPr name="TextBox 19" id="19"/>
          <p:cNvSpPr txBox="true"/>
          <p:nvPr/>
        </p:nvSpPr>
        <p:spPr>
          <a:xfrm rot="0">
            <a:off x="7543800" y="3333750"/>
            <a:ext cx="9810750" cy="405765"/>
          </a:xfrm>
          <a:prstGeom prst="rect">
            <a:avLst/>
          </a:prstGeom>
        </p:spPr>
        <p:txBody>
          <a:bodyPr anchor="t" rtlCol="false" tIns="0" lIns="0" bIns="0" rIns="0">
            <a:spAutoFit/>
          </a:bodyPr>
          <a:lstStyle/>
          <a:p>
            <a:pPr algn="l">
              <a:lnSpc>
                <a:spcPts val="2520"/>
              </a:lnSpc>
            </a:pPr>
            <a:r>
              <a:rPr lang="en-US" b="true" sz="1800" spc="149">
                <a:solidFill>
                  <a:srgbClr val="4A453F"/>
                </a:solidFill>
                <a:latin typeface="Archivo Narrow Bold"/>
                <a:ea typeface="Archivo Narrow Bold"/>
                <a:cs typeface="Archivo Narrow Bold"/>
                <a:sym typeface="Archivo Narrow Bold"/>
              </a:rPr>
              <a:t>TENER CUIDADO CON</a:t>
            </a:r>
          </a:p>
        </p:txBody>
      </p:sp>
      <p:grpSp>
        <p:nvGrpSpPr>
          <p:cNvPr name="Group 20" id="20"/>
          <p:cNvGrpSpPr/>
          <p:nvPr/>
        </p:nvGrpSpPr>
        <p:grpSpPr>
          <a:xfrm rot="0">
            <a:off x="7543800" y="3853815"/>
            <a:ext cx="4648200" cy="2340292"/>
            <a:chOff x="0" y="0"/>
            <a:chExt cx="6197600" cy="3120390"/>
          </a:xfrm>
        </p:grpSpPr>
        <p:sp>
          <p:nvSpPr>
            <p:cNvPr name="Freeform 21" id="21"/>
            <p:cNvSpPr/>
            <p:nvPr/>
          </p:nvSpPr>
          <p:spPr>
            <a:xfrm flipH="false" flipV="false" rot="0">
              <a:off x="0" y="0"/>
              <a:ext cx="6197600" cy="3120390"/>
            </a:xfrm>
            <a:custGeom>
              <a:avLst/>
              <a:gdLst/>
              <a:ahLst/>
              <a:cxnLst/>
              <a:rect r="r" b="b" t="t" l="l"/>
              <a:pathLst>
                <a:path h="3120390" w="6197600">
                  <a:moveTo>
                    <a:pt x="0" y="140843"/>
                  </a:moveTo>
                  <a:cubicBezTo>
                    <a:pt x="0" y="63119"/>
                    <a:pt x="63119" y="0"/>
                    <a:pt x="140843" y="0"/>
                  </a:cubicBezTo>
                  <a:lnTo>
                    <a:pt x="6056757" y="0"/>
                  </a:lnTo>
                  <a:cubicBezTo>
                    <a:pt x="6134481" y="0"/>
                    <a:pt x="6197600" y="63119"/>
                    <a:pt x="6197600" y="140843"/>
                  </a:cubicBezTo>
                  <a:lnTo>
                    <a:pt x="6197600" y="2979547"/>
                  </a:lnTo>
                  <a:cubicBezTo>
                    <a:pt x="6197600" y="3057398"/>
                    <a:pt x="6134481" y="3120390"/>
                    <a:pt x="6056757" y="3120390"/>
                  </a:cubicBezTo>
                  <a:lnTo>
                    <a:pt x="140843" y="3120390"/>
                  </a:lnTo>
                  <a:cubicBezTo>
                    <a:pt x="63119" y="3120390"/>
                    <a:pt x="0" y="3057271"/>
                    <a:pt x="0" y="2979547"/>
                  </a:cubicBezTo>
                  <a:close/>
                </a:path>
              </a:pathLst>
            </a:custGeom>
            <a:blipFill>
              <a:blip r:embed="rId4">
                <a:alphaModFix amt="0"/>
              </a:blip>
              <a:stretch>
                <a:fillRect l="-14598" t="0" r="-14598" b="0"/>
              </a:stretch>
            </a:blipFill>
            <a:ln w="19050" cap="sq">
              <a:solidFill>
                <a:srgbClr val="1F1E1C"/>
              </a:solidFill>
              <a:prstDash val="solid"/>
              <a:miter/>
            </a:ln>
          </p:spPr>
        </p:sp>
      </p:grpSp>
      <p:sp>
        <p:nvSpPr>
          <p:cNvPr name="TextBox 22" id="22"/>
          <p:cNvSpPr txBox="true"/>
          <p:nvPr/>
        </p:nvSpPr>
        <p:spPr>
          <a:xfrm rot="0">
            <a:off x="7863840" y="4202430"/>
            <a:ext cx="4128364" cy="512445"/>
          </a:xfrm>
          <a:prstGeom prst="rect">
            <a:avLst/>
          </a:prstGeom>
        </p:spPr>
        <p:txBody>
          <a:bodyPr anchor="t" rtlCol="false" tIns="0" lIns="0" bIns="0" rIns="0">
            <a:spAutoFit/>
          </a:bodyPr>
          <a:lstStyle/>
          <a:p>
            <a:pPr algn="l">
              <a:lnSpc>
                <a:spcPts val="3960"/>
              </a:lnSpc>
            </a:pPr>
            <a:r>
              <a:rPr lang="en-US" sz="3600">
                <a:solidFill>
                  <a:srgbClr val="1F1E1C"/>
                </a:solidFill>
                <a:latin typeface="Anton"/>
                <a:ea typeface="Anton"/>
                <a:cs typeface="Anton"/>
                <a:sym typeface="Anton"/>
              </a:rPr>
              <a:t>8 de 9</a:t>
            </a:r>
          </a:p>
        </p:txBody>
      </p:sp>
      <p:sp>
        <p:nvSpPr>
          <p:cNvPr name="TextBox 23" id="23"/>
          <p:cNvSpPr txBox="true"/>
          <p:nvPr/>
        </p:nvSpPr>
        <p:spPr>
          <a:xfrm rot="0">
            <a:off x="7863840" y="4705350"/>
            <a:ext cx="4128364" cy="725805"/>
          </a:xfrm>
          <a:prstGeom prst="rect">
            <a:avLst/>
          </a:prstGeom>
        </p:spPr>
        <p:txBody>
          <a:bodyPr anchor="t" rtlCol="false" tIns="0" lIns="0" bIns="0" rIns="0">
            <a:spAutoFit/>
          </a:bodyPr>
          <a:lstStyle/>
          <a:p>
            <a:pPr algn="l">
              <a:lnSpc>
                <a:spcPts val="2520"/>
              </a:lnSpc>
            </a:pPr>
            <a:r>
              <a:rPr lang="en-US" sz="1800">
                <a:solidFill>
                  <a:srgbClr val="4A453F"/>
                </a:solidFill>
                <a:latin typeface="Archivo Narrow"/>
                <a:ea typeface="Archivo Narrow"/>
                <a:cs typeface="Archivo Narrow"/>
                <a:sym typeface="Archivo Narrow"/>
              </a:rPr>
              <a:t>casas de más de 450.000 USD quedan bajo su precio real</a:t>
            </a:r>
          </a:p>
        </p:txBody>
      </p:sp>
      <p:grpSp>
        <p:nvGrpSpPr>
          <p:cNvPr name="Group 24" id="24"/>
          <p:cNvGrpSpPr/>
          <p:nvPr/>
        </p:nvGrpSpPr>
        <p:grpSpPr>
          <a:xfrm rot="0">
            <a:off x="12420600" y="3853815"/>
            <a:ext cx="4648200" cy="2340292"/>
            <a:chOff x="0" y="0"/>
            <a:chExt cx="6197600" cy="3120390"/>
          </a:xfrm>
        </p:grpSpPr>
        <p:sp>
          <p:nvSpPr>
            <p:cNvPr name="Freeform 25" id="25"/>
            <p:cNvSpPr/>
            <p:nvPr/>
          </p:nvSpPr>
          <p:spPr>
            <a:xfrm flipH="false" flipV="false" rot="0">
              <a:off x="0" y="0"/>
              <a:ext cx="6197600" cy="3120390"/>
            </a:xfrm>
            <a:custGeom>
              <a:avLst/>
              <a:gdLst/>
              <a:ahLst/>
              <a:cxnLst/>
              <a:rect r="r" b="b" t="t" l="l"/>
              <a:pathLst>
                <a:path h="3120390" w="6197600">
                  <a:moveTo>
                    <a:pt x="0" y="140843"/>
                  </a:moveTo>
                  <a:cubicBezTo>
                    <a:pt x="0" y="63119"/>
                    <a:pt x="63119" y="0"/>
                    <a:pt x="140843" y="0"/>
                  </a:cubicBezTo>
                  <a:lnTo>
                    <a:pt x="6056757" y="0"/>
                  </a:lnTo>
                  <a:cubicBezTo>
                    <a:pt x="6134481" y="0"/>
                    <a:pt x="6197600" y="63119"/>
                    <a:pt x="6197600" y="140843"/>
                  </a:cubicBezTo>
                  <a:lnTo>
                    <a:pt x="6197600" y="2979547"/>
                  </a:lnTo>
                  <a:cubicBezTo>
                    <a:pt x="6197600" y="3057398"/>
                    <a:pt x="6134481" y="3120390"/>
                    <a:pt x="6056757" y="3120390"/>
                  </a:cubicBezTo>
                  <a:lnTo>
                    <a:pt x="140843" y="3120390"/>
                  </a:lnTo>
                  <a:cubicBezTo>
                    <a:pt x="63119" y="3120390"/>
                    <a:pt x="0" y="3057271"/>
                    <a:pt x="0" y="2979547"/>
                  </a:cubicBezTo>
                  <a:close/>
                </a:path>
              </a:pathLst>
            </a:custGeom>
            <a:blipFill>
              <a:blip r:embed="rId4">
                <a:alphaModFix amt="0"/>
              </a:blip>
              <a:stretch>
                <a:fillRect l="-14598" t="0" r="-14598" b="0"/>
              </a:stretch>
            </a:blipFill>
            <a:ln w="19050" cap="sq">
              <a:solidFill>
                <a:srgbClr val="1F1E1C"/>
              </a:solidFill>
              <a:prstDash val="solid"/>
              <a:miter/>
            </a:ln>
          </p:spPr>
        </p:sp>
      </p:grpSp>
      <p:sp>
        <p:nvSpPr>
          <p:cNvPr name="TextBox 26" id="26"/>
          <p:cNvSpPr txBox="true"/>
          <p:nvPr/>
        </p:nvSpPr>
        <p:spPr>
          <a:xfrm rot="0">
            <a:off x="12740640" y="4202430"/>
            <a:ext cx="4128364" cy="512445"/>
          </a:xfrm>
          <a:prstGeom prst="rect">
            <a:avLst/>
          </a:prstGeom>
        </p:spPr>
        <p:txBody>
          <a:bodyPr anchor="t" rtlCol="false" tIns="0" lIns="0" bIns="0" rIns="0">
            <a:spAutoFit/>
          </a:bodyPr>
          <a:lstStyle/>
          <a:p>
            <a:pPr algn="l">
              <a:lnSpc>
                <a:spcPts val="3960"/>
              </a:lnSpc>
            </a:pPr>
            <a:r>
              <a:rPr lang="en-US" sz="3600">
                <a:solidFill>
                  <a:srgbClr val="1F1E1C"/>
                </a:solidFill>
                <a:latin typeface="Anton"/>
                <a:ea typeface="Anton"/>
                <a:cs typeface="Anton"/>
                <a:sym typeface="Anton"/>
              </a:rPr>
              <a:t>+3,4 %</a:t>
            </a:r>
          </a:p>
        </p:txBody>
      </p:sp>
      <p:sp>
        <p:nvSpPr>
          <p:cNvPr name="TextBox 27" id="27"/>
          <p:cNvSpPr txBox="true"/>
          <p:nvPr/>
        </p:nvSpPr>
        <p:spPr>
          <a:xfrm rot="0">
            <a:off x="12740640" y="4705350"/>
            <a:ext cx="4128364" cy="725805"/>
          </a:xfrm>
          <a:prstGeom prst="rect">
            <a:avLst/>
          </a:prstGeom>
        </p:spPr>
        <p:txBody>
          <a:bodyPr anchor="t" rtlCol="false" tIns="0" lIns="0" bIns="0" rIns="0">
            <a:spAutoFit/>
          </a:bodyPr>
          <a:lstStyle/>
          <a:p>
            <a:pPr algn="l">
              <a:lnSpc>
                <a:spcPts val="2520"/>
              </a:lnSpc>
            </a:pPr>
            <a:r>
              <a:rPr lang="en-US" sz="1800">
                <a:solidFill>
                  <a:srgbClr val="4A453F"/>
                </a:solidFill>
                <a:latin typeface="Archivo Narrow"/>
                <a:ea typeface="Archivo Narrow"/>
                <a:cs typeface="Archivo Narrow"/>
                <a:sym typeface="Archivo Narrow"/>
              </a:rPr>
              <a:t>de sobreestimación en el cuartil más barato</a:t>
            </a:r>
          </a:p>
        </p:txBody>
      </p:sp>
      <p:grpSp>
        <p:nvGrpSpPr>
          <p:cNvPr name="Group 28" id="28"/>
          <p:cNvGrpSpPr/>
          <p:nvPr/>
        </p:nvGrpSpPr>
        <p:grpSpPr>
          <a:xfrm rot="0">
            <a:off x="7543800" y="6422708"/>
            <a:ext cx="4648200" cy="2340292"/>
            <a:chOff x="0" y="0"/>
            <a:chExt cx="6197600" cy="3120390"/>
          </a:xfrm>
        </p:grpSpPr>
        <p:sp>
          <p:nvSpPr>
            <p:cNvPr name="Freeform 29" id="29"/>
            <p:cNvSpPr/>
            <p:nvPr/>
          </p:nvSpPr>
          <p:spPr>
            <a:xfrm flipH="false" flipV="false" rot="0">
              <a:off x="0" y="0"/>
              <a:ext cx="6197600" cy="3120390"/>
            </a:xfrm>
            <a:custGeom>
              <a:avLst/>
              <a:gdLst/>
              <a:ahLst/>
              <a:cxnLst/>
              <a:rect r="r" b="b" t="t" l="l"/>
              <a:pathLst>
                <a:path h="3120390" w="6197600">
                  <a:moveTo>
                    <a:pt x="0" y="140843"/>
                  </a:moveTo>
                  <a:cubicBezTo>
                    <a:pt x="0" y="63119"/>
                    <a:pt x="63119" y="0"/>
                    <a:pt x="140843" y="0"/>
                  </a:cubicBezTo>
                  <a:lnTo>
                    <a:pt x="6056757" y="0"/>
                  </a:lnTo>
                  <a:cubicBezTo>
                    <a:pt x="6134481" y="0"/>
                    <a:pt x="6197600" y="63119"/>
                    <a:pt x="6197600" y="140843"/>
                  </a:cubicBezTo>
                  <a:lnTo>
                    <a:pt x="6197600" y="2979547"/>
                  </a:lnTo>
                  <a:cubicBezTo>
                    <a:pt x="6197600" y="3057398"/>
                    <a:pt x="6134481" y="3120390"/>
                    <a:pt x="6056757" y="3120390"/>
                  </a:cubicBezTo>
                  <a:lnTo>
                    <a:pt x="140843" y="3120390"/>
                  </a:lnTo>
                  <a:cubicBezTo>
                    <a:pt x="63119" y="3120390"/>
                    <a:pt x="0" y="3057271"/>
                    <a:pt x="0" y="2979547"/>
                  </a:cubicBezTo>
                  <a:close/>
                </a:path>
              </a:pathLst>
            </a:custGeom>
            <a:blipFill>
              <a:blip r:embed="rId4">
                <a:alphaModFix amt="0"/>
              </a:blip>
              <a:stretch>
                <a:fillRect l="-14598" t="0" r="-14598" b="0"/>
              </a:stretch>
            </a:blipFill>
            <a:ln w="19050" cap="sq">
              <a:solidFill>
                <a:srgbClr val="1F1E1C"/>
              </a:solidFill>
              <a:prstDash val="solid"/>
              <a:miter/>
            </a:ln>
          </p:spPr>
        </p:sp>
      </p:grpSp>
      <p:sp>
        <p:nvSpPr>
          <p:cNvPr name="TextBox 30" id="30"/>
          <p:cNvSpPr txBox="true"/>
          <p:nvPr/>
        </p:nvSpPr>
        <p:spPr>
          <a:xfrm rot="0">
            <a:off x="7863840" y="6771322"/>
            <a:ext cx="4128364" cy="512445"/>
          </a:xfrm>
          <a:prstGeom prst="rect">
            <a:avLst/>
          </a:prstGeom>
        </p:spPr>
        <p:txBody>
          <a:bodyPr anchor="t" rtlCol="false" tIns="0" lIns="0" bIns="0" rIns="0">
            <a:spAutoFit/>
          </a:bodyPr>
          <a:lstStyle/>
          <a:p>
            <a:pPr algn="l">
              <a:lnSpc>
                <a:spcPts val="3960"/>
              </a:lnSpc>
            </a:pPr>
            <a:r>
              <a:rPr lang="en-US" sz="3600">
                <a:solidFill>
                  <a:srgbClr val="1F1E1C"/>
                </a:solidFill>
                <a:latin typeface="Anton"/>
                <a:ea typeface="Anton"/>
                <a:cs typeface="Anton"/>
                <a:sym typeface="Anton"/>
              </a:rPr>
              <a:t>11 a 15 %</a:t>
            </a:r>
          </a:p>
        </p:txBody>
      </p:sp>
      <p:sp>
        <p:nvSpPr>
          <p:cNvPr name="TextBox 31" id="31"/>
          <p:cNvSpPr txBox="true"/>
          <p:nvPr/>
        </p:nvSpPr>
        <p:spPr>
          <a:xfrm rot="0">
            <a:off x="7863840" y="7274243"/>
            <a:ext cx="4128364" cy="725805"/>
          </a:xfrm>
          <a:prstGeom prst="rect">
            <a:avLst/>
          </a:prstGeom>
        </p:spPr>
        <p:txBody>
          <a:bodyPr anchor="t" rtlCol="false" tIns="0" lIns="0" bIns="0" rIns="0">
            <a:spAutoFit/>
          </a:bodyPr>
          <a:lstStyle/>
          <a:p>
            <a:pPr algn="l">
              <a:lnSpc>
                <a:spcPts val="2520"/>
              </a:lnSpc>
            </a:pPr>
            <a:r>
              <a:rPr lang="en-US" sz="1800">
                <a:solidFill>
                  <a:srgbClr val="4A453F"/>
                </a:solidFill>
                <a:latin typeface="Archivo Narrow"/>
                <a:ea typeface="Archivo Narrow"/>
                <a:cs typeface="Archivo Narrow"/>
                <a:sym typeface="Archivo Narrow"/>
              </a:rPr>
              <a:t>de error en remates y ventas entre familiares</a:t>
            </a:r>
          </a:p>
        </p:txBody>
      </p:sp>
      <p:grpSp>
        <p:nvGrpSpPr>
          <p:cNvPr name="Group 32" id="32"/>
          <p:cNvGrpSpPr/>
          <p:nvPr/>
        </p:nvGrpSpPr>
        <p:grpSpPr>
          <a:xfrm rot="0">
            <a:off x="12420600" y="6422708"/>
            <a:ext cx="4648200" cy="2340292"/>
            <a:chOff x="0" y="0"/>
            <a:chExt cx="6197600" cy="3120390"/>
          </a:xfrm>
        </p:grpSpPr>
        <p:sp>
          <p:nvSpPr>
            <p:cNvPr name="Freeform 33" id="33"/>
            <p:cNvSpPr/>
            <p:nvPr/>
          </p:nvSpPr>
          <p:spPr>
            <a:xfrm flipH="false" flipV="false" rot="0">
              <a:off x="0" y="0"/>
              <a:ext cx="6197600" cy="3120390"/>
            </a:xfrm>
            <a:custGeom>
              <a:avLst/>
              <a:gdLst/>
              <a:ahLst/>
              <a:cxnLst/>
              <a:rect r="r" b="b" t="t" l="l"/>
              <a:pathLst>
                <a:path h="3120390" w="6197600">
                  <a:moveTo>
                    <a:pt x="0" y="140843"/>
                  </a:moveTo>
                  <a:cubicBezTo>
                    <a:pt x="0" y="63119"/>
                    <a:pt x="63119" y="0"/>
                    <a:pt x="140843" y="0"/>
                  </a:cubicBezTo>
                  <a:lnTo>
                    <a:pt x="6056757" y="0"/>
                  </a:lnTo>
                  <a:cubicBezTo>
                    <a:pt x="6134481" y="0"/>
                    <a:pt x="6197600" y="63119"/>
                    <a:pt x="6197600" y="140843"/>
                  </a:cubicBezTo>
                  <a:lnTo>
                    <a:pt x="6197600" y="2979547"/>
                  </a:lnTo>
                  <a:cubicBezTo>
                    <a:pt x="6197600" y="3057398"/>
                    <a:pt x="6134481" y="3120390"/>
                    <a:pt x="6056757" y="3120390"/>
                  </a:cubicBezTo>
                  <a:lnTo>
                    <a:pt x="140843" y="3120390"/>
                  </a:lnTo>
                  <a:cubicBezTo>
                    <a:pt x="63119" y="3120390"/>
                    <a:pt x="0" y="3057271"/>
                    <a:pt x="0" y="2979547"/>
                  </a:cubicBezTo>
                  <a:close/>
                </a:path>
              </a:pathLst>
            </a:custGeom>
            <a:blipFill>
              <a:blip r:embed="rId4">
                <a:alphaModFix amt="0"/>
              </a:blip>
              <a:stretch>
                <a:fillRect l="-14598" t="0" r="-14598" b="0"/>
              </a:stretch>
            </a:blipFill>
            <a:ln w="19050" cap="sq">
              <a:solidFill>
                <a:srgbClr val="1F1E1C"/>
              </a:solidFill>
              <a:prstDash val="solid"/>
              <a:miter/>
            </a:ln>
          </p:spPr>
        </p:sp>
      </p:grpSp>
      <p:sp>
        <p:nvSpPr>
          <p:cNvPr name="TextBox 34" id="34"/>
          <p:cNvSpPr txBox="true"/>
          <p:nvPr/>
        </p:nvSpPr>
        <p:spPr>
          <a:xfrm rot="0">
            <a:off x="12740640" y="6771322"/>
            <a:ext cx="4128364" cy="512445"/>
          </a:xfrm>
          <a:prstGeom prst="rect">
            <a:avLst/>
          </a:prstGeom>
        </p:spPr>
        <p:txBody>
          <a:bodyPr anchor="t" rtlCol="false" tIns="0" lIns="0" bIns="0" rIns="0">
            <a:spAutoFit/>
          </a:bodyPr>
          <a:lstStyle/>
          <a:p>
            <a:pPr algn="l">
              <a:lnSpc>
                <a:spcPts val="3960"/>
              </a:lnSpc>
            </a:pPr>
            <a:r>
              <a:rPr lang="en-US" sz="3600">
                <a:solidFill>
                  <a:srgbClr val="1F1E1C"/>
                </a:solidFill>
                <a:latin typeface="Anton"/>
                <a:ea typeface="Anton"/>
                <a:cs typeface="Anton"/>
                <a:sym typeface="Anton"/>
              </a:rPr>
              <a:t>2006 a 2010</a:t>
            </a:r>
          </a:p>
        </p:txBody>
      </p:sp>
      <p:sp>
        <p:nvSpPr>
          <p:cNvPr name="TextBox 35" id="35"/>
          <p:cNvSpPr txBox="true"/>
          <p:nvPr/>
        </p:nvSpPr>
        <p:spPr>
          <a:xfrm rot="0">
            <a:off x="12740640" y="7274243"/>
            <a:ext cx="4309110" cy="405765"/>
          </a:xfrm>
          <a:prstGeom prst="rect">
            <a:avLst/>
          </a:prstGeom>
        </p:spPr>
        <p:txBody>
          <a:bodyPr anchor="t" rtlCol="false" tIns="0" lIns="0" bIns="0" rIns="0">
            <a:spAutoFit/>
          </a:bodyPr>
          <a:lstStyle/>
          <a:p>
            <a:pPr algn="l">
              <a:lnSpc>
                <a:spcPts val="2520"/>
              </a:lnSpc>
            </a:pPr>
            <a:r>
              <a:rPr lang="en-US" sz="1800">
                <a:solidFill>
                  <a:srgbClr val="4A453F"/>
                </a:solidFill>
                <a:latin typeface="Archivo Narrow"/>
                <a:ea typeface="Archivo Narrow"/>
                <a:cs typeface="Archivo Narrow"/>
                <a:sym typeface="Archivo Narrow"/>
              </a:rPr>
              <a:t>el modelo tasa a precios de ese período</a:t>
            </a:r>
          </a:p>
        </p:txBody>
      </p:sp>
      <p:sp>
        <p:nvSpPr>
          <p:cNvPr name="TextBox 36" id="36"/>
          <p:cNvSpPr txBox="true"/>
          <p:nvPr/>
        </p:nvSpPr>
        <p:spPr>
          <a:xfrm rot="0">
            <a:off x="1219200" y="9309735"/>
            <a:ext cx="7848600" cy="405765"/>
          </a:xfrm>
          <a:prstGeom prst="rect">
            <a:avLst/>
          </a:prstGeom>
        </p:spPr>
        <p:txBody>
          <a:bodyPr anchor="t" rtlCol="false" tIns="0" lIns="0" bIns="0" rIns="0">
            <a:spAutoFit/>
          </a:bodyPr>
          <a:lstStyle/>
          <a:p>
            <a:pPr algn="l">
              <a:lnSpc>
                <a:spcPts val="2520"/>
              </a:lnSpc>
            </a:pPr>
            <a:r>
              <a:rPr lang="en-US" sz="1800">
                <a:solidFill>
                  <a:srgbClr val="4A453F"/>
                </a:solidFill>
                <a:latin typeface="Archivo Narrow"/>
                <a:ea typeface="Archivo Narrow"/>
                <a:cs typeface="Archivo Narrow"/>
                <a:sym typeface="Archivo Narrow"/>
              </a:rPr>
              <a:t>16 · Housing Prices · EP2</a:t>
            </a:r>
          </a:p>
        </p:txBody>
      </p:sp>
    </p:spTree>
  </p:cSld>
  <p:clrMapOvr>
    <a:masterClrMapping/>
  </p:clrMapOvr>
</p:sld>
</file>

<file path=ppt/slides/slide17.xml><?xml version="1.0" encoding="utf-8"?>
<p:sld xmlns:p="http://schemas.openxmlformats.org/presentationml/2006/main" xmlns:a="http://schemas.openxmlformats.org/drawingml/2006/main">
  <p:cSld>
    <p:bg>
      <p:bgPr>
        <a:solidFill>
          <a:srgbClr val="DCD3C3"/>
        </a:solidFill>
      </p:bgPr>
    </p:bg>
    <p:spTree>
      <p:nvGrpSpPr>
        <p:cNvPr id="1" name=""/>
        <p:cNvGrpSpPr/>
        <p:nvPr/>
      </p:nvGrpSpPr>
      <p:grpSpPr>
        <a:xfrm>
          <a:off x="0" y="0"/>
          <a:ext cx="0" cy="0"/>
          <a:chOff x="0" y="0"/>
          <a:chExt cx="0" cy="0"/>
        </a:xfrm>
      </p:grpSpPr>
      <p:sp>
        <p:nvSpPr>
          <p:cNvPr name="TextBox 2" id="2"/>
          <p:cNvSpPr txBox="true"/>
          <p:nvPr/>
        </p:nvSpPr>
        <p:spPr>
          <a:xfrm rot="0">
            <a:off x="1219200" y="1333500"/>
            <a:ext cx="16325088" cy="963930"/>
          </a:xfrm>
          <a:prstGeom prst="rect">
            <a:avLst/>
          </a:prstGeom>
        </p:spPr>
        <p:txBody>
          <a:bodyPr anchor="t" rtlCol="false" tIns="0" lIns="0" bIns="0" rIns="0">
            <a:spAutoFit/>
          </a:bodyPr>
          <a:lstStyle/>
          <a:p>
            <a:pPr algn="l">
              <a:lnSpc>
                <a:spcPts val="8190"/>
              </a:lnSpc>
            </a:pPr>
            <a:r>
              <a:rPr lang="en-US" sz="7800">
                <a:solidFill>
                  <a:srgbClr val="1F1E1C"/>
                </a:solidFill>
                <a:latin typeface="Anton"/>
                <a:ea typeface="Anton"/>
                <a:cs typeface="Anton"/>
                <a:sym typeface="Anton"/>
              </a:rPr>
              <a:t>CONCLUSIONES</a:t>
            </a:r>
          </a:p>
        </p:txBody>
      </p:sp>
      <p:grpSp>
        <p:nvGrpSpPr>
          <p:cNvPr name="Group 3" id="3"/>
          <p:cNvGrpSpPr/>
          <p:nvPr/>
        </p:nvGrpSpPr>
        <p:grpSpPr>
          <a:xfrm rot="0">
            <a:off x="1347411" y="3436620"/>
            <a:ext cx="15849600" cy="2887980"/>
            <a:chOff x="0" y="0"/>
            <a:chExt cx="21132800" cy="3850640"/>
          </a:xfrm>
        </p:grpSpPr>
        <p:sp>
          <p:nvSpPr>
            <p:cNvPr name="Freeform 4" id="4"/>
            <p:cNvSpPr/>
            <p:nvPr/>
          </p:nvSpPr>
          <p:spPr>
            <a:xfrm flipH="false" flipV="false" rot="0">
              <a:off x="0" y="0"/>
              <a:ext cx="21132800" cy="3850640"/>
            </a:xfrm>
            <a:custGeom>
              <a:avLst/>
              <a:gdLst/>
              <a:ahLst/>
              <a:cxnLst/>
              <a:rect r="r" b="b" t="t" l="l"/>
              <a:pathLst>
                <a:path h="3850640" w="21132800">
                  <a:moveTo>
                    <a:pt x="0" y="0"/>
                  </a:moveTo>
                  <a:lnTo>
                    <a:pt x="21132800" y="0"/>
                  </a:lnTo>
                  <a:lnTo>
                    <a:pt x="21132800" y="3850640"/>
                  </a:lnTo>
                  <a:lnTo>
                    <a:pt x="0" y="3850640"/>
                  </a:lnTo>
                  <a:close/>
                </a:path>
              </a:pathLst>
            </a:custGeom>
            <a:solidFill>
              <a:srgbClr val="1F1E1C"/>
            </a:solidFill>
          </p:spPr>
        </p:sp>
      </p:grpSp>
      <p:sp>
        <p:nvSpPr>
          <p:cNvPr name="TextBox 5" id="5"/>
          <p:cNvSpPr txBox="true"/>
          <p:nvPr/>
        </p:nvSpPr>
        <p:spPr>
          <a:xfrm rot="0">
            <a:off x="1880811" y="3846195"/>
            <a:ext cx="15226284" cy="405765"/>
          </a:xfrm>
          <a:prstGeom prst="rect">
            <a:avLst/>
          </a:prstGeom>
        </p:spPr>
        <p:txBody>
          <a:bodyPr anchor="t" rtlCol="false" tIns="0" lIns="0" bIns="0" rIns="0">
            <a:spAutoFit/>
          </a:bodyPr>
          <a:lstStyle/>
          <a:p>
            <a:pPr algn="l">
              <a:lnSpc>
                <a:spcPts val="2520"/>
              </a:lnSpc>
            </a:pPr>
            <a:r>
              <a:rPr lang="en-US" b="true" sz="1800" spc="149">
                <a:solidFill>
                  <a:srgbClr val="A39B8B"/>
                </a:solidFill>
                <a:latin typeface="Archivo Narrow Bold"/>
                <a:ea typeface="Archivo Narrow Bold"/>
                <a:cs typeface="Archivo Narrow Bold"/>
                <a:sym typeface="Archivo Narrow Bold"/>
              </a:rPr>
              <a:t>LASSO CUMPLE LOS SEIS KPI EN TEST</a:t>
            </a:r>
          </a:p>
        </p:txBody>
      </p:sp>
      <p:sp>
        <p:nvSpPr>
          <p:cNvPr name="AutoShape 6" id="6"/>
          <p:cNvSpPr/>
          <p:nvPr/>
        </p:nvSpPr>
        <p:spPr>
          <a:xfrm>
            <a:off x="1880815" y="4471033"/>
            <a:ext cx="19042" cy="1405894"/>
          </a:xfrm>
          <a:prstGeom prst="line">
            <a:avLst/>
          </a:prstGeom>
          <a:ln cap="rnd" w="9525">
            <a:solidFill>
              <a:srgbClr val="6E685E"/>
            </a:solidFill>
            <a:prstDash val="solid"/>
            <a:headEnd type="none" len="sm" w="sm"/>
            <a:tailEnd type="none" len="sm" w="sm"/>
          </a:ln>
        </p:spPr>
      </p:sp>
      <p:sp>
        <p:nvSpPr>
          <p:cNvPr name="TextBox 7" id="7"/>
          <p:cNvSpPr txBox="true"/>
          <p:nvPr/>
        </p:nvSpPr>
        <p:spPr>
          <a:xfrm rot="0">
            <a:off x="2200851" y="4623435"/>
            <a:ext cx="4484170" cy="885825"/>
          </a:xfrm>
          <a:prstGeom prst="rect">
            <a:avLst/>
          </a:prstGeom>
        </p:spPr>
        <p:txBody>
          <a:bodyPr anchor="t" rtlCol="false" tIns="0" lIns="0" bIns="0" rIns="0">
            <a:spAutoFit/>
          </a:bodyPr>
          <a:lstStyle/>
          <a:p>
            <a:pPr algn="l">
              <a:lnSpc>
                <a:spcPts val="7800"/>
              </a:lnSpc>
            </a:pPr>
            <a:r>
              <a:rPr lang="en-US" sz="7800">
                <a:solidFill>
                  <a:srgbClr val="DCD3C3"/>
                </a:solidFill>
                <a:latin typeface="Anton"/>
                <a:ea typeface="Anton"/>
                <a:cs typeface="Anton"/>
                <a:sym typeface="Anton"/>
              </a:rPr>
              <a:t>0,948</a:t>
            </a:r>
          </a:p>
        </p:txBody>
      </p:sp>
      <p:sp>
        <p:nvSpPr>
          <p:cNvPr name="TextBox 8" id="8"/>
          <p:cNvSpPr txBox="true"/>
          <p:nvPr/>
        </p:nvSpPr>
        <p:spPr>
          <a:xfrm rot="0">
            <a:off x="2200851" y="5499735"/>
            <a:ext cx="4484170" cy="405765"/>
          </a:xfrm>
          <a:prstGeom prst="rect">
            <a:avLst/>
          </a:prstGeom>
        </p:spPr>
        <p:txBody>
          <a:bodyPr anchor="t" rtlCol="false" tIns="0" lIns="0" bIns="0" rIns="0">
            <a:spAutoFit/>
          </a:bodyPr>
          <a:lstStyle/>
          <a:p>
            <a:pPr algn="l">
              <a:lnSpc>
                <a:spcPts val="2520"/>
              </a:lnSpc>
            </a:pPr>
            <a:r>
              <a:rPr lang="en-US" sz="1800">
                <a:solidFill>
                  <a:srgbClr val="A39B8B"/>
                </a:solidFill>
                <a:latin typeface="Archivo Narrow"/>
                <a:ea typeface="Archivo Narrow"/>
                <a:cs typeface="Archivo Narrow"/>
                <a:sym typeface="Archivo Narrow"/>
              </a:rPr>
              <a:t>R² · mínimo 0,85</a:t>
            </a:r>
          </a:p>
        </p:txBody>
      </p:sp>
      <p:sp>
        <p:nvSpPr>
          <p:cNvPr name="AutoShape 9" id="9"/>
          <p:cNvSpPr/>
          <p:nvPr/>
        </p:nvSpPr>
        <p:spPr>
          <a:xfrm>
            <a:off x="6935418" y="4471033"/>
            <a:ext cx="19042" cy="1405894"/>
          </a:xfrm>
          <a:prstGeom prst="line">
            <a:avLst/>
          </a:prstGeom>
          <a:ln cap="rnd" w="9525">
            <a:solidFill>
              <a:srgbClr val="6E685E"/>
            </a:solidFill>
            <a:prstDash val="solid"/>
            <a:headEnd type="none" len="sm" w="sm"/>
            <a:tailEnd type="none" len="sm" w="sm"/>
          </a:ln>
        </p:spPr>
      </p:sp>
      <p:sp>
        <p:nvSpPr>
          <p:cNvPr name="TextBox 10" id="10"/>
          <p:cNvSpPr txBox="true"/>
          <p:nvPr/>
        </p:nvSpPr>
        <p:spPr>
          <a:xfrm rot="0">
            <a:off x="7255454" y="4623435"/>
            <a:ext cx="4484170" cy="885825"/>
          </a:xfrm>
          <a:prstGeom prst="rect">
            <a:avLst/>
          </a:prstGeom>
        </p:spPr>
        <p:txBody>
          <a:bodyPr anchor="t" rtlCol="false" tIns="0" lIns="0" bIns="0" rIns="0">
            <a:spAutoFit/>
          </a:bodyPr>
          <a:lstStyle/>
          <a:p>
            <a:pPr algn="l">
              <a:lnSpc>
                <a:spcPts val="7800"/>
              </a:lnSpc>
            </a:pPr>
            <a:r>
              <a:rPr lang="en-US" sz="7800">
                <a:solidFill>
                  <a:srgbClr val="DCD3C3"/>
                </a:solidFill>
                <a:latin typeface="Anton"/>
                <a:ea typeface="Anton"/>
                <a:cs typeface="Anton"/>
                <a:sym typeface="Anton"/>
              </a:rPr>
              <a:t>6,77 %</a:t>
            </a:r>
          </a:p>
        </p:txBody>
      </p:sp>
      <p:sp>
        <p:nvSpPr>
          <p:cNvPr name="TextBox 11" id="11"/>
          <p:cNvSpPr txBox="true"/>
          <p:nvPr/>
        </p:nvSpPr>
        <p:spPr>
          <a:xfrm rot="0">
            <a:off x="7255454" y="5499735"/>
            <a:ext cx="4484170" cy="405765"/>
          </a:xfrm>
          <a:prstGeom prst="rect">
            <a:avLst/>
          </a:prstGeom>
        </p:spPr>
        <p:txBody>
          <a:bodyPr anchor="t" rtlCol="false" tIns="0" lIns="0" bIns="0" rIns="0">
            <a:spAutoFit/>
          </a:bodyPr>
          <a:lstStyle/>
          <a:p>
            <a:pPr algn="l">
              <a:lnSpc>
                <a:spcPts val="2520"/>
              </a:lnSpc>
            </a:pPr>
            <a:r>
              <a:rPr lang="en-US" sz="1800">
                <a:solidFill>
                  <a:srgbClr val="A39B8B"/>
                </a:solidFill>
                <a:latin typeface="Archivo Narrow"/>
                <a:ea typeface="Archivo Narrow"/>
                <a:cs typeface="Archivo Narrow"/>
                <a:sym typeface="Archivo Narrow"/>
              </a:rPr>
              <a:t>MAPE · máximo 12 %</a:t>
            </a:r>
          </a:p>
        </p:txBody>
      </p:sp>
      <p:sp>
        <p:nvSpPr>
          <p:cNvPr name="AutoShape 12" id="12"/>
          <p:cNvSpPr/>
          <p:nvPr/>
        </p:nvSpPr>
        <p:spPr>
          <a:xfrm>
            <a:off x="11990021" y="4471033"/>
            <a:ext cx="19042" cy="1405894"/>
          </a:xfrm>
          <a:prstGeom prst="line">
            <a:avLst/>
          </a:prstGeom>
          <a:ln cap="rnd" w="9525">
            <a:solidFill>
              <a:srgbClr val="6E685E"/>
            </a:solidFill>
            <a:prstDash val="solid"/>
            <a:headEnd type="none" len="sm" w="sm"/>
            <a:tailEnd type="none" len="sm" w="sm"/>
          </a:ln>
        </p:spPr>
      </p:sp>
      <p:sp>
        <p:nvSpPr>
          <p:cNvPr name="TextBox 13" id="13"/>
          <p:cNvSpPr txBox="true"/>
          <p:nvPr/>
        </p:nvSpPr>
        <p:spPr>
          <a:xfrm rot="0">
            <a:off x="12310048" y="4623435"/>
            <a:ext cx="4484170" cy="885825"/>
          </a:xfrm>
          <a:prstGeom prst="rect">
            <a:avLst/>
          </a:prstGeom>
        </p:spPr>
        <p:txBody>
          <a:bodyPr anchor="t" rtlCol="false" tIns="0" lIns="0" bIns="0" rIns="0">
            <a:spAutoFit/>
          </a:bodyPr>
          <a:lstStyle/>
          <a:p>
            <a:pPr algn="l">
              <a:lnSpc>
                <a:spcPts val="7800"/>
              </a:lnSpc>
            </a:pPr>
            <a:r>
              <a:rPr lang="en-US" sz="7800">
                <a:solidFill>
                  <a:srgbClr val="DCD3C3"/>
                </a:solidFill>
                <a:latin typeface="Anton"/>
                <a:ea typeface="Anton"/>
                <a:cs typeface="Anton"/>
                <a:sym typeface="Anton"/>
              </a:rPr>
              <a:t>6,1</a:t>
            </a:r>
          </a:p>
        </p:txBody>
      </p:sp>
      <p:sp>
        <p:nvSpPr>
          <p:cNvPr name="TextBox 14" id="14"/>
          <p:cNvSpPr txBox="true"/>
          <p:nvPr/>
        </p:nvSpPr>
        <p:spPr>
          <a:xfrm rot="0">
            <a:off x="12310048" y="5499735"/>
            <a:ext cx="4484170" cy="405765"/>
          </a:xfrm>
          <a:prstGeom prst="rect">
            <a:avLst/>
          </a:prstGeom>
        </p:spPr>
        <p:txBody>
          <a:bodyPr anchor="t" rtlCol="false" tIns="0" lIns="0" bIns="0" rIns="0">
            <a:spAutoFit/>
          </a:bodyPr>
          <a:lstStyle/>
          <a:p>
            <a:pPr algn="l">
              <a:lnSpc>
                <a:spcPts val="2520"/>
              </a:lnSpc>
            </a:pPr>
            <a:r>
              <a:rPr lang="en-US" sz="1800">
                <a:solidFill>
                  <a:srgbClr val="A39B8B"/>
                </a:solidFill>
                <a:latin typeface="Archivo Narrow"/>
                <a:ea typeface="Archivo Narrow"/>
                <a:cs typeface="Archivo Narrow"/>
                <a:sym typeface="Archivo Narrow"/>
              </a:rPr>
              <a:t>Brecha entre barrios · máximo 8 pts</a:t>
            </a:r>
          </a:p>
        </p:txBody>
      </p:sp>
      <p:sp>
        <p:nvSpPr>
          <p:cNvPr name="AutoShape 15" id="15"/>
          <p:cNvSpPr/>
          <p:nvPr/>
        </p:nvSpPr>
        <p:spPr>
          <a:xfrm>
            <a:off x="1337889" y="6781792"/>
            <a:ext cx="7639045" cy="19066"/>
          </a:xfrm>
          <a:prstGeom prst="line">
            <a:avLst/>
          </a:prstGeom>
          <a:ln cap="rnd" w="9525">
            <a:solidFill>
              <a:srgbClr val="1F1E1C"/>
            </a:solidFill>
            <a:prstDash val="solid"/>
            <a:headEnd type="none" len="sm" w="sm"/>
            <a:tailEnd type="none" len="sm" w="sm"/>
          </a:ln>
        </p:spPr>
      </p:sp>
      <p:sp>
        <p:nvSpPr>
          <p:cNvPr name="TextBox 16" id="16"/>
          <p:cNvSpPr txBox="true"/>
          <p:nvPr/>
        </p:nvSpPr>
        <p:spPr>
          <a:xfrm rot="0">
            <a:off x="1347411" y="6978015"/>
            <a:ext cx="7848600" cy="405765"/>
          </a:xfrm>
          <a:prstGeom prst="rect">
            <a:avLst/>
          </a:prstGeom>
        </p:spPr>
        <p:txBody>
          <a:bodyPr anchor="t" rtlCol="false" tIns="0" lIns="0" bIns="0" rIns="0">
            <a:spAutoFit/>
          </a:bodyPr>
          <a:lstStyle/>
          <a:p>
            <a:pPr algn="l">
              <a:lnSpc>
                <a:spcPts val="2520"/>
              </a:lnSpc>
            </a:pPr>
            <a:r>
              <a:rPr lang="en-US" b="true" sz="1800" spc="149">
                <a:solidFill>
                  <a:srgbClr val="4A453F"/>
                </a:solidFill>
                <a:latin typeface="Archivo Narrow Bold"/>
                <a:ea typeface="Archivo Narrow Bold"/>
                <a:cs typeface="Archivo Narrow Bold"/>
                <a:sym typeface="Archivo Narrow Bold"/>
              </a:rPr>
              <a:t>POR QUÉ LASSO</a:t>
            </a:r>
          </a:p>
        </p:txBody>
      </p:sp>
      <p:sp>
        <p:nvSpPr>
          <p:cNvPr name="TextBox 17" id="17"/>
          <p:cNvSpPr txBox="true"/>
          <p:nvPr/>
        </p:nvSpPr>
        <p:spPr>
          <a:xfrm rot="0">
            <a:off x="1347411" y="7421880"/>
            <a:ext cx="7848600" cy="796290"/>
          </a:xfrm>
          <a:prstGeom prst="rect">
            <a:avLst/>
          </a:prstGeom>
        </p:spPr>
        <p:txBody>
          <a:bodyPr anchor="t" rtlCol="false" tIns="0" lIns="0" bIns="0" rIns="0">
            <a:spAutoFit/>
          </a:bodyPr>
          <a:lstStyle/>
          <a:p>
            <a:pPr algn="l">
              <a:lnSpc>
                <a:spcPts val="2835"/>
              </a:lnSpc>
            </a:pPr>
            <a:r>
              <a:rPr lang="en-US" sz="2100">
                <a:solidFill>
                  <a:srgbClr val="1F1E1C"/>
                </a:solidFill>
                <a:latin typeface="Archivo Narrow"/>
                <a:ea typeface="Archivo Narrow"/>
                <a:cs typeface="Archivo Narrow"/>
                <a:sym typeface="Archivo Narrow"/>
              </a:rPr>
              <a:t>Misma precisión que Ridge con 33 columnas menos, y cada estimación se puede explicar.</a:t>
            </a:r>
          </a:p>
        </p:txBody>
      </p:sp>
      <p:sp>
        <p:nvSpPr>
          <p:cNvPr name="AutoShape 18" id="18"/>
          <p:cNvSpPr/>
          <p:nvPr/>
        </p:nvSpPr>
        <p:spPr>
          <a:xfrm>
            <a:off x="9567489" y="6781792"/>
            <a:ext cx="7639045" cy="19066"/>
          </a:xfrm>
          <a:prstGeom prst="line">
            <a:avLst/>
          </a:prstGeom>
          <a:ln cap="rnd" w="9525">
            <a:solidFill>
              <a:srgbClr val="1F1E1C"/>
            </a:solidFill>
            <a:prstDash val="solid"/>
            <a:headEnd type="none" len="sm" w="sm"/>
            <a:tailEnd type="none" len="sm" w="sm"/>
          </a:ln>
        </p:spPr>
      </p:sp>
      <p:sp>
        <p:nvSpPr>
          <p:cNvPr name="TextBox 19" id="19"/>
          <p:cNvSpPr txBox="true"/>
          <p:nvPr/>
        </p:nvSpPr>
        <p:spPr>
          <a:xfrm rot="0">
            <a:off x="9577011" y="6978015"/>
            <a:ext cx="7848600" cy="405765"/>
          </a:xfrm>
          <a:prstGeom prst="rect">
            <a:avLst/>
          </a:prstGeom>
        </p:spPr>
        <p:txBody>
          <a:bodyPr anchor="t" rtlCol="false" tIns="0" lIns="0" bIns="0" rIns="0">
            <a:spAutoFit/>
          </a:bodyPr>
          <a:lstStyle/>
          <a:p>
            <a:pPr algn="l">
              <a:lnSpc>
                <a:spcPts val="2520"/>
              </a:lnSpc>
            </a:pPr>
            <a:r>
              <a:rPr lang="en-US" b="true" sz="1800" spc="149">
                <a:solidFill>
                  <a:srgbClr val="4A453F"/>
                </a:solidFill>
                <a:latin typeface="Archivo Narrow Bold"/>
                <a:ea typeface="Archivo Narrow Bold"/>
                <a:cs typeface="Archivo Narrow Bold"/>
                <a:sym typeface="Archivo Narrow Bold"/>
              </a:rPr>
              <a:t>PRÓXIMO PASO</a:t>
            </a:r>
          </a:p>
        </p:txBody>
      </p:sp>
      <p:sp>
        <p:nvSpPr>
          <p:cNvPr name="TextBox 20" id="20"/>
          <p:cNvSpPr txBox="true"/>
          <p:nvPr/>
        </p:nvSpPr>
        <p:spPr>
          <a:xfrm rot="0">
            <a:off x="9577011" y="7421880"/>
            <a:ext cx="7848600" cy="796290"/>
          </a:xfrm>
          <a:prstGeom prst="rect">
            <a:avLst/>
          </a:prstGeom>
        </p:spPr>
        <p:txBody>
          <a:bodyPr anchor="t" rtlCol="false" tIns="0" lIns="0" bIns="0" rIns="0">
            <a:spAutoFit/>
          </a:bodyPr>
          <a:lstStyle/>
          <a:p>
            <a:pPr algn="l">
              <a:lnSpc>
                <a:spcPts val="2835"/>
              </a:lnSpc>
            </a:pPr>
            <a:r>
              <a:rPr lang="en-US" sz="2100">
                <a:solidFill>
                  <a:srgbClr val="1F1E1C"/>
                </a:solidFill>
                <a:latin typeface="Archivo Narrow"/>
                <a:ea typeface="Archivo Narrow"/>
                <a:cs typeface="Archivo Narrow"/>
                <a:sym typeface="Archivo Narrow"/>
              </a:rPr>
              <a:t>Búsqueda de hiperparámetros: ¿cumplen los árboles al limitar su profundidad?</a:t>
            </a:r>
          </a:p>
        </p:txBody>
      </p:sp>
      <p:sp>
        <p:nvSpPr>
          <p:cNvPr name="TextBox 21" id="21"/>
          <p:cNvSpPr txBox="true"/>
          <p:nvPr/>
        </p:nvSpPr>
        <p:spPr>
          <a:xfrm rot="0">
            <a:off x="1219200" y="9309735"/>
            <a:ext cx="7848600" cy="405765"/>
          </a:xfrm>
          <a:prstGeom prst="rect">
            <a:avLst/>
          </a:prstGeom>
        </p:spPr>
        <p:txBody>
          <a:bodyPr anchor="t" rtlCol="false" tIns="0" lIns="0" bIns="0" rIns="0">
            <a:spAutoFit/>
          </a:bodyPr>
          <a:lstStyle/>
          <a:p>
            <a:pPr algn="l">
              <a:lnSpc>
                <a:spcPts val="2520"/>
              </a:lnSpc>
            </a:pPr>
            <a:r>
              <a:rPr lang="en-US" sz="1800">
                <a:solidFill>
                  <a:srgbClr val="4A453F"/>
                </a:solidFill>
                <a:latin typeface="Archivo Narrow"/>
                <a:ea typeface="Archivo Narrow"/>
                <a:cs typeface="Archivo Narrow"/>
                <a:sym typeface="Archivo Narrow"/>
              </a:rPr>
              <a:t>17 · Housing Prices · EP2</a:t>
            </a:r>
          </a:p>
        </p:txBody>
      </p:sp>
    </p:spTree>
  </p:cSld>
  <p:clrMapOvr>
    <a:masterClrMapping/>
  </p:clrMapOvr>
</p:sld>
</file>

<file path=ppt/slides/slide18.xml><?xml version="1.0" encoding="utf-8"?>
<p:sld xmlns:p="http://schemas.openxmlformats.org/presentationml/2006/main" xmlns:a="http://schemas.openxmlformats.org/drawingml/2006/main">
  <p:cSld>
    <p:bg>
      <p:bgPr>
        <a:solidFill>
          <a:srgbClr val="1F1E1C"/>
        </a:solidFill>
      </p:bgPr>
    </p:bg>
    <p:spTree>
      <p:nvGrpSpPr>
        <p:cNvPr id="1" name=""/>
        <p:cNvGrpSpPr/>
        <p:nvPr/>
      </p:nvGrpSpPr>
      <p:grpSpPr>
        <a:xfrm>
          <a:off x="0" y="0"/>
          <a:ext cx="0" cy="0"/>
          <a:chOff x="0" y="0"/>
          <a:chExt cx="0" cy="0"/>
        </a:xfrm>
      </p:grpSpPr>
      <p:sp>
        <p:nvSpPr>
          <p:cNvPr name="TextBox 2" id="2"/>
          <p:cNvSpPr txBox="true"/>
          <p:nvPr/>
        </p:nvSpPr>
        <p:spPr>
          <a:xfrm rot="0">
            <a:off x="1219200" y="1019175"/>
            <a:ext cx="6278880" cy="405765"/>
          </a:xfrm>
          <a:prstGeom prst="rect">
            <a:avLst/>
          </a:prstGeom>
        </p:spPr>
        <p:txBody>
          <a:bodyPr anchor="t" rtlCol="false" tIns="0" lIns="0" bIns="0" rIns="0">
            <a:spAutoFit/>
          </a:bodyPr>
          <a:lstStyle/>
          <a:p>
            <a:pPr algn="l">
              <a:lnSpc>
                <a:spcPts val="2520"/>
              </a:lnSpc>
            </a:pPr>
            <a:r>
              <a:rPr lang="en-US" sz="1800">
                <a:solidFill>
                  <a:srgbClr val="A39B8B"/>
                </a:solidFill>
                <a:latin typeface="Archivo Narrow"/>
                <a:ea typeface="Archivo Narrow"/>
                <a:cs typeface="Archivo Narrow"/>
                <a:sym typeface="Archivo Narrow"/>
              </a:rPr>
              <a:t>Predicción de precios de viviendas en Ames, Iowa</a:t>
            </a:r>
          </a:p>
        </p:txBody>
      </p:sp>
      <p:sp>
        <p:nvSpPr>
          <p:cNvPr name="TextBox 3" id="3"/>
          <p:cNvSpPr txBox="true"/>
          <p:nvPr/>
        </p:nvSpPr>
        <p:spPr>
          <a:xfrm rot="0">
            <a:off x="11967210" y="1019175"/>
            <a:ext cx="5101590" cy="725805"/>
          </a:xfrm>
          <a:prstGeom prst="rect">
            <a:avLst/>
          </a:prstGeom>
        </p:spPr>
        <p:txBody>
          <a:bodyPr anchor="t" rtlCol="false" tIns="0" lIns="0" bIns="0" rIns="0">
            <a:spAutoFit/>
          </a:bodyPr>
          <a:lstStyle/>
          <a:p>
            <a:pPr algn="r">
              <a:lnSpc>
                <a:spcPts val="2520"/>
              </a:lnSpc>
            </a:pPr>
            <a:r>
              <a:rPr lang="en-US" sz="1800">
                <a:solidFill>
                  <a:srgbClr val="A39B8B"/>
                </a:solidFill>
                <a:latin typeface="Archivo Narrow"/>
                <a:ea typeface="Archivo Narrow"/>
                <a:cs typeface="Archivo Narrow"/>
                <a:sym typeface="Archivo Narrow"/>
              </a:rPr>
              <a:t>MLY1101 Machine Learning</a:t>
            </a:r>
          </a:p>
          <a:p>
            <a:pPr algn="r">
              <a:lnSpc>
                <a:spcPts val="2520"/>
              </a:lnSpc>
            </a:pPr>
            <a:r>
              <a:rPr lang="en-US" sz="1800">
                <a:solidFill>
                  <a:srgbClr val="A39B8B"/>
                </a:solidFill>
                <a:latin typeface="Archivo Narrow"/>
                <a:ea typeface="Archivo Narrow"/>
                <a:cs typeface="Archivo Narrow"/>
                <a:sym typeface="Archivo Narrow"/>
              </a:rPr>
              <a:t>Evaluación Parcial 2 · Caso B</a:t>
            </a:r>
          </a:p>
        </p:txBody>
      </p:sp>
      <p:sp>
        <p:nvSpPr>
          <p:cNvPr name="TextBox 4" id="4"/>
          <p:cNvSpPr txBox="true"/>
          <p:nvPr/>
        </p:nvSpPr>
        <p:spPr>
          <a:xfrm rot="0">
            <a:off x="1219200" y="4602470"/>
            <a:ext cx="16325088" cy="2190750"/>
          </a:xfrm>
          <a:prstGeom prst="rect">
            <a:avLst/>
          </a:prstGeom>
        </p:spPr>
        <p:txBody>
          <a:bodyPr anchor="t" rtlCol="false" tIns="0" lIns="0" bIns="0" rIns="0">
            <a:spAutoFit/>
          </a:bodyPr>
          <a:lstStyle/>
          <a:p>
            <a:pPr algn="l">
              <a:lnSpc>
                <a:spcPts val="18900"/>
              </a:lnSpc>
            </a:pPr>
            <a:r>
              <a:rPr lang="en-US" sz="18000">
                <a:solidFill>
                  <a:srgbClr val="DCD3C3"/>
                </a:solidFill>
                <a:latin typeface="Anton"/>
                <a:ea typeface="Anton"/>
                <a:cs typeface="Anton"/>
                <a:sym typeface="Anton"/>
              </a:rPr>
              <a:t>GRACIAS</a:t>
            </a:r>
          </a:p>
        </p:txBody>
      </p:sp>
      <p:sp>
        <p:nvSpPr>
          <p:cNvPr name="TextBox 5" id="5"/>
          <p:cNvSpPr txBox="true"/>
          <p:nvPr/>
        </p:nvSpPr>
        <p:spPr>
          <a:xfrm rot="0">
            <a:off x="1219200" y="6869420"/>
            <a:ext cx="16325088" cy="963930"/>
          </a:xfrm>
          <a:prstGeom prst="rect">
            <a:avLst/>
          </a:prstGeom>
        </p:spPr>
        <p:txBody>
          <a:bodyPr anchor="t" rtlCol="false" tIns="0" lIns="0" bIns="0" rIns="0">
            <a:spAutoFit/>
          </a:bodyPr>
          <a:lstStyle/>
          <a:p>
            <a:pPr algn="l">
              <a:lnSpc>
                <a:spcPts val="8190"/>
              </a:lnSpc>
            </a:pPr>
            <a:r>
              <a:rPr lang="en-US" sz="7800">
                <a:solidFill>
                  <a:srgbClr val="DCD3C3"/>
                </a:solidFill>
                <a:latin typeface="Anton"/>
                <a:ea typeface="Anton"/>
                <a:cs typeface="Anton"/>
                <a:sym typeface="Anton"/>
              </a:rPr>
              <a:t>¿PREGUNTAS?</a:t>
            </a:r>
          </a:p>
        </p:txBody>
      </p:sp>
      <p:sp>
        <p:nvSpPr>
          <p:cNvPr name="AutoShape 6" id="6"/>
          <p:cNvSpPr/>
          <p:nvPr/>
        </p:nvSpPr>
        <p:spPr>
          <a:xfrm rot="2040">
            <a:off x="1214438" y="8176260"/>
            <a:ext cx="15859125" cy="0"/>
          </a:xfrm>
          <a:prstGeom prst="line">
            <a:avLst/>
          </a:prstGeom>
          <a:ln cap="rnd" w="9525">
            <a:solidFill>
              <a:srgbClr val="6E685E"/>
            </a:solidFill>
            <a:prstDash val="solid"/>
            <a:headEnd type="none" len="sm" w="sm"/>
            <a:tailEnd type="none" len="sm" w="sm"/>
          </a:ln>
        </p:spPr>
      </p:sp>
      <p:sp>
        <p:nvSpPr>
          <p:cNvPr name="TextBox 7" id="7"/>
          <p:cNvSpPr txBox="true"/>
          <p:nvPr/>
        </p:nvSpPr>
        <p:spPr>
          <a:xfrm rot="0">
            <a:off x="1219200" y="8441045"/>
            <a:ext cx="3938854" cy="405765"/>
          </a:xfrm>
          <a:prstGeom prst="rect">
            <a:avLst/>
          </a:prstGeom>
        </p:spPr>
        <p:txBody>
          <a:bodyPr anchor="t" rtlCol="false" tIns="0" lIns="0" bIns="0" rIns="0">
            <a:spAutoFit/>
          </a:bodyPr>
          <a:lstStyle/>
          <a:p>
            <a:pPr algn="l">
              <a:lnSpc>
                <a:spcPts val="2520"/>
              </a:lnSpc>
            </a:pPr>
            <a:r>
              <a:rPr lang="en-US" sz="1800" spc="149">
                <a:solidFill>
                  <a:srgbClr val="A39B8B"/>
                </a:solidFill>
                <a:latin typeface="Archivo Narrow"/>
                <a:ea typeface="Archivo Narrow"/>
                <a:cs typeface="Archivo Narrow"/>
                <a:sym typeface="Archivo Narrow"/>
              </a:rPr>
              <a:t>PRESENTARON</a:t>
            </a:r>
          </a:p>
        </p:txBody>
      </p:sp>
      <p:sp>
        <p:nvSpPr>
          <p:cNvPr name="TextBox 8" id="8"/>
          <p:cNvSpPr txBox="true"/>
          <p:nvPr/>
        </p:nvSpPr>
        <p:spPr>
          <a:xfrm rot="0">
            <a:off x="1219200" y="8799205"/>
            <a:ext cx="4588954" cy="459105"/>
          </a:xfrm>
          <a:prstGeom prst="rect">
            <a:avLst/>
          </a:prstGeom>
        </p:spPr>
        <p:txBody>
          <a:bodyPr anchor="t" rtlCol="false" tIns="0" lIns="0" bIns="0" rIns="0">
            <a:spAutoFit/>
          </a:bodyPr>
          <a:lstStyle/>
          <a:p>
            <a:pPr algn="l">
              <a:lnSpc>
                <a:spcPts val="2940"/>
              </a:lnSpc>
            </a:pPr>
            <a:r>
              <a:rPr lang="en-US" sz="2100" b="true">
                <a:solidFill>
                  <a:srgbClr val="DCD3C3"/>
                </a:solidFill>
                <a:latin typeface="Archivo Narrow Bold"/>
                <a:ea typeface="Archivo Narrow Bold"/>
                <a:cs typeface="Archivo Narrow Bold"/>
                <a:sym typeface="Archivo Narrow Bold"/>
              </a:rPr>
              <a:t>Nicolas Osses · Javier Sagredo</a:t>
            </a:r>
          </a:p>
        </p:txBody>
      </p:sp>
      <p:sp>
        <p:nvSpPr>
          <p:cNvPr name="TextBox 9" id="9"/>
          <p:cNvSpPr txBox="true"/>
          <p:nvPr/>
        </p:nvSpPr>
        <p:spPr>
          <a:xfrm rot="0">
            <a:off x="13105095" y="8441045"/>
            <a:ext cx="3963705" cy="405765"/>
          </a:xfrm>
          <a:prstGeom prst="rect">
            <a:avLst/>
          </a:prstGeom>
        </p:spPr>
        <p:txBody>
          <a:bodyPr anchor="t" rtlCol="false" tIns="0" lIns="0" bIns="0" rIns="0">
            <a:spAutoFit/>
          </a:bodyPr>
          <a:lstStyle/>
          <a:p>
            <a:pPr algn="r">
              <a:lnSpc>
                <a:spcPts val="2520"/>
              </a:lnSpc>
            </a:pPr>
            <a:r>
              <a:rPr lang="en-US" sz="1800" spc="149">
                <a:solidFill>
                  <a:srgbClr val="A39B8B"/>
                </a:solidFill>
                <a:latin typeface="Archivo Narrow"/>
                <a:ea typeface="Archivo Narrow"/>
                <a:cs typeface="Archivo Narrow"/>
                <a:sym typeface="Archivo Narrow"/>
              </a:rPr>
              <a:t>MODELO ELEGIDO</a:t>
            </a:r>
          </a:p>
        </p:txBody>
      </p:sp>
      <p:sp>
        <p:nvSpPr>
          <p:cNvPr name="TextBox 10" id="10"/>
          <p:cNvSpPr txBox="true"/>
          <p:nvPr/>
        </p:nvSpPr>
        <p:spPr>
          <a:xfrm rot="0">
            <a:off x="12450890" y="8799205"/>
            <a:ext cx="4617910" cy="459105"/>
          </a:xfrm>
          <a:prstGeom prst="rect">
            <a:avLst/>
          </a:prstGeom>
        </p:spPr>
        <p:txBody>
          <a:bodyPr anchor="t" rtlCol="false" tIns="0" lIns="0" bIns="0" rIns="0">
            <a:spAutoFit/>
          </a:bodyPr>
          <a:lstStyle/>
          <a:p>
            <a:pPr algn="r">
              <a:lnSpc>
                <a:spcPts val="2940"/>
              </a:lnSpc>
            </a:pPr>
            <a:r>
              <a:rPr lang="en-US" sz="2100" b="true">
                <a:solidFill>
                  <a:srgbClr val="DCD3C3"/>
                </a:solidFill>
                <a:latin typeface="Archivo Narrow Bold"/>
                <a:ea typeface="Archivo Narrow Bold"/>
                <a:cs typeface="Archivo Narrow Bold"/>
                <a:sym typeface="Archivo Narrow Bold"/>
              </a:rPr>
              <a:t>Lasso · R² 0,948 · MAPE 6,77 %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DAHZUxC0Xgw</dc:identifier>
  <dcterms:modified xsi:type="dcterms:W3CDTF">2011-08-01T06:04:30Z</dcterms:modified>
  <cp:revision>1</cp:revision>
  <dc:title>Predicción_de_precios_de_viviendas_EP2v3.pptx</dc:title>
</cp:coreProperties>
</file>