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Archivo" pitchFamily="34" charset="0"/>
      <p:regular r:id="rId23"/>
      <p:bold r:id="rId24"/>
    </p:embeddedFont>
    <p:embeddedFont>
      <p:font typeface="Anton" pitchFamily="34" charset="0"/>
      <p:regular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s. Presenta Javier. Presentarnos: Nicolas Osses y Javier Sagredo. Evaluación Parcial 2 de MLY1101 Machine Learning, Caso B: predicción de precios de viviendas en Ames, Iowa.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Presenta Javier. Hoy la tasación es manual: lenta, inconsistente y difícil de justificar. Dos peritos pueden llegar a valores distintos para la misma casa y el criterio rara vez queda documentado. El objetivo es estimar el valor de mercado, es decir, el precio en una venta normal. Es un problema de regresión supervisada sobre SalePrice en dólares. El modelo no reemplaza al perito: le da un punto de partida que se puede justificar.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Presenta Javier. El criterio de salida viene de la EP1 y se fijó antes de entrenar: un modelo es apto solo si cumple los seis KPI a la vez, en el test. Los cuatro primeros miden error. La brecha de R² entre train y test mide sobreajuste. La brecha de MAPE entre barrios mide equidad (solo barrios con al menos 10 casas en test). Si ningún modelo cumple, no se bajan los umbrales: se vuelve a una fase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Presenta Javier. El dataset tiene 2.930 ventas y 82 variables, de 2006 a 2010, en 28 barrios. El precio mediano es 160.000 USD. En la EP1 se sacaron 5 casas de más de 4.000 pies². Después se dejaron solo las zonas residenciales (lo justificamos en la diapositiva 8): quedan 2.896 casas. Se separa 80 / 20: 2.314 en train y 582 en test. El test se separa al principio y no se usa para ninguna decisión hasta la evaluación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Presenta Javier. Dos hallazgos de la exploración. Primero, el precio tiene cola a la derecha, así que se modela en escala log. Según la EP1, la escala log además reparte el error de forma más pareja entre barrios: el modelo minimiza el error relativo y deja de favorecer a las casas caras. Segundo, el error se concentra en dos grupos: las ventas anómalas (Abnorml, 19,1 % de MAPE frente a 7,2 % en ventas normales) y las zonas no residenciales (33,6 % frente a 8,1 %). Valores de Ridge en validación cruzada. Estos dos hallazgos llevaron a las pruebas de la diapositiva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Presenta Javier. 232 casas quedaron marcadas como outlier por IQR y por z-score en al menos una variable, un 7,9 %. No se eliminó ninguna: son casas reales. Por ejemplo, los lotes más grandes resultaron ser ventas normales en terrenos bajos, no errores de registro. Cuando muchas casas tienen 0 en una variable, el IQR exagera: en Mas Vnr Area pasa de 200 a 63 si se calcula solo con los valores mayores que 0, y en Open Porch SF de 156 a 86. La asimetría se trata con log1p en 5 variables, y solo en los modelos lineales.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15 s. Presenta Javier. La preparación cambia según la familia de modelos. Ridge y Lasso usan log1p en 5 variables y escalado; los árboles no. Las categóricas van con one-hot y target encoding en los dos casos. Quedan 138 columnas para los lineales y 158 para los árboles. Cada decisión se probó con validación cruzada en vez de asumirse. A los árboles no les afecta el log1p: la diferencia fue de 4 USD en Random Forest y de 0 en XGBoost, porque solo usan el orden de los valores. Todo lo que aprende de los datos (escalado, target encoding) va dentro de un pipeline, para evitar fuga de información hacia validación.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30 s. Presenta Javier. Tres preguntas, cada una con el criterio fijado antes de probar. Uno: entrenar con zonas no residenciales empeora a las residenciales en 3 de 4 modelos, y en esas zonas el MAPE queda entre 34 % y 44 %. Se excluyen y van a tasación manual. La zonificación se conoce antes de tasar, así que sirve para decidir qué casas entran al modelo. Dos: quitar variables casi constantes y redundantes mejora a Ridge en 66 USD de RMSE y a Lasso en 221; los árboles quedan igual. Con igual o mejor rendimiento se prefiere la versión con menos columnas: 164 a 138 en los lineales y 185 a 158 en los árboles. Tres: Sale Condition y Sale Type solo se conocen al vender, pero quitarlas empeora a los cuatro modelos. Se mantienen y, al tasar, se asume venta normal. Para medir ese uso real se preparó un segundo test con la venta normal impuesta: cambian 64 casas.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Presenta Nicolas. Comparamos cuatro modelos de las tres familias que preseleccionó la EP1, de menor a mayor complejidad: regresión lineal regularizada (Ridge con penalización L2 y Lasso con L1), bosques aleatorios y gradient boosting. En Ridge y Lasso la penalización alpha es parte del ajuste: se elige con validación cruzada interna usando solo train. Random Forest usa 300 árboles sin límite de profundidad: agregar árboles no sobreajusta, solo estabiliza la predicción. XGBoost usa 500 árboles con tasa 0,05: una tasa baja con más árboles suele generalizar mejor. Los cuatro se entrenan sobre el logaritmo del precio y devuelven la predicción en dólares. No hay búsqueda de hiperparámetros en esta entrega.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15 s. Presenta Nicolas. Validación cruzada de 5 folds sobre train, con el mismo KFold del notebook de preparación. El test no participa. Cada fila compara el R² en las casas con que se entrenó (punto lleno) y en las de validación (anillo); la distancia entre los dos es la brecha. Ridge y Lasso rinden casi igual en casas vistas y nuevas: brecha de 1 punto. Random Forest y XGBoost casi memorizan train (R² de 0,985 y 0,998) y en validación quedan bajo los lineales. Sus brechas de 9,3 y 8,5 puntos superan el máximo de 5. Es la consecuencia de usar árboles sin límite de profundidad. Limitarlos es búsqueda de hiperparámetros, fuera del alcance de esta entrega. Además, los lineales varían menos entre folds: unos 1.000 USD de desviación del RMSE frente a 1.554 en XGBoost y 2.518 en Random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30 s. Presenta Nicolas. Cada modelo se entrena con las 2.314 casas de train y se mide en las 582 de test, que no se usaron en ningún paso anterior. Los cuatro cumplen los KPI de error: R², RMSE, MAE (todos bajo 20.000 USD) y MAPE. Los árboles fallan el de sobreajuste: su brecha de R² entre train y test es de 6,3 en XGBoost y 6,1 en Random Forest, sobre el máximo de 5. Random Forest además falla el de equidad: 10,0 puntos de diferencia de MAPE entre barrios. Con la venta normal impuesta, que es lo más parecido al uso real, Ridge y Lasso siguen cumpliendo los seis. La brecha negativa de los lineales significa que este test resultó algo más fácil que el promedio: su RMSE queda unos 1.000 USD bajo el de validación, del mismo orden que la variación entre folds.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Presenta Nicolas. La regla de elección se fijó antes de evaluar. Uno: solo compiten los que cumplen los seis KPI en test, es decir, Ridge y Lasso. Dos: entre ellos se prefiere el de menor RMSE en validación cruzada, y ese es Ridge, por 54 USD. Tres: si otro queda a menos de 1 punto de R² de validación, gana el más interpretable. Lasso queda a 0,04 puntos (0,9295 frente a 0,9299) y usa 105 columnas en vez de 138. La diferencia entre los dos es mucho menor que la variación entre folds, que es de unos 1.000 USD: en la práctica son equivalentes. Se elige por validación y no por test para que el test siga siendo una medición independiente. Con precisión equivalente, gana el que se explica con menos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30 s. Presenta Nicolas. En el test, la mitad de las casas tuvo un error menor a 5,3 % del precio, unos 8.659 USD. Casi 8 de cada 10 quedan bajo 10 % de error y el 96,6 % bajo 20 %. A la derecha, la importancia por permutación: cuánto sube el RMSE en test si se desordena cada variable. Pesan la superficie habitable, la calidad general y la superficie del sótano; después el año de construcción, el barrio y el terreno. Son los mismos factores que considera cualquier tasación. El modelo le da al perito un valor de partida y le dice qué lo movió. Ejemplo: en una casa de Mitchel, la superficie habitable suma 8,3 % y la funcionalidad (Functional) resta 7,9 % respecto de una casa promedio de 167.304 USD. Eso permite justificar el valor ante un cliente o un banco. En Random Forest o XGBoost no hay una descomposición directa como 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Presenta Nicolas. Uso recomendado: valor de partida para el perito en viviendas de zonas residenciales, tasadas como venta normal. Las zonas no residenciales quedan fuera de alcance y van a tasación manual. Hay que tener cuidado en los extremos. Sobre 450.000 USD el modelo subestima: 8 de las 9 casas de test quedan bajo su precio real. En el cuartil más barato sobreestima en promedio un 3,4 %. En esos extremos el perito debería revisar el valor con más cuidado. En remates y ventas entre familiares el error sube a entre 11 % y 15 %. Como la condición de venta no se conoce antes de vender, esos errores son un límite del modelo y no algo que se pueda filtrar. Los datos son de 2006 a 2010: el modelo tasa a precios de ese período.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Presenta Nicolas. Lasso cumple los seis KPI en test: R² de 0,948, MAPE de 6,77 % y una brecha entre barrios de 6,1 puntos, todos con margen. Con la misma precisión que Ridge usa 33 columnas menos, y cada estimación se puede descomponer en el aporte de cada variable: el valor se puede justificar y revisar. Próximo paso: búsqueda de hiperparámetros, para ver si Random Forest y XGBoost cumplen la brecha de R² al limitar la profundidad de los árboles. Cerrar con la idea central: las decisiones se tomaron con criterios fijados antes de ver resultados, y el modelo elegido es el que cumple y además se puede justificar.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a preguntas. La defensa es individual y con preguntas cruzadas: los dos deben poder explicar todas las diapositivas, no solo las propias.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DCD3C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693420"/>
          </a:xfrm>
          <a:prstGeom prst="rect">
            <a:avLst/>
          </a:prstGeom>
          <a:noFill/>
          <a:ln/>
        </p:spPr>
        <p:txBody>
          <a:bodyPr wrap="square" lIns="0" tIns="0" rIns="0" bIns="0" rtlCol="0" anchor="t"/>
          <a:lstStyle>
            <a:lvl1pPr algn="l" indent="0" marL="0">
              <a:lnSpc>
                <a:spcPct val="115000"/>
              </a:lnSpc>
              <a:buNone/>
              <a:defRPr lang="en-US" sz="5200" dirty="0">
                <a:solidFill>
                  <a:srgbClr val="1F1E1C"/>
                </a:solidFill>
                <a:latin typeface="Anton" pitchFamily="34" charset="0"/>
                <a:ea typeface="Anton" pitchFamily="34" charset="-122"/>
                <a:cs typeface="Anton" pitchFamily="34" charset="-120"/>
              </a:defRPr>
            </a:lvl1pPr>
          </a:lstStyle>
          <a:p>
            <a:pPr algn="l" indent="0" marL="0">
              <a:lnSpc>
                <a:spcPct val="115000"/>
              </a:lnSpc>
              <a:buNone/>
            </a:pPr>
            <a:endParaRPr lang="en-US" sz="5200" dirty="0"/>
          </a:p>
        </p:txBody>
      </p:sp>
      <p:sp>
        <p:nvSpPr>
          <p:cNvPr id="3" name="Text Placeholder 2"/>
          <p:cNvSpPr/>
          <p:nvPr>
            <p:ph idx="101" type="body"/>
          </p:nvPr>
        </p:nvSpPr>
        <p:spPr>
          <a:xfrm>
            <a:off x="812800" y="1811020"/>
            <a:ext cx="10566400" cy="4234180"/>
          </a:xfrm>
          <a:prstGeom prst="rect">
            <a:avLst/>
          </a:prstGeom>
          <a:noFill/>
          <a:ln/>
        </p:spPr>
        <p:txBody>
          <a:bodyPr wrap="square" lIns="0" tIns="0" rIns="0" bIns="0" rtlCol="0" anchor="t"/>
          <a:lstStyle>
            <a:lvl1pPr algn="l" indent="0" marL="0">
              <a:lnSpc>
                <a:spcPct val="140000"/>
              </a:lnSpc>
              <a:buNone/>
              <a:defRPr lang="en-US" sz="1600" dirty="0">
                <a:solidFill>
                  <a:srgbClr val="1F1E1C"/>
                </a:solidFill>
                <a:latin typeface="Archivo" pitchFamily="34" charset="0"/>
                <a:ea typeface="Archivo" pitchFamily="34" charset="-122"/>
                <a:cs typeface="Archiv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CD3C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693420"/>
          </a:xfrm>
          <a:prstGeom prst="rect">
            <a:avLst/>
          </a:prstGeom>
          <a:noFill/>
          <a:ln/>
        </p:spPr>
        <p:txBody>
          <a:bodyPr wrap="square" lIns="0" tIns="0" rIns="0" bIns="0" rtlCol="0" anchor="t"/>
          <a:lstStyle>
            <a:lvl1pPr algn="l" indent="0" marL="0">
              <a:lnSpc>
                <a:spcPct val="115000"/>
              </a:lnSpc>
              <a:buNone/>
              <a:defRPr lang="en-US" sz="5200" dirty="0">
                <a:solidFill>
                  <a:srgbClr val="1F1E1C"/>
                </a:solidFill>
                <a:latin typeface="Anton" pitchFamily="34" charset="0"/>
                <a:ea typeface="Anton" pitchFamily="34" charset="-122"/>
                <a:cs typeface="Anton" pitchFamily="34" charset="-120"/>
              </a:defRPr>
            </a:lvl1pPr>
          </a:lstStyle>
          <a:p>
            <a:pPr algn="l" indent="0" marL="0">
              <a:lnSpc>
                <a:spcPct val="115000"/>
              </a:lnSpc>
              <a:buNone/>
            </a:pPr>
            <a:endParaRPr lang="en-US" sz="5200" dirty="0"/>
          </a:p>
        </p:txBody>
      </p:sp>
      <p:sp>
        <p:nvSpPr>
          <p:cNvPr id="3" name="Text Placeholder 2"/>
          <p:cNvSpPr/>
          <p:nvPr>
            <p:ph idx="101" type="body"/>
          </p:nvPr>
        </p:nvSpPr>
        <p:spPr>
          <a:xfrm>
            <a:off x="812800" y="1811020"/>
            <a:ext cx="10566400" cy="4234180"/>
          </a:xfrm>
          <a:prstGeom prst="rect">
            <a:avLst/>
          </a:prstGeom>
          <a:noFill/>
          <a:ln/>
        </p:spPr>
        <p:txBody>
          <a:bodyPr wrap="square" lIns="0" tIns="0" rIns="0" bIns="0" rtlCol="0" anchor="t"/>
          <a:lstStyle>
            <a:lvl1pPr algn="l" indent="0" marL="0">
              <a:lnSpc>
                <a:spcPct val="140000"/>
              </a:lnSpc>
              <a:buNone/>
              <a:defRPr lang="en-US" sz="1600" dirty="0">
                <a:solidFill>
                  <a:srgbClr val="1F1E1C"/>
                </a:solidFill>
                <a:latin typeface="Archivo" pitchFamily="34" charset="0"/>
                <a:ea typeface="Archivo" pitchFamily="34" charset="-122"/>
                <a:cs typeface="Archiv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E1C"/>
        </a:solidFill>
      </p:bgPr>
    </p:bg>
    <p:spTree>
      <p:nvGrpSpPr>
        <p:cNvPr id="1" name=""/>
        <p:cNvGrpSpPr/>
        <p:nvPr/>
      </p:nvGrpSpPr>
      <p:grpSpPr>
        <a:xfrm>
          <a:off x="0" y="0"/>
          <a:ext cx="0" cy="0"/>
          <a:chOff x="0" y="0"/>
          <a:chExt cx="0" cy="0"/>
        </a:xfrm>
      </p:grpSpPr>
      <p:sp>
        <p:nvSpPr>
          <p:cNvPr id="2" name="Text 0"/>
          <p:cNvSpPr/>
          <p:nvPr/>
        </p:nvSpPr>
        <p:spPr>
          <a:xfrm>
            <a:off x="812800" y="711200"/>
            <a:ext cx="418592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Un modelo de regresión que estima el valor de mercado de una vivienda, como punto de partida para el perito.</a:t>
            </a:r>
            <a:endParaRPr lang="en-US" sz="1200" dirty="0"/>
          </a:p>
        </p:txBody>
      </p:sp>
      <p:sp>
        <p:nvSpPr>
          <p:cNvPr id="3" name="Text 1"/>
          <p:cNvSpPr/>
          <p:nvPr/>
        </p:nvSpPr>
        <p:spPr>
          <a:xfrm>
            <a:off x="7978140" y="711200"/>
            <a:ext cx="3401060" cy="4521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9B8B"/>
                </a:solidFill>
                <a:latin typeface="Archivo" pitchFamily="34" charset="0"/>
                <a:ea typeface="Archivo" pitchFamily="34" charset="-122"/>
                <a:cs typeface="Archivo" pitchFamily="34" charset="-120"/>
              </a:rPr>
              <a:t>MLY1101 Machine Learning</a:t>
            </a:r>
            <a:endParaRPr lang="en-US" sz="1200" dirty="0"/>
          </a:p>
          <a:p>
            <a:pPr algn="r" indent="0" marL="0">
              <a:lnSpc>
                <a:spcPts val="1680"/>
              </a:lnSpc>
              <a:buNone/>
            </a:pPr>
            <a:r>
              <a:rPr lang="en-US" sz="1200" dirty="0">
                <a:solidFill>
                  <a:srgbClr val="A39B8B"/>
                </a:solidFill>
                <a:latin typeface="Archivo" pitchFamily="34" charset="0"/>
                <a:ea typeface="Archivo" pitchFamily="34" charset="-122"/>
                <a:cs typeface="Archivo" pitchFamily="34" charset="-120"/>
              </a:rPr>
              <a:t>Evaluación Parcial 2 · Caso B</a:t>
            </a:r>
            <a:endParaRPr lang="en-US" sz="1200" dirty="0"/>
          </a:p>
        </p:txBody>
      </p:sp>
      <p:sp>
        <p:nvSpPr>
          <p:cNvPr id="4" name="Text 2"/>
          <p:cNvSpPr/>
          <p:nvPr>
            <p:ph type="title"/>
          </p:nvPr>
        </p:nvSpPr>
        <p:spPr>
          <a:xfrm>
            <a:off x="812800" y="2903220"/>
            <a:ext cx="10883392" cy="1625600"/>
          </a:xfrm>
          <a:prstGeom prst="rect">
            <a:avLst/>
          </a:prstGeom>
          <a:noFill/>
          <a:ln/>
        </p:spPr>
        <p:txBody>
          <a:bodyPr wrap="square" lIns="0" tIns="0" rIns="0" bIns="0" rtlCol="0" anchor="t">
            <a:normAutofit/>
          </a:bodyPr>
          <a:lstStyle/>
          <a:p>
            <a:pPr algn="l" indent="0" marL="0">
              <a:lnSpc>
                <a:spcPts val="12600"/>
              </a:lnSpc>
              <a:buNone/>
            </a:pPr>
            <a:r>
              <a:rPr lang="en-US" sz="12000" b="0" i="0" dirty="0">
                <a:solidFill>
                  <a:srgbClr val="DCD3C3"/>
                </a:solidFill>
                <a:latin typeface="Anton" pitchFamily="34" charset="0"/>
                <a:ea typeface="Anton" pitchFamily="34" charset="-122"/>
                <a:cs typeface="Anton" pitchFamily="34" charset="-120"/>
              </a:rPr>
              <a:t>PREDICCIÓN</a:t>
            </a:r>
            <a:endParaRPr lang="en-US" sz="12000" dirty="0"/>
          </a:p>
        </p:txBody>
      </p:sp>
      <p:sp>
        <p:nvSpPr>
          <p:cNvPr id="5" name="Text 3"/>
          <p:cNvSpPr/>
          <p:nvPr/>
        </p:nvSpPr>
        <p:spPr>
          <a:xfrm>
            <a:off x="812800" y="4503420"/>
            <a:ext cx="10883392" cy="718820"/>
          </a:xfrm>
          <a:prstGeom prst="rect">
            <a:avLst/>
          </a:prstGeom>
          <a:noFill/>
          <a:ln/>
        </p:spPr>
        <p:txBody>
          <a:bodyPr wrap="square" lIns="0" tIns="0" rIns="0" bIns="0" rtlCol="0" anchor="t">
            <a:normAutofit/>
          </a:bodyPr>
          <a:lstStyle/>
          <a:p>
            <a:pPr algn="l" indent="0" marL="0">
              <a:lnSpc>
                <a:spcPts val="5460"/>
              </a:lnSpc>
              <a:buNone/>
            </a:pPr>
            <a:r>
              <a:rPr lang="en-US" sz="5200" dirty="0">
                <a:solidFill>
                  <a:srgbClr val="DCD3C3"/>
                </a:solidFill>
                <a:latin typeface="Anton" pitchFamily="34" charset="0"/>
                <a:ea typeface="Anton" pitchFamily="34" charset="-122"/>
                <a:cs typeface="Anton" pitchFamily="34" charset="-120"/>
              </a:rPr>
              <a:t>DE PRECIOS DE VIVIENDAS</a:t>
            </a:r>
            <a:endParaRPr lang="en-US" sz="5200" dirty="0"/>
          </a:p>
        </p:txBody>
      </p:sp>
      <p:sp>
        <p:nvSpPr>
          <p:cNvPr id="6" name="Shape 4"/>
          <p:cNvSpPr/>
          <p:nvPr/>
        </p:nvSpPr>
        <p:spPr>
          <a:xfrm>
            <a:off x="812800" y="5454015"/>
            <a:ext cx="10566400" cy="0"/>
          </a:xfrm>
          <a:prstGeom prst="line">
            <a:avLst/>
          </a:prstGeom>
          <a:noFill/>
          <a:ln w="6350">
            <a:solidFill>
              <a:srgbClr val="6E685E"/>
            </a:solidFill>
            <a:prstDash val="solid"/>
          </a:ln>
        </p:spPr>
      </p:sp>
      <p:sp>
        <p:nvSpPr>
          <p:cNvPr id="7" name="Text 5"/>
          <p:cNvSpPr/>
          <p:nvPr/>
        </p:nvSpPr>
        <p:spPr>
          <a:xfrm>
            <a:off x="812800" y="5659120"/>
            <a:ext cx="262590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39B8B"/>
                </a:solidFill>
                <a:latin typeface="Archivo" pitchFamily="34" charset="0"/>
                <a:ea typeface="Archivo" pitchFamily="34" charset="-122"/>
                <a:cs typeface="Archivo" pitchFamily="34" charset="-120"/>
              </a:rPr>
              <a:t>PRESENTAN</a:t>
            </a:r>
            <a:endParaRPr lang="en-US" sz="1200" dirty="0"/>
          </a:p>
        </p:txBody>
      </p:sp>
      <p:sp>
        <p:nvSpPr>
          <p:cNvPr id="8" name="Text 6"/>
          <p:cNvSpPr/>
          <p:nvPr/>
        </p:nvSpPr>
        <p:spPr>
          <a:xfrm>
            <a:off x="812800" y="5897880"/>
            <a:ext cx="305930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CD3C3"/>
                </a:solidFill>
                <a:latin typeface="Archivo" pitchFamily="34" charset="0"/>
                <a:ea typeface="Archivo" pitchFamily="34" charset="-122"/>
                <a:cs typeface="Archivo" pitchFamily="34" charset="-120"/>
              </a:rPr>
              <a:t>Nicolas Osses · Javier Sagredo</a:t>
            </a:r>
            <a:endParaRPr lang="en-US" sz="1400" dirty="0"/>
          </a:p>
        </p:txBody>
      </p:sp>
      <p:sp>
        <p:nvSpPr>
          <p:cNvPr id="9" name="Text 7"/>
          <p:cNvSpPr/>
          <p:nvPr/>
        </p:nvSpPr>
        <p:spPr>
          <a:xfrm>
            <a:off x="9244926" y="5659120"/>
            <a:ext cx="2134274" cy="23876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A39B8B"/>
                </a:solidFill>
                <a:latin typeface="Archivo" pitchFamily="34" charset="0"/>
                <a:ea typeface="Archivo" pitchFamily="34" charset="-122"/>
                <a:cs typeface="Archivo" pitchFamily="34" charset="-120"/>
              </a:rPr>
              <a:t>DATOS</a:t>
            </a:r>
            <a:endParaRPr lang="en-US" sz="1200" dirty="0"/>
          </a:p>
        </p:txBody>
      </p:sp>
      <p:sp>
        <p:nvSpPr>
          <p:cNvPr id="10" name="Text 8"/>
          <p:cNvSpPr/>
          <p:nvPr/>
        </p:nvSpPr>
        <p:spPr>
          <a:xfrm>
            <a:off x="8892667" y="5897880"/>
            <a:ext cx="2486533"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DCD3C3"/>
                </a:solidFill>
                <a:latin typeface="Archivo" pitchFamily="34" charset="0"/>
                <a:ea typeface="Archivo" pitchFamily="34" charset="-122"/>
                <a:cs typeface="Archivo" pitchFamily="34" charset="-120"/>
              </a:rPr>
              <a:t>Ames, Iowa · 2006 a 2010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CD3C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718820"/>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1F1E1C"/>
                </a:solidFill>
                <a:latin typeface="Anton" pitchFamily="34" charset="0"/>
                <a:ea typeface="Anton" pitchFamily="34" charset="-122"/>
                <a:cs typeface="Anton" pitchFamily="34" charset="-120"/>
              </a:rPr>
              <a:t>PROBLEMA Y OBJETIVO</a:t>
            </a:r>
            <a:endParaRPr lang="en-US" sz="5200" dirty="0"/>
          </a:p>
        </p:txBody>
      </p:sp>
      <p:sp>
        <p:nvSpPr>
          <p:cNvPr id="3" name="Text 1"/>
          <p:cNvSpPr/>
          <p:nvPr/>
        </p:nvSpPr>
        <p:spPr>
          <a:xfrm>
            <a:off x="812800" y="2515870"/>
            <a:ext cx="47091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453F"/>
                </a:solidFill>
                <a:latin typeface="Archivo" pitchFamily="34" charset="0"/>
                <a:ea typeface="Archivo" pitchFamily="34" charset="-122"/>
                <a:cs typeface="Archivo" pitchFamily="34" charset="-120"/>
              </a:rPr>
              <a:t>HOY: TASACIÓN MANUAL</a:t>
            </a:r>
            <a:endParaRPr lang="en-US" sz="1200" dirty="0"/>
          </a:p>
        </p:txBody>
      </p:sp>
      <p:sp>
        <p:nvSpPr>
          <p:cNvPr id="4" name="Shape 2"/>
          <p:cNvSpPr/>
          <p:nvPr/>
        </p:nvSpPr>
        <p:spPr>
          <a:xfrm>
            <a:off x="812800" y="2990850"/>
            <a:ext cx="508000" cy="508000"/>
          </a:xfrm>
          <a:prstGeom prst="roundRect">
            <a:avLst>
              <a:gd name="adj" fmla="val 50000"/>
            </a:avLst>
          </a:prstGeom>
          <a:solidFill>
            <a:srgbClr val="1F1E1C"/>
          </a:solidFill>
          <a:ln/>
        </p:spPr>
      </p:sp>
      <p:pic>
        <p:nvPicPr>
          <p:cNvPr id="5" name="Image 0" descr="Clock">    </p:cNvPr>
          <p:cNvPicPr>
            <a:picLocks noChangeAspect="1"/>
          </p:cNvPicPr>
          <p:nvPr/>
        </p:nvPicPr>
        <p:blipFill>
          <a:blip r:embed="rId1"/>
          <a:srcRect l="0" r="0" t="0" b="0"/>
          <a:stretch/>
        </p:blipFill>
        <p:spPr>
          <a:xfrm>
            <a:off x="939800" y="3117850"/>
            <a:ext cx="254000" cy="254000"/>
          </a:xfrm>
          <a:prstGeom prst="rect">
            <a:avLst/>
          </a:prstGeom>
        </p:spPr>
      </p:pic>
      <p:sp>
        <p:nvSpPr>
          <p:cNvPr id="6" name="Text 3"/>
          <p:cNvSpPr/>
          <p:nvPr/>
        </p:nvSpPr>
        <p:spPr>
          <a:xfrm>
            <a:off x="1498600" y="2957830"/>
            <a:ext cx="2107567" cy="3606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1F1E1C"/>
                </a:solidFill>
                <a:latin typeface="Anton" pitchFamily="34" charset="0"/>
                <a:ea typeface="Anton" pitchFamily="34" charset="-122"/>
                <a:cs typeface="Anton" pitchFamily="34" charset="-120"/>
              </a:rPr>
              <a:t>LENTA</a:t>
            </a:r>
            <a:endParaRPr lang="en-US" sz="2400" dirty="0"/>
          </a:p>
        </p:txBody>
      </p:sp>
      <p:sp>
        <p:nvSpPr>
          <p:cNvPr id="7" name="Text 4"/>
          <p:cNvSpPr/>
          <p:nvPr/>
        </p:nvSpPr>
        <p:spPr>
          <a:xfrm>
            <a:off x="1498600" y="3318510"/>
            <a:ext cx="24554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53F"/>
                </a:solidFill>
                <a:latin typeface="Archivo" pitchFamily="34" charset="0"/>
                <a:ea typeface="Archivo" pitchFamily="34" charset="-122"/>
                <a:cs typeface="Archivo" pitchFamily="34" charset="-120"/>
              </a:rPr>
              <a:t>Cada vivienda se tasa a mano.</a:t>
            </a:r>
            <a:endParaRPr lang="en-US" sz="1200" dirty="0"/>
          </a:p>
        </p:txBody>
      </p:sp>
      <p:sp>
        <p:nvSpPr>
          <p:cNvPr id="8" name="Shape 5"/>
          <p:cNvSpPr/>
          <p:nvPr/>
        </p:nvSpPr>
        <p:spPr>
          <a:xfrm>
            <a:off x="812800" y="3793490"/>
            <a:ext cx="508000" cy="508000"/>
          </a:xfrm>
          <a:prstGeom prst="roundRect">
            <a:avLst>
              <a:gd name="adj" fmla="val 50000"/>
            </a:avLst>
          </a:prstGeom>
          <a:solidFill>
            <a:srgbClr val="1F1E1C"/>
          </a:solidFill>
          <a:ln/>
        </p:spPr>
      </p:sp>
      <p:pic>
        <p:nvPicPr>
          <p:cNvPr id="9" name="Image 1" descr="Users">    </p:cNvPr>
          <p:cNvPicPr>
            <a:picLocks noChangeAspect="1"/>
          </p:cNvPicPr>
          <p:nvPr/>
        </p:nvPicPr>
        <p:blipFill>
          <a:blip r:embed="rId2"/>
          <a:srcRect l="0" r="0" t="0" b="0"/>
          <a:stretch/>
        </p:blipFill>
        <p:spPr>
          <a:xfrm>
            <a:off x="939800" y="3920490"/>
            <a:ext cx="254000" cy="254000"/>
          </a:xfrm>
          <a:prstGeom prst="rect">
            <a:avLst/>
          </a:prstGeom>
        </p:spPr>
      </p:pic>
      <p:sp>
        <p:nvSpPr>
          <p:cNvPr id="10" name="Text 6"/>
          <p:cNvSpPr/>
          <p:nvPr/>
        </p:nvSpPr>
        <p:spPr>
          <a:xfrm>
            <a:off x="1498600" y="3760470"/>
            <a:ext cx="3384055" cy="3606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1F1E1C"/>
                </a:solidFill>
                <a:latin typeface="Anton" pitchFamily="34" charset="0"/>
                <a:ea typeface="Anton" pitchFamily="34" charset="-122"/>
                <a:cs typeface="Anton" pitchFamily="34" charset="-120"/>
              </a:rPr>
              <a:t>INCONSISTENTE</a:t>
            </a:r>
            <a:endParaRPr lang="en-US" sz="2400" dirty="0"/>
          </a:p>
        </p:txBody>
      </p:sp>
      <p:sp>
        <p:nvSpPr>
          <p:cNvPr id="11" name="Text 7"/>
          <p:cNvSpPr/>
          <p:nvPr/>
        </p:nvSpPr>
        <p:spPr>
          <a:xfrm>
            <a:off x="1498600" y="4121150"/>
            <a:ext cx="39425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53F"/>
                </a:solidFill>
                <a:latin typeface="Archivo" pitchFamily="34" charset="0"/>
                <a:ea typeface="Archivo" pitchFamily="34" charset="-122"/>
                <a:cs typeface="Archivo" pitchFamily="34" charset="-120"/>
              </a:rPr>
              <a:t>Dos peritos pueden llegar a dos valores distintos.</a:t>
            </a:r>
            <a:endParaRPr lang="en-US" sz="1200" dirty="0"/>
          </a:p>
        </p:txBody>
      </p:sp>
      <p:sp>
        <p:nvSpPr>
          <p:cNvPr id="12" name="Shape 8"/>
          <p:cNvSpPr/>
          <p:nvPr/>
        </p:nvSpPr>
        <p:spPr>
          <a:xfrm>
            <a:off x="812800" y="4596130"/>
            <a:ext cx="508000" cy="508000"/>
          </a:xfrm>
          <a:prstGeom prst="roundRect">
            <a:avLst>
              <a:gd name="adj" fmla="val 50000"/>
            </a:avLst>
          </a:prstGeom>
          <a:solidFill>
            <a:srgbClr val="1F1E1C"/>
          </a:solidFill>
          <a:ln/>
        </p:spPr>
      </p:sp>
      <p:pic>
        <p:nvPicPr>
          <p:cNvPr id="13" name="Image 2" descr="Search">    </p:cNvPr>
          <p:cNvPicPr>
            <a:picLocks noChangeAspect="1"/>
          </p:cNvPicPr>
          <p:nvPr/>
        </p:nvPicPr>
        <p:blipFill>
          <a:blip r:embed="rId3"/>
          <a:srcRect l="0" r="0" t="0" b="0"/>
          <a:stretch/>
        </p:blipFill>
        <p:spPr>
          <a:xfrm>
            <a:off x="939800" y="4723130"/>
            <a:ext cx="254000" cy="254000"/>
          </a:xfrm>
          <a:prstGeom prst="rect">
            <a:avLst/>
          </a:prstGeom>
        </p:spPr>
      </p:pic>
      <p:sp>
        <p:nvSpPr>
          <p:cNvPr id="14" name="Text 9"/>
          <p:cNvSpPr/>
          <p:nvPr/>
        </p:nvSpPr>
        <p:spPr>
          <a:xfrm>
            <a:off x="1498600" y="4563110"/>
            <a:ext cx="2748209" cy="3606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1F1E1C"/>
                </a:solidFill>
                <a:latin typeface="Anton" pitchFamily="34" charset="0"/>
                <a:ea typeface="Anton" pitchFamily="34" charset="-122"/>
                <a:cs typeface="Anton" pitchFamily="34" charset="-120"/>
              </a:rPr>
              <a:t>SIN TRAZABILIDAD</a:t>
            </a:r>
            <a:endParaRPr lang="en-US" sz="2400" dirty="0"/>
          </a:p>
        </p:txBody>
      </p:sp>
      <p:sp>
        <p:nvSpPr>
          <p:cNvPr id="15" name="Text 10"/>
          <p:cNvSpPr/>
          <p:nvPr/>
        </p:nvSpPr>
        <p:spPr>
          <a:xfrm>
            <a:off x="1498600" y="4923790"/>
            <a:ext cx="320179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53F"/>
                </a:solidFill>
                <a:latin typeface="Archivo" pitchFamily="34" charset="0"/>
                <a:ea typeface="Archivo" pitchFamily="34" charset="-122"/>
                <a:cs typeface="Archivo" pitchFamily="34" charset="-120"/>
              </a:rPr>
              <a:t>El criterio rara vez queda documentado.</a:t>
            </a:r>
            <a:endParaRPr lang="en-US" sz="1200" dirty="0"/>
          </a:p>
        </p:txBody>
      </p:sp>
      <p:pic>
        <p:nvPicPr>
          <p:cNvPr id="16" name="Image 3" descr="arrow-right">    </p:cNvPr>
          <p:cNvPicPr>
            <a:picLocks noChangeAspect="1"/>
          </p:cNvPicPr>
          <p:nvPr/>
        </p:nvPicPr>
        <p:blipFill>
          <a:blip r:embed="rId4"/>
          <a:srcRect l="0" r="0" t="0" b="0"/>
          <a:stretch/>
        </p:blipFill>
        <p:spPr>
          <a:xfrm>
            <a:off x="5689600" y="3674110"/>
            <a:ext cx="609600" cy="304800"/>
          </a:xfrm>
          <a:prstGeom prst="rect">
            <a:avLst/>
          </a:prstGeom>
        </p:spPr>
      </p:pic>
      <p:sp>
        <p:nvSpPr>
          <p:cNvPr id="17" name="Shape 11"/>
          <p:cNvSpPr/>
          <p:nvPr/>
        </p:nvSpPr>
        <p:spPr>
          <a:xfrm>
            <a:off x="6604000" y="1811020"/>
            <a:ext cx="4775200" cy="4030980"/>
          </a:xfrm>
          <a:prstGeom prst="rect">
            <a:avLst/>
          </a:prstGeom>
          <a:solidFill>
            <a:srgbClr val="1F1E1C"/>
          </a:solidFill>
          <a:ln/>
        </p:spPr>
      </p:sp>
      <p:sp>
        <p:nvSpPr>
          <p:cNvPr id="18" name="Text 12"/>
          <p:cNvSpPr/>
          <p:nvPr/>
        </p:nvSpPr>
        <p:spPr>
          <a:xfrm>
            <a:off x="7010400" y="2217420"/>
            <a:ext cx="408127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9B8B"/>
                </a:solidFill>
                <a:latin typeface="Archivo" pitchFamily="34" charset="0"/>
                <a:ea typeface="Archivo" pitchFamily="34" charset="-122"/>
                <a:cs typeface="Archivo" pitchFamily="34" charset="-120"/>
              </a:rPr>
              <a:t>OBJETIVO</a:t>
            </a:r>
            <a:endParaRPr lang="en-US" sz="1200" dirty="0"/>
          </a:p>
        </p:txBody>
      </p:sp>
      <p:sp>
        <p:nvSpPr>
          <p:cNvPr id="19" name="Text 13"/>
          <p:cNvSpPr/>
          <p:nvPr/>
        </p:nvSpPr>
        <p:spPr>
          <a:xfrm>
            <a:off x="7010400" y="3132455"/>
            <a:ext cx="4081272" cy="72644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DCD3C3"/>
                </a:solidFill>
                <a:latin typeface="Anton" pitchFamily="34" charset="0"/>
                <a:ea typeface="Anton" pitchFamily="34" charset="-122"/>
                <a:cs typeface="Anton" pitchFamily="34" charset="-120"/>
              </a:rPr>
              <a:t>ESTIMAR EL PRECIO DE UNA VIVIENDA COMO APOYO AL PERITO</a:t>
            </a:r>
            <a:endParaRPr lang="en-US" sz="2400" dirty="0"/>
          </a:p>
        </p:txBody>
      </p:sp>
      <p:sp>
        <p:nvSpPr>
          <p:cNvPr id="20" name="Shape 14"/>
          <p:cNvSpPr/>
          <p:nvPr/>
        </p:nvSpPr>
        <p:spPr>
          <a:xfrm>
            <a:off x="7010400" y="4538345"/>
            <a:ext cx="3962400" cy="0"/>
          </a:xfrm>
          <a:prstGeom prst="line">
            <a:avLst/>
          </a:prstGeom>
          <a:noFill/>
          <a:ln w="6350">
            <a:solidFill>
              <a:srgbClr val="6E685E"/>
            </a:solidFill>
            <a:prstDash val="solid"/>
          </a:ln>
        </p:spPr>
      </p:sp>
      <p:sp>
        <p:nvSpPr>
          <p:cNvPr id="21" name="Text 15"/>
          <p:cNvSpPr/>
          <p:nvPr/>
        </p:nvSpPr>
        <p:spPr>
          <a:xfrm>
            <a:off x="7010400" y="4718050"/>
            <a:ext cx="408127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CD3C3"/>
                </a:solidFill>
                <a:latin typeface="Archivo" pitchFamily="34" charset="0"/>
                <a:ea typeface="Archivo" pitchFamily="34" charset="-122"/>
                <a:cs typeface="Archivo" pitchFamily="34" charset="-120"/>
              </a:rPr>
              <a:t>Regresión supervisada sobre </a:t>
            </a:r>
            <a:r>
              <a:rPr lang="en-US" sz="1400" b="1" dirty="0">
                <a:solidFill>
                  <a:srgbClr val="DCD3C3"/>
                </a:solidFill>
                <a:latin typeface="Archivo" pitchFamily="34" charset="0"/>
                <a:ea typeface="Archivo" pitchFamily="34" charset="-122"/>
                <a:cs typeface="Archivo" pitchFamily="34" charset="-120"/>
              </a:rPr>
              <a:t>SalePrice</a:t>
            </a:r>
            <a:r>
              <a:rPr lang="en-US" sz="1400" dirty="0">
                <a:solidFill>
                  <a:srgbClr val="DCD3C3"/>
                </a:solidFill>
                <a:latin typeface="Archivo" pitchFamily="34" charset="0"/>
                <a:ea typeface="Archivo" pitchFamily="34" charset="-122"/>
                <a:cs typeface="Archivo" pitchFamily="34" charset="-120"/>
              </a:rPr>
              <a:t> (USD)</a:t>
            </a:r>
            <a:endParaRPr lang="en-US" sz="1400" dirty="0"/>
          </a:p>
        </p:txBody>
      </p:sp>
      <p:sp>
        <p:nvSpPr>
          <p:cNvPr id="22" name="Text 16"/>
          <p:cNvSpPr/>
          <p:nvPr/>
        </p:nvSpPr>
        <p:spPr>
          <a:xfrm>
            <a:off x="7010400" y="5008880"/>
            <a:ext cx="408127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No reemplaza al perito: le da un punto de partida que se puede justificar.</a:t>
            </a:r>
            <a:endParaRPr lang="en-US" sz="1200" dirty="0"/>
          </a:p>
        </p:txBody>
      </p:sp>
      <p:sp>
        <p:nvSpPr>
          <p:cNvPr id="23" name="Text 17"/>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53F"/>
                </a:solidFill>
                <a:latin typeface="Archivo" pitchFamily="34" charset="0"/>
                <a:ea typeface="Archivo" pitchFamily="34" charset="-122"/>
                <a:cs typeface="Archivo" pitchFamily="34" charset="-120"/>
              </a:rPr>
              <a:t>02 · Housing Prices · EP2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CD3C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718820"/>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1F1E1C"/>
                </a:solidFill>
                <a:latin typeface="Anton" pitchFamily="34" charset="0"/>
                <a:ea typeface="Anton" pitchFamily="34" charset="-122"/>
                <a:cs typeface="Anton" pitchFamily="34" charset="-120"/>
              </a:rPr>
              <a:t>CRITERIO DE SALIDA</a:t>
            </a:r>
            <a:endParaRPr lang="en-US" sz="5200" dirty="0"/>
          </a:p>
        </p:txBody>
      </p:sp>
      <p:sp>
        <p:nvSpPr>
          <p:cNvPr id="3" name="Text 1"/>
          <p:cNvSpPr/>
          <p:nvPr/>
        </p:nvSpPr>
        <p:spPr>
          <a:xfrm>
            <a:off x="812800" y="1760220"/>
            <a:ext cx="1088339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53F"/>
                </a:solidFill>
                <a:latin typeface="Archivo" pitchFamily="34" charset="0"/>
                <a:ea typeface="Archivo" pitchFamily="34" charset="-122"/>
                <a:cs typeface="Archivo" pitchFamily="34" charset="-120"/>
              </a:rPr>
              <a:t>Apto solo si cumple los seis a la vez, en test. Umbrales fijados en la EP1, antes de entrenar.</a:t>
            </a:r>
            <a:endParaRPr lang="en-US" sz="1400" dirty="0"/>
          </a:p>
        </p:txBody>
      </p:sp>
      <p:sp>
        <p:nvSpPr>
          <p:cNvPr id="4" name="Shape 2"/>
          <p:cNvSpPr/>
          <p:nvPr/>
        </p:nvSpPr>
        <p:spPr>
          <a:xfrm>
            <a:off x="819150" y="2260600"/>
            <a:ext cx="3407833" cy="1587500"/>
          </a:xfrm>
          <a:prstGeom prst="roundRect">
            <a:avLst>
              <a:gd name="adj" fmla="val 4400"/>
            </a:avLst>
          </a:prstGeom>
          <a:noFill/>
          <a:ln w="12700">
            <a:solidFill>
              <a:srgbClr val="1F1E1C"/>
            </a:solidFill>
            <a:prstDash val="solid"/>
          </a:ln>
        </p:spPr>
      </p:sp>
      <p:sp>
        <p:nvSpPr>
          <p:cNvPr id="5" name="Text 3"/>
          <p:cNvSpPr/>
          <p:nvPr/>
        </p:nvSpPr>
        <p:spPr>
          <a:xfrm>
            <a:off x="1026160" y="2442211"/>
            <a:ext cx="308362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453F"/>
                </a:solidFill>
                <a:latin typeface="Archivo" pitchFamily="34" charset="0"/>
                <a:ea typeface="Archivo" pitchFamily="34" charset="-122"/>
                <a:cs typeface="Archivo" pitchFamily="34" charset="-120"/>
              </a:rPr>
              <a:t>ERROR</a:t>
            </a:r>
            <a:endParaRPr lang="en-US" sz="1200" dirty="0"/>
          </a:p>
        </p:txBody>
      </p:sp>
      <p:sp>
        <p:nvSpPr>
          <p:cNvPr id="6" name="Text 4"/>
          <p:cNvSpPr/>
          <p:nvPr/>
        </p:nvSpPr>
        <p:spPr>
          <a:xfrm>
            <a:off x="1026160" y="2706370"/>
            <a:ext cx="308362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E1C"/>
                </a:solidFill>
                <a:latin typeface="Archivo" pitchFamily="34" charset="0"/>
                <a:ea typeface="Archivo" pitchFamily="34" charset="-122"/>
                <a:cs typeface="Archivo" pitchFamily="34" charset="-120"/>
              </a:rPr>
              <a:t>R²</a:t>
            </a:r>
            <a:endParaRPr lang="en-US" sz="1400" dirty="0"/>
          </a:p>
        </p:txBody>
      </p:sp>
      <p:sp>
        <p:nvSpPr>
          <p:cNvPr id="7" name="Text 5"/>
          <p:cNvSpPr/>
          <p:nvPr/>
        </p:nvSpPr>
        <p:spPr>
          <a:xfrm>
            <a:off x="1026160" y="3006089"/>
            <a:ext cx="3083628" cy="685800"/>
          </a:xfrm>
          <a:prstGeom prst="rect">
            <a:avLst/>
          </a:prstGeom>
          <a:noFill/>
          <a:ln/>
        </p:spPr>
        <p:txBody>
          <a:bodyPr wrap="none" lIns="0" tIns="0" rIns="0" bIns="0" rtlCol="0" anchor="t">
            <a:normAutofit/>
          </a:bodyPr>
          <a:lstStyle/>
          <a:p>
            <a:pPr algn="l" indent="0" marL="0">
              <a:lnSpc>
                <a:spcPts val="5200"/>
              </a:lnSpc>
              <a:buNone/>
            </a:pPr>
            <a:r>
              <a:rPr lang="en-US" sz="5200" dirty="0">
                <a:solidFill>
                  <a:srgbClr val="1F1E1C"/>
                </a:solidFill>
                <a:latin typeface="Anton" pitchFamily="34" charset="0"/>
                <a:ea typeface="Anton" pitchFamily="34" charset="-122"/>
                <a:cs typeface="Anton" pitchFamily="34" charset="-120"/>
              </a:rPr>
              <a:t>≥ 0,85</a:t>
            </a:r>
            <a:endParaRPr lang="en-US" sz="5200" dirty="0"/>
          </a:p>
        </p:txBody>
      </p:sp>
      <p:sp>
        <p:nvSpPr>
          <p:cNvPr id="8" name="Shape 6"/>
          <p:cNvSpPr/>
          <p:nvPr/>
        </p:nvSpPr>
        <p:spPr>
          <a:xfrm>
            <a:off x="4392083" y="2260600"/>
            <a:ext cx="3407833" cy="1587500"/>
          </a:xfrm>
          <a:prstGeom prst="roundRect">
            <a:avLst>
              <a:gd name="adj" fmla="val 4400"/>
            </a:avLst>
          </a:prstGeom>
          <a:noFill/>
          <a:ln w="12700">
            <a:solidFill>
              <a:srgbClr val="1F1E1C"/>
            </a:solidFill>
            <a:prstDash val="solid"/>
          </a:ln>
        </p:spPr>
      </p:sp>
      <p:sp>
        <p:nvSpPr>
          <p:cNvPr id="9" name="Text 7"/>
          <p:cNvSpPr/>
          <p:nvPr/>
        </p:nvSpPr>
        <p:spPr>
          <a:xfrm>
            <a:off x="4599093" y="2442211"/>
            <a:ext cx="308362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453F"/>
                </a:solidFill>
                <a:latin typeface="Archivo" pitchFamily="34" charset="0"/>
                <a:ea typeface="Archivo" pitchFamily="34" charset="-122"/>
                <a:cs typeface="Archivo" pitchFamily="34" charset="-120"/>
              </a:rPr>
              <a:t>ERROR</a:t>
            </a:r>
            <a:endParaRPr lang="en-US" sz="1200" dirty="0"/>
          </a:p>
        </p:txBody>
      </p:sp>
      <p:sp>
        <p:nvSpPr>
          <p:cNvPr id="10" name="Text 8"/>
          <p:cNvSpPr/>
          <p:nvPr/>
        </p:nvSpPr>
        <p:spPr>
          <a:xfrm>
            <a:off x="4599093" y="2706370"/>
            <a:ext cx="308362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E1C"/>
                </a:solidFill>
                <a:latin typeface="Archivo" pitchFamily="34" charset="0"/>
                <a:ea typeface="Archivo" pitchFamily="34" charset="-122"/>
                <a:cs typeface="Archivo" pitchFamily="34" charset="-120"/>
              </a:rPr>
              <a:t>RMSE (USD)</a:t>
            </a:r>
            <a:endParaRPr lang="en-US" sz="1400" dirty="0"/>
          </a:p>
        </p:txBody>
      </p:sp>
      <p:sp>
        <p:nvSpPr>
          <p:cNvPr id="11" name="Text 9"/>
          <p:cNvSpPr/>
          <p:nvPr/>
        </p:nvSpPr>
        <p:spPr>
          <a:xfrm>
            <a:off x="4599093" y="3006089"/>
            <a:ext cx="3083628" cy="685800"/>
          </a:xfrm>
          <a:prstGeom prst="rect">
            <a:avLst/>
          </a:prstGeom>
          <a:noFill/>
          <a:ln/>
        </p:spPr>
        <p:txBody>
          <a:bodyPr wrap="none" lIns="0" tIns="0" rIns="0" bIns="0" rtlCol="0" anchor="t">
            <a:normAutofit/>
          </a:bodyPr>
          <a:lstStyle/>
          <a:p>
            <a:pPr algn="l" indent="0" marL="0">
              <a:lnSpc>
                <a:spcPts val="5200"/>
              </a:lnSpc>
              <a:buNone/>
            </a:pPr>
            <a:r>
              <a:rPr lang="en-US" sz="5200" dirty="0">
                <a:solidFill>
                  <a:srgbClr val="1F1E1C"/>
                </a:solidFill>
                <a:latin typeface="Anton" pitchFamily="34" charset="0"/>
                <a:ea typeface="Anton" pitchFamily="34" charset="-122"/>
                <a:cs typeface="Anton" pitchFamily="34" charset="-120"/>
              </a:rPr>
              <a:t>≤ 30.000</a:t>
            </a:r>
            <a:endParaRPr lang="en-US" sz="5200" dirty="0"/>
          </a:p>
        </p:txBody>
      </p:sp>
      <p:sp>
        <p:nvSpPr>
          <p:cNvPr id="12" name="Shape 10"/>
          <p:cNvSpPr/>
          <p:nvPr/>
        </p:nvSpPr>
        <p:spPr>
          <a:xfrm>
            <a:off x="7965017" y="2260600"/>
            <a:ext cx="3407833" cy="1587500"/>
          </a:xfrm>
          <a:prstGeom prst="roundRect">
            <a:avLst>
              <a:gd name="adj" fmla="val 4400"/>
            </a:avLst>
          </a:prstGeom>
          <a:noFill/>
          <a:ln w="12700">
            <a:solidFill>
              <a:srgbClr val="1F1E1C"/>
            </a:solidFill>
            <a:prstDash val="solid"/>
          </a:ln>
        </p:spPr>
      </p:sp>
      <p:sp>
        <p:nvSpPr>
          <p:cNvPr id="13" name="Text 11"/>
          <p:cNvSpPr/>
          <p:nvPr/>
        </p:nvSpPr>
        <p:spPr>
          <a:xfrm>
            <a:off x="8172027" y="2442211"/>
            <a:ext cx="308362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453F"/>
                </a:solidFill>
                <a:latin typeface="Archivo" pitchFamily="34" charset="0"/>
                <a:ea typeface="Archivo" pitchFamily="34" charset="-122"/>
                <a:cs typeface="Archivo" pitchFamily="34" charset="-120"/>
              </a:rPr>
              <a:t>ERROR</a:t>
            </a:r>
            <a:endParaRPr lang="en-US" sz="1200" dirty="0"/>
          </a:p>
        </p:txBody>
      </p:sp>
      <p:sp>
        <p:nvSpPr>
          <p:cNvPr id="14" name="Text 12"/>
          <p:cNvSpPr/>
          <p:nvPr/>
        </p:nvSpPr>
        <p:spPr>
          <a:xfrm>
            <a:off x="8172027" y="2706370"/>
            <a:ext cx="308362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E1C"/>
                </a:solidFill>
                <a:latin typeface="Archivo" pitchFamily="34" charset="0"/>
                <a:ea typeface="Archivo" pitchFamily="34" charset="-122"/>
                <a:cs typeface="Archivo" pitchFamily="34" charset="-120"/>
              </a:rPr>
              <a:t>MAE (USD)</a:t>
            </a:r>
            <a:endParaRPr lang="en-US" sz="1400" dirty="0"/>
          </a:p>
        </p:txBody>
      </p:sp>
      <p:sp>
        <p:nvSpPr>
          <p:cNvPr id="15" name="Text 13"/>
          <p:cNvSpPr/>
          <p:nvPr/>
        </p:nvSpPr>
        <p:spPr>
          <a:xfrm>
            <a:off x="8172027" y="3006089"/>
            <a:ext cx="3083628" cy="685800"/>
          </a:xfrm>
          <a:prstGeom prst="rect">
            <a:avLst/>
          </a:prstGeom>
          <a:noFill/>
          <a:ln/>
        </p:spPr>
        <p:txBody>
          <a:bodyPr wrap="none" lIns="0" tIns="0" rIns="0" bIns="0" rtlCol="0" anchor="t">
            <a:normAutofit/>
          </a:bodyPr>
          <a:lstStyle/>
          <a:p>
            <a:pPr algn="l" indent="0" marL="0">
              <a:lnSpc>
                <a:spcPts val="5200"/>
              </a:lnSpc>
              <a:buNone/>
            </a:pPr>
            <a:r>
              <a:rPr lang="en-US" sz="5200" dirty="0">
                <a:solidFill>
                  <a:srgbClr val="1F1E1C"/>
                </a:solidFill>
                <a:latin typeface="Anton" pitchFamily="34" charset="0"/>
                <a:ea typeface="Anton" pitchFamily="34" charset="-122"/>
                <a:cs typeface="Anton" pitchFamily="34" charset="-120"/>
              </a:rPr>
              <a:t>≤ 20.000</a:t>
            </a:r>
            <a:endParaRPr lang="en-US" sz="5200" dirty="0"/>
          </a:p>
        </p:txBody>
      </p:sp>
      <p:sp>
        <p:nvSpPr>
          <p:cNvPr id="16" name="Shape 14"/>
          <p:cNvSpPr/>
          <p:nvPr/>
        </p:nvSpPr>
        <p:spPr>
          <a:xfrm>
            <a:off x="819150" y="4013200"/>
            <a:ext cx="3407833" cy="1587500"/>
          </a:xfrm>
          <a:prstGeom prst="roundRect">
            <a:avLst>
              <a:gd name="adj" fmla="val 4400"/>
            </a:avLst>
          </a:prstGeom>
          <a:noFill/>
          <a:ln w="12700">
            <a:solidFill>
              <a:srgbClr val="1F1E1C"/>
            </a:solidFill>
            <a:prstDash val="solid"/>
          </a:ln>
        </p:spPr>
      </p:sp>
      <p:sp>
        <p:nvSpPr>
          <p:cNvPr id="17" name="Text 15"/>
          <p:cNvSpPr/>
          <p:nvPr/>
        </p:nvSpPr>
        <p:spPr>
          <a:xfrm>
            <a:off x="1026160" y="4194811"/>
            <a:ext cx="308362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453F"/>
                </a:solidFill>
                <a:latin typeface="Archivo" pitchFamily="34" charset="0"/>
                <a:ea typeface="Archivo" pitchFamily="34" charset="-122"/>
                <a:cs typeface="Archivo" pitchFamily="34" charset="-120"/>
              </a:rPr>
              <a:t>ERROR</a:t>
            </a:r>
            <a:endParaRPr lang="en-US" sz="1200" dirty="0"/>
          </a:p>
        </p:txBody>
      </p:sp>
      <p:sp>
        <p:nvSpPr>
          <p:cNvPr id="18" name="Text 16"/>
          <p:cNvSpPr/>
          <p:nvPr/>
        </p:nvSpPr>
        <p:spPr>
          <a:xfrm>
            <a:off x="1026160" y="4458970"/>
            <a:ext cx="308362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E1C"/>
                </a:solidFill>
                <a:latin typeface="Archivo" pitchFamily="34" charset="0"/>
                <a:ea typeface="Archivo" pitchFamily="34" charset="-122"/>
                <a:cs typeface="Archivo" pitchFamily="34" charset="-120"/>
              </a:rPr>
              <a:t>MAPE</a:t>
            </a:r>
            <a:endParaRPr lang="en-US" sz="1400" dirty="0"/>
          </a:p>
        </p:txBody>
      </p:sp>
      <p:sp>
        <p:nvSpPr>
          <p:cNvPr id="19" name="Text 17"/>
          <p:cNvSpPr/>
          <p:nvPr/>
        </p:nvSpPr>
        <p:spPr>
          <a:xfrm>
            <a:off x="1026160" y="4758689"/>
            <a:ext cx="3083628" cy="685800"/>
          </a:xfrm>
          <a:prstGeom prst="rect">
            <a:avLst/>
          </a:prstGeom>
          <a:noFill/>
          <a:ln/>
        </p:spPr>
        <p:txBody>
          <a:bodyPr wrap="none" lIns="0" tIns="0" rIns="0" bIns="0" rtlCol="0" anchor="t">
            <a:normAutofit/>
          </a:bodyPr>
          <a:lstStyle/>
          <a:p>
            <a:pPr algn="l" indent="0" marL="0">
              <a:lnSpc>
                <a:spcPts val="5200"/>
              </a:lnSpc>
              <a:buNone/>
            </a:pPr>
            <a:r>
              <a:rPr lang="en-US" sz="5200" dirty="0">
                <a:solidFill>
                  <a:srgbClr val="1F1E1C"/>
                </a:solidFill>
                <a:latin typeface="Anton" pitchFamily="34" charset="0"/>
                <a:ea typeface="Anton" pitchFamily="34" charset="-122"/>
                <a:cs typeface="Anton" pitchFamily="34" charset="-120"/>
              </a:rPr>
              <a:t>≤ 12 %</a:t>
            </a:r>
            <a:endParaRPr lang="en-US" sz="5200" dirty="0"/>
          </a:p>
        </p:txBody>
      </p:sp>
      <p:sp>
        <p:nvSpPr>
          <p:cNvPr id="20" name="Shape 18"/>
          <p:cNvSpPr/>
          <p:nvPr/>
        </p:nvSpPr>
        <p:spPr>
          <a:xfrm>
            <a:off x="4392083" y="4013200"/>
            <a:ext cx="3407833" cy="1587500"/>
          </a:xfrm>
          <a:prstGeom prst="roundRect">
            <a:avLst>
              <a:gd name="adj" fmla="val 4400"/>
            </a:avLst>
          </a:prstGeom>
          <a:solidFill>
            <a:srgbClr val="1F1E1C"/>
          </a:solidFill>
          <a:ln w="12700">
            <a:solidFill>
              <a:srgbClr val="1F1E1C"/>
            </a:solidFill>
            <a:prstDash val="solid"/>
          </a:ln>
        </p:spPr>
      </p:sp>
      <p:sp>
        <p:nvSpPr>
          <p:cNvPr id="21" name="Text 19"/>
          <p:cNvSpPr/>
          <p:nvPr/>
        </p:nvSpPr>
        <p:spPr>
          <a:xfrm>
            <a:off x="4599093" y="4194811"/>
            <a:ext cx="308362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39B8B"/>
                </a:solidFill>
                <a:latin typeface="Archivo" pitchFamily="34" charset="0"/>
                <a:ea typeface="Archivo" pitchFamily="34" charset="-122"/>
                <a:cs typeface="Archivo" pitchFamily="34" charset="-120"/>
              </a:rPr>
              <a:t>SOBREAJUSTE</a:t>
            </a:r>
            <a:endParaRPr lang="en-US" sz="1200" dirty="0"/>
          </a:p>
        </p:txBody>
      </p:sp>
      <p:sp>
        <p:nvSpPr>
          <p:cNvPr id="22" name="Text 20"/>
          <p:cNvSpPr/>
          <p:nvPr/>
        </p:nvSpPr>
        <p:spPr>
          <a:xfrm>
            <a:off x="4599093" y="4458970"/>
            <a:ext cx="308362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CD3C3"/>
                </a:solidFill>
                <a:latin typeface="Archivo" pitchFamily="34" charset="0"/>
                <a:ea typeface="Archivo" pitchFamily="34" charset="-122"/>
                <a:cs typeface="Archivo" pitchFamily="34" charset="-120"/>
              </a:rPr>
              <a:t>Brecha R² train-test (pts)</a:t>
            </a:r>
            <a:endParaRPr lang="en-US" sz="1400" dirty="0"/>
          </a:p>
        </p:txBody>
      </p:sp>
      <p:sp>
        <p:nvSpPr>
          <p:cNvPr id="23" name="Text 21"/>
          <p:cNvSpPr/>
          <p:nvPr/>
        </p:nvSpPr>
        <p:spPr>
          <a:xfrm>
            <a:off x="4599093" y="4758689"/>
            <a:ext cx="3083628" cy="685800"/>
          </a:xfrm>
          <a:prstGeom prst="rect">
            <a:avLst/>
          </a:prstGeom>
          <a:noFill/>
          <a:ln/>
        </p:spPr>
        <p:txBody>
          <a:bodyPr wrap="none" lIns="0" tIns="0" rIns="0" bIns="0" rtlCol="0" anchor="t">
            <a:normAutofit/>
          </a:bodyPr>
          <a:lstStyle/>
          <a:p>
            <a:pPr algn="l" indent="0" marL="0">
              <a:lnSpc>
                <a:spcPts val="5200"/>
              </a:lnSpc>
              <a:buNone/>
            </a:pPr>
            <a:r>
              <a:rPr lang="en-US" sz="5200" dirty="0">
                <a:solidFill>
                  <a:srgbClr val="DCD3C3"/>
                </a:solidFill>
                <a:latin typeface="Anton" pitchFamily="34" charset="0"/>
                <a:ea typeface="Anton" pitchFamily="34" charset="-122"/>
                <a:cs typeface="Anton" pitchFamily="34" charset="-120"/>
              </a:rPr>
              <a:t>≤ 5</a:t>
            </a:r>
            <a:endParaRPr lang="en-US" sz="5200" dirty="0"/>
          </a:p>
        </p:txBody>
      </p:sp>
      <p:sp>
        <p:nvSpPr>
          <p:cNvPr id="24" name="Shape 22"/>
          <p:cNvSpPr/>
          <p:nvPr/>
        </p:nvSpPr>
        <p:spPr>
          <a:xfrm>
            <a:off x="7965017" y="4013200"/>
            <a:ext cx="3407833" cy="1587500"/>
          </a:xfrm>
          <a:prstGeom prst="roundRect">
            <a:avLst>
              <a:gd name="adj" fmla="val 4400"/>
            </a:avLst>
          </a:prstGeom>
          <a:solidFill>
            <a:srgbClr val="1F1E1C"/>
          </a:solidFill>
          <a:ln w="12700">
            <a:solidFill>
              <a:srgbClr val="1F1E1C"/>
            </a:solidFill>
            <a:prstDash val="solid"/>
          </a:ln>
        </p:spPr>
      </p:sp>
      <p:sp>
        <p:nvSpPr>
          <p:cNvPr id="25" name="Text 23"/>
          <p:cNvSpPr/>
          <p:nvPr/>
        </p:nvSpPr>
        <p:spPr>
          <a:xfrm>
            <a:off x="8172027" y="4194811"/>
            <a:ext cx="308362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39B8B"/>
                </a:solidFill>
                <a:latin typeface="Archivo" pitchFamily="34" charset="0"/>
                <a:ea typeface="Archivo" pitchFamily="34" charset="-122"/>
                <a:cs typeface="Archivo" pitchFamily="34" charset="-120"/>
              </a:rPr>
              <a:t>EQUIDAD</a:t>
            </a:r>
            <a:endParaRPr lang="en-US" sz="1200" dirty="0"/>
          </a:p>
        </p:txBody>
      </p:sp>
      <p:sp>
        <p:nvSpPr>
          <p:cNvPr id="26" name="Text 24"/>
          <p:cNvSpPr/>
          <p:nvPr/>
        </p:nvSpPr>
        <p:spPr>
          <a:xfrm>
            <a:off x="8172027" y="4458970"/>
            <a:ext cx="308362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CD3C3"/>
                </a:solidFill>
                <a:latin typeface="Archivo" pitchFamily="34" charset="0"/>
                <a:ea typeface="Archivo" pitchFamily="34" charset="-122"/>
                <a:cs typeface="Archivo" pitchFamily="34" charset="-120"/>
              </a:rPr>
              <a:t>Brecha MAPE barrios (pts)</a:t>
            </a:r>
            <a:endParaRPr lang="en-US" sz="1400" dirty="0"/>
          </a:p>
        </p:txBody>
      </p:sp>
      <p:sp>
        <p:nvSpPr>
          <p:cNvPr id="27" name="Text 25"/>
          <p:cNvSpPr/>
          <p:nvPr/>
        </p:nvSpPr>
        <p:spPr>
          <a:xfrm>
            <a:off x="8172027" y="4758689"/>
            <a:ext cx="3083628" cy="685800"/>
          </a:xfrm>
          <a:prstGeom prst="rect">
            <a:avLst/>
          </a:prstGeom>
          <a:noFill/>
          <a:ln/>
        </p:spPr>
        <p:txBody>
          <a:bodyPr wrap="none" lIns="0" tIns="0" rIns="0" bIns="0" rtlCol="0" anchor="t">
            <a:normAutofit/>
          </a:bodyPr>
          <a:lstStyle/>
          <a:p>
            <a:pPr algn="l" indent="0" marL="0">
              <a:lnSpc>
                <a:spcPts val="5200"/>
              </a:lnSpc>
              <a:buNone/>
            </a:pPr>
            <a:r>
              <a:rPr lang="en-US" sz="5200" dirty="0">
                <a:solidFill>
                  <a:srgbClr val="DCD3C3"/>
                </a:solidFill>
                <a:latin typeface="Anton" pitchFamily="34" charset="0"/>
                <a:ea typeface="Anton" pitchFamily="34" charset="-122"/>
                <a:cs typeface="Anton" pitchFamily="34" charset="-120"/>
              </a:rPr>
              <a:t>≤ 8</a:t>
            </a:r>
            <a:endParaRPr lang="en-US" sz="5200" dirty="0"/>
          </a:p>
        </p:txBody>
      </p:sp>
      <p:sp>
        <p:nvSpPr>
          <p:cNvPr id="28" name="Text 26"/>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53F"/>
                </a:solidFill>
                <a:latin typeface="Archivo" pitchFamily="34" charset="0"/>
                <a:ea typeface="Archivo" pitchFamily="34" charset="-122"/>
                <a:cs typeface="Archivo" pitchFamily="34" charset="-120"/>
              </a:rPr>
              <a:t>03 · Housing Prices · EP2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1E1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718820"/>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DCD3C3"/>
                </a:solidFill>
                <a:latin typeface="Anton" pitchFamily="34" charset="0"/>
                <a:ea typeface="Anton" pitchFamily="34" charset="-122"/>
                <a:cs typeface="Anton" pitchFamily="34" charset="-120"/>
              </a:rPr>
              <a:t>LOS DATOS</a:t>
            </a:r>
            <a:endParaRPr lang="en-US" sz="5200" dirty="0"/>
          </a:p>
        </p:txBody>
      </p:sp>
      <p:sp>
        <p:nvSpPr>
          <p:cNvPr id="3" name="Text 1"/>
          <p:cNvSpPr/>
          <p:nvPr/>
        </p:nvSpPr>
        <p:spPr>
          <a:xfrm>
            <a:off x="812800" y="1760220"/>
            <a:ext cx="1088339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9B8B"/>
                </a:solidFill>
                <a:latin typeface="Archivo" pitchFamily="34" charset="0"/>
                <a:ea typeface="Archivo" pitchFamily="34" charset="-122"/>
                <a:cs typeface="Archivo" pitchFamily="34" charset="-120"/>
              </a:rPr>
              <a:t>Ventas de viviendas en Ames, Iowa: 28 barrios, precio mediano de 160.000 USD.</a:t>
            </a:r>
            <a:endParaRPr lang="en-US" sz="1400" dirty="0"/>
          </a:p>
        </p:txBody>
      </p:sp>
      <p:sp>
        <p:nvSpPr>
          <p:cNvPr id="4" name="Text 2"/>
          <p:cNvSpPr/>
          <p:nvPr/>
        </p:nvSpPr>
        <p:spPr>
          <a:xfrm>
            <a:off x="812800" y="3677920"/>
            <a:ext cx="251155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39B8B"/>
                </a:solidFill>
                <a:latin typeface="Archivo" pitchFamily="34" charset="0"/>
                <a:ea typeface="Archivo" pitchFamily="34" charset="-122"/>
                <a:cs typeface="Archivo" pitchFamily="34" charset="-120"/>
              </a:rPr>
              <a:t>01 · DATASET ORIGINAL</a:t>
            </a:r>
            <a:endParaRPr lang="en-US" sz="1200" dirty="0"/>
          </a:p>
        </p:txBody>
      </p:sp>
      <p:sp>
        <p:nvSpPr>
          <p:cNvPr id="5" name="Text 3"/>
          <p:cNvSpPr/>
          <p:nvPr/>
        </p:nvSpPr>
        <p:spPr>
          <a:xfrm>
            <a:off x="3454400" y="3677920"/>
            <a:ext cx="251155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39B8B"/>
                </a:solidFill>
                <a:latin typeface="Archivo" pitchFamily="34" charset="0"/>
                <a:ea typeface="Archivo" pitchFamily="34" charset="-122"/>
                <a:cs typeface="Archivo" pitchFamily="34" charset="-120"/>
              </a:rPr>
              <a:t>02 · LIMPIEZA EP1</a:t>
            </a:r>
            <a:endParaRPr lang="en-US" sz="1200" dirty="0"/>
          </a:p>
        </p:txBody>
      </p:sp>
      <p:sp>
        <p:nvSpPr>
          <p:cNvPr id="6" name="Text 4"/>
          <p:cNvSpPr/>
          <p:nvPr/>
        </p:nvSpPr>
        <p:spPr>
          <a:xfrm>
            <a:off x="6096000" y="3677920"/>
            <a:ext cx="251155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39B8B"/>
                </a:solidFill>
                <a:latin typeface="Archivo" pitchFamily="34" charset="0"/>
                <a:ea typeface="Archivo" pitchFamily="34" charset="-122"/>
                <a:cs typeface="Archivo" pitchFamily="34" charset="-120"/>
              </a:rPr>
              <a:t>03 · ZONA RESIDENCIAL</a:t>
            </a:r>
            <a:endParaRPr lang="en-US" sz="1200" dirty="0"/>
          </a:p>
        </p:txBody>
      </p:sp>
      <p:sp>
        <p:nvSpPr>
          <p:cNvPr id="7" name="Text 5"/>
          <p:cNvSpPr/>
          <p:nvPr/>
        </p:nvSpPr>
        <p:spPr>
          <a:xfrm>
            <a:off x="8737600" y="3677920"/>
            <a:ext cx="251155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39B8B"/>
                </a:solidFill>
                <a:latin typeface="Archivo" pitchFamily="34" charset="0"/>
                <a:ea typeface="Archivo" pitchFamily="34" charset="-122"/>
                <a:cs typeface="Archivo" pitchFamily="34" charset="-120"/>
              </a:rPr>
              <a:t>04 · TRAIN / TEST</a:t>
            </a:r>
            <a:endParaRPr lang="en-US" sz="1200" dirty="0"/>
          </a:p>
        </p:txBody>
      </p:sp>
      <p:sp>
        <p:nvSpPr>
          <p:cNvPr id="8" name="Shape 6"/>
          <p:cNvSpPr/>
          <p:nvPr/>
        </p:nvSpPr>
        <p:spPr>
          <a:xfrm>
            <a:off x="812800" y="4043680"/>
            <a:ext cx="406400" cy="406400"/>
          </a:xfrm>
          <a:prstGeom prst="roundRect">
            <a:avLst>
              <a:gd name="adj" fmla="val 50000"/>
            </a:avLst>
          </a:prstGeom>
          <a:solidFill>
            <a:srgbClr val="DCD3C3"/>
          </a:solidFill>
          <a:ln/>
        </p:spPr>
      </p:sp>
      <p:pic>
        <p:nvPicPr>
          <p:cNvPr id="9" name="Image 0" descr="Database">    </p:cNvPr>
          <p:cNvPicPr>
            <a:picLocks noChangeAspect="1"/>
          </p:cNvPicPr>
          <p:nvPr/>
        </p:nvPicPr>
        <p:blipFill>
          <a:blip r:embed="rId1"/>
          <a:srcRect l="0" r="0" t="0" b="0"/>
          <a:stretch/>
        </p:blipFill>
        <p:spPr>
          <a:xfrm>
            <a:off x="901700" y="4132580"/>
            <a:ext cx="228600" cy="228600"/>
          </a:xfrm>
          <a:prstGeom prst="rect">
            <a:avLst/>
          </a:prstGeom>
        </p:spPr>
      </p:pic>
      <p:sp>
        <p:nvSpPr>
          <p:cNvPr id="10" name="Shape 7"/>
          <p:cNvSpPr/>
          <p:nvPr/>
        </p:nvSpPr>
        <p:spPr>
          <a:xfrm>
            <a:off x="1219200" y="4240530"/>
            <a:ext cx="2235200" cy="12700"/>
          </a:xfrm>
          <a:prstGeom prst="rect">
            <a:avLst/>
          </a:prstGeom>
          <a:solidFill>
            <a:srgbClr val="6E685E"/>
          </a:solidFill>
          <a:ln/>
        </p:spPr>
      </p:sp>
      <p:sp>
        <p:nvSpPr>
          <p:cNvPr id="11" name="Shape 8"/>
          <p:cNvSpPr/>
          <p:nvPr/>
        </p:nvSpPr>
        <p:spPr>
          <a:xfrm>
            <a:off x="3454400" y="4043680"/>
            <a:ext cx="406400" cy="406400"/>
          </a:xfrm>
          <a:prstGeom prst="roundRect">
            <a:avLst>
              <a:gd name="adj" fmla="val 50000"/>
            </a:avLst>
          </a:prstGeom>
          <a:solidFill>
            <a:srgbClr val="DCD3C3"/>
          </a:solidFill>
          <a:ln/>
        </p:spPr>
      </p:sp>
      <p:pic>
        <p:nvPicPr>
          <p:cNvPr id="12" name="Image 1" descr="Wrench">    </p:cNvPr>
          <p:cNvPicPr>
            <a:picLocks noChangeAspect="1"/>
          </p:cNvPicPr>
          <p:nvPr/>
        </p:nvPicPr>
        <p:blipFill>
          <a:blip r:embed="rId2"/>
          <a:srcRect l="0" r="0" t="0" b="0"/>
          <a:stretch/>
        </p:blipFill>
        <p:spPr>
          <a:xfrm>
            <a:off x="3543300" y="4132580"/>
            <a:ext cx="228600" cy="228600"/>
          </a:xfrm>
          <a:prstGeom prst="rect">
            <a:avLst/>
          </a:prstGeom>
        </p:spPr>
      </p:pic>
      <p:sp>
        <p:nvSpPr>
          <p:cNvPr id="13" name="Shape 9"/>
          <p:cNvSpPr/>
          <p:nvPr/>
        </p:nvSpPr>
        <p:spPr>
          <a:xfrm>
            <a:off x="3860800" y="4240530"/>
            <a:ext cx="2235200" cy="12700"/>
          </a:xfrm>
          <a:prstGeom prst="rect">
            <a:avLst/>
          </a:prstGeom>
          <a:solidFill>
            <a:srgbClr val="6E685E"/>
          </a:solidFill>
          <a:ln/>
        </p:spPr>
      </p:sp>
      <p:sp>
        <p:nvSpPr>
          <p:cNvPr id="14" name="Shape 10"/>
          <p:cNvSpPr/>
          <p:nvPr/>
        </p:nvSpPr>
        <p:spPr>
          <a:xfrm>
            <a:off x="6096000" y="4043680"/>
            <a:ext cx="406400" cy="406400"/>
          </a:xfrm>
          <a:prstGeom prst="roundRect">
            <a:avLst>
              <a:gd name="adj" fmla="val 50000"/>
            </a:avLst>
          </a:prstGeom>
          <a:solidFill>
            <a:srgbClr val="DCD3C3"/>
          </a:solidFill>
          <a:ln/>
        </p:spPr>
      </p:sp>
      <p:pic>
        <p:nvPicPr>
          <p:cNvPr id="15" name="Image 2" descr="Home">    </p:cNvPr>
          <p:cNvPicPr>
            <a:picLocks noChangeAspect="1"/>
          </p:cNvPicPr>
          <p:nvPr/>
        </p:nvPicPr>
        <p:blipFill>
          <a:blip r:embed="rId3"/>
          <a:srcRect l="0" r="0" t="0" b="0"/>
          <a:stretch/>
        </p:blipFill>
        <p:spPr>
          <a:xfrm>
            <a:off x="6184900" y="4132580"/>
            <a:ext cx="228600" cy="228600"/>
          </a:xfrm>
          <a:prstGeom prst="rect">
            <a:avLst/>
          </a:prstGeom>
        </p:spPr>
      </p:pic>
      <p:sp>
        <p:nvSpPr>
          <p:cNvPr id="16" name="Shape 11"/>
          <p:cNvSpPr/>
          <p:nvPr/>
        </p:nvSpPr>
        <p:spPr>
          <a:xfrm>
            <a:off x="6502400" y="4240530"/>
            <a:ext cx="2235200" cy="12700"/>
          </a:xfrm>
          <a:prstGeom prst="rect">
            <a:avLst/>
          </a:prstGeom>
          <a:solidFill>
            <a:srgbClr val="6E685E"/>
          </a:solidFill>
          <a:ln/>
        </p:spPr>
      </p:sp>
      <p:sp>
        <p:nvSpPr>
          <p:cNvPr id="17" name="Shape 12"/>
          <p:cNvSpPr/>
          <p:nvPr/>
        </p:nvSpPr>
        <p:spPr>
          <a:xfrm>
            <a:off x="8737600" y="4043680"/>
            <a:ext cx="406400" cy="406400"/>
          </a:xfrm>
          <a:prstGeom prst="roundRect">
            <a:avLst>
              <a:gd name="adj" fmla="val 50000"/>
            </a:avLst>
          </a:prstGeom>
          <a:solidFill>
            <a:srgbClr val="DCD3C3"/>
          </a:solidFill>
          <a:ln/>
        </p:spPr>
      </p:sp>
      <p:pic>
        <p:nvPicPr>
          <p:cNvPr id="18" name="Image 3" descr="Lock">    </p:cNvPr>
          <p:cNvPicPr>
            <a:picLocks noChangeAspect="1"/>
          </p:cNvPicPr>
          <p:nvPr/>
        </p:nvPicPr>
        <p:blipFill>
          <a:blip r:embed="rId4"/>
          <a:srcRect l="0" r="0" t="0" b="0"/>
          <a:stretch/>
        </p:blipFill>
        <p:spPr>
          <a:xfrm>
            <a:off x="8826500" y="4132580"/>
            <a:ext cx="228600" cy="228600"/>
          </a:xfrm>
          <a:prstGeom prst="rect">
            <a:avLst/>
          </a:prstGeom>
        </p:spPr>
      </p:pic>
      <p:sp>
        <p:nvSpPr>
          <p:cNvPr id="19" name="Text 13"/>
          <p:cNvSpPr/>
          <p:nvPr/>
        </p:nvSpPr>
        <p:spPr>
          <a:xfrm>
            <a:off x="812800" y="4602480"/>
            <a:ext cx="2720848" cy="685800"/>
          </a:xfrm>
          <a:prstGeom prst="rect">
            <a:avLst/>
          </a:prstGeom>
          <a:noFill/>
          <a:ln/>
        </p:spPr>
        <p:txBody>
          <a:bodyPr wrap="square" lIns="0" tIns="0" rIns="0" bIns="0" rtlCol="0" anchor="t">
            <a:normAutofit/>
          </a:bodyPr>
          <a:lstStyle/>
          <a:p>
            <a:pPr algn="l" indent="0" marL="0">
              <a:lnSpc>
                <a:spcPts val="5200"/>
              </a:lnSpc>
              <a:buNone/>
            </a:pPr>
            <a:r>
              <a:rPr lang="en-US" sz="5200" dirty="0">
                <a:solidFill>
                  <a:srgbClr val="DCD3C3"/>
                </a:solidFill>
                <a:latin typeface="Anton" pitchFamily="34" charset="0"/>
                <a:ea typeface="Anton" pitchFamily="34" charset="-122"/>
                <a:cs typeface="Anton" pitchFamily="34" charset="-120"/>
              </a:rPr>
              <a:t>2.930</a:t>
            </a:r>
            <a:endParaRPr lang="en-US" sz="5200" dirty="0"/>
          </a:p>
        </p:txBody>
      </p:sp>
      <p:sp>
        <p:nvSpPr>
          <p:cNvPr id="20" name="Text 14"/>
          <p:cNvSpPr/>
          <p:nvPr/>
        </p:nvSpPr>
        <p:spPr>
          <a:xfrm>
            <a:off x="3454400" y="4602480"/>
            <a:ext cx="2720848" cy="685800"/>
          </a:xfrm>
          <a:prstGeom prst="rect">
            <a:avLst/>
          </a:prstGeom>
          <a:noFill/>
          <a:ln/>
        </p:spPr>
        <p:txBody>
          <a:bodyPr wrap="square" lIns="0" tIns="0" rIns="0" bIns="0" rtlCol="0" anchor="t">
            <a:normAutofit/>
          </a:bodyPr>
          <a:lstStyle/>
          <a:p>
            <a:pPr algn="l" indent="0" marL="0">
              <a:lnSpc>
                <a:spcPts val="5200"/>
              </a:lnSpc>
              <a:buNone/>
            </a:pPr>
            <a:r>
              <a:rPr lang="en-US" sz="5200" dirty="0">
                <a:solidFill>
                  <a:srgbClr val="DCD3C3"/>
                </a:solidFill>
                <a:latin typeface="Anton" pitchFamily="34" charset="0"/>
                <a:ea typeface="Anton" pitchFamily="34" charset="-122"/>
                <a:cs typeface="Anton" pitchFamily="34" charset="-120"/>
              </a:rPr>
              <a:t>2.925</a:t>
            </a:r>
            <a:endParaRPr lang="en-US" sz="5200" dirty="0"/>
          </a:p>
        </p:txBody>
      </p:sp>
      <p:sp>
        <p:nvSpPr>
          <p:cNvPr id="21" name="Text 15"/>
          <p:cNvSpPr/>
          <p:nvPr/>
        </p:nvSpPr>
        <p:spPr>
          <a:xfrm>
            <a:off x="6096000" y="4602480"/>
            <a:ext cx="2720848" cy="685800"/>
          </a:xfrm>
          <a:prstGeom prst="rect">
            <a:avLst/>
          </a:prstGeom>
          <a:noFill/>
          <a:ln/>
        </p:spPr>
        <p:txBody>
          <a:bodyPr wrap="square" lIns="0" tIns="0" rIns="0" bIns="0" rtlCol="0" anchor="t">
            <a:normAutofit/>
          </a:bodyPr>
          <a:lstStyle/>
          <a:p>
            <a:pPr algn="l" indent="0" marL="0">
              <a:lnSpc>
                <a:spcPts val="5200"/>
              </a:lnSpc>
              <a:buNone/>
            </a:pPr>
            <a:r>
              <a:rPr lang="en-US" sz="5200" dirty="0">
                <a:solidFill>
                  <a:srgbClr val="DCD3C3"/>
                </a:solidFill>
                <a:latin typeface="Anton" pitchFamily="34" charset="0"/>
                <a:ea typeface="Anton" pitchFamily="34" charset="-122"/>
                <a:cs typeface="Anton" pitchFamily="34" charset="-120"/>
              </a:rPr>
              <a:t>2.896</a:t>
            </a:r>
            <a:endParaRPr lang="en-US" sz="5200" dirty="0"/>
          </a:p>
        </p:txBody>
      </p:sp>
      <p:sp>
        <p:nvSpPr>
          <p:cNvPr id="22" name="Text 16"/>
          <p:cNvSpPr/>
          <p:nvPr/>
        </p:nvSpPr>
        <p:spPr>
          <a:xfrm>
            <a:off x="8737600" y="4602480"/>
            <a:ext cx="2720848" cy="685800"/>
          </a:xfrm>
          <a:prstGeom prst="rect">
            <a:avLst/>
          </a:prstGeom>
          <a:noFill/>
          <a:ln/>
        </p:spPr>
        <p:txBody>
          <a:bodyPr wrap="square" lIns="0" tIns="0" rIns="0" bIns="0" rtlCol="0" anchor="t">
            <a:normAutofit/>
          </a:bodyPr>
          <a:lstStyle/>
          <a:p>
            <a:pPr algn="l" indent="0" marL="0">
              <a:lnSpc>
                <a:spcPts val="5200"/>
              </a:lnSpc>
              <a:buNone/>
            </a:pPr>
            <a:r>
              <a:rPr lang="en-US" sz="5200" dirty="0">
                <a:solidFill>
                  <a:srgbClr val="DCD3C3"/>
                </a:solidFill>
                <a:latin typeface="Anton" pitchFamily="34" charset="0"/>
                <a:ea typeface="Anton" pitchFamily="34" charset="-122"/>
                <a:cs typeface="Anton" pitchFamily="34" charset="-120"/>
              </a:rPr>
              <a:t>2.314</a:t>
            </a:r>
            <a:endParaRPr lang="en-US" sz="5200" dirty="0"/>
          </a:p>
        </p:txBody>
      </p:sp>
      <p:sp>
        <p:nvSpPr>
          <p:cNvPr id="23" name="Text 17"/>
          <p:cNvSpPr/>
          <p:nvPr/>
        </p:nvSpPr>
        <p:spPr>
          <a:xfrm>
            <a:off x="812800" y="5415280"/>
            <a:ext cx="245922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ventas, 82 variables, de 2006 a 2010</a:t>
            </a:r>
            <a:endParaRPr lang="en-US" sz="1200" dirty="0"/>
          </a:p>
        </p:txBody>
      </p:sp>
      <p:sp>
        <p:nvSpPr>
          <p:cNvPr id="24" name="Text 18"/>
          <p:cNvSpPr/>
          <p:nvPr/>
        </p:nvSpPr>
        <p:spPr>
          <a:xfrm>
            <a:off x="3454400" y="5415280"/>
            <a:ext cx="245922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−5 casas de más de 4.000 pies²</a:t>
            </a:r>
            <a:endParaRPr lang="en-US" sz="1200" dirty="0"/>
          </a:p>
        </p:txBody>
      </p:sp>
      <p:sp>
        <p:nvSpPr>
          <p:cNvPr id="25" name="Text 19"/>
          <p:cNvSpPr/>
          <p:nvPr/>
        </p:nvSpPr>
        <p:spPr>
          <a:xfrm>
            <a:off x="6096000" y="5415280"/>
            <a:ext cx="245922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−29 casas en zonas no residenciales</a:t>
            </a:r>
            <a:endParaRPr lang="en-US" sz="1200" dirty="0"/>
          </a:p>
        </p:txBody>
      </p:sp>
      <p:sp>
        <p:nvSpPr>
          <p:cNvPr id="26" name="Text 20"/>
          <p:cNvSpPr/>
          <p:nvPr/>
        </p:nvSpPr>
        <p:spPr>
          <a:xfrm>
            <a:off x="8737600" y="5415280"/>
            <a:ext cx="245922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en train (80 %) y 582 en test, apartado desde el inicio</a:t>
            </a:r>
            <a:endParaRPr lang="en-US" sz="1200" dirty="0"/>
          </a:p>
        </p:txBody>
      </p:sp>
      <p:sp>
        <p:nvSpPr>
          <p:cNvPr id="27" name="Text 21"/>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04 · Housing Prices · EP2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CD3C3"/>
        </a:solidFill>
      </p:bgPr>
    </p:bg>
    <p:spTree>
      <p:nvGrpSpPr>
        <p:cNvPr id="1" name=""/>
        <p:cNvGrpSpPr/>
        <p:nvPr/>
      </p:nvGrpSpPr>
      <p:grpSpPr>
        <a:xfrm>
          <a:off x="0" y="0"/>
          <a:ext cx="0" cy="0"/>
          <a:chOff x="0" y="0"/>
          <a:chExt cx="0" cy="0"/>
        </a:xfrm>
      </p:grpSpPr>
      <p:sp>
        <p:nvSpPr>
          <p:cNvPr id="2" name="Shape 0"/>
          <p:cNvSpPr/>
          <p:nvPr/>
        </p:nvSpPr>
        <p:spPr>
          <a:xfrm>
            <a:off x="6604000" y="2032000"/>
            <a:ext cx="5588000" cy="4826000"/>
          </a:xfrm>
          <a:prstGeom prst="rect">
            <a:avLst/>
          </a:prstGeom>
          <a:solidFill>
            <a:srgbClr val="1F1E1C"/>
          </a:solidFill>
          <a:ln/>
        </p:spPr>
      </p:sp>
      <p:sp>
        <p:nvSpPr>
          <p:cNvPr id="3" name="Text 1"/>
          <p:cNvSpPr/>
          <p:nvPr/>
        </p:nvSpPr>
        <p:spPr>
          <a:xfrm>
            <a:off x="7010400" y="2438400"/>
            <a:ext cx="449986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9B8B"/>
                </a:solidFill>
                <a:latin typeface="Archivo" pitchFamily="34" charset="0"/>
                <a:ea typeface="Archivo" pitchFamily="34" charset="-122"/>
                <a:cs typeface="Archivo" pitchFamily="34" charset="-120"/>
              </a:rPr>
              <a:t>MAPE POR GRUPO</a:t>
            </a:r>
            <a:endParaRPr lang="en-US" sz="1200" dirty="0"/>
          </a:p>
        </p:txBody>
      </p:sp>
      <p:sp>
        <p:nvSpPr>
          <p:cNvPr id="4" name="Text 2"/>
          <p:cNvSpPr/>
          <p:nvPr/>
        </p:nvSpPr>
        <p:spPr>
          <a:xfrm>
            <a:off x="7010400" y="2677161"/>
            <a:ext cx="44998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Ridge, validación cruzada</a:t>
            </a:r>
            <a:endParaRPr lang="en-US" sz="1200" dirty="0"/>
          </a:p>
        </p:txBody>
      </p:sp>
      <p:sp>
        <p:nvSpPr>
          <p:cNvPr id="5" name="Text 3"/>
          <p:cNvSpPr/>
          <p:nvPr/>
        </p:nvSpPr>
        <p:spPr>
          <a:xfrm>
            <a:off x="7010400" y="3093721"/>
            <a:ext cx="44998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3C3"/>
                </a:solidFill>
                <a:latin typeface="Archivo" pitchFamily="34" charset="0"/>
                <a:ea typeface="Archivo" pitchFamily="34" charset="-122"/>
                <a:cs typeface="Archivo" pitchFamily="34" charset="-120"/>
              </a:rPr>
              <a:t>Venta normal</a:t>
            </a:r>
            <a:endParaRPr lang="en-US" sz="1200" dirty="0"/>
          </a:p>
        </p:txBody>
      </p:sp>
      <p:sp>
        <p:nvSpPr>
          <p:cNvPr id="6" name="Shape 4"/>
          <p:cNvSpPr/>
          <p:nvPr/>
        </p:nvSpPr>
        <p:spPr>
          <a:xfrm>
            <a:off x="7010400" y="3368039"/>
            <a:ext cx="762000" cy="228600"/>
          </a:xfrm>
          <a:prstGeom prst="rect">
            <a:avLst/>
          </a:prstGeom>
          <a:solidFill>
            <a:srgbClr val="DCD3C3"/>
          </a:solidFill>
          <a:ln/>
        </p:spPr>
      </p:sp>
      <p:sp>
        <p:nvSpPr>
          <p:cNvPr id="7" name="Text 5"/>
          <p:cNvSpPr/>
          <p:nvPr/>
        </p:nvSpPr>
        <p:spPr>
          <a:xfrm>
            <a:off x="7899400" y="3357879"/>
            <a:ext cx="54368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CD3C3"/>
                </a:solidFill>
                <a:latin typeface="Archivo" pitchFamily="34" charset="0"/>
                <a:ea typeface="Archivo" pitchFamily="34" charset="-122"/>
                <a:cs typeface="Archivo" pitchFamily="34" charset="-120"/>
              </a:rPr>
              <a:t>7,2 %</a:t>
            </a:r>
            <a:endParaRPr lang="en-US" sz="1400" dirty="0"/>
          </a:p>
        </p:txBody>
      </p:sp>
      <p:sp>
        <p:nvSpPr>
          <p:cNvPr id="8" name="Text 6"/>
          <p:cNvSpPr/>
          <p:nvPr/>
        </p:nvSpPr>
        <p:spPr>
          <a:xfrm>
            <a:off x="7010400" y="3708400"/>
            <a:ext cx="44998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3C3"/>
                </a:solidFill>
                <a:latin typeface="Archivo" pitchFamily="34" charset="0"/>
                <a:ea typeface="Archivo" pitchFamily="34" charset="-122"/>
                <a:cs typeface="Archivo" pitchFamily="34" charset="-120"/>
              </a:rPr>
              <a:t>Remate (Abnorml)</a:t>
            </a:r>
            <a:endParaRPr lang="en-US" sz="1200" dirty="0"/>
          </a:p>
        </p:txBody>
      </p:sp>
      <p:sp>
        <p:nvSpPr>
          <p:cNvPr id="9" name="Shape 7"/>
          <p:cNvSpPr/>
          <p:nvPr/>
        </p:nvSpPr>
        <p:spPr>
          <a:xfrm>
            <a:off x="7010400" y="3982721"/>
            <a:ext cx="2019300" cy="228600"/>
          </a:xfrm>
          <a:prstGeom prst="rect">
            <a:avLst/>
          </a:prstGeom>
          <a:solidFill>
            <a:srgbClr val="DCD3C3"/>
          </a:solidFill>
          <a:ln/>
        </p:spPr>
      </p:sp>
      <p:sp>
        <p:nvSpPr>
          <p:cNvPr id="10" name="Text 8"/>
          <p:cNvSpPr/>
          <p:nvPr/>
        </p:nvSpPr>
        <p:spPr>
          <a:xfrm>
            <a:off x="9156700" y="3972561"/>
            <a:ext cx="69621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CD3C3"/>
                </a:solidFill>
                <a:latin typeface="Archivo" pitchFamily="34" charset="0"/>
                <a:ea typeface="Archivo" pitchFamily="34" charset="-122"/>
                <a:cs typeface="Archivo" pitchFamily="34" charset="-120"/>
              </a:rPr>
              <a:t>19,1 %</a:t>
            </a:r>
            <a:endParaRPr lang="en-US" sz="1400" dirty="0"/>
          </a:p>
        </p:txBody>
      </p:sp>
      <p:sp>
        <p:nvSpPr>
          <p:cNvPr id="11" name="Shape 9"/>
          <p:cNvSpPr/>
          <p:nvPr/>
        </p:nvSpPr>
        <p:spPr>
          <a:xfrm>
            <a:off x="7010400" y="4424679"/>
            <a:ext cx="4368800" cy="6350"/>
          </a:xfrm>
          <a:prstGeom prst="rect">
            <a:avLst/>
          </a:prstGeom>
          <a:solidFill>
            <a:srgbClr val="6E685E"/>
          </a:solidFill>
          <a:ln/>
        </p:spPr>
      </p:sp>
      <p:sp>
        <p:nvSpPr>
          <p:cNvPr id="12" name="Text 10"/>
          <p:cNvSpPr/>
          <p:nvPr/>
        </p:nvSpPr>
        <p:spPr>
          <a:xfrm>
            <a:off x="7010400" y="4634229"/>
            <a:ext cx="44998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3C3"/>
                </a:solidFill>
                <a:latin typeface="Archivo" pitchFamily="34" charset="0"/>
                <a:ea typeface="Archivo" pitchFamily="34" charset="-122"/>
                <a:cs typeface="Archivo" pitchFamily="34" charset="-120"/>
              </a:rPr>
              <a:t>Zona residencial</a:t>
            </a:r>
            <a:endParaRPr lang="en-US" sz="1200" dirty="0"/>
          </a:p>
        </p:txBody>
      </p:sp>
      <p:sp>
        <p:nvSpPr>
          <p:cNvPr id="13" name="Shape 11"/>
          <p:cNvSpPr/>
          <p:nvPr/>
        </p:nvSpPr>
        <p:spPr>
          <a:xfrm>
            <a:off x="7010400" y="4908550"/>
            <a:ext cx="857250" cy="228600"/>
          </a:xfrm>
          <a:prstGeom prst="rect">
            <a:avLst/>
          </a:prstGeom>
          <a:solidFill>
            <a:srgbClr val="DCD3C3"/>
          </a:solidFill>
          <a:ln/>
        </p:spPr>
      </p:sp>
      <p:sp>
        <p:nvSpPr>
          <p:cNvPr id="14" name="Text 12"/>
          <p:cNvSpPr/>
          <p:nvPr/>
        </p:nvSpPr>
        <p:spPr>
          <a:xfrm>
            <a:off x="7994650" y="4898389"/>
            <a:ext cx="56921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CD3C3"/>
                </a:solidFill>
                <a:latin typeface="Archivo" pitchFamily="34" charset="0"/>
                <a:ea typeface="Archivo" pitchFamily="34" charset="-122"/>
                <a:cs typeface="Archivo" pitchFamily="34" charset="-120"/>
              </a:rPr>
              <a:t>8,1 %</a:t>
            </a:r>
            <a:endParaRPr lang="en-US" sz="1400" dirty="0"/>
          </a:p>
        </p:txBody>
      </p:sp>
      <p:sp>
        <p:nvSpPr>
          <p:cNvPr id="15" name="Text 13"/>
          <p:cNvSpPr/>
          <p:nvPr/>
        </p:nvSpPr>
        <p:spPr>
          <a:xfrm>
            <a:off x="7010400" y="5248911"/>
            <a:ext cx="44998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3C3"/>
                </a:solidFill>
                <a:latin typeface="Archivo" pitchFamily="34" charset="0"/>
                <a:ea typeface="Archivo" pitchFamily="34" charset="-122"/>
                <a:cs typeface="Archivo" pitchFamily="34" charset="-120"/>
              </a:rPr>
              <a:t>Zona no residencial</a:t>
            </a:r>
            <a:endParaRPr lang="en-US" sz="1200" dirty="0"/>
          </a:p>
        </p:txBody>
      </p:sp>
      <p:sp>
        <p:nvSpPr>
          <p:cNvPr id="16" name="Shape 14"/>
          <p:cNvSpPr/>
          <p:nvPr/>
        </p:nvSpPr>
        <p:spPr>
          <a:xfrm>
            <a:off x="7010400" y="5523229"/>
            <a:ext cx="3556000" cy="228600"/>
          </a:xfrm>
          <a:prstGeom prst="rect">
            <a:avLst/>
          </a:prstGeom>
          <a:solidFill>
            <a:srgbClr val="DCD3C3"/>
          </a:solidFill>
          <a:ln/>
        </p:spPr>
      </p:sp>
      <p:sp>
        <p:nvSpPr>
          <p:cNvPr id="17" name="Text 15"/>
          <p:cNvSpPr/>
          <p:nvPr/>
        </p:nvSpPr>
        <p:spPr>
          <a:xfrm>
            <a:off x="10693400" y="5513071"/>
            <a:ext cx="69634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CD3C3"/>
                </a:solidFill>
                <a:latin typeface="Archivo" pitchFamily="34" charset="0"/>
                <a:ea typeface="Archivo" pitchFamily="34" charset="-122"/>
                <a:cs typeface="Archivo" pitchFamily="34" charset="-120"/>
              </a:rPr>
              <a:t>33,6 %</a:t>
            </a:r>
            <a:endParaRPr lang="en-US" sz="1400" dirty="0"/>
          </a:p>
        </p:txBody>
      </p:sp>
      <p:sp>
        <p:nvSpPr>
          <p:cNvPr id="18" name="Text 16"/>
          <p:cNvSpPr/>
          <p:nvPr>
            <p:ph type="title"/>
          </p:nvPr>
        </p:nvSpPr>
        <p:spPr>
          <a:xfrm>
            <a:off x="812800" y="812800"/>
            <a:ext cx="10883392" cy="718820"/>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1F1E1C"/>
                </a:solidFill>
                <a:latin typeface="Anton" pitchFamily="34" charset="0"/>
                <a:ea typeface="Anton" pitchFamily="34" charset="-122"/>
                <a:cs typeface="Anton" pitchFamily="34" charset="-120"/>
              </a:rPr>
              <a:t>LO QUE MOSTRÓ LA EXPLORACIÓN</a:t>
            </a:r>
            <a:endParaRPr lang="en-US" sz="5200" dirty="0"/>
          </a:p>
        </p:txBody>
      </p:sp>
      <p:sp>
        <p:nvSpPr>
          <p:cNvPr id="19" name="Text 17"/>
          <p:cNvSpPr/>
          <p:nvPr/>
        </p:nvSpPr>
        <p:spPr>
          <a:xfrm>
            <a:off x="812800" y="1861821"/>
            <a:ext cx="406400" cy="406400"/>
          </a:xfrm>
          <a:prstGeom prst="roundRect">
            <a:avLst>
              <a:gd name="adj" fmla="val 50000"/>
            </a:avLst>
          </a:prstGeom>
          <a:solidFill>
            <a:srgbClr val="1F1E1C"/>
          </a:solidFill>
          <a:ln/>
        </p:spPr>
        <p:txBody>
          <a:bodyPr wrap="square" lIns="0" tIns="0" rIns="0" bIns="0" rtlCol="0" anchor="ctr">
            <a:normAutofit/>
          </a:bodyPr>
          <a:lstStyle/>
          <a:p>
            <a:pPr algn="ctr" indent="0" marL="0">
              <a:lnSpc>
                <a:spcPts val="1680"/>
              </a:lnSpc>
              <a:buNone/>
            </a:pPr>
            <a:r>
              <a:rPr lang="en-US" sz="1200" b="1" dirty="0">
                <a:solidFill>
                  <a:srgbClr val="DCD3C3"/>
                </a:solidFill>
                <a:latin typeface="Archivo" pitchFamily="34" charset="0"/>
                <a:ea typeface="Archivo" pitchFamily="34" charset="-122"/>
                <a:cs typeface="Archivo" pitchFamily="34" charset="-120"/>
              </a:rPr>
              <a:t>01</a:t>
            </a:r>
            <a:endParaRPr lang="en-US" sz="1200" dirty="0"/>
          </a:p>
        </p:txBody>
      </p:sp>
      <p:sp>
        <p:nvSpPr>
          <p:cNvPr id="20" name="Text 18"/>
          <p:cNvSpPr/>
          <p:nvPr/>
        </p:nvSpPr>
        <p:spPr>
          <a:xfrm>
            <a:off x="1397000" y="1861821"/>
            <a:ext cx="4761484" cy="3606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1F1E1C"/>
                </a:solidFill>
                <a:latin typeface="Anton" pitchFamily="34" charset="0"/>
                <a:ea typeface="Anton" pitchFamily="34" charset="-122"/>
                <a:cs typeface="Anton" pitchFamily="34" charset="-120"/>
              </a:rPr>
              <a:t>PRECIO CON COLA A LA DERECHA</a:t>
            </a:r>
            <a:endParaRPr lang="en-US" sz="2400" dirty="0"/>
          </a:p>
        </p:txBody>
      </p:sp>
      <p:sp>
        <p:nvSpPr>
          <p:cNvPr id="21" name="Text 19"/>
          <p:cNvSpPr/>
          <p:nvPr/>
        </p:nvSpPr>
        <p:spPr>
          <a:xfrm>
            <a:off x="1397000" y="2247900"/>
            <a:ext cx="476148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53F"/>
                </a:solidFill>
                <a:latin typeface="Archivo" pitchFamily="34" charset="0"/>
                <a:ea typeface="Archivo" pitchFamily="34" charset="-122"/>
                <a:cs typeface="Archivo" pitchFamily="34" charset="-120"/>
              </a:rPr>
              <a:t>Se modela en escala log: además reparte el error de forma más pareja entre barrios.</a:t>
            </a:r>
            <a:endParaRPr lang="en-US" sz="1200" dirty="0"/>
          </a:p>
        </p:txBody>
      </p:sp>
      <p:sp>
        <p:nvSpPr>
          <p:cNvPr id="22" name="Text 20"/>
          <p:cNvSpPr/>
          <p:nvPr/>
        </p:nvSpPr>
        <p:spPr>
          <a:xfrm>
            <a:off x="812800" y="3030221"/>
            <a:ext cx="406400" cy="406400"/>
          </a:xfrm>
          <a:prstGeom prst="roundRect">
            <a:avLst>
              <a:gd name="adj" fmla="val 50000"/>
            </a:avLst>
          </a:prstGeom>
          <a:solidFill>
            <a:srgbClr val="1F1E1C"/>
          </a:solidFill>
          <a:ln/>
        </p:spPr>
        <p:txBody>
          <a:bodyPr wrap="square" lIns="0" tIns="0" rIns="0" bIns="0" rtlCol="0" anchor="ctr">
            <a:normAutofit/>
          </a:bodyPr>
          <a:lstStyle/>
          <a:p>
            <a:pPr algn="ctr" indent="0" marL="0">
              <a:lnSpc>
                <a:spcPts val="1680"/>
              </a:lnSpc>
              <a:buNone/>
            </a:pPr>
            <a:r>
              <a:rPr lang="en-US" sz="1200" b="1" dirty="0">
                <a:solidFill>
                  <a:srgbClr val="DCD3C3"/>
                </a:solidFill>
                <a:latin typeface="Archivo" pitchFamily="34" charset="0"/>
                <a:ea typeface="Archivo" pitchFamily="34" charset="-122"/>
                <a:cs typeface="Archivo" pitchFamily="34" charset="-120"/>
              </a:rPr>
              <a:t>02</a:t>
            </a:r>
            <a:endParaRPr lang="en-US" sz="1200" dirty="0"/>
          </a:p>
        </p:txBody>
      </p:sp>
      <p:sp>
        <p:nvSpPr>
          <p:cNvPr id="23" name="Text 21"/>
          <p:cNvSpPr/>
          <p:nvPr/>
        </p:nvSpPr>
        <p:spPr>
          <a:xfrm>
            <a:off x="1397000" y="3030221"/>
            <a:ext cx="4761484" cy="3606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1F1E1C"/>
                </a:solidFill>
                <a:latin typeface="Anton" pitchFamily="34" charset="0"/>
                <a:ea typeface="Anton" pitchFamily="34" charset="-122"/>
                <a:cs typeface="Anton" pitchFamily="34" charset="-120"/>
              </a:rPr>
              <a:t>EL ERROR SE CONCENTRA</a:t>
            </a:r>
            <a:endParaRPr lang="en-US" sz="2400" dirty="0"/>
          </a:p>
        </p:txBody>
      </p:sp>
      <p:sp>
        <p:nvSpPr>
          <p:cNvPr id="24" name="Text 22"/>
          <p:cNvSpPr/>
          <p:nvPr/>
        </p:nvSpPr>
        <p:spPr>
          <a:xfrm>
            <a:off x="1397000" y="3416300"/>
            <a:ext cx="476148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53F"/>
                </a:solidFill>
                <a:latin typeface="Archivo" pitchFamily="34" charset="0"/>
                <a:ea typeface="Archivo" pitchFamily="34" charset="-122"/>
                <a:cs typeface="Archivo" pitchFamily="34" charset="-120"/>
              </a:rPr>
              <a:t>En ventas anómalas y en zonas no residenciales. Esto llevó a las pruebas de preparación.</a:t>
            </a:r>
            <a:endParaRPr lang="en-US" sz="1200" dirty="0"/>
          </a:p>
        </p:txBody>
      </p:sp>
      <p:sp>
        <p:nvSpPr>
          <p:cNvPr id="25" name="Text 23"/>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53F"/>
                </a:solidFill>
                <a:latin typeface="Archivo" pitchFamily="34" charset="0"/>
                <a:ea typeface="Archivo" pitchFamily="34" charset="-122"/>
                <a:cs typeface="Archivo" pitchFamily="34" charset="-120"/>
              </a:rPr>
              <a:t>05 · Housing Prices · EP2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1E1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718820"/>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DCD3C3"/>
                </a:solidFill>
                <a:latin typeface="Anton" pitchFamily="34" charset="0"/>
                <a:ea typeface="Anton" pitchFamily="34" charset="-122"/>
                <a:cs typeface="Anton" pitchFamily="34" charset="-120"/>
              </a:rPr>
              <a:t>OUTLIERS</a:t>
            </a:r>
            <a:endParaRPr lang="en-US" sz="5200" dirty="0"/>
          </a:p>
        </p:txBody>
      </p:sp>
      <p:sp>
        <p:nvSpPr>
          <p:cNvPr id="3" name="Text 1"/>
          <p:cNvSpPr/>
          <p:nvPr/>
        </p:nvSpPr>
        <p:spPr>
          <a:xfrm>
            <a:off x="812800" y="1760221"/>
            <a:ext cx="1088339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9B8B"/>
                </a:solidFill>
                <a:latin typeface="Archivo" pitchFamily="34" charset="0"/>
                <a:ea typeface="Archivo" pitchFamily="34" charset="-122"/>
                <a:cs typeface="Archivo" pitchFamily="34" charset="-120"/>
              </a:rPr>
              <a:t>Se revisan, no se borran: son casas reales.</a:t>
            </a:r>
            <a:endParaRPr lang="en-US" sz="1400" dirty="0"/>
          </a:p>
        </p:txBody>
      </p:sp>
      <p:sp>
        <p:nvSpPr>
          <p:cNvPr id="4" name="Shape 2"/>
          <p:cNvSpPr/>
          <p:nvPr/>
        </p:nvSpPr>
        <p:spPr>
          <a:xfrm>
            <a:off x="819150" y="2854961"/>
            <a:ext cx="0" cy="1137920"/>
          </a:xfrm>
          <a:prstGeom prst="line">
            <a:avLst/>
          </a:prstGeom>
          <a:noFill/>
          <a:ln w="12700">
            <a:solidFill>
              <a:srgbClr val="6E685E"/>
            </a:solidFill>
            <a:prstDash val="solid"/>
          </a:ln>
        </p:spPr>
      </p:sp>
      <p:sp>
        <p:nvSpPr>
          <p:cNvPr id="5" name="Text 3"/>
          <p:cNvSpPr/>
          <p:nvPr/>
        </p:nvSpPr>
        <p:spPr>
          <a:xfrm>
            <a:off x="1076960" y="2854961"/>
            <a:ext cx="3181299" cy="685800"/>
          </a:xfrm>
          <a:prstGeom prst="rect">
            <a:avLst/>
          </a:prstGeom>
          <a:noFill/>
          <a:ln/>
        </p:spPr>
        <p:txBody>
          <a:bodyPr wrap="square" lIns="0" tIns="0" rIns="0" bIns="0" rtlCol="0" anchor="t">
            <a:normAutofit/>
          </a:bodyPr>
          <a:lstStyle/>
          <a:p>
            <a:pPr algn="l" indent="0" marL="0">
              <a:lnSpc>
                <a:spcPts val="5200"/>
              </a:lnSpc>
              <a:buNone/>
            </a:pPr>
            <a:r>
              <a:rPr lang="en-US" sz="5200" dirty="0">
                <a:solidFill>
                  <a:srgbClr val="DCD3C3"/>
                </a:solidFill>
                <a:latin typeface="Anton" pitchFamily="34" charset="0"/>
                <a:ea typeface="Anton" pitchFamily="34" charset="-122"/>
                <a:cs typeface="Anton" pitchFamily="34" charset="-120"/>
              </a:rPr>
              <a:t>232</a:t>
            </a:r>
            <a:endParaRPr lang="en-US" sz="5200" dirty="0"/>
          </a:p>
        </p:txBody>
      </p:sp>
      <p:sp>
        <p:nvSpPr>
          <p:cNvPr id="6" name="Text 4"/>
          <p:cNvSpPr/>
          <p:nvPr/>
        </p:nvSpPr>
        <p:spPr>
          <a:xfrm>
            <a:off x="1076960" y="3566161"/>
            <a:ext cx="31812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casas marcadas por IQR y z-score (7,9 %)</a:t>
            </a:r>
            <a:endParaRPr lang="en-US" sz="1200" dirty="0"/>
          </a:p>
        </p:txBody>
      </p:sp>
      <p:sp>
        <p:nvSpPr>
          <p:cNvPr id="7" name="Shape 5"/>
          <p:cNvSpPr/>
          <p:nvPr/>
        </p:nvSpPr>
        <p:spPr>
          <a:xfrm>
            <a:off x="4425950" y="2854961"/>
            <a:ext cx="0" cy="1137920"/>
          </a:xfrm>
          <a:prstGeom prst="line">
            <a:avLst/>
          </a:prstGeom>
          <a:noFill/>
          <a:ln w="12700">
            <a:solidFill>
              <a:srgbClr val="6E685E"/>
            </a:solidFill>
            <a:prstDash val="solid"/>
          </a:ln>
        </p:spPr>
      </p:sp>
      <p:sp>
        <p:nvSpPr>
          <p:cNvPr id="8" name="Text 6"/>
          <p:cNvSpPr/>
          <p:nvPr/>
        </p:nvSpPr>
        <p:spPr>
          <a:xfrm>
            <a:off x="4683760" y="2854961"/>
            <a:ext cx="3181299" cy="685800"/>
          </a:xfrm>
          <a:prstGeom prst="rect">
            <a:avLst/>
          </a:prstGeom>
          <a:noFill/>
          <a:ln/>
        </p:spPr>
        <p:txBody>
          <a:bodyPr wrap="square" lIns="0" tIns="0" rIns="0" bIns="0" rtlCol="0" anchor="t">
            <a:normAutofit/>
          </a:bodyPr>
          <a:lstStyle/>
          <a:p>
            <a:pPr algn="l" indent="0" marL="0">
              <a:lnSpc>
                <a:spcPts val="5200"/>
              </a:lnSpc>
              <a:buNone/>
            </a:pPr>
            <a:r>
              <a:rPr lang="en-US" sz="5200" dirty="0">
                <a:solidFill>
                  <a:srgbClr val="DCD3C3"/>
                </a:solidFill>
                <a:latin typeface="Anton" pitchFamily="34" charset="0"/>
                <a:ea typeface="Anton" pitchFamily="34" charset="-122"/>
                <a:cs typeface="Anton" pitchFamily="34" charset="-120"/>
              </a:rPr>
              <a:t>0</a:t>
            </a:r>
            <a:endParaRPr lang="en-US" sz="5200" dirty="0"/>
          </a:p>
        </p:txBody>
      </p:sp>
      <p:sp>
        <p:nvSpPr>
          <p:cNvPr id="9" name="Text 7"/>
          <p:cNvSpPr/>
          <p:nvPr/>
        </p:nvSpPr>
        <p:spPr>
          <a:xfrm>
            <a:off x="4683760" y="3566161"/>
            <a:ext cx="318129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eliminadas: los casos extremos resultaron ser ventas normales</a:t>
            </a:r>
            <a:endParaRPr lang="en-US" sz="1200" dirty="0"/>
          </a:p>
        </p:txBody>
      </p:sp>
      <p:sp>
        <p:nvSpPr>
          <p:cNvPr id="10" name="Shape 8"/>
          <p:cNvSpPr/>
          <p:nvPr/>
        </p:nvSpPr>
        <p:spPr>
          <a:xfrm>
            <a:off x="8032750" y="2854961"/>
            <a:ext cx="0" cy="1137920"/>
          </a:xfrm>
          <a:prstGeom prst="line">
            <a:avLst/>
          </a:prstGeom>
          <a:noFill/>
          <a:ln w="12700">
            <a:solidFill>
              <a:srgbClr val="6E685E"/>
            </a:solidFill>
            <a:prstDash val="solid"/>
          </a:ln>
        </p:spPr>
      </p:sp>
      <p:sp>
        <p:nvSpPr>
          <p:cNvPr id="11" name="Text 9"/>
          <p:cNvSpPr/>
          <p:nvPr/>
        </p:nvSpPr>
        <p:spPr>
          <a:xfrm>
            <a:off x="8290560" y="2854961"/>
            <a:ext cx="3181299" cy="685800"/>
          </a:xfrm>
          <a:prstGeom prst="rect">
            <a:avLst/>
          </a:prstGeom>
          <a:noFill/>
          <a:ln/>
        </p:spPr>
        <p:txBody>
          <a:bodyPr wrap="square" lIns="0" tIns="0" rIns="0" bIns="0" rtlCol="0" anchor="t">
            <a:normAutofit/>
          </a:bodyPr>
          <a:lstStyle/>
          <a:p>
            <a:pPr algn="l" indent="0" marL="0">
              <a:lnSpc>
                <a:spcPts val="5200"/>
              </a:lnSpc>
              <a:buNone/>
            </a:pPr>
            <a:r>
              <a:rPr lang="en-US" sz="5200" dirty="0">
                <a:solidFill>
                  <a:srgbClr val="DCD3C3"/>
                </a:solidFill>
                <a:latin typeface="Anton" pitchFamily="34" charset="0"/>
                <a:ea typeface="Anton" pitchFamily="34" charset="-122"/>
                <a:cs typeface="Anton" pitchFamily="34" charset="-120"/>
              </a:rPr>
              <a:t>5</a:t>
            </a:r>
            <a:endParaRPr lang="en-US" sz="5200" dirty="0"/>
          </a:p>
        </p:txBody>
      </p:sp>
      <p:sp>
        <p:nvSpPr>
          <p:cNvPr id="12" name="Text 10"/>
          <p:cNvSpPr/>
          <p:nvPr/>
        </p:nvSpPr>
        <p:spPr>
          <a:xfrm>
            <a:off x="8290560" y="3566161"/>
            <a:ext cx="318129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variables con log1p por asimetría, solo en los modelos lineales</a:t>
            </a:r>
            <a:endParaRPr lang="en-US" sz="1200" dirty="0"/>
          </a:p>
        </p:txBody>
      </p:sp>
      <p:sp>
        <p:nvSpPr>
          <p:cNvPr id="13" name="Text 11"/>
          <p:cNvSpPr/>
          <p:nvPr/>
        </p:nvSpPr>
        <p:spPr>
          <a:xfrm>
            <a:off x="812800" y="4602479"/>
            <a:ext cx="34010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9B8B"/>
                </a:solidFill>
                <a:latin typeface="Archivo" pitchFamily="34" charset="0"/>
                <a:ea typeface="Archivo" pitchFamily="34" charset="-122"/>
                <a:cs typeface="Archivo" pitchFamily="34" charset="-120"/>
              </a:rPr>
              <a:t>IQR CON Y SIN CEROS</a:t>
            </a:r>
            <a:endParaRPr lang="en-US" sz="1200" dirty="0"/>
          </a:p>
        </p:txBody>
      </p:sp>
      <p:sp>
        <p:nvSpPr>
          <p:cNvPr id="14" name="Text 12"/>
          <p:cNvSpPr/>
          <p:nvPr/>
        </p:nvSpPr>
        <p:spPr>
          <a:xfrm>
            <a:off x="812800" y="4892039"/>
            <a:ext cx="340106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CD3C3"/>
                </a:solidFill>
                <a:latin typeface="Archivo" pitchFamily="34" charset="0"/>
                <a:ea typeface="Archivo" pitchFamily="34" charset="-122"/>
                <a:cs typeface="Archivo" pitchFamily="34" charset="-120"/>
              </a:rPr>
              <a:t>Cuando muchas casas tienen 0, el IQR exagera los outliers.</a:t>
            </a:r>
            <a:endParaRPr lang="en-US" sz="1400" dirty="0"/>
          </a:p>
        </p:txBody>
      </p:sp>
      <p:sp>
        <p:nvSpPr>
          <p:cNvPr id="15" name="Shape 13"/>
          <p:cNvSpPr/>
          <p:nvPr/>
        </p:nvSpPr>
        <p:spPr>
          <a:xfrm>
            <a:off x="4521200" y="4921249"/>
            <a:ext cx="2540000" cy="0"/>
          </a:xfrm>
          <a:prstGeom prst="line">
            <a:avLst/>
          </a:prstGeom>
          <a:noFill/>
          <a:ln w="12700">
            <a:solidFill>
              <a:srgbClr val="DCD3C3"/>
            </a:solidFill>
            <a:prstDash val="solid"/>
          </a:ln>
        </p:spPr>
      </p:sp>
      <p:sp>
        <p:nvSpPr>
          <p:cNvPr id="16" name="Text 14"/>
          <p:cNvSpPr/>
          <p:nvPr/>
        </p:nvSpPr>
        <p:spPr>
          <a:xfrm>
            <a:off x="4521200" y="4602479"/>
            <a:ext cx="2459228"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39B8B"/>
                </a:solidFill>
                <a:latin typeface="Archivo" pitchFamily="34" charset="0"/>
                <a:ea typeface="Archivo" pitchFamily="34" charset="-122"/>
                <a:cs typeface="Archivo" pitchFamily="34" charset="-120"/>
              </a:rPr>
              <a:t>VARIABLE</a:t>
            </a:r>
            <a:endParaRPr lang="en-US" sz="1200" dirty="0"/>
          </a:p>
        </p:txBody>
      </p:sp>
      <p:sp>
        <p:nvSpPr>
          <p:cNvPr id="17" name="Shape 15"/>
          <p:cNvSpPr/>
          <p:nvPr/>
        </p:nvSpPr>
        <p:spPr>
          <a:xfrm>
            <a:off x="7061200" y="4921249"/>
            <a:ext cx="2159000" cy="0"/>
          </a:xfrm>
          <a:prstGeom prst="line">
            <a:avLst/>
          </a:prstGeom>
          <a:noFill/>
          <a:ln w="12700">
            <a:solidFill>
              <a:srgbClr val="DCD3C3"/>
            </a:solidFill>
            <a:prstDash val="solid"/>
          </a:ln>
        </p:spPr>
      </p:sp>
      <p:sp>
        <p:nvSpPr>
          <p:cNvPr id="18" name="Text 16"/>
          <p:cNvSpPr/>
          <p:nvPr/>
        </p:nvSpPr>
        <p:spPr>
          <a:xfrm>
            <a:off x="7061200" y="4602479"/>
            <a:ext cx="2066798"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39B8B"/>
                </a:solidFill>
                <a:latin typeface="Archivo" pitchFamily="34" charset="0"/>
                <a:ea typeface="Archivo" pitchFamily="34" charset="-122"/>
                <a:cs typeface="Archivo" pitchFamily="34" charset="-120"/>
              </a:rPr>
              <a:t>TODA LA VARIABLE</a:t>
            </a:r>
            <a:endParaRPr lang="en-US" sz="1200" dirty="0"/>
          </a:p>
        </p:txBody>
      </p:sp>
      <p:sp>
        <p:nvSpPr>
          <p:cNvPr id="19" name="Shape 17"/>
          <p:cNvSpPr/>
          <p:nvPr/>
        </p:nvSpPr>
        <p:spPr>
          <a:xfrm>
            <a:off x="9220200" y="4921249"/>
            <a:ext cx="2159000" cy="0"/>
          </a:xfrm>
          <a:prstGeom prst="line">
            <a:avLst/>
          </a:prstGeom>
          <a:noFill/>
          <a:ln w="12700">
            <a:solidFill>
              <a:srgbClr val="DCD3C3"/>
            </a:solidFill>
            <a:prstDash val="solid"/>
          </a:ln>
        </p:spPr>
      </p:sp>
      <p:sp>
        <p:nvSpPr>
          <p:cNvPr id="20" name="Text 18"/>
          <p:cNvSpPr/>
          <p:nvPr/>
        </p:nvSpPr>
        <p:spPr>
          <a:xfrm>
            <a:off x="9220200" y="4602479"/>
            <a:ext cx="2066798"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39B8B"/>
                </a:solidFill>
                <a:latin typeface="Archivo" pitchFamily="34" charset="0"/>
                <a:ea typeface="Archivo" pitchFamily="34" charset="-122"/>
                <a:cs typeface="Archivo" pitchFamily="34" charset="-120"/>
              </a:rPr>
              <a:t>SOLO VALORES &gt; 0</a:t>
            </a:r>
            <a:endParaRPr lang="en-US" sz="1200" dirty="0"/>
          </a:p>
        </p:txBody>
      </p:sp>
      <p:sp>
        <p:nvSpPr>
          <p:cNvPr id="21" name="Shape 19"/>
          <p:cNvSpPr/>
          <p:nvPr/>
        </p:nvSpPr>
        <p:spPr>
          <a:xfrm>
            <a:off x="4521200" y="5381625"/>
            <a:ext cx="2540000" cy="0"/>
          </a:xfrm>
          <a:prstGeom prst="line">
            <a:avLst/>
          </a:prstGeom>
          <a:noFill/>
          <a:ln w="6350">
            <a:solidFill>
              <a:srgbClr val="6E685E"/>
            </a:solidFill>
            <a:prstDash val="solid"/>
          </a:ln>
        </p:spPr>
      </p:sp>
      <p:sp>
        <p:nvSpPr>
          <p:cNvPr id="22" name="Text 20"/>
          <p:cNvSpPr/>
          <p:nvPr/>
        </p:nvSpPr>
        <p:spPr>
          <a:xfrm>
            <a:off x="4521200" y="5029200"/>
            <a:ext cx="245922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CD3C3"/>
                </a:solidFill>
                <a:latin typeface="Archivo" pitchFamily="34" charset="0"/>
                <a:ea typeface="Archivo" pitchFamily="34" charset="-122"/>
                <a:cs typeface="Archivo" pitchFamily="34" charset="-120"/>
              </a:rPr>
              <a:t>Mas Vnr Area</a:t>
            </a:r>
            <a:endParaRPr lang="en-US" sz="1400" dirty="0"/>
          </a:p>
        </p:txBody>
      </p:sp>
      <p:sp>
        <p:nvSpPr>
          <p:cNvPr id="23" name="Shape 21"/>
          <p:cNvSpPr/>
          <p:nvPr/>
        </p:nvSpPr>
        <p:spPr>
          <a:xfrm>
            <a:off x="7061200" y="5381625"/>
            <a:ext cx="2159000" cy="0"/>
          </a:xfrm>
          <a:prstGeom prst="line">
            <a:avLst/>
          </a:prstGeom>
          <a:noFill/>
          <a:ln w="6350">
            <a:solidFill>
              <a:srgbClr val="6E685E"/>
            </a:solidFill>
            <a:prstDash val="solid"/>
          </a:ln>
        </p:spPr>
      </p:sp>
      <p:sp>
        <p:nvSpPr>
          <p:cNvPr id="24" name="Text 22"/>
          <p:cNvSpPr/>
          <p:nvPr/>
        </p:nvSpPr>
        <p:spPr>
          <a:xfrm>
            <a:off x="7061200" y="5029200"/>
            <a:ext cx="206679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39B8B"/>
                </a:solidFill>
                <a:latin typeface="Archivo" pitchFamily="34" charset="0"/>
                <a:ea typeface="Archivo" pitchFamily="34" charset="-122"/>
                <a:cs typeface="Archivo" pitchFamily="34" charset="-120"/>
              </a:rPr>
              <a:t>200</a:t>
            </a:r>
            <a:endParaRPr lang="en-US" sz="1400" dirty="0"/>
          </a:p>
        </p:txBody>
      </p:sp>
      <p:sp>
        <p:nvSpPr>
          <p:cNvPr id="25" name="Shape 23"/>
          <p:cNvSpPr/>
          <p:nvPr/>
        </p:nvSpPr>
        <p:spPr>
          <a:xfrm>
            <a:off x="9220200" y="5381625"/>
            <a:ext cx="2159000" cy="0"/>
          </a:xfrm>
          <a:prstGeom prst="line">
            <a:avLst/>
          </a:prstGeom>
          <a:noFill/>
          <a:ln w="6350">
            <a:solidFill>
              <a:srgbClr val="6E685E"/>
            </a:solidFill>
            <a:prstDash val="solid"/>
          </a:ln>
        </p:spPr>
      </p:sp>
      <p:sp>
        <p:nvSpPr>
          <p:cNvPr id="26" name="Text 24"/>
          <p:cNvSpPr/>
          <p:nvPr/>
        </p:nvSpPr>
        <p:spPr>
          <a:xfrm>
            <a:off x="9220200" y="5029200"/>
            <a:ext cx="206679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CD3C3"/>
                </a:solidFill>
                <a:latin typeface="Archivo" pitchFamily="34" charset="0"/>
                <a:ea typeface="Archivo" pitchFamily="34" charset="-122"/>
                <a:cs typeface="Archivo" pitchFamily="34" charset="-120"/>
              </a:rPr>
              <a:t>63</a:t>
            </a:r>
            <a:endParaRPr lang="en-US" sz="1400" dirty="0"/>
          </a:p>
        </p:txBody>
      </p:sp>
      <p:sp>
        <p:nvSpPr>
          <p:cNvPr id="27" name="Shape 25"/>
          <p:cNvSpPr/>
          <p:nvPr/>
        </p:nvSpPr>
        <p:spPr>
          <a:xfrm>
            <a:off x="4521200" y="5838825"/>
            <a:ext cx="2540000" cy="0"/>
          </a:xfrm>
          <a:prstGeom prst="line">
            <a:avLst/>
          </a:prstGeom>
          <a:noFill/>
          <a:ln w="6350">
            <a:solidFill>
              <a:srgbClr val="6E685E"/>
            </a:solidFill>
            <a:prstDash val="solid"/>
          </a:ln>
        </p:spPr>
      </p:sp>
      <p:sp>
        <p:nvSpPr>
          <p:cNvPr id="28" name="Text 26"/>
          <p:cNvSpPr/>
          <p:nvPr/>
        </p:nvSpPr>
        <p:spPr>
          <a:xfrm>
            <a:off x="4521200" y="5486400"/>
            <a:ext cx="245922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CD3C3"/>
                </a:solidFill>
                <a:latin typeface="Archivo" pitchFamily="34" charset="0"/>
                <a:ea typeface="Archivo" pitchFamily="34" charset="-122"/>
                <a:cs typeface="Archivo" pitchFamily="34" charset="-120"/>
              </a:rPr>
              <a:t>Open Porch SF</a:t>
            </a:r>
            <a:endParaRPr lang="en-US" sz="1400" dirty="0"/>
          </a:p>
        </p:txBody>
      </p:sp>
      <p:sp>
        <p:nvSpPr>
          <p:cNvPr id="29" name="Shape 27"/>
          <p:cNvSpPr/>
          <p:nvPr/>
        </p:nvSpPr>
        <p:spPr>
          <a:xfrm>
            <a:off x="7061200" y="5838825"/>
            <a:ext cx="2159000" cy="0"/>
          </a:xfrm>
          <a:prstGeom prst="line">
            <a:avLst/>
          </a:prstGeom>
          <a:noFill/>
          <a:ln w="6350">
            <a:solidFill>
              <a:srgbClr val="6E685E"/>
            </a:solidFill>
            <a:prstDash val="solid"/>
          </a:ln>
        </p:spPr>
      </p:sp>
      <p:sp>
        <p:nvSpPr>
          <p:cNvPr id="30" name="Text 28"/>
          <p:cNvSpPr/>
          <p:nvPr/>
        </p:nvSpPr>
        <p:spPr>
          <a:xfrm>
            <a:off x="7061200" y="5486400"/>
            <a:ext cx="206679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39B8B"/>
                </a:solidFill>
                <a:latin typeface="Archivo" pitchFamily="34" charset="0"/>
                <a:ea typeface="Archivo" pitchFamily="34" charset="-122"/>
                <a:cs typeface="Archivo" pitchFamily="34" charset="-120"/>
              </a:rPr>
              <a:t>156</a:t>
            </a:r>
            <a:endParaRPr lang="en-US" sz="1400" dirty="0"/>
          </a:p>
        </p:txBody>
      </p:sp>
      <p:sp>
        <p:nvSpPr>
          <p:cNvPr id="31" name="Shape 29"/>
          <p:cNvSpPr/>
          <p:nvPr/>
        </p:nvSpPr>
        <p:spPr>
          <a:xfrm>
            <a:off x="9220200" y="5838825"/>
            <a:ext cx="2159000" cy="0"/>
          </a:xfrm>
          <a:prstGeom prst="line">
            <a:avLst/>
          </a:prstGeom>
          <a:noFill/>
          <a:ln w="6350">
            <a:solidFill>
              <a:srgbClr val="6E685E"/>
            </a:solidFill>
            <a:prstDash val="solid"/>
          </a:ln>
        </p:spPr>
      </p:sp>
      <p:sp>
        <p:nvSpPr>
          <p:cNvPr id="32" name="Text 30"/>
          <p:cNvSpPr/>
          <p:nvPr/>
        </p:nvSpPr>
        <p:spPr>
          <a:xfrm>
            <a:off x="9220200" y="5486400"/>
            <a:ext cx="206679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CD3C3"/>
                </a:solidFill>
                <a:latin typeface="Archivo" pitchFamily="34" charset="0"/>
                <a:ea typeface="Archivo" pitchFamily="34" charset="-122"/>
                <a:cs typeface="Archivo" pitchFamily="34" charset="-120"/>
              </a:rPr>
              <a:t>86</a:t>
            </a:r>
            <a:endParaRPr lang="en-US" sz="1400" dirty="0"/>
          </a:p>
        </p:txBody>
      </p:sp>
      <p:sp>
        <p:nvSpPr>
          <p:cNvPr id="33" name="Text 31"/>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06 · Housing Prices · EP2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CD3C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718820"/>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1F1E1C"/>
                </a:solidFill>
                <a:latin typeface="Anton" pitchFamily="34" charset="0"/>
                <a:ea typeface="Anton" pitchFamily="34" charset="-122"/>
                <a:cs typeface="Anton" pitchFamily="34" charset="-120"/>
              </a:rPr>
              <a:t>PREPARACIÓN POR FAMILIA</a:t>
            </a:r>
            <a:endParaRPr lang="en-US" sz="5200" dirty="0"/>
          </a:p>
        </p:txBody>
      </p:sp>
      <p:sp>
        <p:nvSpPr>
          <p:cNvPr id="3" name="Text 1"/>
          <p:cNvSpPr/>
          <p:nvPr/>
        </p:nvSpPr>
        <p:spPr>
          <a:xfrm>
            <a:off x="812800" y="1760221"/>
            <a:ext cx="1088339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53F"/>
                </a:solidFill>
                <a:latin typeface="Archivo" pitchFamily="34" charset="0"/>
                <a:ea typeface="Archivo" pitchFamily="34" charset="-122"/>
                <a:cs typeface="Archivo" pitchFamily="34" charset="-120"/>
              </a:rPr>
              <a:t>Cada decisión se probó con validación cruzada. Todo lo que aprende de los datos va dentro de un pipeline.</a:t>
            </a:r>
            <a:endParaRPr lang="en-US" sz="1400" dirty="0"/>
          </a:p>
        </p:txBody>
      </p:sp>
      <p:sp>
        <p:nvSpPr>
          <p:cNvPr id="4" name="Shape 2"/>
          <p:cNvSpPr/>
          <p:nvPr/>
        </p:nvSpPr>
        <p:spPr>
          <a:xfrm>
            <a:off x="812800" y="3371849"/>
            <a:ext cx="3048000" cy="0"/>
          </a:xfrm>
          <a:prstGeom prst="line">
            <a:avLst/>
          </a:prstGeom>
          <a:noFill/>
          <a:ln w="12700">
            <a:solidFill>
              <a:srgbClr val="1F1E1C"/>
            </a:solidFill>
            <a:prstDash val="solid"/>
          </a:ln>
        </p:spPr>
      </p:sp>
      <p:sp>
        <p:nvSpPr>
          <p:cNvPr id="5" name="Shape 3"/>
          <p:cNvSpPr/>
          <p:nvPr/>
        </p:nvSpPr>
        <p:spPr>
          <a:xfrm>
            <a:off x="3860800" y="3371849"/>
            <a:ext cx="3759200" cy="0"/>
          </a:xfrm>
          <a:prstGeom prst="line">
            <a:avLst/>
          </a:prstGeom>
          <a:noFill/>
          <a:ln w="12700">
            <a:solidFill>
              <a:srgbClr val="1F1E1C"/>
            </a:solidFill>
            <a:prstDash val="solid"/>
          </a:ln>
        </p:spPr>
      </p:sp>
      <p:sp>
        <p:nvSpPr>
          <p:cNvPr id="6" name="Text 4"/>
          <p:cNvSpPr/>
          <p:nvPr/>
        </p:nvSpPr>
        <p:spPr>
          <a:xfrm>
            <a:off x="3860800" y="3053079"/>
            <a:ext cx="371500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F1E1C"/>
                </a:solidFill>
                <a:latin typeface="Archivo" pitchFamily="34" charset="0"/>
                <a:ea typeface="Archivo" pitchFamily="34" charset="-122"/>
                <a:cs typeface="Archivo" pitchFamily="34" charset="-120"/>
              </a:rPr>
              <a:t>RIDGE / LASSO</a:t>
            </a:r>
            <a:endParaRPr lang="en-US" sz="1200" dirty="0"/>
          </a:p>
        </p:txBody>
      </p:sp>
      <p:sp>
        <p:nvSpPr>
          <p:cNvPr id="7" name="Shape 5"/>
          <p:cNvSpPr/>
          <p:nvPr/>
        </p:nvSpPr>
        <p:spPr>
          <a:xfrm>
            <a:off x="7620000" y="3371849"/>
            <a:ext cx="3759200" cy="0"/>
          </a:xfrm>
          <a:prstGeom prst="line">
            <a:avLst/>
          </a:prstGeom>
          <a:noFill/>
          <a:ln w="12700">
            <a:solidFill>
              <a:srgbClr val="1F1E1C"/>
            </a:solidFill>
            <a:prstDash val="solid"/>
          </a:ln>
        </p:spPr>
      </p:sp>
      <p:sp>
        <p:nvSpPr>
          <p:cNvPr id="8" name="Text 6"/>
          <p:cNvSpPr/>
          <p:nvPr/>
        </p:nvSpPr>
        <p:spPr>
          <a:xfrm>
            <a:off x="7620000" y="3053079"/>
            <a:ext cx="371500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F1E1C"/>
                </a:solidFill>
                <a:latin typeface="Archivo" pitchFamily="34" charset="0"/>
                <a:ea typeface="Archivo" pitchFamily="34" charset="-122"/>
                <a:cs typeface="Archivo" pitchFamily="34" charset="-120"/>
              </a:rPr>
              <a:t>RANDOM FOREST / XGBOOST</a:t>
            </a:r>
            <a:endParaRPr lang="en-US" sz="1200" dirty="0"/>
          </a:p>
        </p:txBody>
      </p:sp>
      <p:sp>
        <p:nvSpPr>
          <p:cNvPr id="9" name="Shape 7"/>
          <p:cNvSpPr/>
          <p:nvPr/>
        </p:nvSpPr>
        <p:spPr>
          <a:xfrm>
            <a:off x="812800" y="3883025"/>
            <a:ext cx="3048000" cy="0"/>
          </a:xfrm>
          <a:prstGeom prst="line">
            <a:avLst/>
          </a:prstGeom>
          <a:noFill/>
          <a:ln w="6350">
            <a:solidFill>
              <a:srgbClr val="8C8476"/>
            </a:solidFill>
            <a:prstDash val="solid"/>
          </a:ln>
        </p:spPr>
      </p:sp>
      <p:sp>
        <p:nvSpPr>
          <p:cNvPr id="10" name="Text 8"/>
          <p:cNvSpPr/>
          <p:nvPr/>
        </p:nvSpPr>
        <p:spPr>
          <a:xfrm>
            <a:off x="812800" y="3505200"/>
            <a:ext cx="298246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53F"/>
                </a:solidFill>
                <a:latin typeface="Archivo" pitchFamily="34" charset="0"/>
                <a:ea typeface="Archivo" pitchFamily="34" charset="-122"/>
                <a:cs typeface="Archivo" pitchFamily="34" charset="-120"/>
              </a:rPr>
              <a:t>log1p en 5 variables</a:t>
            </a:r>
            <a:endParaRPr lang="en-US" sz="1400" dirty="0"/>
          </a:p>
        </p:txBody>
      </p:sp>
      <p:sp>
        <p:nvSpPr>
          <p:cNvPr id="11" name="Shape 9"/>
          <p:cNvSpPr/>
          <p:nvPr/>
        </p:nvSpPr>
        <p:spPr>
          <a:xfrm>
            <a:off x="3860800" y="3883025"/>
            <a:ext cx="3759200" cy="0"/>
          </a:xfrm>
          <a:prstGeom prst="line">
            <a:avLst/>
          </a:prstGeom>
          <a:noFill/>
          <a:ln w="6350">
            <a:solidFill>
              <a:srgbClr val="8C8476"/>
            </a:solidFill>
            <a:prstDash val="solid"/>
          </a:ln>
        </p:spPr>
      </p:sp>
      <p:sp>
        <p:nvSpPr>
          <p:cNvPr id="12" name="Text 10"/>
          <p:cNvSpPr/>
          <p:nvPr/>
        </p:nvSpPr>
        <p:spPr>
          <a:xfrm>
            <a:off x="3860800" y="3505200"/>
            <a:ext cx="371500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E1C"/>
                </a:solidFill>
                <a:latin typeface="Archivo" pitchFamily="34" charset="0"/>
                <a:ea typeface="Archivo" pitchFamily="34" charset="-122"/>
                <a:cs typeface="Archivo" pitchFamily="34" charset="-120"/>
              </a:rPr>
              <a:t>Sí</a:t>
            </a:r>
            <a:endParaRPr lang="en-US" sz="1400" dirty="0"/>
          </a:p>
        </p:txBody>
      </p:sp>
      <p:sp>
        <p:nvSpPr>
          <p:cNvPr id="13" name="Shape 11"/>
          <p:cNvSpPr/>
          <p:nvPr/>
        </p:nvSpPr>
        <p:spPr>
          <a:xfrm>
            <a:off x="7620000" y="3883025"/>
            <a:ext cx="3759200" cy="0"/>
          </a:xfrm>
          <a:prstGeom prst="line">
            <a:avLst/>
          </a:prstGeom>
          <a:noFill/>
          <a:ln w="6350">
            <a:solidFill>
              <a:srgbClr val="8C8476"/>
            </a:solidFill>
            <a:prstDash val="solid"/>
          </a:ln>
        </p:spPr>
      </p:sp>
      <p:sp>
        <p:nvSpPr>
          <p:cNvPr id="14" name="Text 12"/>
          <p:cNvSpPr/>
          <p:nvPr/>
        </p:nvSpPr>
        <p:spPr>
          <a:xfrm>
            <a:off x="7620000" y="3505200"/>
            <a:ext cx="37150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No (sin efecto en árboles)</a:t>
            </a:r>
            <a:endParaRPr lang="en-US" sz="1400" dirty="0"/>
          </a:p>
        </p:txBody>
      </p:sp>
      <p:sp>
        <p:nvSpPr>
          <p:cNvPr id="15" name="Shape 13"/>
          <p:cNvSpPr/>
          <p:nvPr/>
        </p:nvSpPr>
        <p:spPr>
          <a:xfrm>
            <a:off x="812800" y="4391025"/>
            <a:ext cx="3048000" cy="0"/>
          </a:xfrm>
          <a:prstGeom prst="line">
            <a:avLst/>
          </a:prstGeom>
          <a:noFill/>
          <a:ln w="6350">
            <a:solidFill>
              <a:srgbClr val="8C8476"/>
            </a:solidFill>
            <a:prstDash val="solid"/>
          </a:ln>
        </p:spPr>
      </p:sp>
      <p:sp>
        <p:nvSpPr>
          <p:cNvPr id="16" name="Text 14"/>
          <p:cNvSpPr/>
          <p:nvPr/>
        </p:nvSpPr>
        <p:spPr>
          <a:xfrm>
            <a:off x="812800" y="4013200"/>
            <a:ext cx="298246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53F"/>
                </a:solidFill>
                <a:latin typeface="Archivo" pitchFamily="34" charset="0"/>
                <a:ea typeface="Archivo" pitchFamily="34" charset="-122"/>
                <a:cs typeface="Archivo" pitchFamily="34" charset="-120"/>
              </a:rPr>
              <a:t>Escalado</a:t>
            </a:r>
            <a:endParaRPr lang="en-US" sz="1400" dirty="0"/>
          </a:p>
        </p:txBody>
      </p:sp>
      <p:sp>
        <p:nvSpPr>
          <p:cNvPr id="17" name="Shape 15"/>
          <p:cNvSpPr/>
          <p:nvPr/>
        </p:nvSpPr>
        <p:spPr>
          <a:xfrm>
            <a:off x="3860800" y="4391025"/>
            <a:ext cx="3759200" cy="0"/>
          </a:xfrm>
          <a:prstGeom prst="line">
            <a:avLst/>
          </a:prstGeom>
          <a:noFill/>
          <a:ln w="6350">
            <a:solidFill>
              <a:srgbClr val="8C8476"/>
            </a:solidFill>
            <a:prstDash val="solid"/>
          </a:ln>
        </p:spPr>
      </p:sp>
      <p:sp>
        <p:nvSpPr>
          <p:cNvPr id="18" name="Text 16"/>
          <p:cNvSpPr/>
          <p:nvPr/>
        </p:nvSpPr>
        <p:spPr>
          <a:xfrm>
            <a:off x="3860800" y="4013200"/>
            <a:ext cx="371500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E1C"/>
                </a:solidFill>
                <a:latin typeface="Archivo" pitchFamily="34" charset="0"/>
                <a:ea typeface="Archivo" pitchFamily="34" charset="-122"/>
                <a:cs typeface="Archivo" pitchFamily="34" charset="-120"/>
              </a:rPr>
              <a:t>Sí</a:t>
            </a:r>
            <a:endParaRPr lang="en-US" sz="1400" dirty="0"/>
          </a:p>
        </p:txBody>
      </p:sp>
      <p:sp>
        <p:nvSpPr>
          <p:cNvPr id="19" name="Shape 17"/>
          <p:cNvSpPr/>
          <p:nvPr/>
        </p:nvSpPr>
        <p:spPr>
          <a:xfrm>
            <a:off x="7620000" y="4391025"/>
            <a:ext cx="3759200" cy="0"/>
          </a:xfrm>
          <a:prstGeom prst="line">
            <a:avLst/>
          </a:prstGeom>
          <a:noFill/>
          <a:ln w="6350">
            <a:solidFill>
              <a:srgbClr val="8C8476"/>
            </a:solidFill>
            <a:prstDash val="solid"/>
          </a:ln>
        </p:spPr>
      </p:sp>
      <p:sp>
        <p:nvSpPr>
          <p:cNvPr id="20" name="Text 18"/>
          <p:cNvSpPr/>
          <p:nvPr/>
        </p:nvSpPr>
        <p:spPr>
          <a:xfrm>
            <a:off x="7620000" y="4013200"/>
            <a:ext cx="37150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No</a:t>
            </a:r>
            <a:endParaRPr lang="en-US" sz="1400" dirty="0"/>
          </a:p>
        </p:txBody>
      </p:sp>
      <p:sp>
        <p:nvSpPr>
          <p:cNvPr id="21" name="Shape 19"/>
          <p:cNvSpPr/>
          <p:nvPr/>
        </p:nvSpPr>
        <p:spPr>
          <a:xfrm>
            <a:off x="812800" y="4899025"/>
            <a:ext cx="3048000" cy="0"/>
          </a:xfrm>
          <a:prstGeom prst="line">
            <a:avLst/>
          </a:prstGeom>
          <a:noFill/>
          <a:ln w="6350">
            <a:solidFill>
              <a:srgbClr val="8C8476"/>
            </a:solidFill>
            <a:prstDash val="solid"/>
          </a:ln>
        </p:spPr>
      </p:sp>
      <p:sp>
        <p:nvSpPr>
          <p:cNvPr id="22" name="Text 20"/>
          <p:cNvSpPr/>
          <p:nvPr/>
        </p:nvSpPr>
        <p:spPr>
          <a:xfrm>
            <a:off x="812800" y="4521200"/>
            <a:ext cx="298246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53F"/>
                </a:solidFill>
                <a:latin typeface="Archivo" pitchFamily="34" charset="0"/>
                <a:ea typeface="Archivo" pitchFamily="34" charset="-122"/>
                <a:cs typeface="Archivo" pitchFamily="34" charset="-120"/>
              </a:rPr>
              <a:t>Categóricas</a:t>
            </a:r>
            <a:endParaRPr lang="en-US" sz="1400" dirty="0"/>
          </a:p>
        </p:txBody>
      </p:sp>
      <p:sp>
        <p:nvSpPr>
          <p:cNvPr id="23" name="Shape 21"/>
          <p:cNvSpPr/>
          <p:nvPr/>
        </p:nvSpPr>
        <p:spPr>
          <a:xfrm>
            <a:off x="3860800" y="4899025"/>
            <a:ext cx="3759200" cy="0"/>
          </a:xfrm>
          <a:prstGeom prst="line">
            <a:avLst/>
          </a:prstGeom>
          <a:noFill/>
          <a:ln w="6350">
            <a:solidFill>
              <a:srgbClr val="8C8476"/>
            </a:solidFill>
            <a:prstDash val="solid"/>
          </a:ln>
        </p:spPr>
      </p:sp>
      <p:sp>
        <p:nvSpPr>
          <p:cNvPr id="24" name="Text 22"/>
          <p:cNvSpPr/>
          <p:nvPr/>
        </p:nvSpPr>
        <p:spPr>
          <a:xfrm>
            <a:off x="3860800" y="4521200"/>
            <a:ext cx="37150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One-hot + target encoding</a:t>
            </a:r>
            <a:endParaRPr lang="en-US" sz="1400" dirty="0"/>
          </a:p>
        </p:txBody>
      </p:sp>
      <p:sp>
        <p:nvSpPr>
          <p:cNvPr id="25" name="Shape 23"/>
          <p:cNvSpPr/>
          <p:nvPr/>
        </p:nvSpPr>
        <p:spPr>
          <a:xfrm>
            <a:off x="7620000" y="4899025"/>
            <a:ext cx="3759200" cy="0"/>
          </a:xfrm>
          <a:prstGeom prst="line">
            <a:avLst/>
          </a:prstGeom>
          <a:noFill/>
          <a:ln w="6350">
            <a:solidFill>
              <a:srgbClr val="8C8476"/>
            </a:solidFill>
            <a:prstDash val="solid"/>
          </a:ln>
        </p:spPr>
      </p:sp>
      <p:sp>
        <p:nvSpPr>
          <p:cNvPr id="26" name="Text 24"/>
          <p:cNvSpPr/>
          <p:nvPr/>
        </p:nvSpPr>
        <p:spPr>
          <a:xfrm>
            <a:off x="7620000" y="4521200"/>
            <a:ext cx="37150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One-hot + target encoding</a:t>
            </a:r>
            <a:endParaRPr lang="en-US" sz="1400" dirty="0"/>
          </a:p>
        </p:txBody>
      </p:sp>
      <p:sp>
        <p:nvSpPr>
          <p:cNvPr id="27" name="Shape 25"/>
          <p:cNvSpPr/>
          <p:nvPr/>
        </p:nvSpPr>
        <p:spPr>
          <a:xfrm>
            <a:off x="812800" y="5838825"/>
            <a:ext cx="3048000" cy="0"/>
          </a:xfrm>
          <a:prstGeom prst="line">
            <a:avLst/>
          </a:prstGeom>
          <a:noFill/>
          <a:ln w="6350">
            <a:solidFill>
              <a:srgbClr val="8C8476"/>
            </a:solidFill>
            <a:prstDash val="solid"/>
          </a:ln>
        </p:spPr>
      </p:sp>
      <p:sp>
        <p:nvSpPr>
          <p:cNvPr id="28" name="Text 26"/>
          <p:cNvSpPr/>
          <p:nvPr/>
        </p:nvSpPr>
        <p:spPr>
          <a:xfrm>
            <a:off x="812800" y="5257800"/>
            <a:ext cx="298246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53F"/>
                </a:solidFill>
                <a:latin typeface="Archivo" pitchFamily="34" charset="0"/>
                <a:ea typeface="Archivo" pitchFamily="34" charset="-122"/>
                <a:cs typeface="Archivo" pitchFamily="34" charset="-120"/>
              </a:rPr>
              <a:t>Columnas finales</a:t>
            </a:r>
            <a:endParaRPr lang="en-US" sz="1400" dirty="0"/>
          </a:p>
        </p:txBody>
      </p:sp>
      <p:sp>
        <p:nvSpPr>
          <p:cNvPr id="29" name="Shape 27"/>
          <p:cNvSpPr/>
          <p:nvPr/>
        </p:nvSpPr>
        <p:spPr>
          <a:xfrm>
            <a:off x="3860800" y="5838825"/>
            <a:ext cx="3759200" cy="0"/>
          </a:xfrm>
          <a:prstGeom prst="line">
            <a:avLst/>
          </a:prstGeom>
          <a:noFill/>
          <a:ln w="6350">
            <a:solidFill>
              <a:srgbClr val="8C8476"/>
            </a:solidFill>
            <a:prstDash val="solid"/>
          </a:ln>
        </p:spPr>
      </p:sp>
      <p:sp>
        <p:nvSpPr>
          <p:cNvPr id="30" name="Text 28"/>
          <p:cNvSpPr/>
          <p:nvPr/>
        </p:nvSpPr>
        <p:spPr>
          <a:xfrm>
            <a:off x="3860800" y="5029200"/>
            <a:ext cx="3715004" cy="706120"/>
          </a:xfrm>
          <a:prstGeom prst="rect">
            <a:avLst/>
          </a:prstGeom>
          <a:noFill/>
          <a:ln/>
        </p:spPr>
        <p:txBody>
          <a:bodyPr wrap="square" lIns="0" tIns="0" rIns="0" bIns="0" rtlCol="0" anchor="t">
            <a:normAutofit/>
          </a:bodyPr>
          <a:lstStyle/>
          <a:p>
            <a:pPr algn="l" indent="0" marL="0">
              <a:lnSpc>
                <a:spcPts val="5200"/>
              </a:lnSpc>
              <a:buNone/>
            </a:pPr>
            <a:r>
              <a:rPr lang="en-US" sz="5200" dirty="0">
                <a:solidFill>
                  <a:srgbClr val="1F1E1C"/>
                </a:solidFill>
                <a:latin typeface="Anton" pitchFamily="34" charset="0"/>
                <a:ea typeface="Anton" pitchFamily="34" charset="-122"/>
                <a:cs typeface="Anton" pitchFamily="34" charset="-120"/>
              </a:rPr>
              <a:t>138</a:t>
            </a:r>
            <a:endParaRPr lang="en-US" sz="5200" dirty="0"/>
          </a:p>
        </p:txBody>
      </p:sp>
      <p:sp>
        <p:nvSpPr>
          <p:cNvPr id="31" name="Shape 29"/>
          <p:cNvSpPr/>
          <p:nvPr/>
        </p:nvSpPr>
        <p:spPr>
          <a:xfrm>
            <a:off x="7620000" y="5838825"/>
            <a:ext cx="3759200" cy="0"/>
          </a:xfrm>
          <a:prstGeom prst="line">
            <a:avLst/>
          </a:prstGeom>
          <a:noFill/>
          <a:ln w="6350">
            <a:solidFill>
              <a:srgbClr val="8C8476"/>
            </a:solidFill>
            <a:prstDash val="solid"/>
          </a:ln>
        </p:spPr>
      </p:sp>
      <p:sp>
        <p:nvSpPr>
          <p:cNvPr id="32" name="Text 30"/>
          <p:cNvSpPr/>
          <p:nvPr/>
        </p:nvSpPr>
        <p:spPr>
          <a:xfrm>
            <a:off x="7620000" y="5029200"/>
            <a:ext cx="3715004" cy="706120"/>
          </a:xfrm>
          <a:prstGeom prst="rect">
            <a:avLst/>
          </a:prstGeom>
          <a:noFill/>
          <a:ln/>
        </p:spPr>
        <p:txBody>
          <a:bodyPr wrap="square" lIns="0" tIns="0" rIns="0" bIns="0" rtlCol="0" anchor="t">
            <a:normAutofit/>
          </a:bodyPr>
          <a:lstStyle/>
          <a:p>
            <a:pPr algn="l" indent="0" marL="0">
              <a:lnSpc>
                <a:spcPts val="5200"/>
              </a:lnSpc>
              <a:buNone/>
            </a:pPr>
            <a:r>
              <a:rPr lang="en-US" sz="5200" dirty="0">
                <a:solidFill>
                  <a:srgbClr val="1F1E1C"/>
                </a:solidFill>
                <a:latin typeface="Anton" pitchFamily="34" charset="0"/>
                <a:ea typeface="Anton" pitchFamily="34" charset="-122"/>
                <a:cs typeface="Anton" pitchFamily="34" charset="-120"/>
              </a:rPr>
              <a:t>158</a:t>
            </a:r>
            <a:endParaRPr lang="en-US" sz="5200" dirty="0"/>
          </a:p>
        </p:txBody>
      </p:sp>
      <p:sp>
        <p:nvSpPr>
          <p:cNvPr id="33" name="Text 31"/>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53F"/>
                </a:solidFill>
                <a:latin typeface="Archivo" pitchFamily="34" charset="0"/>
                <a:ea typeface="Archivo" pitchFamily="34" charset="-122"/>
                <a:cs typeface="Archivo" pitchFamily="34" charset="-120"/>
              </a:rPr>
              <a:t>07 · Housing Prices · EP2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1E1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718820"/>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DCD3C3"/>
                </a:solidFill>
                <a:latin typeface="Anton" pitchFamily="34" charset="0"/>
                <a:ea typeface="Anton" pitchFamily="34" charset="-122"/>
                <a:cs typeface="Anton" pitchFamily="34" charset="-120"/>
              </a:rPr>
              <a:t>TRES DECISIONES</a:t>
            </a:r>
            <a:endParaRPr lang="en-US" sz="5200" dirty="0"/>
          </a:p>
        </p:txBody>
      </p:sp>
      <p:sp>
        <p:nvSpPr>
          <p:cNvPr id="3" name="Text 1"/>
          <p:cNvSpPr/>
          <p:nvPr/>
        </p:nvSpPr>
        <p:spPr>
          <a:xfrm>
            <a:off x="812800" y="1760221"/>
            <a:ext cx="1088339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9B8B"/>
                </a:solidFill>
                <a:latin typeface="Archivo" pitchFamily="34" charset="0"/>
                <a:ea typeface="Archivo" pitchFamily="34" charset="-122"/>
                <a:cs typeface="Archivo" pitchFamily="34" charset="-120"/>
              </a:rPr>
              <a:t>Cada una con un criterio fijado antes de probar y medida con validación cruzada.</a:t>
            </a:r>
            <a:endParaRPr lang="en-US" sz="1400" dirty="0"/>
          </a:p>
        </p:txBody>
      </p:sp>
      <p:sp>
        <p:nvSpPr>
          <p:cNvPr id="4" name="Text 2"/>
          <p:cNvSpPr/>
          <p:nvPr/>
        </p:nvSpPr>
        <p:spPr>
          <a:xfrm>
            <a:off x="812800" y="3289300"/>
            <a:ext cx="457200" cy="457200"/>
          </a:xfrm>
          <a:prstGeom prst="roundRect">
            <a:avLst>
              <a:gd name="adj" fmla="val 50000"/>
            </a:avLst>
          </a:prstGeom>
          <a:solidFill>
            <a:srgbClr val="DCD3C3"/>
          </a:solidFill>
          <a:ln/>
        </p:spPr>
        <p:txBody>
          <a:bodyPr wrap="square" lIns="0" tIns="0" rIns="0" bIns="0" rtlCol="0" anchor="ctr">
            <a:normAutofit/>
          </a:bodyPr>
          <a:lstStyle/>
          <a:p>
            <a:pPr algn="ctr" indent="0" marL="0">
              <a:lnSpc>
                <a:spcPts val="1680"/>
              </a:lnSpc>
              <a:buNone/>
            </a:pPr>
            <a:r>
              <a:rPr lang="en-US" sz="1200" b="1" dirty="0">
                <a:solidFill>
                  <a:srgbClr val="1F1E1C"/>
                </a:solidFill>
                <a:latin typeface="Archivo" pitchFamily="34" charset="0"/>
                <a:ea typeface="Archivo" pitchFamily="34" charset="-122"/>
                <a:cs typeface="Archivo" pitchFamily="34" charset="-120"/>
              </a:rPr>
              <a:t>01</a:t>
            </a:r>
            <a:endParaRPr lang="en-US" sz="1200" dirty="0"/>
          </a:p>
        </p:txBody>
      </p:sp>
      <p:sp>
        <p:nvSpPr>
          <p:cNvPr id="5" name="Text 3"/>
          <p:cNvSpPr/>
          <p:nvPr/>
        </p:nvSpPr>
        <p:spPr>
          <a:xfrm>
            <a:off x="4470400" y="3289300"/>
            <a:ext cx="457200" cy="457200"/>
          </a:xfrm>
          <a:prstGeom prst="roundRect">
            <a:avLst>
              <a:gd name="adj" fmla="val 50000"/>
            </a:avLst>
          </a:prstGeom>
          <a:solidFill>
            <a:srgbClr val="DCD3C3"/>
          </a:solidFill>
          <a:ln/>
        </p:spPr>
        <p:txBody>
          <a:bodyPr wrap="square" lIns="0" tIns="0" rIns="0" bIns="0" rtlCol="0" anchor="ctr">
            <a:normAutofit/>
          </a:bodyPr>
          <a:lstStyle/>
          <a:p>
            <a:pPr algn="ctr" indent="0" marL="0">
              <a:lnSpc>
                <a:spcPts val="1680"/>
              </a:lnSpc>
              <a:buNone/>
            </a:pPr>
            <a:r>
              <a:rPr lang="en-US" sz="1200" b="1" dirty="0">
                <a:solidFill>
                  <a:srgbClr val="1F1E1C"/>
                </a:solidFill>
                <a:latin typeface="Archivo" pitchFamily="34" charset="0"/>
                <a:ea typeface="Archivo" pitchFamily="34" charset="-122"/>
                <a:cs typeface="Archivo" pitchFamily="34" charset="-120"/>
              </a:rPr>
              <a:t>02</a:t>
            </a:r>
            <a:endParaRPr lang="en-US" sz="1200" dirty="0"/>
          </a:p>
        </p:txBody>
      </p:sp>
      <p:sp>
        <p:nvSpPr>
          <p:cNvPr id="6" name="Text 4"/>
          <p:cNvSpPr/>
          <p:nvPr/>
        </p:nvSpPr>
        <p:spPr>
          <a:xfrm>
            <a:off x="8128000" y="3289300"/>
            <a:ext cx="457200" cy="457200"/>
          </a:xfrm>
          <a:prstGeom prst="roundRect">
            <a:avLst>
              <a:gd name="adj" fmla="val 50000"/>
            </a:avLst>
          </a:prstGeom>
          <a:solidFill>
            <a:srgbClr val="DCD3C3"/>
          </a:solidFill>
          <a:ln/>
        </p:spPr>
        <p:txBody>
          <a:bodyPr wrap="square" lIns="0" tIns="0" rIns="0" bIns="0" rtlCol="0" anchor="ctr">
            <a:normAutofit/>
          </a:bodyPr>
          <a:lstStyle/>
          <a:p>
            <a:pPr algn="ctr" indent="0" marL="0">
              <a:lnSpc>
                <a:spcPts val="1680"/>
              </a:lnSpc>
              <a:buNone/>
            </a:pPr>
            <a:r>
              <a:rPr lang="en-US" sz="1200" b="1" dirty="0">
                <a:solidFill>
                  <a:srgbClr val="1F1E1C"/>
                </a:solidFill>
                <a:latin typeface="Archivo" pitchFamily="34" charset="0"/>
                <a:ea typeface="Archivo" pitchFamily="34" charset="-122"/>
                <a:cs typeface="Archivo" pitchFamily="34" charset="-120"/>
              </a:rPr>
              <a:t>03</a:t>
            </a:r>
            <a:endParaRPr lang="en-US" sz="1200" dirty="0"/>
          </a:p>
        </p:txBody>
      </p:sp>
      <p:sp>
        <p:nvSpPr>
          <p:cNvPr id="7" name="Text 5"/>
          <p:cNvSpPr/>
          <p:nvPr/>
        </p:nvSpPr>
        <p:spPr>
          <a:xfrm>
            <a:off x="812800" y="3898900"/>
            <a:ext cx="3348736"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DCD3C3"/>
                </a:solidFill>
                <a:latin typeface="Archivo" pitchFamily="34" charset="0"/>
                <a:ea typeface="Archivo" pitchFamily="34" charset="-122"/>
                <a:cs typeface="Archivo" pitchFamily="34" charset="-120"/>
              </a:rPr>
              <a:t>¿Entrenar con zonas no residenciales empeora las residenciales?</a:t>
            </a:r>
            <a:endParaRPr lang="en-US" sz="1400" dirty="0"/>
          </a:p>
        </p:txBody>
      </p:sp>
      <p:sp>
        <p:nvSpPr>
          <p:cNvPr id="8" name="Text 6"/>
          <p:cNvSpPr/>
          <p:nvPr/>
        </p:nvSpPr>
        <p:spPr>
          <a:xfrm>
            <a:off x="4470400" y="3898900"/>
            <a:ext cx="3348736"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DCD3C3"/>
                </a:solidFill>
                <a:latin typeface="Archivo" pitchFamily="34" charset="0"/>
                <a:ea typeface="Archivo" pitchFamily="34" charset="-122"/>
                <a:cs typeface="Archivo" pitchFamily="34" charset="-120"/>
              </a:rPr>
              <a:t>¿Quitar variables casi constantes y redundantes?</a:t>
            </a:r>
            <a:endParaRPr lang="en-US" sz="1400" dirty="0"/>
          </a:p>
        </p:txBody>
      </p:sp>
      <p:sp>
        <p:nvSpPr>
          <p:cNvPr id="9" name="Text 7"/>
          <p:cNvSpPr/>
          <p:nvPr/>
        </p:nvSpPr>
        <p:spPr>
          <a:xfrm>
            <a:off x="8128000" y="3898900"/>
            <a:ext cx="3348736"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DCD3C3"/>
                </a:solidFill>
                <a:latin typeface="Archivo" pitchFamily="34" charset="0"/>
                <a:ea typeface="Archivo" pitchFamily="34" charset="-122"/>
                <a:cs typeface="Archivo" pitchFamily="34" charset="-120"/>
              </a:rPr>
              <a:t>¿Quitar Sale Condition y Sale Type, que se conocen solo al vender?</a:t>
            </a:r>
            <a:endParaRPr lang="en-US" sz="1400" dirty="0"/>
          </a:p>
        </p:txBody>
      </p:sp>
      <p:sp>
        <p:nvSpPr>
          <p:cNvPr id="10" name="Text 8"/>
          <p:cNvSpPr/>
          <p:nvPr/>
        </p:nvSpPr>
        <p:spPr>
          <a:xfrm>
            <a:off x="812800" y="4531358"/>
            <a:ext cx="334873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Sí, en 3 de 4 modelos. Y en esas zonas el MAPE queda entre 34 % y 44 %.</a:t>
            </a:r>
            <a:endParaRPr lang="en-US" sz="1200" dirty="0"/>
          </a:p>
        </p:txBody>
      </p:sp>
      <p:sp>
        <p:nvSpPr>
          <p:cNvPr id="11" name="Text 9"/>
          <p:cNvSpPr/>
          <p:nvPr/>
        </p:nvSpPr>
        <p:spPr>
          <a:xfrm>
            <a:off x="4470400" y="4531358"/>
            <a:ext cx="334873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Mejora a Ridge (−66 USD de RMSE) y a Lasso (−221 USD). Los árboles quedan igual.</a:t>
            </a:r>
            <a:endParaRPr lang="en-US" sz="1200" dirty="0"/>
          </a:p>
        </p:txBody>
      </p:sp>
      <p:sp>
        <p:nvSpPr>
          <p:cNvPr id="12" name="Text 10"/>
          <p:cNvSpPr/>
          <p:nvPr/>
        </p:nvSpPr>
        <p:spPr>
          <a:xfrm>
            <a:off x="8128000" y="4531358"/>
            <a:ext cx="334873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Quitarlas empeora a los cuatro modelos.</a:t>
            </a:r>
            <a:endParaRPr lang="en-US" sz="1200" dirty="0"/>
          </a:p>
        </p:txBody>
      </p:sp>
      <p:sp>
        <p:nvSpPr>
          <p:cNvPr id="13" name="Shape 11"/>
          <p:cNvSpPr/>
          <p:nvPr/>
        </p:nvSpPr>
        <p:spPr>
          <a:xfrm>
            <a:off x="812800" y="5113654"/>
            <a:ext cx="3251200" cy="0"/>
          </a:xfrm>
          <a:prstGeom prst="line">
            <a:avLst/>
          </a:prstGeom>
          <a:noFill/>
          <a:ln w="6350">
            <a:solidFill>
              <a:srgbClr val="6E685E"/>
            </a:solidFill>
            <a:prstDash val="solid"/>
          </a:ln>
        </p:spPr>
      </p:sp>
      <p:sp>
        <p:nvSpPr>
          <p:cNvPr id="14" name="Text 12"/>
          <p:cNvSpPr/>
          <p:nvPr/>
        </p:nvSpPr>
        <p:spPr>
          <a:xfrm>
            <a:off x="812800" y="5267958"/>
            <a:ext cx="3348736" cy="3606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DCD3C3"/>
                </a:solidFill>
                <a:latin typeface="Anton" pitchFamily="34" charset="0"/>
                <a:ea typeface="Anton" pitchFamily="34" charset="-122"/>
                <a:cs typeface="Anton" pitchFamily="34" charset="-120"/>
              </a:rPr>
              <a:t>EXCLUIR</a:t>
            </a:r>
            <a:endParaRPr lang="en-US" sz="2400" dirty="0"/>
          </a:p>
        </p:txBody>
      </p:sp>
      <p:sp>
        <p:nvSpPr>
          <p:cNvPr id="15" name="Text 13"/>
          <p:cNvSpPr/>
          <p:nvPr/>
        </p:nvSpPr>
        <p:spPr>
          <a:xfrm>
            <a:off x="812800" y="5628642"/>
            <a:ext cx="33487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3C3"/>
                </a:solidFill>
                <a:latin typeface="Archivo" pitchFamily="34" charset="0"/>
                <a:ea typeface="Archivo" pitchFamily="34" charset="-122"/>
                <a:cs typeface="Archivo" pitchFamily="34" charset="-120"/>
              </a:rPr>
              <a:t>Van a tasación manual</a:t>
            </a:r>
            <a:endParaRPr lang="en-US" sz="1200" dirty="0"/>
          </a:p>
        </p:txBody>
      </p:sp>
      <p:sp>
        <p:nvSpPr>
          <p:cNvPr id="16" name="Shape 14"/>
          <p:cNvSpPr/>
          <p:nvPr/>
        </p:nvSpPr>
        <p:spPr>
          <a:xfrm>
            <a:off x="4470400" y="5113654"/>
            <a:ext cx="3251200" cy="0"/>
          </a:xfrm>
          <a:prstGeom prst="line">
            <a:avLst/>
          </a:prstGeom>
          <a:noFill/>
          <a:ln w="6350">
            <a:solidFill>
              <a:srgbClr val="6E685E"/>
            </a:solidFill>
            <a:prstDash val="solid"/>
          </a:ln>
        </p:spPr>
      </p:sp>
      <p:sp>
        <p:nvSpPr>
          <p:cNvPr id="17" name="Text 15"/>
          <p:cNvSpPr/>
          <p:nvPr/>
        </p:nvSpPr>
        <p:spPr>
          <a:xfrm>
            <a:off x="4470400" y="5267958"/>
            <a:ext cx="3348736" cy="3606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DCD3C3"/>
                </a:solidFill>
                <a:latin typeface="Anton" pitchFamily="34" charset="0"/>
                <a:ea typeface="Anton" pitchFamily="34" charset="-122"/>
                <a:cs typeface="Anton" pitchFamily="34" charset="-120"/>
              </a:rPr>
              <a:t>QUITAR</a:t>
            </a:r>
            <a:endParaRPr lang="en-US" sz="2400" dirty="0"/>
          </a:p>
        </p:txBody>
      </p:sp>
      <p:sp>
        <p:nvSpPr>
          <p:cNvPr id="18" name="Text 16"/>
          <p:cNvSpPr/>
          <p:nvPr/>
        </p:nvSpPr>
        <p:spPr>
          <a:xfrm>
            <a:off x="4470400" y="5628642"/>
            <a:ext cx="33487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3C3"/>
                </a:solidFill>
                <a:latin typeface="Archivo" pitchFamily="34" charset="0"/>
                <a:ea typeface="Archivo" pitchFamily="34" charset="-122"/>
                <a:cs typeface="Archivo" pitchFamily="34" charset="-120"/>
              </a:rPr>
              <a:t>164 → 138 columnas en los lineales</a:t>
            </a:r>
            <a:endParaRPr lang="en-US" sz="1200" dirty="0"/>
          </a:p>
        </p:txBody>
      </p:sp>
      <p:sp>
        <p:nvSpPr>
          <p:cNvPr id="19" name="Shape 17"/>
          <p:cNvSpPr/>
          <p:nvPr/>
        </p:nvSpPr>
        <p:spPr>
          <a:xfrm>
            <a:off x="8128000" y="5113654"/>
            <a:ext cx="3251200" cy="0"/>
          </a:xfrm>
          <a:prstGeom prst="line">
            <a:avLst/>
          </a:prstGeom>
          <a:noFill/>
          <a:ln w="6350">
            <a:solidFill>
              <a:srgbClr val="6E685E"/>
            </a:solidFill>
            <a:prstDash val="solid"/>
          </a:ln>
        </p:spPr>
      </p:sp>
      <p:sp>
        <p:nvSpPr>
          <p:cNvPr id="20" name="Text 18"/>
          <p:cNvSpPr/>
          <p:nvPr/>
        </p:nvSpPr>
        <p:spPr>
          <a:xfrm>
            <a:off x="8128000" y="5267958"/>
            <a:ext cx="3348736" cy="3606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DCD3C3"/>
                </a:solidFill>
                <a:latin typeface="Anton" pitchFamily="34" charset="0"/>
                <a:ea typeface="Anton" pitchFamily="34" charset="-122"/>
                <a:cs typeface="Anton" pitchFamily="34" charset="-120"/>
              </a:rPr>
              <a:t>MANTENER</a:t>
            </a:r>
            <a:endParaRPr lang="en-US" sz="2400" dirty="0"/>
          </a:p>
        </p:txBody>
      </p:sp>
      <p:sp>
        <p:nvSpPr>
          <p:cNvPr id="21" name="Text 19"/>
          <p:cNvSpPr/>
          <p:nvPr/>
        </p:nvSpPr>
        <p:spPr>
          <a:xfrm>
            <a:off x="8128000" y="5628642"/>
            <a:ext cx="33487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3C3"/>
                </a:solidFill>
                <a:latin typeface="Archivo" pitchFamily="34" charset="0"/>
                <a:ea typeface="Archivo" pitchFamily="34" charset="-122"/>
                <a:cs typeface="Archivo" pitchFamily="34" charset="-120"/>
              </a:rPr>
              <a:t>Al tasar se asume venta normal</a:t>
            </a:r>
            <a:endParaRPr lang="en-US" sz="1200" dirty="0"/>
          </a:p>
        </p:txBody>
      </p:sp>
      <p:sp>
        <p:nvSpPr>
          <p:cNvPr id="22" name="Text 20"/>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08 · Housing Prices · EP2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DCD3C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718820"/>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1F1E1C"/>
                </a:solidFill>
                <a:latin typeface="Anton" pitchFamily="34" charset="0"/>
                <a:ea typeface="Anton" pitchFamily="34" charset="-122"/>
                <a:cs typeface="Anton" pitchFamily="34" charset="-120"/>
              </a:rPr>
              <a:t>MODELOS Y PARÁMETROS</a:t>
            </a:r>
            <a:endParaRPr lang="en-US" sz="5200" dirty="0"/>
          </a:p>
        </p:txBody>
      </p:sp>
      <p:sp>
        <p:nvSpPr>
          <p:cNvPr id="3" name="Text 1"/>
          <p:cNvSpPr/>
          <p:nvPr/>
        </p:nvSpPr>
        <p:spPr>
          <a:xfrm>
            <a:off x="812800" y="1760221"/>
            <a:ext cx="1088339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53F"/>
                </a:solidFill>
                <a:latin typeface="Archivo" pitchFamily="34" charset="0"/>
                <a:ea typeface="Archivo" pitchFamily="34" charset="-122"/>
                <a:cs typeface="Archivo" pitchFamily="34" charset="-120"/>
              </a:rPr>
              <a:t>Las tres familias preseleccionadas en la EP1, con parámetros iniciales fijos.</a:t>
            </a:r>
            <a:endParaRPr lang="en-US" sz="1400" dirty="0"/>
          </a:p>
        </p:txBody>
      </p:sp>
      <p:sp>
        <p:nvSpPr>
          <p:cNvPr id="4" name="Text 2"/>
          <p:cNvSpPr/>
          <p:nvPr/>
        </p:nvSpPr>
        <p:spPr>
          <a:xfrm>
            <a:off x="812800" y="2795271"/>
            <a:ext cx="1975667" cy="23876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4A453F"/>
                </a:solidFill>
                <a:latin typeface="Archivo" pitchFamily="34" charset="0"/>
                <a:ea typeface="Archivo" pitchFamily="34" charset="-122"/>
                <a:cs typeface="Archivo" pitchFamily="34" charset="-120"/>
              </a:rPr>
              <a:t>MENOR COMPLEJIDAD</a:t>
            </a:r>
            <a:endParaRPr lang="en-US" sz="1200" dirty="0"/>
          </a:p>
        </p:txBody>
      </p:sp>
      <p:sp>
        <p:nvSpPr>
          <p:cNvPr id="5" name="Shape 3"/>
          <p:cNvSpPr/>
          <p:nvPr/>
        </p:nvSpPr>
        <p:spPr>
          <a:xfrm>
            <a:off x="2857923" y="2895600"/>
            <a:ext cx="6120236" cy="12700"/>
          </a:xfrm>
          <a:prstGeom prst="rect">
            <a:avLst/>
          </a:prstGeom>
          <a:solidFill>
            <a:srgbClr val="1F1E1C"/>
          </a:solidFill>
          <a:ln/>
        </p:spPr>
      </p:sp>
      <p:pic>
        <p:nvPicPr>
          <p:cNvPr id="6" name="Image 0" descr="arrow-right">    </p:cNvPr>
          <p:cNvPicPr>
            <a:picLocks noChangeAspect="1"/>
          </p:cNvPicPr>
          <p:nvPr/>
        </p:nvPicPr>
        <p:blipFill>
          <a:blip r:embed="rId1"/>
          <a:srcRect l="0" r="0" t="0" b="0"/>
          <a:stretch/>
        </p:blipFill>
        <p:spPr>
          <a:xfrm>
            <a:off x="9105159" y="2838450"/>
            <a:ext cx="254000" cy="127000"/>
          </a:xfrm>
          <a:prstGeom prst="rect">
            <a:avLst/>
          </a:prstGeom>
        </p:spPr>
      </p:pic>
      <p:sp>
        <p:nvSpPr>
          <p:cNvPr id="7" name="Text 4"/>
          <p:cNvSpPr/>
          <p:nvPr/>
        </p:nvSpPr>
        <p:spPr>
          <a:xfrm>
            <a:off x="9486159" y="2795271"/>
            <a:ext cx="1949832" cy="23876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4A453F"/>
                </a:solidFill>
                <a:latin typeface="Archivo" pitchFamily="34" charset="0"/>
                <a:ea typeface="Archivo" pitchFamily="34" charset="-122"/>
                <a:cs typeface="Archivo" pitchFamily="34" charset="-120"/>
              </a:rPr>
              <a:t>MAYOR COMPLEJIDAD</a:t>
            </a:r>
            <a:endParaRPr lang="en-US" sz="1200" dirty="0"/>
          </a:p>
        </p:txBody>
      </p:sp>
      <p:sp>
        <p:nvSpPr>
          <p:cNvPr id="8" name="Shape 5"/>
          <p:cNvSpPr/>
          <p:nvPr/>
        </p:nvSpPr>
        <p:spPr>
          <a:xfrm>
            <a:off x="819150" y="3167379"/>
            <a:ext cx="2514600" cy="1804670"/>
          </a:xfrm>
          <a:prstGeom prst="roundRect">
            <a:avLst>
              <a:gd name="adj" fmla="val 3871"/>
            </a:avLst>
          </a:prstGeom>
          <a:noFill/>
          <a:ln w="12700">
            <a:solidFill>
              <a:srgbClr val="1F1E1C"/>
            </a:solidFill>
            <a:prstDash val="solid"/>
          </a:ln>
        </p:spPr>
      </p:sp>
      <p:sp>
        <p:nvSpPr>
          <p:cNvPr id="9" name="Text 6"/>
          <p:cNvSpPr/>
          <p:nvPr/>
        </p:nvSpPr>
        <p:spPr>
          <a:xfrm>
            <a:off x="1051560" y="3399792"/>
            <a:ext cx="2111273" cy="238760"/>
          </a:xfrm>
          <a:prstGeom prst="rect">
            <a:avLst/>
          </a:prstGeom>
          <a:noFill/>
          <a:ln/>
        </p:spPr>
        <p:txBody>
          <a:bodyPr wrap="square" lIns="0" tIns="0" rIns="0" bIns="0" rtlCol="0" anchor="t">
            <a:normAutofit/>
          </a:bodyPr>
          <a:lstStyle/>
          <a:p>
            <a:pPr algn="l" indent="0" marL="0">
              <a:lnSpc>
                <a:spcPts val="1680"/>
              </a:lnSpc>
              <a:buNone/>
            </a:pPr>
            <a:r>
              <a:rPr lang="en-US" sz="1200" spc="25" kern="0" dirty="0">
                <a:solidFill>
                  <a:srgbClr val="4A453F"/>
                </a:solidFill>
                <a:latin typeface="Archivo" pitchFamily="34" charset="0"/>
                <a:ea typeface="Archivo" pitchFamily="34" charset="-122"/>
                <a:cs typeface="Archivo" pitchFamily="34" charset="-120"/>
              </a:rPr>
              <a:t>LINEAL · L2</a:t>
            </a:r>
            <a:endParaRPr lang="en-US" sz="1200" dirty="0"/>
          </a:p>
        </p:txBody>
      </p:sp>
      <p:sp>
        <p:nvSpPr>
          <p:cNvPr id="10" name="Text 7"/>
          <p:cNvSpPr/>
          <p:nvPr/>
        </p:nvSpPr>
        <p:spPr>
          <a:xfrm>
            <a:off x="1051560" y="3714750"/>
            <a:ext cx="2111273" cy="3606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1F1E1C"/>
                </a:solidFill>
                <a:latin typeface="Anton" pitchFamily="34" charset="0"/>
                <a:ea typeface="Anton" pitchFamily="34" charset="-122"/>
                <a:cs typeface="Anton" pitchFamily="34" charset="-120"/>
              </a:rPr>
              <a:t>RIDGE</a:t>
            </a:r>
            <a:endParaRPr lang="en-US" sz="2400" dirty="0"/>
          </a:p>
        </p:txBody>
      </p:sp>
      <p:sp>
        <p:nvSpPr>
          <p:cNvPr id="11" name="Shape 8"/>
          <p:cNvSpPr/>
          <p:nvPr/>
        </p:nvSpPr>
        <p:spPr>
          <a:xfrm>
            <a:off x="1051560" y="4151629"/>
            <a:ext cx="2049780" cy="6350"/>
          </a:xfrm>
          <a:prstGeom prst="rect">
            <a:avLst/>
          </a:prstGeom>
          <a:solidFill>
            <a:srgbClr val="8C8476"/>
          </a:solidFill>
          <a:ln/>
        </p:spPr>
      </p:sp>
      <p:sp>
        <p:nvSpPr>
          <p:cNvPr id="12" name="Text 9"/>
          <p:cNvSpPr/>
          <p:nvPr/>
        </p:nvSpPr>
        <p:spPr>
          <a:xfrm>
            <a:off x="1051560" y="4259579"/>
            <a:ext cx="2111273"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E1C"/>
                </a:solidFill>
                <a:latin typeface="Archivo" pitchFamily="34" charset="0"/>
                <a:ea typeface="Archivo" pitchFamily="34" charset="-122"/>
                <a:cs typeface="Archivo" pitchFamily="34" charset="-120"/>
              </a:rPr>
              <a:t>alpha elegido con validación cruzada interna</a:t>
            </a:r>
            <a:endParaRPr lang="en-US" sz="1400" dirty="0"/>
          </a:p>
        </p:txBody>
      </p:sp>
      <p:sp>
        <p:nvSpPr>
          <p:cNvPr id="13" name="Shape 10"/>
          <p:cNvSpPr/>
          <p:nvPr/>
        </p:nvSpPr>
        <p:spPr>
          <a:xfrm>
            <a:off x="3498850" y="3167379"/>
            <a:ext cx="2514600" cy="1804670"/>
          </a:xfrm>
          <a:prstGeom prst="roundRect">
            <a:avLst>
              <a:gd name="adj" fmla="val 3871"/>
            </a:avLst>
          </a:prstGeom>
          <a:noFill/>
          <a:ln w="12700">
            <a:solidFill>
              <a:srgbClr val="1F1E1C"/>
            </a:solidFill>
            <a:prstDash val="solid"/>
          </a:ln>
        </p:spPr>
      </p:sp>
      <p:sp>
        <p:nvSpPr>
          <p:cNvPr id="14" name="Text 11"/>
          <p:cNvSpPr/>
          <p:nvPr/>
        </p:nvSpPr>
        <p:spPr>
          <a:xfrm>
            <a:off x="3731260" y="3399792"/>
            <a:ext cx="2111273" cy="238760"/>
          </a:xfrm>
          <a:prstGeom prst="rect">
            <a:avLst/>
          </a:prstGeom>
          <a:noFill/>
          <a:ln/>
        </p:spPr>
        <p:txBody>
          <a:bodyPr wrap="square" lIns="0" tIns="0" rIns="0" bIns="0" rtlCol="0" anchor="t">
            <a:normAutofit/>
          </a:bodyPr>
          <a:lstStyle/>
          <a:p>
            <a:pPr algn="l" indent="0" marL="0">
              <a:lnSpc>
                <a:spcPts val="1680"/>
              </a:lnSpc>
              <a:buNone/>
            </a:pPr>
            <a:r>
              <a:rPr lang="en-US" sz="1200" spc="25" kern="0" dirty="0">
                <a:solidFill>
                  <a:srgbClr val="4A453F"/>
                </a:solidFill>
                <a:latin typeface="Archivo" pitchFamily="34" charset="0"/>
                <a:ea typeface="Archivo" pitchFamily="34" charset="-122"/>
                <a:cs typeface="Archivo" pitchFamily="34" charset="-120"/>
              </a:rPr>
              <a:t>LINEAL · L1</a:t>
            </a:r>
            <a:endParaRPr lang="en-US" sz="1200" dirty="0"/>
          </a:p>
        </p:txBody>
      </p:sp>
      <p:sp>
        <p:nvSpPr>
          <p:cNvPr id="15" name="Text 12"/>
          <p:cNvSpPr/>
          <p:nvPr/>
        </p:nvSpPr>
        <p:spPr>
          <a:xfrm>
            <a:off x="3731260" y="3714750"/>
            <a:ext cx="2111273" cy="3606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1F1E1C"/>
                </a:solidFill>
                <a:latin typeface="Anton" pitchFamily="34" charset="0"/>
                <a:ea typeface="Anton" pitchFamily="34" charset="-122"/>
                <a:cs typeface="Anton" pitchFamily="34" charset="-120"/>
              </a:rPr>
              <a:t>LASSO</a:t>
            </a:r>
            <a:endParaRPr lang="en-US" sz="2400" dirty="0"/>
          </a:p>
        </p:txBody>
      </p:sp>
      <p:sp>
        <p:nvSpPr>
          <p:cNvPr id="16" name="Shape 13"/>
          <p:cNvSpPr/>
          <p:nvPr/>
        </p:nvSpPr>
        <p:spPr>
          <a:xfrm>
            <a:off x="3731260" y="4151629"/>
            <a:ext cx="2049780" cy="6350"/>
          </a:xfrm>
          <a:prstGeom prst="rect">
            <a:avLst/>
          </a:prstGeom>
          <a:solidFill>
            <a:srgbClr val="8C8476"/>
          </a:solidFill>
          <a:ln/>
        </p:spPr>
      </p:sp>
      <p:sp>
        <p:nvSpPr>
          <p:cNvPr id="17" name="Text 14"/>
          <p:cNvSpPr/>
          <p:nvPr/>
        </p:nvSpPr>
        <p:spPr>
          <a:xfrm>
            <a:off x="3731260" y="4259579"/>
            <a:ext cx="2111273"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E1C"/>
                </a:solidFill>
                <a:latin typeface="Archivo" pitchFamily="34" charset="0"/>
                <a:ea typeface="Archivo" pitchFamily="34" charset="-122"/>
                <a:cs typeface="Archivo" pitchFamily="34" charset="-120"/>
              </a:rPr>
              <a:t>alpha elegido con validación cruzada interna</a:t>
            </a:r>
            <a:endParaRPr lang="en-US" sz="1400" dirty="0"/>
          </a:p>
        </p:txBody>
      </p:sp>
      <p:sp>
        <p:nvSpPr>
          <p:cNvPr id="18" name="Shape 15"/>
          <p:cNvSpPr/>
          <p:nvPr/>
        </p:nvSpPr>
        <p:spPr>
          <a:xfrm>
            <a:off x="6178550" y="3167379"/>
            <a:ext cx="2514600" cy="1804670"/>
          </a:xfrm>
          <a:prstGeom prst="roundRect">
            <a:avLst>
              <a:gd name="adj" fmla="val 3871"/>
            </a:avLst>
          </a:prstGeom>
          <a:noFill/>
          <a:ln w="12700">
            <a:solidFill>
              <a:srgbClr val="1F1E1C"/>
            </a:solidFill>
            <a:prstDash val="solid"/>
          </a:ln>
        </p:spPr>
      </p:sp>
      <p:sp>
        <p:nvSpPr>
          <p:cNvPr id="19" name="Text 16"/>
          <p:cNvSpPr/>
          <p:nvPr/>
        </p:nvSpPr>
        <p:spPr>
          <a:xfrm>
            <a:off x="6410960" y="3399792"/>
            <a:ext cx="2111273" cy="238760"/>
          </a:xfrm>
          <a:prstGeom prst="rect">
            <a:avLst/>
          </a:prstGeom>
          <a:noFill/>
          <a:ln/>
        </p:spPr>
        <p:txBody>
          <a:bodyPr wrap="square" lIns="0" tIns="0" rIns="0" bIns="0" rtlCol="0" anchor="t">
            <a:normAutofit/>
          </a:bodyPr>
          <a:lstStyle/>
          <a:p>
            <a:pPr algn="l" indent="0" marL="0">
              <a:lnSpc>
                <a:spcPts val="1680"/>
              </a:lnSpc>
              <a:buNone/>
            </a:pPr>
            <a:r>
              <a:rPr lang="en-US" sz="1200" spc="25" kern="0" dirty="0">
                <a:solidFill>
                  <a:srgbClr val="4A453F"/>
                </a:solidFill>
                <a:latin typeface="Archivo" pitchFamily="34" charset="0"/>
                <a:ea typeface="Archivo" pitchFamily="34" charset="-122"/>
                <a:cs typeface="Archivo" pitchFamily="34" charset="-120"/>
              </a:rPr>
              <a:t>ÁRBOLES EN PARALELO</a:t>
            </a:r>
            <a:endParaRPr lang="en-US" sz="1200" dirty="0"/>
          </a:p>
        </p:txBody>
      </p:sp>
      <p:sp>
        <p:nvSpPr>
          <p:cNvPr id="20" name="Text 17"/>
          <p:cNvSpPr/>
          <p:nvPr/>
        </p:nvSpPr>
        <p:spPr>
          <a:xfrm>
            <a:off x="6410960" y="3714750"/>
            <a:ext cx="2111273" cy="3606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1F1E1C"/>
                </a:solidFill>
                <a:latin typeface="Anton" pitchFamily="34" charset="0"/>
                <a:ea typeface="Anton" pitchFamily="34" charset="-122"/>
                <a:cs typeface="Anton" pitchFamily="34" charset="-120"/>
              </a:rPr>
              <a:t>RANDOM FOREST</a:t>
            </a:r>
            <a:endParaRPr lang="en-US" sz="2400" dirty="0"/>
          </a:p>
        </p:txBody>
      </p:sp>
      <p:sp>
        <p:nvSpPr>
          <p:cNvPr id="21" name="Shape 18"/>
          <p:cNvSpPr/>
          <p:nvPr/>
        </p:nvSpPr>
        <p:spPr>
          <a:xfrm>
            <a:off x="6410960" y="4151629"/>
            <a:ext cx="2049780" cy="6350"/>
          </a:xfrm>
          <a:prstGeom prst="rect">
            <a:avLst/>
          </a:prstGeom>
          <a:solidFill>
            <a:srgbClr val="8C8476"/>
          </a:solidFill>
          <a:ln/>
        </p:spPr>
      </p:sp>
      <p:sp>
        <p:nvSpPr>
          <p:cNvPr id="22" name="Text 19"/>
          <p:cNvSpPr/>
          <p:nvPr/>
        </p:nvSpPr>
        <p:spPr>
          <a:xfrm>
            <a:off x="6410960" y="4259579"/>
            <a:ext cx="2111273"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E1C"/>
                </a:solidFill>
                <a:latin typeface="Archivo" pitchFamily="34" charset="0"/>
                <a:ea typeface="Archivo" pitchFamily="34" charset="-122"/>
                <a:cs typeface="Archivo" pitchFamily="34" charset="-120"/>
              </a:rPr>
              <a:t>300 árboles, sin límite de profundidad</a:t>
            </a:r>
            <a:endParaRPr lang="en-US" sz="1400" dirty="0"/>
          </a:p>
        </p:txBody>
      </p:sp>
      <p:sp>
        <p:nvSpPr>
          <p:cNvPr id="23" name="Shape 20"/>
          <p:cNvSpPr/>
          <p:nvPr/>
        </p:nvSpPr>
        <p:spPr>
          <a:xfrm>
            <a:off x="8858250" y="3167379"/>
            <a:ext cx="2514600" cy="1804670"/>
          </a:xfrm>
          <a:prstGeom prst="roundRect">
            <a:avLst>
              <a:gd name="adj" fmla="val 3871"/>
            </a:avLst>
          </a:prstGeom>
          <a:noFill/>
          <a:ln w="12700">
            <a:solidFill>
              <a:srgbClr val="1F1E1C"/>
            </a:solidFill>
            <a:prstDash val="solid"/>
          </a:ln>
        </p:spPr>
      </p:sp>
      <p:sp>
        <p:nvSpPr>
          <p:cNvPr id="24" name="Text 21"/>
          <p:cNvSpPr/>
          <p:nvPr/>
        </p:nvSpPr>
        <p:spPr>
          <a:xfrm>
            <a:off x="9090660" y="3399792"/>
            <a:ext cx="2111273" cy="238760"/>
          </a:xfrm>
          <a:prstGeom prst="rect">
            <a:avLst/>
          </a:prstGeom>
          <a:noFill/>
          <a:ln/>
        </p:spPr>
        <p:txBody>
          <a:bodyPr wrap="square" lIns="0" tIns="0" rIns="0" bIns="0" rtlCol="0" anchor="t">
            <a:normAutofit/>
          </a:bodyPr>
          <a:lstStyle/>
          <a:p>
            <a:pPr algn="l" indent="0" marL="0">
              <a:lnSpc>
                <a:spcPts val="1680"/>
              </a:lnSpc>
              <a:buNone/>
            </a:pPr>
            <a:r>
              <a:rPr lang="en-US" sz="1200" spc="25" kern="0" dirty="0">
                <a:solidFill>
                  <a:srgbClr val="4A453F"/>
                </a:solidFill>
                <a:latin typeface="Archivo" pitchFamily="34" charset="0"/>
                <a:ea typeface="Archivo" pitchFamily="34" charset="-122"/>
                <a:cs typeface="Archivo" pitchFamily="34" charset="-120"/>
              </a:rPr>
              <a:t>ÁRBOLES EN SECUENCIA</a:t>
            </a:r>
            <a:endParaRPr lang="en-US" sz="1200" dirty="0"/>
          </a:p>
        </p:txBody>
      </p:sp>
      <p:sp>
        <p:nvSpPr>
          <p:cNvPr id="25" name="Text 22"/>
          <p:cNvSpPr/>
          <p:nvPr/>
        </p:nvSpPr>
        <p:spPr>
          <a:xfrm>
            <a:off x="9090660" y="3714750"/>
            <a:ext cx="2111273" cy="3606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1F1E1C"/>
                </a:solidFill>
                <a:latin typeface="Anton" pitchFamily="34" charset="0"/>
                <a:ea typeface="Anton" pitchFamily="34" charset="-122"/>
                <a:cs typeface="Anton" pitchFamily="34" charset="-120"/>
              </a:rPr>
              <a:t>XGBOOST</a:t>
            </a:r>
            <a:endParaRPr lang="en-US" sz="2400" dirty="0"/>
          </a:p>
        </p:txBody>
      </p:sp>
      <p:sp>
        <p:nvSpPr>
          <p:cNvPr id="26" name="Shape 23"/>
          <p:cNvSpPr/>
          <p:nvPr/>
        </p:nvSpPr>
        <p:spPr>
          <a:xfrm>
            <a:off x="9090660" y="4151629"/>
            <a:ext cx="2049780" cy="6350"/>
          </a:xfrm>
          <a:prstGeom prst="rect">
            <a:avLst/>
          </a:prstGeom>
          <a:solidFill>
            <a:srgbClr val="8C8476"/>
          </a:solidFill>
          <a:ln/>
        </p:spPr>
      </p:sp>
      <p:sp>
        <p:nvSpPr>
          <p:cNvPr id="27" name="Text 24"/>
          <p:cNvSpPr/>
          <p:nvPr/>
        </p:nvSpPr>
        <p:spPr>
          <a:xfrm>
            <a:off x="9090660" y="4259579"/>
            <a:ext cx="2111273"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E1C"/>
                </a:solidFill>
                <a:latin typeface="Archivo" pitchFamily="34" charset="0"/>
                <a:ea typeface="Archivo" pitchFamily="34" charset="-122"/>
                <a:cs typeface="Archivo" pitchFamily="34" charset="-120"/>
              </a:rPr>
              <a:t>500 árboles, tasa de aprendizaje 0,05</a:t>
            </a:r>
            <a:endParaRPr lang="en-US" sz="1400" dirty="0"/>
          </a:p>
        </p:txBody>
      </p:sp>
      <p:sp>
        <p:nvSpPr>
          <p:cNvPr id="28" name="Shape 25"/>
          <p:cNvSpPr/>
          <p:nvPr/>
        </p:nvSpPr>
        <p:spPr>
          <a:xfrm>
            <a:off x="812800" y="5232400"/>
            <a:ext cx="10566400" cy="609600"/>
          </a:xfrm>
          <a:prstGeom prst="rect">
            <a:avLst/>
          </a:prstGeom>
          <a:solidFill>
            <a:srgbClr val="1F1E1C"/>
          </a:solidFill>
          <a:ln/>
        </p:spPr>
      </p:sp>
      <p:pic>
        <p:nvPicPr>
          <p:cNvPr id="29" name="Image 1" descr="Settings">    </p:cNvPr>
          <p:cNvPicPr>
            <a:picLocks noChangeAspect="1"/>
          </p:cNvPicPr>
          <p:nvPr/>
        </p:nvPicPr>
        <p:blipFill>
          <a:blip r:embed="rId2"/>
          <a:srcRect l="0" r="0" t="0" b="0"/>
          <a:stretch/>
        </p:blipFill>
        <p:spPr>
          <a:xfrm>
            <a:off x="1066800" y="5410200"/>
            <a:ext cx="254000" cy="254000"/>
          </a:xfrm>
          <a:prstGeom prst="rect">
            <a:avLst/>
          </a:prstGeom>
        </p:spPr>
      </p:pic>
      <p:sp>
        <p:nvSpPr>
          <p:cNvPr id="30" name="Text 26"/>
          <p:cNvSpPr/>
          <p:nvPr/>
        </p:nvSpPr>
        <p:spPr>
          <a:xfrm>
            <a:off x="1473200" y="5417183"/>
            <a:ext cx="715467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CD3C3"/>
                </a:solidFill>
                <a:latin typeface="Archivo" pitchFamily="34" charset="0"/>
                <a:ea typeface="Archivo" pitchFamily="34" charset="-122"/>
                <a:cs typeface="Archivo" pitchFamily="34" charset="-120"/>
              </a:rPr>
              <a:t>Los cuatro se entrenan sobre log(precio). Sin búsqueda de hiperparámetros.</a:t>
            </a:r>
            <a:endParaRPr lang="en-US" sz="1400" dirty="0"/>
          </a:p>
        </p:txBody>
      </p:sp>
      <p:sp>
        <p:nvSpPr>
          <p:cNvPr id="31" name="Text 27"/>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53F"/>
                </a:solidFill>
                <a:latin typeface="Archivo" pitchFamily="34" charset="0"/>
                <a:ea typeface="Archivo" pitchFamily="34" charset="-122"/>
                <a:cs typeface="Archivo" pitchFamily="34" charset="-120"/>
              </a:rPr>
              <a:t>09 · Housing Prices · EP2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1E1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718820"/>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DCD3C3"/>
                </a:solidFill>
                <a:latin typeface="Anton" pitchFamily="34" charset="0"/>
                <a:ea typeface="Anton" pitchFamily="34" charset="-122"/>
                <a:cs typeface="Anton" pitchFamily="34" charset="-120"/>
              </a:rPr>
              <a:t>VALIDACIÓN CRUZADA</a:t>
            </a:r>
            <a:endParaRPr lang="en-US" sz="5200" dirty="0"/>
          </a:p>
        </p:txBody>
      </p:sp>
      <p:sp>
        <p:nvSpPr>
          <p:cNvPr id="3" name="Text 1"/>
          <p:cNvSpPr/>
          <p:nvPr/>
        </p:nvSpPr>
        <p:spPr>
          <a:xfrm>
            <a:off x="812800" y="1760221"/>
            <a:ext cx="1088339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9B8B"/>
                </a:solidFill>
                <a:latin typeface="Archivo" pitchFamily="34" charset="0"/>
                <a:ea typeface="Archivo" pitchFamily="34" charset="-122"/>
                <a:cs typeface="Archivo" pitchFamily="34" charset="-120"/>
              </a:rPr>
              <a:t>Los árboles casi memorizan train: rinden mucho mejor en las casas que ya vieron.</a:t>
            </a:r>
            <a:endParaRPr lang="en-US" sz="1400" dirty="0"/>
          </a:p>
        </p:txBody>
      </p:sp>
      <p:sp>
        <p:nvSpPr>
          <p:cNvPr id="4" name="Text 2"/>
          <p:cNvSpPr/>
          <p:nvPr/>
        </p:nvSpPr>
        <p:spPr>
          <a:xfrm>
            <a:off x="812800" y="3037842"/>
            <a:ext cx="170180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39B8B"/>
                </a:solidFill>
                <a:latin typeface="Archivo" pitchFamily="34" charset="0"/>
                <a:ea typeface="Archivo" pitchFamily="34" charset="-122"/>
                <a:cs typeface="Archivo" pitchFamily="34" charset="-120"/>
              </a:rPr>
              <a:t>MODELO</a:t>
            </a:r>
            <a:endParaRPr lang="en-US" sz="1200" dirty="0"/>
          </a:p>
        </p:txBody>
      </p:sp>
      <p:sp>
        <p:nvSpPr>
          <p:cNvPr id="5" name="Shape 3"/>
          <p:cNvSpPr/>
          <p:nvPr/>
        </p:nvSpPr>
        <p:spPr>
          <a:xfrm>
            <a:off x="2667000" y="3068321"/>
            <a:ext cx="152400" cy="152400"/>
          </a:xfrm>
          <a:prstGeom prst="roundRect">
            <a:avLst>
              <a:gd name="adj" fmla="val 50000"/>
            </a:avLst>
          </a:prstGeom>
          <a:solidFill>
            <a:srgbClr val="DCD3C3"/>
          </a:solidFill>
          <a:ln/>
        </p:spPr>
      </p:sp>
      <p:sp>
        <p:nvSpPr>
          <p:cNvPr id="6" name="Text 4"/>
          <p:cNvSpPr/>
          <p:nvPr/>
        </p:nvSpPr>
        <p:spPr>
          <a:xfrm>
            <a:off x="2895600" y="3037842"/>
            <a:ext cx="8329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3C3"/>
                </a:solidFill>
                <a:latin typeface="Archivo" pitchFamily="34" charset="0"/>
                <a:ea typeface="Archivo" pitchFamily="34" charset="-122"/>
                <a:cs typeface="Archivo" pitchFamily="34" charset="-120"/>
              </a:rPr>
              <a:t>R² en train</a:t>
            </a:r>
            <a:endParaRPr lang="en-US" sz="1200" dirty="0"/>
          </a:p>
        </p:txBody>
      </p:sp>
      <p:sp>
        <p:nvSpPr>
          <p:cNvPr id="7" name="Shape 5"/>
          <p:cNvSpPr/>
          <p:nvPr/>
        </p:nvSpPr>
        <p:spPr>
          <a:xfrm>
            <a:off x="3856461" y="3081021"/>
            <a:ext cx="127000" cy="127000"/>
          </a:xfrm>
          <a:prstGeom prst="roundRect">
            <a:avLst>
              <a:gd name="adj" fmla="val 50000"/>
            </a:avLst>
          </a:prstGeom>
          <a:solidFill>
            <a:srgbClr val="1F1E1C"/>
          </a:solidFill>
          <a:ln w="25400">
            <a:solidFill>
              <a:srgbClr val="DCD3C3"/>
            </a:solidFill>
            <a:prstDash val="solid"/>
          </a:ln>
        </p:spPr>
      </p:sp>
      <p:sp>
        <p:nvSpPr>
          <p:cNvPr id="8" name="Text 6"/>
          <p:cNvSpPr/>
          <p:nvPr/>
        </p:nvSpPr>
        <p:spPr>
          <a:xfrm>
            <a:off x="4072361" y="3037842"/>
            <a:ext cx="19980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R² en validación (5 folds)</a:t>
            </a:r>
            <a:endParaRPr lang="en-US" sz="1200" dirty="0"/>
          </a:p>
        </p:txBody>
      </p:sp>
      <p:sp>
        <p:nvSpPr>
          <p:cNvPr id="9" name="Text 7"/>
          <p:cNvSpPr/>
          <p:nvPr/>
        </p:nvSpPr>
        <p:spPr>
          <a:xfrm>
            <a:off x="9728200" y="3037842"/>
            <a:ext cx="170180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39B8B"/>
                </a:solidFill>
                <a:latin typeface="Archivo" pitchFamily="34" charset="0"/>
                <a:ea typeface="Archivo" pitchFamily="34" charset="-122"/>
                <a:cs typeface="Archivo" pitchFamily="34" charset="-120"/>
              </a:rPr>
              <a:t>BRECHA · MÁX. 5</a:t>
            </a:r>
            <a:endParaRPr lang="en-US" sz="1200" dirty="0"/>
          </a:p>
        </p:txBody>
      </p:sp>
      <p:sp>
        <p:nvSpPr>
          <p:cNvPr id="10" name="Shape 8"/>
          <p:cNvSpPr/>
          <p:nvPr/>
        </p:nvSpPr>
        <p:spPr>
          <a:xfrm>
            <a:off x="812800" y="3381375"/>
            <a:ext cx="10566400" cy="0"/>
          </a:xfrm>
          <a:prstGeom prst="line">
            <a:avLst/>
          </a:prstGeom>
          <a:noFill/>
          <a:ln w="6350">
            <a:solidFill>
              <a:srgbClr val="6E685E"/>
            </a:solidFill>
            <a:prstDash val="solid"/>
          </a:ln>
        </p:spPr>
      </p:sp>
      <p:sp>
        <p:nvSpPr>
          <p:cNvPr id="11" name="Text 9"/>
          <p:cNvSpPr/>
          <p:nvPr/>
        </p:nvSpPr>
        <p:spPr>
          <a:xfrm>
            <a:off x="812800" y="3563621"/>
            <a:ext cx="1701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CD3C3"/>
                </a:solidFill>
                <a:latin typeface="Archivo" pitchFamily="34" charset="0"/>
                <a:ea typeface="Archivo" pitchFamily="34" charset="-122"/>
                <a:cs typeface="Archivo" pitchFamily="34" charset="-120"/>
              </a:rPr>
              <a:t>Ridge</a:t>
            </a:r>
            <a:endParaRPr lang="en-US" sz="1400" dirty="0"/>
          </a:p>
        </p:txBody>
      </p:sp>
      <p:sp>
        <p:nvSpPr>
          <p:cNvPr id="12" name="Shape 10"/>
          <p:cNvSpPr/>
          <p:nvPr/>
        </p:nvSpPr>
        <p:spPr>
          <a:xfrm>
            <a:off x="2667000" y="3681729"/>
            <a:ext cx="6096000" cy="12700"/>
          </a:xfrm>
          <a:prstGeom prst="rect">
            <a:avLst/>
          </a:prstGeom>
          <a:solidFill>
            <a:srgbClr val="4A4741"/>
          </a:solidFill>
          <a:ln/>
        </p:spPr>
      </p:sp>
      <p:sp>
        <p:nvSpPr>
          <p:cNvPr id="13" name="Shape 11"/>
          <p:cNvSpPr/>
          <p:nvPr/>
        </p:nvSpPr>
        <p:spPr>
          <a:xfrm>
            <a:off x="5480050" y="3669029"/>
            <a:ext cx="469900" cy="38100"/>
          </a:xfrm>
          <a:prstGeom prst="rect">
            <a:avLst/>
          </a:prstGeom>
          <a:solidFill>
            <a:srgbClr val="DCD3C3"/>
          </a:solidFill>
          <a:ln/>
        </p:spPr>
      </p:sp>
      <p:sp>
        <p:nvSpPr>
          <p:cNvPr id="14" name="Shape 12"/>
          <p:cNvSpPr/>
          <p:nvPr/>
        </p:nvSpPr>
        <p:spPr>
          <a:xfrm>
            <a:off x="5403850" y="3611879"/>
            <a:ext cx="152400" cy="152400"/>
          </a:xfrm>
          <a:prstGeom prst="roundRect">
            <a:avLst>
              <a:gd name="adj" fmla="val 50000"/>
            </a:avLst>
          </a:prstGeom>
          <a:solidFill>
            <a:srgbClr val="1F1E1C"/>
          </a:solidFill>
          <a:ln w="25400">
            <a:solidFill>
              <a:srgbClr val="DCD3C3"/>
            </a:solidFill>
            <a:prstDash val="solid"/>
          </a:ln>
        </p:spPr>
      </p:sp>
      <p:sp>
        <p:nvSpPr>
          <p:cNvPr id="15" name="Shape 13"/>
          <p:cNvSpPr/>
          <p:nvPr/>
        </p:nvSpPr>
        <p:spPr>
          <a:xfrm>
            <a:off x="5861050" y="3599179"/>
            <a:ext cx="177800" cy="177800"/>
          </a:xfrm>
          <a:prstGeom prst="roundRect">
            <a:avLst>
              <a:gd name="adj" fmla="val 50000"/>
            </a:avLst>
          </a:prstGeom>
          <a:solidFill>
            <a:srgbClr val="DCD3C3"/>
          </a:solidFill>
          <a:ln/>
        </p:spPr>
      </p:sp>
      <p:sp>
        <p:nvSpPr>
          <p:cNvPr id="16" name="Text 14"/>
          <p:cNvSpPr/>
          <p:nvPr/>
        </p:nvSpPr>
        <p:spPr>
          <a:xfrm>
            <a:off x="4654550" y="3580129"/>
            <a:ext cx="660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9B8B"/>
                </a:solidFill>
                <a:latin typeface="Archivo" pitchFamily="34" charset="0"/>
                <a:ea typeface="Archivo" pitchFamily="34" charset="-122"/>
                <a:cs typeface="Archivo" pitchFamily="34" charset="-120"/>
              </a:rPr>
              <a:t>0,930</a:t>
            </a:r>
            <a:endParaRPr lang="en-US" sz="1200" dirty="0"/>
          </a:p>
        </p:txBody>
      </p:sp>
      <p:sp>
        <p:nvSpPr>
          <p:cNvPr id="17" name="Text 15"/>
          <p:cNvSpPr/>
          <p:nvPr/>
        </p:nvSpPr>
        <p:spPr>
          <a:xfrm>
            <a:off x="6115050" y="3580129"/>
            <a:ext cx="660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3C3"/>
                </a:solidFill>
                <a:latin typeface="Archivo" pitchFamily="34" charset="0"/>
                <a:ea typeface="Archivo" pitchFamily="34" charset="-122"/>
                <a:cs typeface="Archivo" pitchFamily="34" charset="-120"/>
              </a:rPr>
              <a:t>0,940</a:t>
            </a:r>
            <a:endParaRPr lang="en-US" sz="1200" dirty="0"/>
          </a:p>
        </p:txBody>
      </p:sp>
      <p:sp>
        <p:nvSpPr>
          <p:cNvPr id="18" name="Text 16"/>
          <p:cNvSpPr/>
          <p:nvPr/>
        </p:nvSpPr>
        <p:spPr>
          <a:xfrm>
            <a:off x="9728200" y="3535679"/>
            <a:ext cx="388112"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DCD3C3"/>
                </a:solidFill>
                <a:latin typeface="Anton" pitchFamily="34" charset="0"/>
                <a:ea typeface="Anton" pitchFamily="34" charset="-122"/>
                <a:cs typeface="Anton" pitchFamily="34" charset="-120"/>
              </a:rPr>
              <a:t>1,0</a:t>
            </a:r>
            <a:endParaRPr lang="en-US" sz="2400" dirty="0"/>
          </a:p>
        </p:txBody>
      </p:sp>
      <p:sp>
        <p:nvSpPr>
          <p:cNvPr id="19" name="Text 17"/>
          <p:cNvSpPr/>
          <p:nvPr/>
        </p:nvSpPr>
        <p:spPr>
          <a:xfrm>
            <a:off x="10156402" y="3554096"/>
            <a:ext cx="669502" cy="267970"/>
          </a:xfrm>
          <a:custGeom>
            <a:avLst/>
            <a:gdLst/>
            <a:ahLst/>
            <a:cxnLst/>
            <a:rect l="l" t="t" r="r" b="b"/>
            <a:pathLst>
              <a:path w="669502" h="267970">
                <a:moveTo>
                  <a:pt x="133985" y="0"/>
                </a:moveTo>
                <a:lnTo>
                  <a:pt x="535517" y="0"/>
                </a:lnTo>
                <a:arcTo hR="133985" wR="133985" stAng="16200000" swAng="5400000"/>
                <a:lnTo>
                  <a:pt x="669502" y="133985"/>
                </a:lnTo>
                <a:arcTo hR="133985" wR="133985" stAng="0" swAng="5400000"/>
                <a:lnTo>
                  <a:pt x="133985" y="267970"/>
                </a:lnTo>
                <a:arcTo hR="133985" wR="133985" stAng="5400000" swAng="5400000"/>
                <a:lnTo>
                  <a:pt x="0" y="133985"/>
                </a:lnTo>
                <a:arcTo hR="133985" wR="133985" stAng="10800000" swAng="5400000"/>
                <a:close/>
              </a:path>
            </a:pathLst>
          </a:custGeom>
          <a:noFill/>
          <a:ln w="6350">
            <a:solidFill>
              <a:srgbClr val="6E685E"/>
            </a:solidFill>
            <a:prstDash val="solid"/>
          </a:ln>
        </p:spPr>
        <p:txBody>
          <a:bodyPr wrap="none" lIns="0" tIns="0" rIns="0" bIns="0" rtlCol="0" anchor="ctr">
            <a:normAutofit/>
          </a:bodyPr>
          <a:lstStyle/>
          <a:p>
            <a:pPr algn="ctr" indent="0" marL="0">
              <a:lnSpc>
                <a:spcPts val="1680"/>
              </a:lnSpc>
              <a:buNone/>
            </a:pPr>
            <a:r>
              <a:rPr lang="en-US" sz="1200" dirty="0">
                <a:solidFill>
                  <a:srgbClr val="A39B8B"/>
                </a:solidFill>
                <a:latin typeface="Archivo" pitchFamily="34" charset="0"/>
                <a:ea typeface="Archivo" pitchFamily="34" charset="-122"/>
                <a:cs typeface="Archivo" pitchFamily="34" charset="-120"/>
              </a:rPr>
              <a:t>Dentro</a:t>
            </a:r>
            <a:endParaRPr lang="en-US" sz="1200" dirty="0"/>
          </a:p>
        </p:txBody>
      </p:sp>
      <p:sp>
        <p:nvSpPr>
          <p:cNvPr id="20" name="Shape 18"/>
          <p:cNvSpPr/>
          <p:nvPr/>
        </p:nvSpPr>
        <p:spPr>
          <a:xfrm>
            <a:off x="812800" y="3996054"/>
            <a:ext cx="10566400" cy="0"/>
          </a:xfrm>
          <a:prstGeom prst="line">
            <a:avLst/>
          </a:prstGeom>
          <a:noFill/>
          <a:ln w="6350">
            <a:solidFill>
              <a:srgbClr val="6E685E"/>
            </a:solidFill>
            <a:prstDash val="solid"/>
          </a:ln>
        </p:spPr>
      </p:sp>
      <p:sp>
        <p:nvSpPr>
          <p:cNvPr id="21" name="Text 19"/>
          <p:cNvSpPr/>
          <p:nvPr/>
        </p:nvSpPr>
        <p:spPr>
          <a:xfrm>
            <a:off x="812800" y="4178300"/>
            <a:ext cx="1701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CD3C3"/>
                </a:solidFill>
                <a:latin typeface="Archivo" pitchFamily="34" charset="0"/>
                <a:ea typeface="Archivo" pitchFamily="34" charset="-122"/>
                <a:cs typeface="Archivo" pitchFamily="34" charset="-120"/>
              </a:rPr>
              <a:t>Lasso</a:t>
            </a:r>
            <a:endParaRPr lang="en-US" sz="1400" dirty="0"/>
          </a:p>
        </p:txBody>
      </p:sp>
      <p:sp>
        <p:nvSpPr>
          <p:cNvPr id="22" name="Shape 20"/>
          <p:cNvSpPr/>
          <p:nvPr/>
        </p:nvSpPr>
        <p:spPr>
          <a:xfrm>
            <a:off x="2667000" y="4296408"/>
            <a:ext cx="6096000" cy="12700"/>
          </a:xfrm>
          <a:prstGeom prst="rect">
            <a:avLst/>
          </a:prstGeom>
          <a:solidFill>
            <a:srgbClr val="4A4741"/>
          </a:solidFill>
          <a:ln/>
        </p:spPr>
      </p:sp>
      <p:sp>
        <p:nvSpPr>
          <p:cNvPr id="23" name="Shape 21"/>
          <p:cNvSpPr/>
          <p:nvPr/>
        </p:nvSpPr>
        <p:spPr>
          <a:xfrm>
            <a:off x="5454650" y="4283708"/>
            <a:ext cx="450850" cy="38100"/>
          </a:xfrm>
          <a:prstGeom prst="rect">
            <a:avLst/>
          </a:prstGeom>
          <a:solidFill>
            <a:srgbClr val="DCD3C3"/>
          </a:solidFill>
          <a:ln/>
        </p:spPr>
      </p:sp>
      <p:sp>
        <p:nvSpPr>
          <p:cNvPr id="24" name="Shape 22"/>
          <p:cNvSpPr/>
          <p:nvPr/>
        </p:nvSpPr>
        <p:spPr>
          <a:xfrm>
            <a:off x="5378450" y="4226558"/>
            <a:ext cx="152400" cy="152400"/>
          </a:xfrm>
          <a:prstGeom prst="roundRect">
            <a:avLst>
              <a:gd name="adj" fmla="val 50000"/>
            </a:avLst>
          </a:prstGeom>
          <a:solidFill>
            <a:srgbClr val="1F1E1C"/>
          </a:solidFill>
          <a:ln w="25400">
            <a:solidFill>
              <a:srgbClr val="DCD3C3"/>
            </a:solidFill>
            <a:prstDash val="solid"/>
          </a:ln>
        </p:spPr>
      </p:sp>
      <p:sp>
        <p:nvSpPr>
          <p:cNvPr id="25" name="Shape 23"/>
          <p:cNvSpPr/>
          <p:nvPr/>
        </p:nvSpPr>
        <p:spPr>
          <a:xfrm>
            <a:off x="5816600" y="4213858"/>
            <a:ext cx="177800" cy="177800"/>
          </a:xfrm>
          <a:prstGeom prst="roundRect">
            <a:avLst>
              <a:gd name="adj" fmla="val 50000"/>
            </a:avLst>
          </a:prstGeom>
          <a:solidFill>
            <a:srgbClr val="DCD3C3"/>
          </a:solidFill>
          <a:ln/>
        </p:spPr>
      </p:sp>
      <p:sp>
        <p:nvSpPr>
          <p:cNvPr id="26" name="Text 24"/>
          <p:cNvSpPr/>
          <p:nvPr/>
        </p:nvSpPr>
        <p:spPr>
          <a:xfrm>
            <a:off x="4629150" y="4194808"/>
            <a:ext cx="660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9B8B"/>
                </a:solidFill>
                <a:latin typeface="Archivo" pitchFamily="34" charset="0"/>
                <a:ea typeface="Archivo" pitchFamily="34" charset="-122"/>
                <a:cs typeface="Archivo" pitchFamily="34" charset="-120"/>
              </a:rPr>
              <a:t>0,930</a:t>
            </a:r>
            <a:endParaRPr lang="en-US" sz="1200" dirty="0"/>
          </a:p>
        </p:txBody>
      </p:sp>
      <p:sp>
        <p:nvSpPr>
          <p:cNvPr id="27" name="Text 25"/>
          <p:cNvSpPr/>
          <p:nvPr/>
        </p:nvSpPr>
        <p:spPr>
          <a:xfrm>
            <a:off x="6070600" y="4194808"/>
            <a:ext cx="660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3C3"/>
                </a:solidFill>
                <a:latin typeface="Archivo" pitchFamily="34" charset="0"/>
                <a:ea typeface="Archivo" pitchFamily="34" charset="-122"/>
                <a:cs typeface="Archivo" pitchFamily="34" charset="-120"/>
              </a:rPr>
              <a:t>0,939</a:t>
            </a:r>
            <a:endParaRPr lang="en-US" sz="1200" dirty="0"/>
          </a:p>
        </p:txBody>
      </p:sp>
      <p:sp>
        <p:nvSpPr>
          <p:cNvPr id="28" name="Text 26"/>
          <p:cNvSpPr/>
          <p:nvPr/>
        </p:nvSpPr>
        <p:spPr>
          <a:xfrm>
            <a:off x="9728200" y="4150358"/>
            <a:ext cx="447929"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DCD3C3"/>
                </a:solidFill>
                <a:latin typeface="Anton" pitchFamily="34" charset="0"/>
                <a:ea typeface="Anton" pitchFamily="34" charset="-122"/>
                <a:cs typeface="Anton" pitchFamily="34" charset="-120"/>
              </a:rPr>
              <a:t>0,9</a:t>
            </a:r>
            <a:endParaRPr lang="en-US" sz="2400" dirty="0"/>
          </a:p>
        </p:txBody>
      </p:sp>
      <p:sp>
        <p:nvSpPr>
          <p:cNvPr id="29" name="Text 27"/>
          <p:cNvSpPr/>
          <p:nvPr/>
        </p:nvSpPr>
        <p:spPr>
          <a:xfrm>
            <a:off x="10206249" y="4168775"/>
            <a:ext cx="669502" cy="267970"/>
          </a:xfrm>
          <a:custGeom>
            <a:avLst/>
            <a:gdLst/>
            <a:ahLst/>
            <a:cxnLst/>
            <a:rect l="l" t="t" r="r" b="b"/>
            <a:pathLst>
              <a:path w="669502" h="267970">
                <a:moveTo>
                  <a:pt x="133985" y="0"/>
                </a:moveTo>
                <a:lnTo>
                  <a:pt x="535517" y="0"/>
                </a:lnTo>
                <a:arcTo hR="133985" wR="133985" stAng="16200000" swAng="5400000"/>
                <a:lnTo>
                  <a:pt x="669502" y="133985"/>
                </a:lnTo>
                <a:arcTo hR="133985" wR="133985" stAng="0" swAng="5400000"/>
                <a:lnTo>
                  <a:pt x="133985" y="267970"/>
                </a:lnTo>
                <a:arcTo hR="133985" wR="133985" stAng="5400000" swAng="5400000"/>
                <a:lnTo>
                  <a:pt x="0" y="133985"/>
                </a:lnTo>
                <a:arcTo hR="133985" wR="133985" stAng="10800000" swAng="5400000"/>
                <a:close/>
              </a:path>
            </a:pathLst>
          </a:custGeom>
          <a:noFill/>
          <a:ln w="6350">
            <a:solidFill>
              <a:srgbClr val="6E685E"/>
            </a:solidFill>
            <a:prstDash val="solid"/>
          </a:ln>
        </p:spPr>
        <p:txBody>
          <a:bodyPr wrap="none" lIns="0" tIns="0" rIns="0" bIns="0" rtlCol="0" anchor="ctr">
            <a:normAutofit/>
          </a:bodyPr>
          <a:lstStyle/>
          <a:p>
            <a:pPr algn="ctr" indent="0" marL="0">
              <a:lnSpc>
                <a:spcPts val="1680"/>
              </a:lnSpc>
              <a:buNone/>
            </a:pPr>
            <a:r>
              <a:rPr lang="en-US" sz="1200" dirty="0">
                <a:solidFill>
                  <a:srgbClr val="A39B8B"/>
                </a:solidFill>
                <a:latin typeface="Archivo" pitchFamily="34" charset="0"/>
                <a:ea typeface="Archivo" pitchFamily="34" charset="-122"/>
                <a:cs typeface="Archivo" pitchFamily="34" charset="-120"/>
              </a:rPr>
              <a:t>Dentro</a:t>
            </a:r>
            <a:endParaRPr lang="en-US" sz="1200" dirty="0"/>
          </a:p>
        </p:txBody>
      </p:sp>
      <p:sp>
        <p:nvSpPr>
          <p:cNvPr id="30" name="Shape 28"/>
          <p:cNvSpPr/>
          <p:nvPr/>
        </p:nvSpPr>
        <p:spPr>
          <a:xfrm>
            <a:off x="812800" y="4610733"/>
            <a:ext cx="10566400" cy="0"/>
          </a:xfrm>
          <a:prstGeom prst="line">
            <a:avLst/>
          </a:prstGeom>
          <a:noFill/>
          <a:ln w="6350">
            <a:solidFill>
              <a:srgbClr val="6E685E"/>
            </a:solidFill>
            <a:prstDash val="solid"/>
          </a:ln>
        </p:spPr>
      </p:sp>
      <p:sp>
        <p:nvSpPr>
          <p:cNvPr id="31" name="Text 29"/>
          <p:cNvSpPr/>
          <p:nvPr/>
        </p:nvSpPr>
        <p:spPr>
          <a:xfrm>
            <a:off x="812800" y="4792979"/>
            <a:ext cx="1701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CD3C3"/>
                </a:solidFill>
                <a:latin typeface="Archivo" pitchFamily="34" charset="0"/>
                <a:ea typeface="Archivo" pitchFamily="34" charset="-122"/>
                <a:cs typeface="Archivo" pitchFamily="34" charset="-120"/>
              </a:rPr>
              <a:t>XGBoost</a:t>
            </a:r>
            <a:endParaRPr lang="en-US" sz="1400" dirty="0"/>
          </a:p>
        </p:txBody>
      </p:sp>
      <p:sp>
        <p:nvSpPr>
          <p:cNvPr id="32" name="Shape 30"/>
          <p:cNvSpPr/>
          <p:nvPr/>
        </p:nvSpPr>
        <p:spPr>
          <a:xfrm>
            <a:off x="2667000" y="4911092"/>
            <a:ext cx="6096000" cy="12700"/>
          </a:xfrm>
          <a:prstGeom prst="rect">
            <a:avLst/>
          </a:prstGeom>
          <a:solidFill>
            <a:srgbClr val="4A4741"/>
          </a:solidFill>
          <a:ln/>
        </p:spPr>
      </p:sp>
      <p:sp>
        <p:nvSpPr>
          <p:cNvPr id="33" name="Shape 31"/>
          <p:cNvSpPr/>
          <p:nvPr/>
        </p:nvSpPr>
        <p:spPr>
          <a:xfrm>
            <a:off x="4686300" y="4898392"/>
            <a:ext cx="3981450" cy="38100"/>
          </a:xfrm>
          <a:prstGeom prst="rect">
            <a:avLst/>
          </a:prstGeom>
          <a:solidFill>
            <a:srgbClr val="DCD3C3"/>
          </a:solidFill>
          <a:ln/>
        </p:spPr>
      </p:sp>
      <p:sp>
        <p:nvSpPr>
          <p:cNvPr id="34" name="Shape 32"/>
          <p:cNvSpPr/>
          <p:nvPr/>
        </p:nvSpPr>
        <p:spPr>
          <a:xfrm>
            <a:off x="4610100" y="4841242"/>
            <a:ext cx="152400" cy="152400"/>
          </a:xfrm>
          <a:prstGeom prst="roundRect">
            <a:avLst>
              <a:gd name="adj" fmla="val 50000"/>
            </a:avLst>
          </a:prstGeom>
          <a:solidFill>
            <a:srgbClr val="1F1E1C"/>
          </a:solidFill>
          <a:ln w="25400">
            <a:solidFill>
              <a:srgbClr val="DCD3C3"/>
            </a:solidFill>
            <a:prstDash val="solid"/>
          </a:ln>
        </p:spPr>
      </p:sp>
      <p:sp>
        <p:nvSpPr>
          <p:cNvPr id="35" name="Shape 33"/>
          <p:cNvSpPr/>
          <p:nvPr/>
        </p:nvSpPr>
        <p:spPr>
          <a:xfrm>
            <a:off x="8578850" y="4828542"/>
            <a:ext cx="177800" cy="177800"/>
          </a:xfrm>
          <a:prstGeom prst="roundRect">
            <a:avLst>
              <a:gd name="adj" fmla="val 50000"/>
            </a:avLst>
          </a:prstGeom>
          <a:solidFill>
            <a:srgbClr val="DCD3C3"/>
          </a:solidFill>
          <a:ln/>
        </p:spPr>
      </p:sp>
      <p:sp>
        <p:nvSpPr>
          <p:cNvPr id="36" name="Text 34"/>
          <p:cNvSpPr/>
          <p:nvPr/>
        </p:nvSpPr>
        <p:spPr>
          <a:xfrm>
            <a:off x="3860800" y="4809492"/>
            <a:ext cx="660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9B8B"/>
                </a:solidFill>
                <a:latin typeface="Archivo" pitchFamily="34" charset="0"/>
                <a:ea typeface="Archivo" pitchFamily="34" charset="-122"/>
                <a:cs typeface="Archivo" pitchFamily="34" charset="-120"/>
              </a:rPr>
              <a:t>0,913</a:t>
            </a:r>
            <a:endParaRPr lang="en-US" sz="1200" dirty="0"/>
          </a:p>
        </p:txBody>
      </p:sp>
      <p:sp>
        <p:nvSpPr>
          <p:cNvPr id="37" name="Text 35"/>
          <p:cNvSpPr/>
          <p:nvPr/>
        </p:nvSpPr>
        <p:spPr>
          <a:xfrm>
            <a:off x="8832850" y="4809492"/>
            <a:ext cx="660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3C3"/>
                </a:solidFill>
                <a:latin typeface="Archivo" pitchFamily="34" charset="0"/>
                <a:ea typeface="Archivo" pitchFamily="34" charset="-122"/>
                <a:cs typeface="Archivo" pitchFamily="34" charset="-120"/>
              </a:rPr>
              <a:t>0,998</a:t>
            </a:r>
            <a:endParaRPr lang="en-US" sz="1200" dirty="0"/>
          </a:p>
        </p:txBody>
      </p:sp>
      <p:sp>
        <p:nvSpPr>
          <p:cNvPr id="38" name="Text 36"/>
          <p:cNvSpPr/>
          <p:nvPr/>
        </p:nvSpPr>
        <p:spPr>
          <a:xfrm>
            <a:off x="9728200" y="4765042"/>
            <a:ext cx="447929"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DCD3C3"/>
                </a:solidFill>
                <a:latin typeface="Anton" pitchFamily="34" charset="0"/>
                <a:ea typeface="Anton" pitchFamily="34" charset="-122"/>
                <a:cs typeface="Anton" pitchFamily="34" charset="-120"/>
              </a:rPr>
              <a:t>8,5</a:t>
            </a:r>
            <a:endParaRPr lang="en-US" sz="2400" dirty="0"/>
          </a:p>
        </p:txBody>
      </p:sp>
      <p:sp>
        <p:nvSpPr>
          <p:cNvPr id="39" name="Text 37"/>
          <p:cNvSpPr/>
          <p:nvPr/>
        </p:nvSpPr>
        <p:spPr>
          <a:xfrm>
            <a:off x="10203074" y="4785358"/>
            <a:ext cx="724747" cy="264160"/>
          </a:xfrm>
          <a:custGeom>
            <a:avLst/>
            <a:gdLst/>
            <a:ahLst/>
            <a:cxnLst/>
            <a:rect l="l" t="t" r="r" b="b"/>
            <a:pathLst>
              <a:path w="724747" h="264160">
                <a:moveTo>
                  <a:pt x="132080" y="0"/>
                </a:moveTo>
                <a:lnTo>
                  <a:pt x="592667" y="0"/>
                </a:lnTo>
                <a:arcTo hR="132080" wR="132080" stAng="16200000" swAng="5400000"/>
                <a:lnTo>
                  <a:pt x="724747" y="132080"/>
                </a:lnTo>
                <a:arcTo hR="132080" wR="132080" stAng="0" swAng="5400000"/>
                <a:lnTo>
                  <a:pt x="132080" y="264160"/>
                </a:lnTo>
                <a:arcTo hR="132080" wR="132080" stAng="5400000" swAng="5400000"/>
                <a:lnTo>
                  <a:pt x="0" y="132080"/>
                </a:lnTo>
                <a:arcTo hR="132080" wR="132080" stAng="10800000" swAng="5400000"/>
                <a:close/>
              </a:path>
            </a:pathLst>
          </a:custGeom>
          <a:solidFill>
            <a:srgbClr val="DCD3C3"/>
          </a:solidFill>
          <a:ln/>
        </p:spPr>
        <p:txBody>
          <a:bodyPr wrap="none" lIns="0" tIns="0" rIns="0" bIns="0" rtlCol="0" anchor="ctr">
            <a:normAutofit/>
          </a:bodyPr>
          <a:lstStyle/>
          <a:p>
            <a:pPr algn="ctr" indent="0" marL="0">
              <a:lnSpc>
                <a:spcPts val="1680"/>
              </a:lnSpc>
              <a:buNone/>
            </a:pPr>
            <a:r>
              <a:rPr lang="en-US" sz="1200" b="1" dirty="0">
                <a:solidFill>
                  <a:srgbClr val="1F1E1C"/>
                </a:solidFill>
                <a:latin typeface="Archivo" pitchFamily="34" charset="0"/>
                <a:ea typeface="Archivo" pitchFamily="34" charset="-122"/>
                <a:cs typeface="Archivo" pitchFamily="34" charset="-120"/>
              </a:rPr>
              <a:t>Supera</a:t>
            </a:r>
            <a:endParaRPr lang="en-US" sz="1200" dirty="0"/>
          </a:p>
        </p:txBody>
      </p:sp>
      <p:sp>
        <p:nvSpPr>
          <p:cNvPr id="40" name="Shape 38"/>
          <p:cNvSpPr/>
          <p:nvPr/>
        </p:nvSpPr>
        <p:spPr>
          <a:xfrm>
            <a:off x="812800" y="5225417"/>
            <a:ext cx="10566400" cy="0"/>
          </a:xfrm>
          <a:prstGeom prst="line">
            <a:avLst/>
          </a:prstGeom>
          <a:noFill/>
          <a:ln w="6350">
            <a:solidFill>
              <a:srgbClr val="6E685E"/>
            </a:solidFill>
            <a:prstDash val="solid"/>
          </a:ln>
        </p:spPr>
      </p:sp>
      <p:sp>
        <p:nvSpPr>
          <p:cNvPr id="41" name="Shape 39"/>
          <p:cNvSpPr/>
          <p:nvPr/>
        </p:nvSpPr>
        <p:spPr>
          <a:xfrm>
            <a:off x="812800" y="5838828"/>
            <a:ext cx="10566400" cy="0"/>
          </a:xfrm>
          <a:prstGeom prst="line">
            <a:avLst/>
          </a:prstGeom>
          <a:noFill/>
          <a:ln w="6350">
            <a:solidFill>
              <a:srgbClr val="6E685E"/>
            </a:solidFill>
            <a:prstDash val="solid"/>
          </a:ln>
        </p:spPr>
      </p:sp>
      <p:sp>
        <p:nvSpPr>
          <p:cNvPr id="42" name="Text 40"/>
          <p:cNvSpPr/>
          <p:nvPr/>
        </p:nvSpPr>
        <p:spPr>
          <a:xfrm>
            <a:off x="812800" y="5407658"/>
            <a:ext cx="1701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CD3C3"/>
                </a:solidFill>
                <a:latin typeface="Archivo" pitchFamily="34" charset="0"/>
                <a:ea typeface="Archivo" pitchFamily="34" charset="-122"/>
                <a:cs typeface="Archivo" pitchFamily="34" charset="-120"/>
              </a:rPr>
              <a:t>Random Forest</a:t>
            </a:r>
            <a:endParaRPr lang="en-US" sz="1400" dirty="0"/>
          </a:p>
        </p:txBody>
      </p:sp>
      <p:sp>
        <p:nvSpPr>
          <p:cNvPr id="43" name="Shape 41"/>
          <p:cNvSpPr/>
          <p:nvPr/>
        </p:nvSpPr>
        <p:spPr>
          <a:xfrm>
            <a:off x="2667000" y="5525771"/>
            <a:ext cx="6096000" cy="12700"/>
          </a:xfrm>
          <a:prstGeom prst="rect">
            <a:avLst/>
          </a:prstGeom>
          <a:solidFill>
            <a:srgbClr val="4A4741"/>
          </a:solidFill>
          <a:ln/>
        </p:spPr>
      </p:sp>
      <p:sp>
        <p:nvSpPr>
          <p:cNvPr id="44" name="Shape 42"/>
          <p:cNvSpPr/>
          <p:nvPr/>
        </p:nvSpPr>
        <p:spPr>
          <a:xfrm>
            <a:off x="3651250" y="5513071"/>
            <a:ext cx="4406900" cy="38100"/>
          </a:xfrm>
          <a:prstGeom prst="rect">
            <a:avLst/>
          </a:prstGeom>
          <a:solidFill>
            <a:srgbClr val="DCD3C3"/>
          </a:solidFill>
          <a:ln/>
        </p:spPr>
      </p:sp>
      <p:sp>
        <p:nvSpPr>
          <p:cNvPr id="45" name="Shape 43"/>
          <p:cNvSpPr/>
          <p:nvPr/>
        </p:nvSpPr>
        <p:spPr>
          <a:xfrm>
            <a:off x="3575050" y="5455921"/>
            <a:ext cx="152400" cy="152400"/>
          </a:xfrm>
          <a:prstGeom prst="roundRect">
            <a:avLst>
              <a:gd name="adj" fmla="val 50000"/>
            </a:avLst>
          </a:prstGeom>
          <a:solidFill>
            <a:srgbClr val="1F1E1C"/>
          </a:solidFill>
          <a:ln w="25400">
            <a:solidFill>
              <a:srgbClr val="DCD3C3"/>
            </a:solidFill>
            <a:prstDash val="solid"/>
          </a:ln>
        </p:spPr>
      </p:sp>
      <p:sp>
        <p:nvSpPr>
          <p:cNvPr id="46" name="Shape 44"/>
          <p:cNvSpPr/>
          <p:nvPr/>
        </p:nvSpPr>
        <p:spPr>
          <a:xfrm>
            <a:off x="7969250" y="5443221"/>
            <a:ext cx="177800" cy="177800"/>
          </a:xfrm>
          <a:prstGeom prst="roundRect">
            <a:avLst>
              <a:gd name="adj" fmla="val 50000"/>
            </a:avLst>
          </a:prstGeom>
          <a:solidFill>
            <a:srgbClr val="DCD3C3"/>
          </a:solidFill>
          <a:ln/>
        </p:spPr>
      </p:sp>
      <p:sp>
        <p:nvSpPr>
          <p:cNvPr id="47" name="Text 45"/>
          <p:cNvSpPr/>
          <p:nvPr/>
        </p:nvSpPr>
        <p:spPr>
          <a:xfrm>
            <a:off x="2825750" y="5424171"/>
            <a:ext cx="6604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9B8B"/>
                </a:solidFill>
                <a:latin typeface="Archivo" pitchFamily="34" charset="0"/>
                <a:ea typeface="Archivo" pitchFamily="34" charset="-122"/>
                <a:cs typeface="Archivo" pitchFamily="34" charset="-120"/>
              </a:rPr>
              <a:t>0,891</a:t>
            </a:r>
            <a:endParaRPr lang="en-US" sz="1200" dirty="0"/>
          </a:p>
        </p:txBody>
      </p:sp>
      <p:sp>
        <p:nvSpPr>
          <p:cNvPr id="48" name="Text 46"/>
          <p:cNvSpPr/>
          <p:nvPr/>
        </p:nvSpPr>
        <p:spPr>
          <a:xfrm>
            <a:off x="8223250" y="5424171"/>
            <a:ext cx="660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3C3"/>
                </a:solidFill>
                <a:latin typeface="Archivo" pitchFamily="34" charset="0"/>
                <a:ea typeface="Archivo" pitchFamily="34" charset="-122"/>
                <a:cs typeface="Archivo" pitchFamily="34" charset="-120"/>
              </a:rPr>
              <a:t>0,985</a:t>
            </a:r>
            <a:endParaRPr lang="en-US" sz="1200" dirty="0"/>
          </a:p>
        </p:txBody>
      </p:sp>
      <p:sp>
        <p:nvSpPr>
          <p:cNvPr id="49" name="Text 47"/>
          <p:cNvSpPr/>
          <p:nvPr/>
        </p:nvSpPr>
        <p:spPr>
          <a:xfrm>
            <a:off x="9728200" y="5379721"/>
            <a:ext cx="447929"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DCD3C3"/>
                </a:solidFill>
                <a:latin typeface="Anton" pitchFamily="34" charset="0"/>
                <a:ea typeface="Anton" pitchFamily="34" charset="-122"/>
                <a:cs typeface="Anton" pitchFamily="34" charset="-120"/>
              </a:rPr>
              <a:t>9,3</a:t>
            </a:r>
            <a:endParaRPr lang="en-US" sz="2400" dirty="0"/>
          </a:p>
        </p:txBody>
      </p:sp>
      <p:sp>
        <p:nvSpPr>
          <p:cNvPr id="50" name="Text 48"/>
          <p:cNvSpPr/>
          <p:nvPr/>
        </p:nvSpPr>
        <p:spPr>
          <a:xfrm>
            <a:off x="10203074" y="5400042"/>
            <a:ext cx="724747" cy="264160"/>
          </a:xfrm>
          <a:custGeom>
            <a:avLst/>
            <a:gdLst/>
            <a:ahLst/>
            <a:cxnLst/>
            <a:rect l="l" t="t" r="r" b="b"/>
            <a:pathLst>
              <a:path w="724747" h="264160">
                <a:moveTo>
                  <a:pt x="132080" y="0"/>
                </a:moveTo>
                <a:lnTo>
                  <a:pt x="592667" y="0"/>
                </a:lnTo>
                <a:arcTo hR="132080" wR="132080" stAng="16200000" swAng="5400000"/>
                <a:lnTo>
                  <a:pt x="724747" y="132080"/>
                </a:lnTo>
                <a:arcTo hR="132080" wR="132080" stAng="0" swAng="5400000"/>
                <a:lnTo>
                  <a:pt x="132080" y="264160"/>
                </a:lnTo>
                <a:arcTo hR="132080" wR="132080" stAng="5400000" swAng="5400000"/>
                <a:lnTo>
                  <a:pt x="0" y="132080"/>
                </a:lnTo>
                <a:arcTo hR="132080" wR="132080" stAng="10800000" swAng="5400000"/>
                <a:close/>
              </a:path>
            </a:pathLst>
          </a:custGeom>
          <a:solidFill>
            <a:srgbClr val="DCD3C3"/>
          </a:solidFill>
          <a:ln/>
        </p:spPr>
        <p:txBody>
          <a:bodyPr wrap="none" lIns="0" tIns="0" rIns="0" bIns="0" rtlCol="0" anchor="ctr">
            <a:normAutofit/>
          </a:bodyPr>
          <a:lstStyle/>
          <a:p>
            <a:pPr algn="ctr" indent="0" marL="0">
              <a:lnSpc>
                <a:spcPts val="1680"/>
              </a:lnSpc>
              <a:buNone/>
            </a:pPr>
            <a:r>
              <a:rPr lang="en-US" sz="1200" b="1" dirty="0">
                <a:solidFill>
                  <a:srgbClr val="1F1E1C"/>
                </a:solidFill>
                <a:latin typeface="Archivo" pitchFamily="34" charset="0"/>
                <a:ea typeface="Archivo" pitchFamily="34" charset="-122"/>
                <a:cs typeface="Archivo" pitchFamily="34" charset="-120"/>
              </a:rPr>
              <a:t>Supera</a:t>
            </a:r>
            <a:endParaRPr lang="en-US" sz="1200" dirty="0"/>
          </a:p>
        </p:txBody>
      </p:sp>
      <p:sp>
        <p:nvSpPr>
          <p:cNvPr id="51" name="Text 49"/>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10 · Housing Prices · EP2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CD3C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718820"/>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1F1E1C"/>
                </a:solidFill>
                <a:latin typeface="Anton" pitchFamily="34" charset="0"/>
                <a:ea typeface="Anton" pitchFamily="34" charset="-122"/>
                <a:cs typeface="Anton" pitchFamily="34" charset="-120"/>
              </a:rPr>
              <a:t>TEST FRENTE A LOS KPI</a:t>
            </a:r>
            <a:endParaRPr lang="en-US" sz="5200" dirty="0"/>
          </a:p>
        </p:txBody>
      </p:sp>
      <p:sp>
        <p:nvSpPr>
          <p:cNvPr id="3" name="Text 1"/>
          <p:cNvSpPr/>
          <p:nvPr/>
        </p:nvSpPr>
        <p:spPr>
          <a:xfrm>
            <a:off x="812800" y="1760221"/>
            <a:ext cx="1088339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53F"/>
                </a:solidFill>
                <a:latin typeface="Archivo" pitchFamily="34" charset="0"/>
                <a:ea typeface="Archivo" pitchFamily="34" charset="-122"/>
                <a:cs typeface="Archivo" pitchFamily="34" charset="-120"/>
              </a:rPr>
              <a:t>582 casas que no se usaron antes. Solo Ridge y Lasso cumplen los seis.</a:t>
            </a:r>
            <a:endParaRPr lang="en-US" sz="1400" dirty="0"/>
          </a:p>
        </p:txBody>
      </p:sp>
      <p:sp>
        <p:nvSpPr>
          <p:cNvPr id="4" name="Shape 2"/>
          <p:cNvSpPr/>
          <p:nvPr/>
        </p:nvSpPr>
        <p:spPr>
          <a:xfrm>
            <a:off x="812800" y="2786380"/>
            <a:ext cx="10566400" cy="0"/>
          </a:xfrm>
          <a:prstGeom prst="line">
            <a:avLst/>
          </a:prstGeom>
          <a:noFill/>
          <a:ln w="12700">
            <a:solidFill>
              <a:srgbClr val="1F1E1C"/>
            </a:solidFill>
            <a:prstDash val="solid"/>
          </a:ln>
        </p:spPr>
      </p:sp>
      <p:sp>
        <p:nvSpPr>
          <p:cNvPr id="5" name="Text 3"/>
          <p:cNvSpPr/>
          <p:nvPr/>
        </p:nvSpPr>
        <p:spPr>
          <a:xfrm>
            <a:off x="812800" y="2467608"/>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F1E1C"/>
                </a:solidFill>
                <a:latin typeface="Archivo" pitchFamily="34" charset="0"/>
                <a:ea typeface="Archivo" pitchFamily="34" charset="-122"/>
                <a:cs typeface="Archivo" pitchFamily="34" charset="-120"/>
              </a:rPr>
              <a:t>MODELO</a:t>
            </a:r>
            <a:endParaRPr lang="en-US" sz="1200" dirty="0"/>
          </a:p>
        </p:txBody>
      </p:sp>
      <p:sp>
        <p:nvSpPr>
          <p:cNvPr id="6" name="Text 4"/>
          <p:cNvSpPr/>
          <p:nvPr/>
        </p:nvSpPr>
        <p:spPr>
          <a:xfrm>
            <a:off x="2717800" y="2254250"/>
            <a:ext cx="1257300" cy="4521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F1E1C"/>
                </a:solidFill>
                <a:latin typeface="Archivo" pitchFamily="34" charset="0"/>
                <a:ea typeface="Archivo" pitchFamily="34" charset="-122"/>
                <a:cs typeface="Archivo" pitchFamily="34" charset="-120"/>
              </a:rPr>
              <a:t>R²</a:t>
            </a:r>
            <a:endParaRPr lang="en-US" sz="1200" dirty="0"/>
          </a:p>
          <a:p>
            <a:pPr algn="l" indent="0" marL="0">
              <a:lnSpc>
                <a:spcPts val="1680"/>
              </a:lnSpc>
              <a:buNone/>
            </a:pPr>
            <a:r>
              <a:rPr lang="en-US" sz="1200" b="1" spc="50" kern="0" dirty="0">
                <a:solidFill>
                  <a:srgbClr val="4A453F"/>
                </a:solidFill>
                <a:latin typeface="Archivo" pitchFamily="34" charset="0"/>
                <a:ea typeface="Archivo" pitchFamily="34" charset="-122"/>
                <a:cs typeface="Archivo" pitchFamily="34" charset="-120"/>
              </a:rPr>
              <a:t>≥ 0,85</a:t>
            </a:r>
            <a:endParaRPr lang="en-US" sz="1200" dirty="0"/>
          </a:p>
        </p:txBody>
      </p:sp>
      <p:sp>
        <p:nvSpPr>
          <p:cNvPr id="7" name="Text 5"/>
          <p:cNvSpPr/>
          <p:nvPr/>
        </p:nvSpPr>
        <p:spPr>
          <a:xfrm>
            <a:off x="3924300" y="2254250"/>
            <a:ext cx="1447800" cy="4521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F1E1C"/>
                </a:solidFill>
                <a:latin typeface="Archivo" pitchFamily="34" charset="0"/>
                <a:ea typeface="Archivo" pitchFamily="34" charset="-122"/>
                <a:cs typeface="Archivo" pitchFamily="34" charset="-120"/>
              </a:rPr>
              <a:t>RMSE (USD)</a:t>
            </a:r>
            <a:endParaRPr lang="en-US" sz="1200" dirty="0"/>
          </a:p>
          <a:p>
            <a:pPr algn="l" indent="0" marL="0">
              <a:lnSpc>
                <a:spcPts val="1680"/>
              </a:lnSpc>
              <a:buNone/>
            </a:pPr>
            <a:r>
              <a:rPr lang="en-US" sz="1200" b="1" spc="50" kern="0" dirty="0">
                <a:solidFill>
                  <a:srgbClr val="4A453F"/>
                </a:solidFill>
                <a:latin typeface="Archivo" pitchFamily="34" charset="0"/>
                <a:ea typeface="Archivo" pitchFamily="34" charset="-122"/>
                <a:cs typeface="Archivo" pitchFamily="34" charset="-120"/>
              </a:rPr>
              <a:t>≤ 30.000</a:t>
            </a:r>
            <a:endParaRPr lang="en-US" sz="1200" dirty="0"/>
          </a:p>
        </p:txBody>
      </p:sp>
      <p:sp>
        <p:nvSpPr>
          <p:cNvPr id="8" name="Text 6"/>
          <p:cNvSpPr/>
          <p:nvPr/>
        </p:nvSpPr>
        <p:spPr>
          <a:xfrm>
            <a:off x="5321300" y="2254250"/>
            <a:ext cx="1257300" cy="4521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F1E1C"/>
                </a:solidFill>
                <a:latin typeface="Archivo" pitchFamily="34" charset="0"/>
                <a:ea typeface="Archivo" pitchFamily="34" charset="-122"/>
                <a:cs typeface="Archivo" pitchFamily="34" charset="-120"/>
              </a:rPr>
              <a:t>MAPE</a:t>
            </a:r>
            <a:endParaRPr lang="en-US" sz="1200" dirty="0"/>
          </a:p>
          <a:p>
            <a:pPr algn="l" indent="0" marL="0">
              <a:lnSpc>
                <a:spcPts val="1680"/>
              </a:lnSpc>
              <a:buNone/>
            </a:pPr>
            <a:r>
              <a:rPr lang="en-US" sz="1200" b="1" spc="50" kern="0" dirty="0">
                <a:solidFill>
                  <a:srgbClr val="4A453F"/>
                </a:solidFill>
                <a:latin typeface="Archivo" pitchFamily="34" charset="0"/>
                <a:ea typeface="Archivo" pitchFamily="34" charset="-122"/>
                <a:cs typeface="Archivo" pitchFamily="34" charset="-120"/>
              </a:rPr>
              <a:t>≤ 12 %</a:t>
            </a:r>
            <a:endParaRPr lang="en-US" sz="1200" dirty="0"/>
          </a:p>
        </p:txBody>
      </p:sp>
      <p:sp>
        <p:nvSpPr>
          <p:cNvPr id="9" name="Text 7"/>
          <p:cNvSpPr/>
          <p:nvPr/>
        </p:nvSpPr>
        <p:spPr>
          <a:xfrm>
            <a:off x="6527800" y="2254250"/>
            <a:ext cx="1638300" cy="4521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F1E1C"/>
                </a:solidFill>
                <a:latin typeface="Archivo" pitchFamily="34" charset="0"/>
                <a:ea typeface="Archivo" pitchFamily="34" charset="-122"/>
                <a:cs typeface="Archivo" pitchFamily="34" charset="-120"/>
              </a:rPr>
              <a:t>BRECHA R²</a:t>
            </a:r>
            <a:endParaRPr lang="en-US" sz="1200" dirty="0"/>
          </a:p>
          <a:p>
            <a:pPr algn="l" indent="0" marL="0">
              <a:lnSpc>
                <a:spcPts val="1680"/>
              </a:lnSpc>
              <a:buNone/>
            </a:pPr>
            <a:r>
              <a:rPr lang="en-US" sz="1200" b="1" spc="50" kern="0" dirty="0">
                <a:solidFill>
                  <a:srgbClr val="4A453F"/>
                </a:solidFill>
                <a:latin typeface="Archivo" pitchFamily="34" charset="0"/>
                <a:ea typeface="Archivo" pitchFamily="34" charset="-122"/>
                <a:cs typeface="Archivo" pitchFamily="34" charset="-120"/>
              </a:rPr>
              <a:t>≤ 5 PTS</a:t>
            </a:r>
            <a:endParaRPr lang="en-US" sz="1200" dirty="0"/>
          </a:p>
        </p:txBody>
      </p:sp>
      <p:sp>
        <p:nvSpPr>
          <p:cNvPr id="10" name="Text 8"/>
          <p:cNvSpPr/>
          <p:nvPr/>
        </p:nvSpPr>
        <p:spPr>
          <a:xfrm>
            <a:off x="8115300" y="2254250"/>
            <a:ext cx="1638300" cy="4521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F1E1C"/>
                </a:solidFill>
                <a:latin typeface="Archivo" pitchFamily="34" charset="0"/>
                <a:ea typeface="Archivo" pitchFamily="34" charset="-122"/>
                <a:cs typeface="Archivo" pitchFamily="34" charset="-120"/>
              </a:rPr>
              <a:t>BRECHA BARRIOS</a:t>
            </a:r>
            <a:endParaRPr lang="en-US" sz="1200" dirty="0"/>
          </a:p>
          <a:p>
            <a:pPr algn="l" indent="0" marL="0">
              <a:lnSpc>
                <a:spcPts val="1680"/>
              </a:lnSpc>
              <a:buNone/>
            </a:pPr>
            <a:r>
              <a:rPr lang="en-US" sz="1200" b="1" spc="50" kern="0" dirty="0">
                <a:solidFill>
                  <a:srgbClr val="4A453F"/>
                </a:solidFill>
                <a:latin typeface="Archivo" pitchFamily="34" charset="0"/>
                <a:ea typeface="Archivo" pitchFamily="34" charset="-122"/>
                <a:cs typeface="Archivo" pitchFamily="34" charset="-120"/>
              </a:rPr>
              <a:t>≤ 8 PTS</a:t>
            </a:r>
            <a:endParaRPr lang="en-US" sz="1200" dirty="0"/>
          </a:p>
        </p:txBody>
      </p:sp>
      <p:sp>
        <p:nvSpPr>
          <p:cNvPr id="11" name="Text 9"/>
          <p:cNvSpPr/>
          <p:nvPr/>
        </p:nvSpPr>
        <p:spPr>
          <a:xfrm>
            <a:off x="9702800" y="2254250"/>
            <a:ext cx="1727200" cy="4521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F1E1C"/>
                </a:solidFill>
                <a:latin typeface="Archivo" pitchFamily="34" charset="0"/>
                <a:ea typeface="Archivo" pitchFamily="34" charset="-122"/>
                <a:cs typeface="Archivo" pitchFamily="34" charset="-120"/>
              </a:rPr>
              <a:t>CUMPLE</a:t>
            </a:r>
            <a:endParaRPr lang="en-US" sz="1200" dirty="0"/>
          </a:p>
          <a:p>
            <a:pPr algn="l" indent="0" marL="0">
              <a:lnSpc>
                <a:spcPts val="1680"/>
              </a:lnSpc>
              <a:buNone/>
            </a:pPr>
            <a:r>
              <a:rPr lang="en-US" sz="1200" b="1" spc="50" kern="0" dirty="0">
                <a:solidFill>
                  <a:srgbClr val="1F1E1C"/>
                </a:solidFill>
                <a:latin typeface="Archivo" pitchFamily="34" charset="0"/>
                <a:ea typeface="Archivo" pitchFamily="34" charset="-122"/>
                <a:cs typeface="Archivo" pitchFamily="34" charset="-120"/>
              </a:rPr>
              <a:t>LOS SEIS</a:t>
            </a:r>
            <a:endParaRPr lang="en-US" sz="1200" dirty="0"/>
          </a:p>
        </p:txBody>
      </p:sp>
      <p:sp>
        <p:nvSpPr>
          <p:cNvPr id="12" name="Shape 10"/>
          <p:cNvSpPr/>
          <p:nvPr/>
        </p:nvSpPr>
        <p:spPr>
          <a:xfrm>
            <a:off x="812800" y="3328034"/>
            <a:ext cx="10566400" cy="0"/>
          </a:xfrm>
          <a:prstGeom prst="line">
            <a:avLst/>
          </a:prstGeom>
          <a:noFill/>
          <a:ln w="6350">
            <a:solidFill>
              <a:srgbClr val="8C8476"/>
            </a:solidFill>
            <a:prstDash val="solid"/>
          </a:ln>
        </p:spPr>
      </p:sp>
      <p:sp>
        <p:nvSpPr>
          <p:cNvPr id="13" name="Text 11"/>
          <p:cNvSpPr/>
          <p:nvPr/>
        </p:nvSpPr>
        <p:spPr>
          <a:xfrm>
            <a:off x="812800" y="2934971"/>
            <a:ext cx="196215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E1C"/>
                </a:solidFill>
                <a:latin typeface="Archivo" pitchFamily="34" charset="0"/>
                <a:ea typeface="Archivo" pitchFamily="34" charset="-122"/>
                <a:cs typeface="Archivo" pitchFamily="34" charset="-120"/>
              </a:rPr>
              <a:t>Ridge</a:t>
            </a:r>
            <a:endParaRPr lang="en-US" sz="1400" dirty="0"/>
          </a:p>
        </p:txBody>
      </p:sp>
      <p:sp>
        <p:nvSpPr>
          <p:cNvPr id="14" name="Text 12"/>
          <p:cNvSpPr/>
          <p:nvPr/>
        </p:nvSpPr>
        <p:spPr>
          <a:xfrm>
            <a:off x="2717800" y="2934971"/>
            <a:ext cx="1257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0,948</a:t>
            </a:r>
            <a:endParaRPr lang="en-US" sz="1400" dirty="0"/>
          </a:p>
        </p:txBody>
      </p:sp>
      <p:sp>
        <p:nvSpPr>
          <p:cNvPr id="15" name="Text 13"/>
          <p:cNvSpPr/>
          <p:nvPr/>
        </p:nvSpPr>
        <p:spPr>
          <a:xfrm>
            <a:off x="3924300" y="2934971"/>
            <a:ext cx="1447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19.126</a:t>
            </a:r>
            <a:endParaRPr lang="en-US" sz="1400" dirty="0"/>
          </a:p>
        </p:txBody>
      </p:sp>
      <p:sp>
        <p:nvSpPr>
          <p:cNvPr id="16" name="Text 14"/>
          <p:cNvSpPr/>
          <p:nvPr/>
        </p:nvSpPr>
        <p:spPr>
          <a:xfrm>
            <a:off x="5321300" y="2934971"/>
            <a:ext cx="1257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6,75 %</a:t>
            </a:r>
            <a:endParaRPr lang="en-US" sz="1400" dirty="0"/>
          </a:p>
        </p:txBody>
      </p:sp>
      <p:sp>
        <p:nvSpPr>
          <p:cNvPr id="17" name="Text 15"/>
          <p:cNvSpPr/>
          <p:nvPr/>
        </p:nvSpPr>
        <p:spPr>
          <a:xfrm>
            <a:off x="6527800" y="2934971"/>
            <a:ext cx="1638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−0,9</a:t>
            </a:r>
            <a:endParaRPr lang="en-US" sz="1400" dirty="0"/>
          </a:p>
        </p:txBody>
      </p:sp>
      <p:sp>
        <p:nvSpPr>
          <p:cNvPr id="18" name="Text 16"/>
          <p:cNvSpPr/>
          <p:nvPr/>
        </p:nvSpPr>
        <p:spPr>
          <a:xfrm>
            <a:off x="8115300" y="2934971"/>
            <a:ext cx="1638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6,1</a:t>
            </a:r>
            <a:endParaRPr lang="en-US" sz="1400" dirty="0"/>
          </a:p>
        </p:txBody>
      </p:sp>
      <p:sp>
        <p:nvSpPr>
          <p:cNvPr id="19" name="Shape 17"/>
          <p:cNvSpPr/>
          <p:nvPr/>
        </p:nvSpPr>
        <p:spPr>
          <a:xfrm>
            <a:off x="9702800" y="2919729"/>
            <a:ext cx="279400" cy="279400"/>
          </a:xfrm>
          <a:prstGeom prst="roundRect">
            <a:avLst>
              <a:gd name="adj" fmla="val 50000"/>
            </a:avLst>
          </a:prstGeom>
          <a:solidFill>
            <a:srgbClr val="1F1E1C"/>
          </a:solidFill>
          <a:ln/>
        </p:spPr>
      </p:sp>
      <p:pic>
        <p:nvPicPr>
          <p:cNvPr id="20" name="Image 0" descr="Check">    </p:cNvPr>
          <p:cNvPicPr>
            <a:picLocks noChangeAspect="1"/>
          </p:cNvPicPr>
          <p:nvPr/>
        </p:nvPicPr>
        <p:blipFill>
          <a:blip r:embed="rId1"/>
          <a:srcRect l="0" r="0" t="0" b="0"/>
          <a:stretch/>
        </p:blipFill>
        <p:spPr>
          <a:xfrm>
            <a:off x="9740900" y="2957829"/>
            <a:ext cx="203200" cy="203200"/>
          </a:xfrm>
          <a:prstGeom prst="rect">
            <a:avLst/>
          </a:prstGeom>
        </p:spPr>
      </p:pic>
      <p:sp>
        <p:nvSpPr>
          <p:cNvPr id="21" name="Text 18"/>
          <p:cNvSpPr/>
          <p:nvPr/>
        </p:nvSpPr>
        <p:spPr>
          <a:xfrm>
            <a:off x="10058400" y="2934971"/>
            <a:ext cx="21907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E1C"/>
                </a:solidFill>
                <a:latin typeface="Archivo" pitchFamily="34" charset="0"/>
                <a:ea typeface="Archivo" pitchFamily="34" charset="-122"/>
                <a:cs typeface="Archivo" pitchFamily="34" charset="-120"/>
              </a:rPr>
              <a:t>Sí</a:t>
            </a:r>
            <a:endParaRPr lang="en-US" sz="1400" dirty="0"/>
          </a:p>
        </p:txBody>
      </p:sp>
      <p:sp>
        <p:nvSpPr>
          <p:cNvPr id="22" name="Shape 19"/>
          <p:cNvSpPr/>
          <p:nvPr/>
        </p:nvSpPr>
        <p:spPr>
          <a:xfrm>
            <a:off x="812800" y="3866512"/>
            <a:ext cx="10566400" cy="0"/>
          </a:xfrm>
          <a:prstGeom prst="line">
            <a:avLst/>
          </a:prstGeom>
          <a:noFill/>
          <a:ln w="6350">
            <a:solidFill>
              <a:srgbClr val="8C8476"/>
            </a:solidFill>
            <a:prstDash val="solid"/>
          </a:ln>
        </p:spPr>
      </p:sp>
      <p:sp>
        <p:nvSpPr>
          <p:cNvPr id="23" name="Text 20"/>
          <p:cNvSpPr/>
          <p:nvPr/>
        </p:nvSpPr>
        <p:spPr>
          <a:xfrm>
            <a:off x="812800" y="3473450"/>
            <a:ext cx="196215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E1C"/>
                </a:solidFill>
                <a:latin typeface="Archivo" pitchFamily="34" charset="0"/>
                <a:ea typeface="Archivo" pitchFamily="34" charset="-122"/>
                <a:cs typeface="Archivo" pitchFamily="34" charset="-120"/>
              </a:rPr>
              <a:t>Lasso</a:t>
            </a:r>
            <a:endParaRPr lang="en-US" sz="1400" dirty="0"/>
          </a:p>
        </p:txBody>
      </p:sp>
      <p:sp>
        <p:nvSpPr>
          <p:cNvPr id="24" name="Text 21"/>
          <p:cNvSpPr/>
          <p:nvPr/>
        </p:nvSpPr>
        <p:spPr>
          <a:xfrm>
            <a:off x="2717800" y="3473450"/>
            <a:ext cx="1257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0,948</a:t>
            </a:r>
            <a:endParaRPr lang="en-US" sz="1400" dirty="0"/>
          </a:p>
        </p:txBody>
      </p:sp>
      <p:sp>
        <p:nvSpPr>
          <p:cNvPr id="25" name="Text 22"/>
          <p:cNvSpPr/>
          <p:nvPr/>
        </p:nvSpPr>
        <p:spPr>
          <a:xfrm>
            <a:off x="3924300" y="3473450"/>
            <a:ext cx="1447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19.241</a:t>
            </a:r>
            <a:endParaRPr lang="en-US" sz="1400" dirty="0"/>
          </a:p>
        </p:txBody>
      </p:sp>
      <p:sp>
        <p:nvSpPr>
          <p:cNvPr id="26" name="Text 23"/>
          <p:cNvSpPr/>
          <p:nvPr/>
        </p:nvSpPr>
        <p:spPr>
          <a:xfrm>
            <a:off x="5321300" y="3473450"/>
            <a:ext cx="1257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6,77 %</a:t>
            </a:r>
            <a:endParaRPr lang="en-US" sz="1400" dirty="0"/>
          </a:p>
        </p:txBody>
      </p:sp>
      <p:sp>
        <p:nvSpPr>
          <p:cNvPr id="27" name="Text 24"/>
          <p:cNvSpPr/>
          <p:nvPr/>
        </p:nvSpPr>
        <p:spPr>
          <a:xfrm>
            <a:off x="6527800" y="3473450"/>
            <a:ext cx="1638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−0,9</a:t>
            </a:r>
            <a:endParaRPr lang="en-US" sz="1400" dirty="0"/>
          </a:p>
        </p:txBody>
      </p:sp>
      <p:sp>
        <p:nvSpPr>
          <p:cNvPr id="28" name="Text 25"/>
          <p:cNvSpPr/>
          <p:nvPr/>
        </p:nvSpPr>
        <p:spPr>
          <a:xfrm>
            <a:off x="8115300" y="3473450"/>
            <a:ext cx="1638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6,1</a:t>
            </a:r>
            <a:endParaRPr lang="en-US" sz="1400" dirty="0"/>
          </a:p>
        </p:txBody>
      </p:sp>
      <p:sp>
        <p:nvSpPr>
          <p:cNvPr id="29" name="Shape 26"/>
          <p:cNvSpPr/>
          <p:nvPr/>
        </p:nvSpPr>
        <p:spPr>
          <a:xfrm>
            <a:off x="9702800" y="3458208"/>
            <a:ext cx="279400" cy="279400"/>
          </a:xfrm>
          <a:prstGeom prst="roundRect">
            <a:avLst>
              <a:gd name="adj" fmla="val 50000"/>
            </a:avLst>
          </a:prstGeom>
          <a:solidFill>
            <a:srgbClr val="1F1E1C"/>
          </a:solidFill>
          <a:ln/>
        </p:spPr>
      </p:sp>
      <p:pic>
        <p:nvPicPr>
          <p:cNvPr id="30" name="Image 1" descr="Check">    </p:cNvPr>
          <p:cNvPicPr>
            <a:picLocks noChangeAspect="1"/>
          </p:cNvPicPr>
          <p:nvPr/>
        </p:nvPicPr>
        <p:blipFill>
          <a:blip r:embed="rId2"/>
          <a:srcRect l="0" r="0" t="0" b="0"/>
          <a:stretch/>
        </p:blipFill>
        <p:spPr>
          <a:xfrm>
            <a:off x="9740900" y="3496308"/>
            <a:ext cx="203200" cy="203200"/>
          </a:xfrm>
          <a:prstGeom prst="rect">
            <a:avLst/>
          </a:prstGeom>
        </p:spPr>
      </p:pic>
      <p:sp>
        <p:nvSpPr>
          <p:cNvPr id="31" name="Text 27"/>
          <p:cNvSpPr/>
          <p:nvPr/>
        </p:nvSpPr>
        <p:spPr>
          <a:xfrm>
            <a:off x="10058400" y="3473450"/>
            <a:ext cx="21907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E1C"/>
                </a:solidFill>
                <a:latin typeface="Archivo" pitchFamily="34" charset="0"/>
                <a:ea typeface="Archivo" pitchFamily="34" charset="-122"/>
                <a:cs typeface="Archivo" pitchFamily="34" charset="-120"/>
              </a:rPr>
              <a:t>Sí</a:t>
            </a:r>
            <a:endParaRPr lang="en-US" sz="1400" dirty="0"/>
          </a:p>
        </p:txBody>
      </p:sp>
      <p:sp>
        <p:nvSpPr>
          <p:cNvPr id="32" name="Shape 28"/>
          <p:cNvSpPr/>
          <p:nvPr/>
        </p:nvSpPr>
        <p:spPr>
          <a:xfrm>
            <a:off x="812800" y="4425317"/>
            <a:ext cx="10566400" cy="0"/>
          </a:xfrm>
          <a:prstGeom prst="line">
            <a:avLst/>
          </a:prstGeom>
          <a:noFill/>
          <a:ln w="6350">
            <a:solidFill>
              <a:srgbClr val="8C8476"/>
            </a:solidFill>
            <a:prstDash val="solid"/>
          </a:ln>
        </p:spPr>
      </p:sp>
      <p:sp>
        <p:nvSpPr>
          <p:cNvPr id="33" name="Text 29"/>
          <p:cNvSpPr/>
          <p:nvPr/>
        </p:nvSpPr>
        <p:spPr>
          <a:xfrm>
            <a:off x="812800" y="4022092"/>
            <a:ext cx="196215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E1C"/>
                </a:solidFill>
                <a:latin typeface="Archivo" pitchFamily="34" charset="0"/>
                <a:ea typeface="Archivo" pitchFamily="34" charset="-122"/>
                <a:cs typeface="Archivo" pitchFamily="34" charset="-120"/>
              </a:rPr>
              <a:t>XGBoost</a:t>
            </a:r>
            <a:endParaRPr lang="en-US" sz="1400" dirty="0"/>
          </a:p>
        </p:txBody>
      </p:sp>
      <p:sp>
        <p:nvSpPr>
          <p:cNvPr id="34" name="Text 30"/>
          <p:cNvSpPr/>
          <p:nvPr/>
        </p:nvSpPr>
        <p:spPr>
          <a:xfrm>
            <a:off x="2717800" y="4022092"/>
            <a:ext cx="1257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0,934</a:t>
            </a:r>
            <a:endParaRPr lang="en-US" sz="1400" dirty="0"/>
          </a:p>
        </p:txBody>
      </p:sp>
      <p:sp>
        <p:nvSpPr>
          <p:cNvPr id="35" name="Text 31"/>
          <p:cNvSpPr/>
          <p:nvPr/>
        </p:nvSpPr>
        <p:spPr>
          <a:xfrm>
            <a:off x="3924300" y="4022092"/>
            <a:ext cx="1447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21.660</a:t>
            </a:r>
            <a:endParaRPr lang="en-US" sz="1400" dirty="0"/>
          </a:p>
        </p:txBody>
      </p:sp>
      <p:sp>
        <p:nvSpPr>
          <p:cNvPr id="36" name="Text 32"/>
          <p:cNvSpPr/>
          <p:nvPr/>
        </p:nvSpPr>
        <p:spPr>
          <a:xfrm>
            <a:off x="5321300" y="4022092"/>
            <a:ext cx="1257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7,39 %</a:t>
            </a:r>
            <a:endParaRPr lang="en-US" sz="1400" dirty="0"/>
          </a:p>
        </p:txBody>
      </p:sp>
      <p:sp>
        <p:nvSpPr>
          <p:cNvPr id="37" name="Text 33"/>
          <p:cNvSpPr/>
          <p:nvPr/>
        </p:nvSpPr>
        <p:spPr>
          <a:xfrm>
            <a:off x="6527800" y="3996692"/>
            <a:ext cx="866987" cy="299720"/>
          </a:xfrm>
          <a:custGeom>
            <a:avLst/>
            <a:gdLst/>
            <a:ahLst/>
            <a:cxnLst/>
            <a:rect l="l" t="t" r="r" b="b"/>
            <a:pathLst>
              <a:path w="866987" h="299720">
                <a:moveTo>
                  <a:pt x="149860" y="0"/>
                </a:moveTo>
                <a:lnTo>
                  <a:pt x="717127" y="0"/>
                </a:lnTo>
                <a:arcTo hR="149860" wR="149860" stAng="16200000" swAng="5400000"/>
                <a:lnTo>
                  <a:pt x="866987" y="149860"/>
                </a:lnTo>
                <a:arcTo hR="149860" wR="149860" stAng="0" swAng="5400000"/>
                <a:lnTo>
                  <a:pt x="149860" y="299720"/>
                </a:lnTo>
                <a:arcTo hR="149860" wR="149860" stAng="5400000" swAng="5400000"/>
                <a:lnTo>
                  <a:pt x="0" y="149860"/>
                </a:lnTo>
                <a:arcTo hR="149860" wR="149860" stAng="10800000" swAng="5400000"/>
                <a:close/>
              </a:path>
            </a:pathLst>
          </a:custGeom>
          <a:solidFill>
            <a:srgbClr val="1F1E1C"/>
          </a:solidFill>
          <a:ln/>
        </p:spPr>
        <p:txBody>
          <a:bodyPr wrap="none" lIns="0" tIns="0" rIns="0" bIns="0" rtlCol="0" anchor="ctr">
            <a:normAutofit/>
          </a:bodyPr>
          <a:lstStyle/>
          <a:p>
            <a:pPr algn="ctr" indent="0" marL="0">
              <a:lnSpc>
                <a:spcPts val="1960"/>
              </a:lnSpc>
              <a:buNone/>
            </a:pPr>
            <a:r>
              <a:rPr lang="en-US" sz="1400" b="1" dirty="0">
                <a:solidFill>
                  <a:srgbClr val="DCD3C3"/>
                </a:solidFill>
                <a:latin typeface="Archivo" pitchFamily="34" charset="0"/>
                <a:ea typeface="Archivo" pitchFamily="34" charset="-122"/>
                <a:cs typeface="Archivo" pitchFamily="34" charset="-120"/>
              </a:rPr>
              <a:t>6,3 · No</a:t>
            </a:r>
            <a:endParaRPr lang="en-US" sz="1400" dirty="0"/>
          </a:p>
        </p:txBody>
      </p:sp>
      <p:sp>
        <p:nvSpPr>
          <p:cNvPr id="38" name="Text 34"/>
          <p:cNvSpPr/>
          <p:nvPr/>
        </p:nvSpPr>
        <p:spPr>
          <a:xfrm>
            <a:off x="8115300" y="4022092"/>
            <a:ext cx="1638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7,7</a:t>
            </a:r>
            <a:endParaRPr lang="en-US" sz="1400" dirty="0"/>
          </a:p>
        </p:txBody>
      </p:sp>
      <p:sp>
        <p:nvSpPr>
          <p:cNvPr id="39" name="Shape 35"/>
          <p:cNvSpPr/>
          <p:nvPr/>
        </p:nvSpPr>
        <p:spPr>
          <a:xfrm>
            <a:off x="9709150" y="4013200"/>
            <a:ext cx="266700" cy="266700"/>
          </a:xfrm>
          <a:prstGeom prst="roundRect">
            <a:avLst>
              <a:gd name="adj" fmla="val 50000"/>
            </a:avLst>
          </a:prstGeom>
          <a:noFill/>
          <a:ln w="12700">
            <a:solidFill>
              <a:srgbClr val="1F1E1C"/>
            </a:solidFill>
            <a:prstDash val="solid"/>
          </a:ln>
        </p:spPr>
      </p:sp>
      <p:pic>
        <p:nvPicPr>
          <p:cNvPr id="40" name="Image 2" descr="Warning">    </p:cNvPr>
          <p:cNvPicPr>
            <a:picLocks noChangeAspect="1"/>
          </p:cNvPicPr>
          <p:nvPr/>
        </p:nvPicPr>
        <p:blipFill>
          <a:blip r:embed="rId3"/>
          <a:srcRect l="0" r="0" t="0" b="0"/>
          <a:stretch/>
        </p:blipFill>
        <p:spPr>
          <a:xfrm>
            <a:off x="9740900" y="4044950"/>
            <a:ext cx="203200" cy="203200"/>
          </a:xfrm>
          <a:prstGeom prst="rect">
            <a:avLst/>
          </a:prstGeom>
        </p:spPr>
      </p:pic>
      <p:sp>
        <p:nvSpPr>
          <p:cNvPr id="41" name="Text 36"/>
          <p:cNvSpPr/>
          <p:nvPr/>
        </p:nvSpPr>
        <p:spPr>
          <a:xfrm>
            <a:off x="10058400" y="4022092"/>
            <a:ext cx="29389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E1C"/>
                </a:solidFill>
                <a:latin typeface="Archivo" pitchFamily="34" charset="0"/>
                <a:ea typeface="Archivo" pitchFamily="34" charset="-122"/>
                <a:cs typeface="Archivo" pitchFamily="34" charset="-120"/>
              </a:rPr>
              <a:t>No</a:t>
            </a:r>
            <a:endParaRPr lang="en-US" sz="1400" dirty="0"/>
          </a:p>
        </p:txBody>
      </p:sp>
      <p:sp>
        <p:nvSpPr>
          <p:cNvPr id="42" name="Shape 37"/>
          <p:cNvSpPr/>
          <p:nvPr/>
        </p:nvSpPr>
        <p:spPr>
          <a:xfrm>
            <a:off x="812800" y="4984117"/>
            <a:ext cx="10566400" cy="0"/>
          </a:xfrm>
          <a:prstGeom prst="line">
            <a:avLst/>
          </a:prstGeom>
          <a:noFill/>
          <a:ln w="6350">
            <a:solidFill>
              <a:srgbClr val="8C8476"/>
            </a:solidFill>
            <a:prstDash val="solid"/>
          </a:ln>
        </p:spPr>
      </p:sp>
      <p:sp>
        <p:nvSpPr>
          <p:cNvPr id="43" name="Text 38"/>
          <p:cNvSpPr/>
          <p:nvPr/>
        </p:nvSpPr>
        <p:spPr>
          <a:xfrm>
            <a:off x="812800" y="4580892"/>
            <a:ext cx="196215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E1C"/>
                </a:solidFill>
                <a:latin typeface="Archivo" pitchFamily="34" charset="0"/>
                <a:ea typeface="Archivo" pitchFamily="34" charset="-122"/>
                <a:cs typeface="Archivo" pitchFamily="34" charset="-120"/>
              </a:rPr>
              <a:t>Random Forest</a:t>
            </a:r>
            <a:endParaRPr lang="en-US" sz="1400" dirty="0"/>
          </a:p>
        </p:txBody>
      </p:sp>
      <p:sp>
        <p:nvSpPr>
          <p:cNvPr id="44" name="Text 39"/>
          <p:cNvSpPr/>
          <p:nvPr/>
        </p:nvSpPr>
        <p:spPr>
          <a:xfrm>
            <a:off x="2717800" y="4580892"/>
            <a:ext cx="1257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0,924</a:t>
            </a:r>
            <a:endParaRPr lang="en-US" sz="1400" dirty="0"/>
          </a:p>
        </p:txBody>
      </p:sp>
      <p:sp>
        <p:nvSpPr>
          <p:cNvPr id="45" name="Text 40"/>
          <p:cNvSpPr/>
          <p:nvPr/>
        </p:nvSpPr>
        <p:spPr>
          <a:xfrm>
            <a:off x="3924300" y="4580892"/>
            <a:ext cx="1447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23.219</a:t>
            </a:r>
            <a:endParaRPr lang="en-US" sz="1400" dirty="0"/>
          </a:p>
        </p:txBody>
      </p:sp>
      <p:sp>
        <p:nvSpPr>
          <p:cNvPr id="46" name="Text 41"/>
          <p:cNvSpPr/>
          <p:nvPr/>
        </p:nvSpPr>
        <p:spPr>
          <a:xfrm>
            <a:off x="5321300" y="4580892"/>
            <a:ext cx="1257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1E1C"/>
                </a:solidFill>
                <a:latin typeface="Archivo" pitchFamily="34" charset="0"/>
                <a:ea typeface="Archivo" pitchFamily="34" charset="-122"/>
                <a:cs typeface="Archivo" pitchFamily="34" charset="-120"/>
              </a:rPr>
              <a:t>7,94 %</a:t>
            </a:r>
            <a:endParaRPr lang="en-US" sz="1400" dirty="0"/>
          </a:p>
        </p:txBody>
      </p:sp>
      <p:sp>
        <p:nvSpPr>
          <p:cNvPr id="47" name="Text 42"/>
          <p:cNvSpPr/>
          <p:nvPr/>
        </p:nvSpPr>
        <p:spPr>
          <a:xfrm>
            <a:off x="6527800" y="4555492"/>
            <a:ext cx="866987" cy="299720"/>
          </a:xfrm>
          <a:custGeom>
            <a:avLst/>
            <a:gdLst/>
            <a:ahLst/>
            <a:cxnLst/>
            <a:rect l="l" t="t" r="r" b="b"/>
            <a:pathLst>
              <a:path w="866987" h="299720">
                <a:moveTo>
                  <a:pt x="149860" y="0"/>
                </a:moveTo>
                <a:lnTo>
                  <a:pt x="717127" y="0"/>
                </a:lnTo>
                <a:arcTo hR="149860" wR="149860" stAng="16200000" swAng="5400000"/>
                <a:lnTo>
                  <a:pt x="866987" y="149860"/>
                </a:lnTo>
                <a:arcTo hR="149860" wR="149860" stAng="0" swAng="5400000"/>
                <a:lnTo>
                  <a:pt x="149860" y="299720"/>
                </a:lnTo>
                <a:arcTo hR="149860" wR="149860" stAng="5400000" swAng="5400000"/>
                <a:lnTo>
                  <a:pt x="0" y="149860"/>
                </a:lnTo>
                <a:arcTo hR="149860" wR="149860" stAng="10800000" swAng="5400000"/>
                <a:close/>
              </a:path>
            </a:pathLst>
          </a:custGeom>
          <a:solidFill>
            <a:srgbClr val="1F1E1C"/>
          </a:solidFill>
          <a:ln/>
        </p:spPr>
        <p:txBody>
          <a:bodyPr wrap="none" lIns="0" tIns="0" rIns="0" bIns="0" rtlCol="0" anchor="ctr">
            <a:normAutofit/>
          </a:bodyPr>
          <a:lstStyle/>
          <a:p>
            <a:pPr algn="ctr" indent="0" marL="0">
              <a:lnSpc>
                <a:spcPts val="1960"/>
              </a:lnSpc>
              <a:buNone/>
            </a:pPr>
            <a:r>
              <a:rPr lang="en-US" sz="1400" b="1" dirty="0">
                <a:solidFill>
                  <a:srgbClr val="DCD3C3"/>
                </a:solidFill>
                <a:latin typeface="Archivo" pitchFamily="34" charset="0"/>
                <a:ea typeface="Archivo" pitchFamily="34" charset="-122"/>
                <a:cs typeface="Archivo" pitchFamily="34" charset="-120"/>
              </a:rPr>
              <a:t>6,1 · No</a:t>
            </a:r>
            <a:endParaRPr lang="en-US" sz="1400" dirty="0"/>
          </a:p>
        </p:txBody>
      </p:sp>
      <p:sp>
        <p:nvSpPr>
          <p:cNvPr id="48" name="Text 43"/>
          <p:cNvSpPr/>
          <p:nvPr/>
        </p:nvSpPr>
        <p:spPr>
          <a:xfrm>
            <a:off x="8115300" y="4555492"/>
            <a:ext cx="972714" cy="299720"/>
          </a:xfrm>
          <a:custGeom>
            <a:avLst/>
            <a:gdLst/>
            <a:ahLst/>
            <a:cxnLst/>
            <a:rect l="l" t="t" r="r" b="b"/>
            <a:pathLst>
              <a:path w="972714" h="299720">
                <a:moveTo>
                  <a:pt x="149860" y="0"/>
                </a:moveTo>
                <a:lnTo>
                  <a:pt x="822854" y="0"/>
                </a:lnTo>
                <a:arcTo hR="149860" wR="149860" stAng="16200000" swAng="5400000"/>
                <a:lnTo>
                  <a:pt x="972714" y="149860"/>
                </a:lnTo>
                <a:arcTo hR="149860" wR="149860" stAng="0" swAng="5400000"/>
                <a:lnTo>
                  <a:pt x="149860" y="299720"/>
                </a:lnTo>
                <a:arcTo hR="149860" wR="149860" stAng="5400000" swAng="5400000"/>
                <a:lnTo>
                  <a:pt x="0" y="149860"/>
                </a:lnTo>
                <a:arcTo hR="149860" wR="149860" stAng="10800000" swAng="5400000"/>
                <a:close/>
              </a:path>
            </a:pathLst>
          </a:custGeom>
          <a:solidFill>
            <a:srgbClr val="1F1E1C"/>
          </a:solidFill>
          <a:ln/>
        </p:spPr>
        <p:txBody>
          <a:bodyPr wrap="none" lIns="0" tIns="0" rIns="0" bIns="0" rtlCol="0" anchor="ctr">
            <a:normAutofit/>
          </a:bodyPr>
          <a:lstStyle/>
          <a:p>
            <a:pPr algn="ctr" indent="0" marL="0">
              <a:lnSpc>
                <a:spcPts val="1960"/>
              </a:lnSpc>
              <a:buNone/>
            </a:pPr>
            <a:r>
              <a:rPr lang="en-US" sz="1400" b="1" dirty="0">
                <a:solidFill>
                  <a:srgbClr val="DCD3C3"/>
                </a:solidFill>
                <a:latin typeface="Archivo" pitchFamily="34" charset="0"/>
                <a:ea typeface="Archivo" pitchFamily="34" charset="-122"/>
                <a:cs typeface="Archivo" pitchFamily="34" charset="-120"/>
              </a:rPr>
              <a:t>10,0 · No</a:t>
            </a:r>
            <a:endParaRPr lang="en-US" sz="1400" dirty="0"/>
          </a:p>
        </p:txBody>
      </p:sp>
      <p:sp>
        <p:nvSpPr>
          <p:cNvPr id="49" name="Shape 44"/>
          <p:cNvSpPr/>
          <p:nvPr/>
        </p:nvSpPr>
        <p:spPr>
          <a:xfrm>
            <a:off x="9709150" y="4572000"/>
            <a:ext cx="266700" cy="266700"/>
          </a:xfrm>
          <a:prstGeom prst="roundRect">
            <a:avLst>
              <a:gd name="adj" fmla="val 50000"/>
            </a:avLst>
          </a:prstGeom>
          <a:noFill/>
          <a:ln w="12700">
            <a:solidFill>
              <a:srgbClr val="1F1E1C"/>
            </a:solidFill>
            <a:prstDash val="solid"/>
          </a:ln>
        </p:spPr>
      </p:sp>
      <p:pic>
        <p:nvPicPr>
          <p:cNvPr id="50" name="Image 3" descr="Warning">    </p:cNvPr>
          <p:cNvPicPr>
            <a:picLocks noChangeAspect="1"/>
          </p:cNvPicPr>
          <p:nvPr/>
        </p:nvPicPr>
        <p:blipFill>
          <a:blip r:embed="rId4"/>
          <a:srcRect l="0" r="0" t="0" b="0"/>
          <a:stretch/>
        </p:blipFill>
        <p:spPr>
          <a:xfrm>
            <a:off x="9740900" y="4603750"/>
            <a:ext cx="203200" cy="203200"/>
          </a:xfrm>
          <a:prstGeom prst="rect">
            <a:avLst/>
          </a:prstGeom>
        </p:spPr>
      </p:pic>
      <p:sp>
        <p:nvSpPr>
          <p:cNvPr id="51" name="Text 45"/>
          <p:cNvSpPr/>
          <p:nvPr/>
        </p:nvSpPr>
        <p:spPr>
          <a:xfrm>
            <a:off x="10058400" y="4580892"/>
            <a:ext cx="29389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E1C"/>
                </a:solidFill>
                <a:latin typeface="Archivo" pitchFamily="34" charset="0"/>
                <a:ea typeface="Archivo" pitchFamily="34" charset="-122"/>
                <a:cs typeface="Archivo" pitchFamily="34" charset="-120"/>
              </a:rPr>
              <a:t>No</a:t>
            </a:r>
            <a:endParaRPr lang="en-US" sz="1400" dirty="0"/>
          </a:p>
        </p:txBody>
      </p:sp>
      <p:sp>
        <p:nvSpPr>
          <p:cNvPr id="52" name="Shape 46"/>
          <p:cNvSpPr/>
          <p:nvPr/>
        </p:nvSpPr>
        <p:spPr>
          <a:xfrm>
            <a:off x="825500" y="5241292"/>
            <a:ext cx="0" cy="240030"/>
          </a:xfrm>
          <a:prstGeom prst="line">
            <a:avLst/>
          </a:prstGeom>
          <a:noFill/>
          <a:ln w="25400">
            <a:solidFill>
              <a:srgbClr val="1F1E1C"/>
            </a:solidFill>
            <a:prstDash val="solid"/>
          </a:ln>
        </p:spPr>
      </p:sp>
      <p:sp>
        <p:nvSpPr>
          <p:cNvPr id="53" name="Text 47"/>
          <p:cNvSpPr/>
          <p:nvPr/>
        </p:nvSpPr>
        <p:spPr>
          <a:xfrm>
            <a:off x="990600" y="5241292"/>
            <a:ext cx="10700258"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E1C"/>
                </a:solidFill>
                <a:latin typeface="Archivo" pitchFamily="34" charset="0"/>
                <a:ea typeface="Archivo" pitchFamily="34" charset="-122"/>
                <a:cs typeface="Archivo" pitchFamily="34" charset="-120"/>
              </a:rPr>
              <a:t>Con la venta normal impuesta, el escenario de uso real, Ridge y Lasso siguen cumpliendo los seis.</a:t>
            </a:r>
            <a:endParaRPr lang="en-US" sz="1400" dirty="0"/>
          </a:p>
        </p:txBody>
      </p:sp>
      <p:sp>
        <p:nvSpPr>
          <p:cNvPr id="54" name="Text 48"/>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53F"/>
                </a:solidFill>
                <a:latin typeface="Archivo" pitchFamily="34" charset="0"/>
                <a:ea typeface="Archivo" pitchFamily="34" charset="-122"/>
                <a:cs typeface="Archivo" pitchFamily="34" charset="-120"/>
              </a:rPr>
              <a:t>11 · Housing Prices · EP2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1E1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718820"/>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DCD3C3"/>
                </a:solidFill>
                <a:latin typeface="Anton" pitchFamily="34" charset="0"/>
                <a:ea typeface="Anton" pitchFamily="34" charset="-122"/>
                <a:cs typeface="Anton" pitchFamily="34" charset="-120"/>
              </a:rPr>
              <a:t>ELECCIÓN: LASSO</a:t>
            </a:r>
            <a:endParaRPr lang="en-US" sz="5200" dirty="0"/>
          </a:p>
        </p:txBody>
      </p:sp>
      <p:sp>
        <p:nvSpPr>
          <p:cNvPr id="3" name="Text 1"/>
          <p:cNvSpPr/>
          <p:nvPr/>
        </p:nvSpPr>
        <p:spPr>
          <a:xfrm>
            <a:off x="812800" y="1760221"/>
            <a:ext cx="1088339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9B8B"/>
                </a:solidFill>
                <a:latin typeface="Archivo" pitchFamily="34" charset="0"/>
                <a:ea typeface="Archivo" pitchFamily="34" charset="-122"/>
                <a:cs typeface="Archivo" pitchFamily="34" charset="-120"/>
              </a:rPr>
              <a:t>Regla fijada antes de evaluar. Se decide con validación, no con test.</a:t>
            </a:r>
            <a:endParaRPr lang="en-US" sz="1400" dirty="0"/>
          </a:p>
        </p:txBody>
      </p:sp>
      <p:sp>
        <p:nvSpPr>
          <p:cNvPr id="4" name="Shape 2"/>
          <p:cNvSpPr/>
          <p:nvPr/>
        </p:nvSpPr>
        <p:spPr>
          <a:xfrm>
            <a:off x="819150" y="2546350"/>
            <a:ext cx="2781300" cy="2781300"/>
          </a:xfrm>
          <a:prstGeom prst="roundRect">
            <a:avLst>
              <a:gd name="adj" fmla="val 50000"/>
            </a:avLst>
          </a:prstGeom>
          <a:noFill/>
          <a:ln w="12700">
            <a:solidFill>
              <a:srgbClr val="DCD3C3"/>
            </a:solidFill>
            <a:prstDash val="solid"/>
          </a:ln>
        </p:spPr>
      </p:sp>
      <p:sp>
        <p:nvSpPr>
          <p:cNvPr id="5" name="Text 3"/>
          <p:cNvSpPr/>
          <p:nvPr/>
        </p:nvSpPr>
        <p:spPr>
          <a:xfrm>
            <a:off x="2058670" y="3453129"/>
            <a:ext cx="302154" cy="360680"/>
          </a:xfrm>
          <a:prstGeom prst="rect">
            <a:avLst/>
          </a:prstGeom>
          <a:noFill/>
          <a:ln/>
        </p:spPr>
        <p:txBody>
          <a:bodyPr wrap="square" lIns="0" tIns="0" rIns="0" bIns="0" rtlCol="0" anchor="t">
            <a:normAutofit/>
          </a:bodyPr>
          <a:lstStyle/>
          <a:p>
            <a:pPr algn="ctr" indent="0" marL="0">
              <a:lnSpc>
                <a:spcPts val="2640"/>
              </a:lnSpc>
              <a:buNone/>
            </a:pPr>
            <a:r>
              <a:rPr lang="en-US" sz="2400" dirty="0">
                <a:solidFill>
                  <a:srgbClr val="DCD3C3"/>
                </a:solidFill>
                <a:latin typeface="Anton" pitchFamily="34" charset="0"/>
                <a:ea typeface="Anton" pitchFamily="34" charset="-122"/>
                <a:cs typeface="Anton" pitchFamily="34" charset="-120"/>
              </a:rPr>
              <a:t>01</a:t>
            </a:r>
            <a:endParaRPr lang="en-US" sz="2400" dirty="0"/>
          </a:p>
        </p:txBody>
      </p:sp>
      <p:sp>
        <p:nvSpPr>
          <p:cNvPr id="6" name="Text 4"/>
          <p:cNvSpPr/>
          <p:nvPr/>
        </p:nvSpPr>
        <p:spPr>
          <a:xfrm>
            <a:off x="1209813" y="3864608"/>
            <a:ext cx="1999869" cy="265430"/>
          </a:xfrm>
          <a:prstGeom prst="rect">
            <a:avLst/>
          </a:prstGeom>
          <a:noFill/>
          <a:ln/>
        </p:spPr>
        <p:txBody>
          <a:bodyPr wrap="square" lIns="0" tIns="0" rIns="0" bIns="0" rtlCol="0" anchor="t">
            <a:normAutofit/>
          </a:bodyPr>
          <a:lstStyle/>
          <a:p>
            <a:pPr algn="ctr" indent="0" marL="0">
              <a:lnSpc>
                <a:spcPts val="1890"/>
              </a:lnSpc>
              <a:buNone/>
            </a:pPr>
            <a:r>
              <a:rPr lang="en-US" sz="1400" dirty="0">
                <a:solidFill>
                  <a:srgbClr val="A39B8B"/>
                </a:solidFill>
                <a:latin typeface="Archivo" pitchFamily="34" charset="0"/>
                <a:ea typeface="Archivo" pitchFamily="34" charset="-122"/>
                <a:cs typeface="Archivo" pitchFamily="34" charset="-120"/>
              </a:rPr>
              <a:t>Cumplen los seis KPI</a:t>
            </a:r>
            <a:endParaRPr lang="en-US" sz="1400" dirty="0"/>
          </a:p>
        </p:txBody>
      </p:sp>
      <p:sp>
        <p:nvSpPr>
          <p:cNvPr id="7" name="Text 5"/>
          <p:cNvSpPr/>
          <p:nvPr/>
        </p:nvSpPr>
        <p:spPr>
          <a:xfrm>
            <a:off x="1502421" y="4180842"/>
            <a:ext cx="1414653" cy="265430"/>
          </a:xfrm>
          <a:prstGeom prst="rect">
            <a:avLst/>
          </a:prstGeom>
          <a:noFill/>
          <a:ln/>
        </p:spPr>
        <p:txBody>
          <a:bodyPr wrap="square" lIns="0" tIns="0" rIns="0" bIns="0" rtlCol="0" anchor="t">
            <a:normAutofit/>
          </a:bodyPr>
          <a:lstStyle/>
          <a:p>
            <a:pPr algn="ctr" indent="0" marL="0">
              <a:lnSpc>
                <a:spcPts val="1890"/>
              </a:lnSpc>
              <a:buNone/>
            </a:pPr>
            <a:r>
              <a:rPr lang="en-US" sz="1400" b="1" dirty="0">
                <a:solidFill>
                  <a:srgbClr val="DCD3C3"/>
                </a:solidFill>
                <a:latin typeface="Archivo" pitchFamily="34" charset="0"/>
                <a:ea typeface="Archivo" pitchFamily="34" charset="-122"/>
                <a:cs typeface="Archivo" pitchFamily="34" charset="-120"/>
              </a:rPr>
              <a:t>Ridge y Lasso</a:t>
            </a:r>
            <a:endParaRPr lang="en-US" sz="1400" dirty="0"/>
          </a:p>
        </p:txBody>
      </p:sp>
      <p:sp>
        <p:nvSpPr>
          <p:cNvPr id="8" name="Shape 6"/>
          <p:cNvSpPr/>
          <p:nvPr/>
        </p:nvSpPr>
        <p:spPr>
          <a:xfrm>
            <a:off x="3409950" y="2546350"/>
            <a:ext cx="2781300" cy="2781300"/>
          </a:xfrm>
          <a:prstGeom prst="roundRect">
            <a:avLst>
              <a:gd name="adj" fmla="val 50000"/>
            </a:avLst>
          </a:prstGeom>
          <a:noFill/>
          <a:ln w="12700">
            <a:solidFill>
              <a:srgbClr val="DCD3C3"/>
            </a:solidFill>
            <a:prstDash val="solid"/>
          </a:ln>
        </p:spPr>
      </p:sp>
      <p:sp>
        <p:nvSpPr>
          <p:cNvPr id="9" name="Text 7"/>
          <p:cNvSpPr/>
          <p:nvPr/>
        </p:nvSpPr>
        <p:spPr>
          <a:xfrm>
            <a:off x="4619879" y="3333117"/>
            <a:ext cx="361442" cy="360680"/>
          </a:xfrm>
          <a:prstGeom prst="rect">
            <a:avLst/>
          </a:prstGeom>
          <a:noFill/>
          <a:ln/>
        </p:spPr>
        <p:txBody>
          <a:bodyPr wrap="square" lIns="0" tIns="0" rIns="0" bIns="0" rtlCol="0" anchor="t">
            <a:normAutofit/>
          </a:bodyPr>
          <a:lstStyle/>
          <a:p>
            <a:pPr algn="ctr" indent="0" marL="0">
              <a:lnSpc>
                <a:spcPts val="2640"/>
              </a:lnSpc>
              <a:buNone/>
            </a:pPr>
            <a:r>
              <a:rPr lang="en-US" sz="2400" dirty="0">
                <a:solidFill>
                  <a:srgbClr val="DCD3C3"/>
                </a:solidFill>
                <a:latin typeface="Anton" pitchFamily="34" charset="0"/>
                <a:ea typeface="Anton" pitchFamily="34" charset="-122"/>
                <a:cs typeface="Anton" pitchFamily="34" charset="-120"/>
              </a:rPr>
              <a:t>02</a:t>
            </a:r>
            <a:endParaRPr lang="en-US" sz="2400" dirty="0"/>
          </a:p>
        </p:txBody>
      </p:sp>
      <p:sp>
        <p:nvSpPr>
          <p:cNvPr id="10" name="Text 8"/>
          <p:cNvSpPr/>
          <p:nvPr/>
        </p:nvSpPr>
        <p:spPr>
          <a:xfrm>
            <a:off x="3790747" y="3744596"/>
            <a:ext cx="2019706" cy="505460"/>
          </a:xfrm>
          <a:prstGeom prst="rect">
            <a:avLst/>
          </a:prstGeom>
          <a:noFill/>
          <a:ln/>
        </p:spPr>
        <p:txBody>
          <a:bodyPr wrap="square" lIns="0" tIns="0" rIns="0" bIns="0" rtlCol="0" anchor="t">
            <a:normAutofit/>
          </a:bodyPr>
          <a:lstStyle/>
          <a:p>
            <a:pPr algn="ctr" indent="0" marL="0">
              <a:lnSpc>
                <a:spcPts val="1890"/>
              </a:lnSpc>
              <a:buNone/>
            </a:pPr>
            <a:r>
              <a:rPr lang="en-US" sz="1400" dirty="0">
                <a:solidFill>
                  <a:srgbClr val="A39B8B"/>
                </a:solidFill>
                <a:latin typeface="Archivo" pitchFamily="34" charset="0"/>
                <a:ea typeface="Archivo" pitchFamily="34" charset="-122"/>
                <a:cs typeface="Archivo" pitchFamily="34" charset="-120"/>
              </a:rPr>
              <a:t>Menor RMSE en validación</a:t>
            </a:r>
            <a:endParaRPr lang="en-US" sz="1400" dirty="0"/>
          </a:p>
        </p:txBody>
      </p:sp>
      <p:sp>
        <p:nvSpPr>
          <p:cNvPr id="11" name="Text 9"/>
          <p:cNvSpPr/>
          <p:nvPr/>
        </p:nvSpPr>
        <p:spPr>
          <a:xfrm>
            <a:off x="3877818" y="4300854"/>
            <a:ext cx="1845564" cy="265430"/>
          </a:xfrm>
          <a:prstGeom prst="rect">
            <a:avLst/>
          </a:prstGeom>
          <a:noFill/>
          <a:ln/>
        </p:spPr>
        <p:txBody>
          <a:bodyPr wrap="square" lIns="0" tIns="0" rIns="0" bIns="0" rtlCol="0" anchor="t">
            <a:normAutofit/>
          </a:bodyPr>
          <a:lstStyle/>
          <a:p>
            <a:pPr algn="ctr" indent="0" marL="0">
              <a:lnSpc>
                <a:spcPts val="1890"/>
              </a:lnSpc>
              <a:buNone/>
            </a:pPr>
            <a:r>
              <a:rPr lang="en-US" sz="1400" b="1" dirty="0">
                <a:solidFill>
                  <a:srgbClr val="DCD3C3"/>
                </a:solidFill>
                <a:latin typeface="Archivo" pitchFamily="34" charset="0"/>
                <a:ea typeface="Archivo" pitchFamily="34" charset="-122"/>
                <a:cs typeface="Archivo" pitchFamily="34" charset="-120"/>
              </a:rPr>
              <a:t>Ridge, por 54 USD</a:t>
            </a:r>
            <a:endParaRPr lang="en-US" sz="1400" dirty="0"/>
          </a:p>
        </p:txBody>
      </p:sp>
      <p:sp>
        <p:nvSpPr>
          <p:cNvPr id="12" name="Shape 10"/>
          <p:cNvSpPr/>
          <p:nvPr/>
        </p:nvSpPr>
        <p:spPr>
          <a:xfrm>
            <a:off x="6000750" y="2546350"/>
            <a:ext cx="2781300" cy="2781300"/>
          </a:xfrm>
          <a:prstGeom prst="roundRect">
            <a:avLst>
              <a:gd name="adj" fmla="val 50000"/>
            </a:avLst>
          </a:prstGeom>
          <a:noFill/>
          <a:ln w="12700">
            <a:solidFill>
              <a:srgbClr val="DCD3C3"/>
            </a:solidFill>
            <a:prstDash val="solid"/>
          </a:ln>
        </p:spPr>
      </p:sp>
      <p:sp>
        <p:nvSpPr>
          <p:cNvPr id="13" name="Text 11"/>
          <p:cNvSpPr/>
          <p:nvPr/>
        </p:nvSpPr>
        <p:spPr>
          <a:xfrm>
            <a:off x="7210679" y="3333117"/>
            <a:ext cx="361442" cy="360680"/>
          </a:xfrm>
          <a:prstGeom prst="rect">
            <a:avLst/>
          </a:prstGeom>
          <a:noFill/>
          <a:ln/>
        </p:spPr>
        <p:txBody>
          <a:bodyPr wrap="square" lIns="0" tIns="0" rIns="0" bIns="0" rtlCol="0" anchor="t">
            <a:normAutofit/>
          </a:bodyPr>
          <a:lstStyle/>
          <a:p>
            <a:pPr algn="ctr" indent="0" marL="0">
              <a:lnSpc>
                <a:spcPts val="2640"/>
              </a:lnSpc>
              <a:buNone/>
            </a:pPr>
            <a:r>
              <a:rPr lang="en-US" sz="2400" dirty="0">
                <a:solidFill>
                  <a:srgbClr val="DCD3C3"/>
                </a:solidFill>
                <a:latin typeface="Anton" pitchFamily="34" charset="0"/>
                <a:ea typeface="Anton" pitchFamily="34" charset="-122"/>
                <a:cs typeface="Anton" pitchFamily="34" charset="-120"/>
              </a:rPr>
              <a:t>03</a:t>
            </a:r>
            <a:endParaRPr lang="en-US" sz="2400" dirty="0"/>
          </a:p>
        </p:txBody>
      </p:sp>
      <p:sp>
        <p:nvSpPr>
          <p:cNvPr id="14" name="Text 12"/>
          <p:cNvSpPr/>
          <p:nvPr/>
        </p:nvSpPr>
        <p:spPr>
          <a:xfrm>
            <a:off x="6381547" y="3744596"/>
            <a:ext cx="2019706" cy="505460"/>
          </a:xfrm>
          <a:prstGeom prst="rect">
            <a:avLst/>
          </a:prstGeom>
          <a:noFill/>
          <a:ln/>
        </p:spPr>
        <p:txBody>
          <a:bodyPr wrap="square" lIns="0" tIns="0" rIns="0" bIns="0" rtlCol="0" anchor="t">
            <a:normAutofit/>
          </a:bodyPr>
          <a:lstStyle/>
          <a:p>
            <a:pPr algn="ctr" indent="0" marL="0">
              <a:lnSpc>
                <a:spcPts val="1890"/>
              </a:lnSpc>
              <a:buNone/>
            </a:pPr>
            <a:r>
              <a:rPr lang="en-US" sz="1400" dirty="0">
                <a:solidFill>
                  <a:srgbClr val="A39B8B"/>
                </a:solidFill>
                <a:latin typeface="Archivo" pitchFamily="34" charset="0"/>
                <a:ea typeface="Archivo" pitchFamily="34" charset="-122"/>
                <a:cs typeface="Archivo" pitchFamily="34" charset="-120"/>
              </a:rPr>
              <a:t>Diferencia de R² menor a 1 punto</a:t>
            </a:r>
            <a:endParaRPr lang="en-US" sz="1400" dirty="0"/>
          </a:p>
        </p:txBody>
      </p:sp>
      <p:sp>
        <p:nvSpPr>
          <p:cNvPr id="15" name="Text 13"/>
          <p:cNvSpPr/>
          <p:nvPr/>
        </p:nvSpPr>
        <p:spPr>
          <a:xfrm>
            <a:off x="6409700" y="4300854"/>
            <a:ext cx="1963293" cy="265430"/>
          </a:xfrm>
          <a:prstGeom prst="rect">
            <a:avLst/>
          </a:prstGeom>
          <a:noFill/>
          <a:ln/>
        </p:spPr>
        <p:txBody>
          <a:bodyPr wrap="square" lIns="0" tIns="0" rIns="0" bIns="0" rtlCol="0" anchor="t">
            <a:normAutofit/>
          </a:bodyPr>
          <a:lstStyle/>
          <a:p>
            <a:pPr algn="ctr" indent="0" marL="0">
              <a:lnSpc>
                <a:spcPts val="1890"/>
              </a:lnSpc>
              <a:buNone/>
            </a:pPr>
            <a:r>
              <a:rPr lang="en-US" sz="1400" b="1" dirty="0">
                <a:solidFill>
                  <a:srgbClr val="DCD3C3"/>
                </a:solidFill>
                <a:latin typeface="Archivo" pitchFamily="34" charset="0"/>
                <a:ea typeface="Archivo" pitchFamily="34" charset="-122"/>
                <a:cs typeface="Archivo" pitchFamily="34" charset="-120"/>
              </a:rPr>
              <a:t>Gana el más simple</a:t>
            </a:r>
            <a:endParaRPr lang="en-US" sz="1400" dirty="0"/>
          </a:p>
        </p:txBody>
      </p:sp>
      <p:sp>
        <p:nvSpPr>
          <p:cNvPr id="16" name="Shape 14"/>
          <p:cNvSpPr/>
          <p:nvPr/>
        </p:nvSpPr>
        <p:spPr>
          <a:xfrm>
            <a:off x="8591550" y="2546350"/>
            <a:ext cx="2781300" cy="2781300"/>
          </a:xfrm>
          <a:prstGeom prst="roundRect">
            <a:avLst>
              <a:gd name="adj" fmla="val 50000"/>
            </a:avLst>
          </a:prstGeom>
          <a:solidFill>
            <a:srgbClr val="DCD3C3"/>
          </a:solidFill>
          <a:ln w="12700">
            <a:solidFill>
              <a:srgbClr val="DCD3C3"/>
            </a:solidFill>
            <a:prstDash val="solid"/>
          </a:ln>
        </p:spPr>
      </p:sp>
      <p:sp>
        <p:nvSpPr>
          <p:cNvPr id="17" name="Text 15"/>
          <p:cNvSpPr/>
          <p:nvPr/>
        </p:nvSpPr>
        <p:spPr>
          <a:xfrm>
            <a:off x="9517380" y="3326129"/>
            <a:ext cx="929640" cy="23876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4A453F"/>
                </a:solidFill>
                <a:latin typeface="Archivo" pitchFamily="34" charset="0"/>
                <a:ea typeface="Archivo" pitchFamily="34" charset="-122"/>
                <a:cs typeface="Archivo" pitchFamily="34" charset="-120"/>
              </a:rPr>
              <a:t>ELEGIDO</a:t>
            </a:r>
            <a:endParaRPr lang="en-US" sz="1200" dirty="0"/>
          </a:p>
        </p:txBody>
      </p:sp>
      <p:sp>
        <p:nvSpPr>
          <p:cNvPr id="18" name="Text 16"/>
          <p:cNvSpPr/>
          <p:nvPr/>
        </p:nvSpPr>
        <p:spPr>
          <a:xfrm>
            <a:off x="9074023" y="3590292"/>
            <a:ext cx="1816354" cy="718820"/>
          </a:xfrm>
          <a:prstGeom prst="rect">
            <a:avLst/>
          </a:prstGeom>
          <a:noFill/>
          <a:ln/>
        </p:spPr>
        <p:txBody>
          <a:bodyPr wrap="square" lIns="0" tIns="0" rIns="0" bIns="0" rtlCol="0" anchor="t">
            <a:normAutofit/>
          </a:bodyPr>
          <a:lstStyle/>
          <a:p>
            <a:pPr algn="ctr" indent="0" marL="0">
              <a:lnSpc>
                <a:spcPts val="5460"/>
              </a:lnSpc>
              <a:buNone/>
            </a:pPr>
            <a:r>
              <a:rPr lang="en-US" sz="5200" dirty="0">
                <a:solidFill>
                  <a:srgbClr val="1F1E1C"/>
                </a:solidFill>
                <a:latin typeface="Anton" pitchFamily="34" charset="0"/>
                <a:ea typeface="Anton" pitchFamily="34" charset="-122"/>
                <a:cs typeface="Anton" pitchFamily="34" charset="-120"/>
              </a:rPr>
              <a:t>LASSO</a:t>
            </a:r>
            <a:endParaRPr lang="en-US" sz="5200" dirty="0"/>
          </a:p>
        </p:txBody>
      </p:sp>
      <p:sp>
        <p:nvSpPr>
          <p:cNvPr id="19" name="Text 17"/>
          <p:cNvSpPr/>
          <p:nvPr/>
        </p:nvSpPr>
        <p:spPr>
          <a:xfrm>
            <a:off x="8838957" y="4334508"/>
            <a:ext cx="228638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F1E1C"/>
                </a:solidFill>
                <a:latin typeface="Archivo" pitchFamily="34" charset="0"/>
                <a:ea typeface="Archivo" pitchFamily="34" charset="-122"/>
                <a:cs typeface="Archivo" pitchFamily="34" charset="-120"/>
              </a:rPr>
              <a:t>105 columnas en vez de 138</a:t>
            </a:r>
            <a:endParaRPr lang="en-US" sz="1200" dirty="0"/>
          </a:p>
        </p:txBody>
      </p:sp>
      <p:sp>
        <p:nvSpPr>
          <p:cNvPr id="20" name="Text 18"/>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12 · Housing Prices · EP2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CD3C3"/>
        </a:solidFill>
      </p:bgPr>
    </p:bg>
    <p:spTree>
      <p:nvGrpSpPr>
        <p:cNvPr id="1" name=""/>
        <p:cNvGrpSpPr/>
        <p:nvPr/>
      </p:nvGrpSpPr>
      <p:grpSpPr>
        <a:xfrm>
          <a:off x="0" y="0"/>
          <a:ext cx="0" cy="0"/>
          <a:chOff x="0" y="0"/>
          <a:chExt cx="0" cy="0"/>
        </a:xfrm>
      </p:grpSpPr>
      <p:sp>
        <p:nvSpPr>
          <p:cNvPr id="2" name="Shape 0"/>
          <p:cNvSpPr/>
          <p:nvPr/>
        </p:nvSpPr>
        <p:spPr>
          <a:xfrm>
            <a:off x="6604000" y="1778000"/>
            <a:ext cx="5588000" cy="5080000"/>
          </a:xfrm>
          <a:prstGeom prst="rect">
            <a:avLst/>
          </a:prstGeom>
          <a:solidFill>
            <a:srgbClr val="1F1E1C"/>
          </a:solidFill>
          <a:ln/>
        </p:spPr>
      </p:sp>
      <p:sp>
        <p:nvSpPr>
          <p:cNvPr id="3" name="Text 1"/>
          <p:cNvSpPr/>
          <p:nvPr/>
        </p:nvSpPr>
        <p:spPr>
          <a:xfrm>
            <a:off x="7010400" y="2133600"/>
            <a:ext cx="449986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9B8B"/>
                </a:solidFill>
                <a:latin typeface="Archivo" pitchFamily="34" charset="0"/>
                <a:ea typeface="Archivo" pitchFamily="34" charset="-122"/>
                <a:cs typeface="Archivo" pitchFamily="34" charset="-120"/>
              </a:rPr>
              <a:t>VARIABLES QUE MÁS PESAN</a:t>
            </a:r>
            <a:endParaRPr lang="en-US" sz="1200" dirty="0"/>
          </a:p>
        </p:txBody>
      </p:sp>
      <p:sp>
        <p:nvSpPr>
          <p:cNvPr id="4" name="Text 2"/>
          <p:cNvSpPr/>
          <p:nvPr/>
        </p:nvSpPr>
        <p:spPr>
          <a:xfrm>
            <a:off x="7010400" y="2372358"/>
            <a:ext cx="44998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Aumento del RMSE en test al desordenarla (USD)</a:t>
            </a:r>
            <a:endParaRPr lang="en-US" sz="1200" dirty="0"/>
          </a:p>
        </p:txBody>
      </p:sp>
      <p:sp>
        <p:nvSpPr>
          <p:cNvPr id="5" name="Text 3"/>
          <p:cNvSpPr/>
          <p:nvPr/>
        </p:nvSpPr>
        <p:spPr>
          <a:xfrm>
            <a:off x="7010400" y="2763521"/>
            <a:ext cx="44998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3C3"/>
                </a:solidFill>
                <a:latin typeface="Archivo" pitchFamily="34" charset="0"/>
                <a:ea typeface="Archivo" pitchFamily="34" charset="-122"/>
                <a:cs typeface="Archivo" pitchFamily="34" charset="-120"/>
              </a:rPr>
              <a:t>Gr Liv Area · superficie habitable</a:t>
            </a:r>
            <a:endParaRPr lang="en-US" sz="1200" dirty="0"/>
          </a:p>
        </p:txBody>
      </p:sp>
      <p:sp>
        <p:nvSpPr>
          <p:cNvPr id="6" name="Shape 4"/>
          <p:cNvSpPr/>
          <p:nvPr/>
        </p:nvSpPr>
        <p:spPr>
          <a:xfrm>
            <a:off x="7010400" y="3045458"/>
            <a:ext cx="3606800" cy="152400"/>
          </a:xfrm>
          <a:prstGeom prst="rect">
            <a:avLst/>
          </a:prstGeom>
          <a:solidFill>
            <a:srgbClr val="DCD3C3"/>
          </a:solidFill>
          <a:ln/>
        </p:spPr>
      </p:sp>
      <p:sp>
        <p:nvSpPr>
          <p:cNvPr id="7" name="Text 5"/>
          <p:cNvSpPr/>
          <p:nvPr/>
        </p:nvSpPr>
        <p:spPr>
          <a:xfrm>
            <a:off x="10744200" y="3014979"/>
            <a:ext cx="60083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CD3C3"/>
                </a:solidFill>
                <a:latin typeface="Archivo" pitchFamily="34" charset="0"/>
                <a:ea typeface="Archivo" pitchFamily="34" charset="-122"/>
                <a:cs typeface="Archivo" pitchFamily="34" charset="-120"/>
              </a:rPr>
              <a:t>21.926</a:t>
            </a:r>
            <a:endParaRPr lang="en-US" sz="1200" dirty="0"/>
          </a:p>
        </p:txBody>
      </p:sp>
      <p:sp>
        <p:nvSpPr>
          <p:cNvPr id="8" name="Text 6"/>
          <p:cNvSpPr/>
          <p:nvPr/>
        </p:nvSpPr>
        <p:spPr>
          <a:xfrm>
            <a:off x="7010400" y="3291842"/>
            <a:ext cx="44998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3C3"/>
                </a:solidFill>
                <a:latin typeface="Archivo" pitchFamily="34" charset="0"/>
                <a:ea typeface="Archivo" pitchFamily="34" charset="-122"/>
                <a:cs typeface="Archivo" pitchFamily="34" charset="-120"/>
              </a:rPr>
              <a:t>Overall Qual · calidad general</a:t>
            </a:r>
            <a:endParaRPr lang="en-US" sz="1200" dirty="0"/>
          </a:p>
        </p:txBody>
      </p:sp>
      <p:sp>
        <p:nvSpPr>
          <p:cNvPr id="9" name="Shape 7"/>
          <p:cNvSpPr/>
          <p:nvPr/>
        </p:nvSpPr>
        <p:spPr>
          <a:xfrm>
            <a:off x="7010400" y="3573779"/>
            <a:ext cx="2254250" cy="152400"/>
          </a:xfrm>
          <a:prstGeom prst="rect">
            <a:avLst/>
          </a:prstGeom>
          <a:solidFill>
            <a:srgbClr val="DCD3C3"/>
          </a:solidFill>
          <a:ln/>
        </p:spPr>
      </p:sp>
      <p:sp>
        <p:nvSpPr>
          <p:cNvPr id="10" name="Text 8"/>
          <p:cNvSpPr/>
          <p:nvPr/>
        </p:nvSpPr>
        <p:spPr>
          <a:xfrm>
            <a:off x="9391650" y="3543300"/>
            <a:ext cx="60083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CD3C3"/>
                </a:solidFill>
                <a:latin typeface="Archivo" pitchFamily="34" charset="0"/>
                <a:ea typeface="Archivo" pitchFamily="34" charset="-122"/>
                <a:cs typeface="Archivo" pitchFamily="34" charset="-120"/>
              </a:rPr>
              <a:t>13.710</a:t>
            </a:r>
            <a:endParaRPr lang="en-US" sz="1200" dirty="0"/>
          </a:p>
        </p:txBody>
      </p:sp>
      <p:sp>
        <p:nvSpPr>
          <p:cNvPr id="11" name="Text 9"/>
          <p:cNvSpPr/>
          <p:nvPr/>
        </p:nvSpPr>
        <p:spPr>
          <a:xfrm>
            <a:off x="7010400" y="3820158"/>
            <a:ext cx="44998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3C3"/>
                </a:solidFill>
                <a:latin typeface="Archivo" pitchFamily="34" charset="0"/>
                <a:ea typeface="Archivo" pitchFamily="34" charset="-122"/>
                <a:cs typeface="Archivo" pitchFamily="34" charset="-120"/>
              </a:rPr>
              <a:t>Total Bsmt SF · superficie del sótano</a:t>
            </a:r>
            <a:endParaRPr lang="en-US" sz="1200" dirty="0"/>
          </a:p>
        </p:txBody>
      </p:sp>
      <p:sp>
        <p:nvSpPr>
          <p:cNvPr id="12" name="Shape 10"/>
          <p:cNvSpPr/>
          <p:nvPr/>
        </p:nvSpPr>
        <p:spPr>
          <a:xfrm>
            <a:off x="7010400" y="4102100"/>
            <a:ext cx="2095500" cy="152400"/>
          </a:xfrm>
          <a:prstGeom prst="rect">
            <a:avLst/>
          </a:prstGeom>
          <a:solidFill>
            <a:srgbClr val="DCD3C3"/>
          </a:solidFill>
          <a:ln/>
        </p:spPr>
      </p:sp>
      <p:sp>
        <p:nvSpPr>
          <p:cNvPr id="13" name="Text 11"/>
          <p:cNvSpPr/>
          <p:nvPr/>
        </p:nvSpPr>
        <p:spPr>
          <a:xfrm>
            <a:off x="9232900" y="4071621"/>
            <a:ext cx="60083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CD3C3"/>
                </a:solidFill>
                <a:latin typeface="Archivo" pitchFamily="34" charset="0"/>
                <a:ea typeface="Archivo" pitchFamily="34" charset="-122"/>
                <a:cs typeface="Archivo" pitchFamily="34" charset="-120"/>
              </a:rPr>
              <a:t>12.753</a:t>
            </a:r>
            <a:endParaRPr lang="en-US" sz="1200" dirty="0"/>
          </a:p>
        </p:txBody>
      </p:sp>
      <p:sp>
        <p:nvSpPr>
          <p:cNvPr id="14" name="Text 12"/>
          <p:cNvSpPr/>
          <p:nvPr/>
        </p:nvSpPr>
        <p:spPr>
          <a:xfrm>
            <a:off x="7010400" y="4348479"/>
            <a:ext cx="44998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3C3"/>
                </a:solidFill>
                <a:latin typeface="Archivo" pitchFamily="34" charset="0"/>
                <a:ea typeface="Archivo" pitchFamily="34" charset="-122"/>
                <a:cs typeface="Archivo" pitchFamily="34" charset="-120"/>
              </a:rPr>
              <a:t>Year Built · año de construcción</a:t>
            </a:r>
            <a:endParaRPr lang="en-US" sz="1200" dirty="0"/>
          </a:p>
        </p:txBody>
      </p:sp>
      <p:sp>
        <p:nvSpPr>
          <p:cNvPr id="15" name="Shape 13"/>
          <p:cNvSpPr/>
          <p:nvPr/>
        </p:nvSpPr>
        <p:spPr>
          <a:xfrm>
            <a:off x="7010400" y="4630421"/>
            <a:ext cx="825500" cy="152400"/>
          </a:xfrm>
          <a:prstGeom prst="rect">
            <a:avLst/>
          </a:prstGeom>
          <a:solidFill>
            <a:srgbClr val="DCD3C3"/>
          </a:solidFill>
          <a:ln/>
        </p:spPr>
      </p:sp>
      <p:sp>
        <p:nvSpPr>
          <p:cNvPr id="16" name="Text 14"/>
          <p:cNvSpPr/>
          <p:nvPr/>
        </p:nvSpPr>
        <p:spPr>
          <a:xfrm>
            <a:off x="7962900" y="4599942"/>
            <a:ext cx="49161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CD3C3"/>
                </a:solidFill>
                <a:latin typeface="Archivo" pitchFamily="34" charset="0"/>
                <a:ea typeface="Archivo" pitchFamily="34" charset="-122"/>
                <a:cs typeface="Archivo" pitchFamily="34" charset="-120"/>
              </a:rPr>
              <a:t>5.003</a:t>
            </a:r>
            <a:endParaRPr lang="en-US" sz="1200" dirty="0"/>
          </a:p>
        </p:txBody>
      </p:sp>
      <p:sp>
        <p:nvSpPr>
          <p:cNvPr id="17" name="Text 15"/>
          <p:cNvSpPr/>
          <p:nvPr/>
        </p:nvSpPr>
        <p:spPr>
          <a:xfrm>
            <a:off x="7010400" y="4876800"/>
            <a:ext cx="44998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3C3"/>
                </a:solidFill>
                <a:latin typeface="Archivo" pitchFamily="34" charset="0"/>
                <a:ea typeface="Archivo" pitchFamily="34" charset="-122"/>
                <a:cs typeface="Archivo" pitchFamily="34" charset="-120"/>
              </a:rPr>
              <a:t>Neighborhood · barrio</a:t>
            </a:r>
            <a:endParaRPr lang="en-US" sz="1200" dirty="0"/>
          </a:p>
        </p:txBody>
      </p:sp>
      <p:sp>
        <p:nvSpPr>
          <p:cNvPr id="18" name="Shape 16"/>
          <p:cNvSpPr/>
          <p:nvPr/>
        </p:nvSpPr>
        <p:spPr>
          <a:xfrm>
            <a:off x="7010400" y="5158742"/>
            <a:ext cx="635000" cy="152400"/>
          </a:xfrm>
          <a:prstGeom prst="rect">
            <a:avLst/>
          </a:prstGeom>
          <a:solidFill>
            <a:srgbClr val="DCD3C3"/>
          </a:solidFill>
          <a:ln/>
        </p:spPr>
      </p:sp>
      <p:sp>
        <p:nvSpPr>
          <p:cNvPr id="19" name="Text 17"/>
          <p:cNvSpPr/>
          <p:nvPr/>
        </p:nvSpPr>
        <p:spPr>
          <a:xfrm>
            <a:off x="7772400" y="5128258"/>
            <a:ext cx="49212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CD3C3"/>
                </a:solidFill>
                <a:latin typeface="Archivo" pitchFamily="34" charset="0"/>
                <a:ea typeface="Archivo" pitchFamily="34" charset="-122"/>
                <a:cs typeface="Archivo" pitchFamily="34" charset="-120"/>
              </a:rPr>
              <a:t>3.854</a:t>
            </a:r>
            <a:endParaRPr lang="en-US" sz="1200" dirty="0"/>
          </a:p>
        </p:txBody>
      </p:sp>
      <p:sp>
        <p:nvSpPr>
          <p:cNvPr id="20" name="Text 18"/>
          <p:cNvSpPr/>
          <p:nvPr/>
        </p:nvSpPr>
        <p:spPr>
          <a:xfrm>
            <a:off x="7010400" y="5405121"/>
            <a:ext cx="44998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3C3"/>
                </a:solidFill>
                <a:latin typeface="Archivo" pitchFamily="34" charset="0"/>
                <a:ea typeface="Archivo" pitchFamily="34" charset="-122"/>
                <a:cs typeface="Archivo" pitchFamily="34" charset="-120"/>
              </a:rPr>
              <a:t>Lot Area · superficie del terreno</a:t>
            </a:r>
            <a:endParaRPr lang="en-US" sz="1200" dirty="0"/>
          </a:p>
        </p:txBody>
      </p:sp>
      <p:sp>
        <p:nvSpPr>
          <p:cNvPr id="21" name="Shape 19"/>
          <p:cNvSpPr/>
          <p:nvPr/>
        </p:nvSpPr>
        <p:spPr>
          <a:xfrm>
            <a:off x="7010400" y="5687058"/>
            <a:ext cx="615950" cy="152400"/>
          </a:xfrm>
          <a:prstGeom prst="rect">
            <a:avLst/>
          </a:prstGeom>
          <a:solidFill>
            <a:srgbClr val="DCD3C3"/>
          </a:solidFill>
          <a:ln/>
        </p:spPr>
      </p:sp>
      <p:sp>
        <p:nvSpPr>
          <p:cNvPr id="22" name="Text 20"/>
          <p:cNvSpPr/>
          <p:nvPr/>
        </p:nvSpPr>
        <p:spPr>
          <a:xfrm>
            <a:off x="7753350" y="5656579"/>
            <a:ext cx="49250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CD3C3"/>
                </a:solidFill>
                <a:latin typeface="Archivo" pitchFamily="34" charset="0"/>
                <a:ea typeface="Archivo" pitchFamily="34" charset="-122"/>
                <a:cs typeface="Archivo" pitchFamily="34" charset="-120"/>
              </a:rPr>
              <a:t>3.744</a:t>
            </a:r>
            <a:endParaRPr lang="en-US" sz="1200" dirty="0"/>
          </a:p>
        </p:txBody>
      </p:sp>
      <p:sp>
        <p:nvSpPr>
          <p:cNvPr id="23" name="Text 21"/>
          <p:cNvSpPr/>
          <p:nvPr>
            <p:ph type="title"/>
          </p:nvPr>
        </p:nvSpPr>
        <p:spPr>
          <a:xfrm>
            <a:off x="812800" y="812800"/>
            <a:ext cx="10883392" cy="718820"/>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1F1E1C"/>
                </a:solidFill>
                <a:latin typeface="Anton" pitchFamily="34" charset="0"/>
                <a:ea typeface="Anton" pitchFamily="34" charset="-122"/>
                <a:cs typeface="Anton" pitchFamily="34" charset="-120"/>
              </a:rPr>
              <a:t>QUÉ SIGNIFICA PARA EL NEGOCIO</a:t>
            </a:r>
            <a:endParaRPr lang="en-US" sz="5200" dirty="0"/>
          </a:p>
        </p:txBody>
      </p:sp>
      <p:sp>
        <p:nvSpPr>
          <p:cNvPr id="24" name="Text 22"/>
          <p:cNvSpPr/>
          <p:nvPr/>
        </p:nvSpPr>
        <p:spPr>
          <a:xfrm>
            <a:off x="812800" y="1760221"/>
            <a:ext cx="549402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53F"/>
                </a:solidFill>
                <a:latin typeface="Archivo" pitchFamily="34" charset="0"/>
                <a:ea typeface="Archivo" pitchFamily="34" charset="-122"/>
                <a:cs typeface="Archivo" pitchFamily="34" charset="-120"/>
              </a:rPr>
              <a:t>Un valor de partida para el perito, con el detalle de qué lo movió.</a:t>
            </a:r>
            <a:endParaRPr lang="en-US" sz="1400" dirty="0"/>
          </a:p>
        </p:txBody>
      </p:sp>
      <p:sp>
        <p:nvSpPr>
          <p:cNvPr id="25" name="Shape 23"/>
          <p:cNvSpPr/>
          <p:nvPr/>
        </p:nvSpPr>
        <p:spPr>
          <a:xfrm>
            <a:off x="812800" y="2257425"/>
            <a:ext cx="5334000" cy="0"/>
          </a:xfrm>
          <a:prstGeom prst="line">
            <a:avLst/>
          </a:prstGeom>
          <a:noFill/>
          <a:ln w="6350">
            <a:solidFill>
              <a:srgbClr val="8C8476"/>
            </a:solidFill>
            <a:prstDash val="solid"/>
          </a:ln>
        </p:spPr>
      </p:sp>
      <p:sp>
        <p:nvSpPr>
          <p:cNvPr id="26" name="Text 24"/>
          <p:cNvSpPr/>
          <p:nvPr/>
        </p:nvSpPr>
        <p:spPr>
          <a:xfrm>
            <a:off x="812800" y="2411729"/>
            <a:ext cx="2092960" cy="685800"/>
          </a:xfrm>
          <a:prstGeom prst="rect">
            <a:avLst/>
          </a:prstGeom>
          <a:noFill/>
          <a:ln/>
        </p:spPr>
        <p:txBody>
          <a:bodyPr wrap="none" lIns="0" tIns="0" rIns="0" bIns="0" rtlCol="0" anchor="t">
            <a:normAutofit/>
          </a:bodyPr>
          <a:lstStyle/>
          <a:p>
            <a:pPr algn="l" indent="0" marL="0">
              <a:lnSpc>
                <a:spcPts val="5200"/>
              </a:lnSpc>
              <a:buNone/>
            </a:pPr>
            <a:r>
              <a:rPr lang="en-US" sz="5200" dirty="0">
                <a:solidFill>
                  <a:srgbClr val="1F1E1C"/>
                </a:solidFill>
                <a:latin typeface="Anton" pitchFamily="34" charset="0"/>
                <a:ea typeface="Anton" pitchFamily="34" charset="-122"/>
                <a:cs typeface="Anton" pitchFamily="34" charset="-120"/>
              </a:rPr>
              <a:t>5,3 %</a:t>
            </a:r>
            <a:endParaRPr lang="en-US" sz="5200" dirty="0"/>
          </a:p>
        </p:txBody>
      </p:sp>
      <p:sp>
        <p:nvSpPr>
          <p:cNvPr id="27" name="Text 25"/>
          <p:cNvSpPr/>
          <p:nvPr/>
        </p:nvSpPr>
        <p:spPr>
          <a:xfrm>
            <a:off x="3048000" y="2501900"/>
            <a:ext cx="3191764"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53F"/>
                </a:solidFill>
                <a:latin typeface="Archivo" pitchFamily="34" charset="0"/>
                <a:ea typeface="Archivo" pitchFamily="34" charset="-122"/>
                <a:cs typeface="Archivo" pitchFamily="34" charset="-120"/>
              </a:rPr>
              <a:t>error de la casa típica (mediana: 8.659 USD)</a:t>
            </a:r>
            <a:endParaRPr lang="en-US" sz="1400" dirty="0"/>
          </a:p>
        </p:txBody>
      </p:sp>
      <p:sp>
        <p:nvSpPr>
          <p:cNvPr id="28" name="Shape 26"/>
          <p:cNvSpPr/>
          <p:nvPr/>
        </p:nvSpPr>
        <p:spPr>
          <a:xfrm>
            <a:off x="812800" y="3227704"/>
            <a:ext cx="5334000" cy="0"/>
          </a:xfrm>
          <a:prstGeom prst="line">
            <a:avLst/>
          </a:prstGeom>
          <a:noFill/>
          <a:ln w="6350">
            <a:solidFill>
              <a:srgbClr val="8C8476"/>
            </a:solidFill>
            <a:prstDash val="solid"/>
          </a:ln>
        </p:spPr>
      </p:sp>
      <p:sp>
        <p:nvSpPr>
          <p:cNvPr id="29" name="Text 27"/>
          <p:cNvSpPr/>
          <p:nvPr/>
        </p:nvSpPr>
        <p:spPr>
          <a:xfrm>
            <a:off x="812800" y="3382008"/>
            <a:ext cx="2092960" cy="685800"/>
          </a:xfrm>
          <a:prstGeom prst="rect">
            <a:avLst/>
          </a:prstGeom>
          <a:noFill/>
          <a:ln/>
        </p:spPr>
        <p:txBody>
          <a:bodyPr wrap="none" lIns="0" tIns="0" rIns="0" bIns="0" rtlCol="0" anchor="t">
            <a:normAutofit/>
          </a:bodyPr>
          <a:lstStyle/>
          <a:p>
            <a:pPr algn="l" indent="0" marL="0">
              <a:lnSpc>
                <a:spcPts val="5200"/>
              </a:lnSpc>
              <a:buNone/>
            </a:pPr>
            <a:r>
              <a:rPr lang="en-US" sz="5200" dirty="0">
                <a:solidFill>
                  <a:srgbClr val="1F1E1C"/>
                </a:solidFill>
                <a:latin typeface="Anton" pitchFamily="34" charset="0"/>
                <a:ea typeface="Anton" pitchFamily="34" charset="-122"/>
                <a:cs typeface="Anton" pitchFamily="34" charset="-120"/>
              </a:rPr>
              <a:t>77,8 %</a:t>
            </a:r>
            <a:endParaRPr lang="en-US" sz="5200" dirty="0"/>
          </a:p>
        </p:txBody>
      </p:sp>
      <p:sp>
        <p:nvSpPr>
          <p:cNvPr id="30" name="Text 28"/>
          <p:cNvSpPr/>
          <p:nvPr/>
        </p:nvSpPr>
        <p:spPr>
          <a:xfrm>
            <a:off x="3048000" y="3592196"/>
            <a:ext cx="30988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53F"/>
                </a:solidFill>
                <a:latin typeface="Archivo" pitchFamily="34" charset="0"/>
                <a:ea typeface="Archivo" pitchFamily="34" charset="-122"/>
                <a:cs typeface="Archivo" pitchFamily="34" charset="-120"/>
              </a:rPr>
              <a:t>de las casas con error menor a 10 %</a:t>
            </a:r>
            <a:endParaRPr lang="en-US" sz="1400" dirty="0"/>
          </a:p>
        </p:txBody>
      </p:sp>
      <p:sp>
        <p:nvSpPr>
          <p:cNvPr id="31" name="Shape 29"/>
          <p:cNvSpPr/>
          <p:nvPr/>
        </p:nvSpPr>
        <p:spPr>
          <a:xfrm>
            <a:off x="812800" y="4197983"/>
            <a:ext cx="5334000" cy="0"/>
          </a:xfrm>
          <a:prstGeom prst="line">
            <a:avLst/>
          </a:prstGeom>
          <a:noFill/>
          <a:ln w="6350">
            <a:solidFill>
              <a:srgbClr val="8C8476"/>
            </a:solidFill>
            <a:prstDash val="solid"/>
          </a:ln>
        </p:spPr>
      </p:sp>
      <p:sp>
        <p:nvSpPr>
          <p:cNvPr id="32" name="Text 30"/>
          <p:cNvSpPr/>
          <p:nvPr/>
        </p:nvSpPr>
        <p:spPr>
          <a:xfrm>
            <a:off x="812800" y="4352292"/>
            <a:ext cx="2092960" cy="685800"/>
          </a:xfrm>
          <a:prstGeom prst="rect">
            <a:avLst/>
          </a:prstGeom>
          <a:noFill/>
          <a:ln/>
        </p:spPr>
        <p:txBody>
          <a:bodyPr wrap="none" lIns="0" tIns="0" rIns="0" bIns="0" rtlCol="0" anchor="t">
            <a:normAutofit/>
          </a:bodyPr>
          <a:lstStyle/>
          <a:p>
            <a:pPr algn="l" indent="0" marL="0">
              <a:lnSpc>
                <a:spcPts val="5200"/>
              </a:lnSpc>
              <a:buNone/>
            </a:pPr>
            <a:r>
              <a:rPr lang="en-US" sz="5200" dirty="0">
                <a:solidFill>
                  <a:srgbClr val="1F1E1C"/>
                </a:solidFill>
                <a:latin typeface="Anton" pitchFamily="34" charset="0"/>
                <a:ea typeface="Anton" pitchFamily="34" charset="-122"/>
                <a:cs typeface="Anton" pitchFamily="34" charset="-120"/>
              </a:rPr>
              <a:t>96,6 %</a:t>
            </a:r>
            <a:endParaRPr lang="en-US" sz="5200" dirty="0"/>
          </a:p>
        </p:txBody>
      </p:sp>
      <p:sp>
        <p:nvSpPr>
          <p:cNvPr id="33" name="Text 31"/>
          <p:cNvSpPr/>
          <p:nvPr/>
        </p:nvSpPr>
        <p:spPr>
          <a:xfrm>
            <a:off x="3048000" y="4562475"/>
            <a:ext cx="30988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53F"/>
                </a:solidFill>
                <a:latin typeface="Archivo" pitchFamily="34" charset="0"/>
                <a:ea typeface="Archivo" pitchFamily="34" charset="-122"/>
                <a:cs typeface="Archivo" pitchFamily="34" charset="-120"/>
              </a:rPr>
              <a:t>de las casas con error menor a 20 %</a:t>
            </a:r>
            <a:endParaRPr lang="en-US" sz="1400" dirty="0"/>
          </a:p>
        </p:txBody>
      </p:sp>
      <p:sp>
        <p:nvSpPr>
          <p:cNvPr id="34" name="Text 32"/>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53F"/>
                </a:solidFill>
                <a:latin typeface="Archivo" pitchFamily="34" charset="0"/>
                <a:ea typeface="Archivo" pitchFamily="34" charset="-122"/>
                <a:cs typeface="Archivo" pitchFamily="34" charset="-120"/>
              </a:rPr>
              <a:t>13 · Housing Prices · EP2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DCD3C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718820"/>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1F1E1C"/>
                </a:solidFill>
                <a:latin typeface="Anton" pitchFamily="34" charset="0"/>
                <a:ea typeface="Anton" pitchFamily="34" charset="-122"/>
                <a:cs typeface="Anton" pitchFamily="34" charset="-120"/>
              </a:rPr>
              <a:t>USO RECOMENDADO Y LIMITACIONES</a:t>
            </a:r>
            <a:endParaRPr lang="en-US" sz="5200" dirty="0"/>
          </a:p>
        </p:txBody>
      </p:sp>
      <p:sp>
        <p:nvSpPr>
          <p:cNvPr id="3" name="Text 1"/>
          <p:cNvSpPr/>
          <p:nvPr/>
        </p:nvSpPr>
        <p:spPr>
          <a:xfrm>
            <a:off x="812800" y="1760221"/>
            <a:ext cx="1088339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53F"/>
                </a:solidFill>
                <a:latin typeface="Archivo" pitchFamily="34" charset="0"/>
                <a:ea typeface="Archivo" pitchFamily="34" charset="-122"/>
                <a:cs typeface="Archivo" pitchFamily="34" charset="-120"/>
              </a:rPr>
              <a:t>Un punto de partida para el perito, no un reemplazo de la tasación.</a:t>
            </a:r>
            <a:endParaRPr lang="en-US" sz="1400" dirty="0"/>
          </a:p>
        </p:txBody>
      </p:sp>
      <p:sp>
        <p:nvSpPr>
          <p:cNvPr id="4" name="Shape 2"/>
          <p:cNvSpPr/>
          <p:nvPr/>
        </p:nvSpPr>
        <p:spPr>
          <a:xfrm>
            <a:off x="812800" y="2254250"/>
            <a:ext cx="3810000" cy="3587750"/>
          </a:xfrm>
          <a:prstGeom prst="rect">
            <a:avLst/>
          </a:prstGeom>
          <a:solidFill>
            <a:srgbClr val="1F1E1C"/>
          </a:solidFill>
          <a:ln/>
        </p:spPr>
      </p:sp>
      <p:sp>
        <p:nvSpPr>
          <p:cNvPr id="5" name="Text 3"/>
          <p:cNvSpPr/>
          <p:nvPr/>
        </p:nvSpPr>
        <p:spPr>
          <a:xfrm>
            <a:off x="1168400" y="2609850"/>
            <a:ext cx="319176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9B8B"/>
                </a:solidFill>
                <a:latin typeface="Archivo" pitchFamily="34" charset="0"/>
                <a:ea typeface="Archivo" pitchFamily="34" charset="-122"/>
                <a:cs typeface="Archivo" pitchFamily="34" charset="-120"/>
              </a:rPr>
              <a:t>SIRVE PARA</a:t>
            </a:r>
            <a:endParaRPr lang="en-US" sz="1200" dirty="0"/>
          </a:p>
        </p:txBody>
      </p:sp>
      <p:sp>
        <p:nvSpPr>
          <p:cNvPr id="6" name="Shape 4"/>
          <p:cNvSpPr/>
          <p:nvPr/>
        </p:nvSpPr>
        <p:spPr>
          <a:xfrm>
            <a:off x="1168400" y="3001008"/>
            <a:ext cx="279400" cy="279400"/>
          </a:xfrm>
          <a:prstGeom prst="roundRect">
            <a:avLst>
              <a:gd name="adj" fmla="val 50000"/>
            </a:avLst>
          </a:prstGeom>
          <a:solidFill>
            <a:srgbClr val="DCD3C3"/>
          </a:solidFill>
          <a:ln/>
        </p:spPr>
      </p:sp>
      <p:pic>
        <p:nvPicPr>
          <p:cNvPr id="7" name="Image 0" descr="Check">    </p:cNvPr>
          <p:cNvPicPr>
            <a:picLocks noChangeAspect="1"/>
          </p:cNvPicPr>
          <p:nvPr/>
        </p:nvPicPr>
        <p:blipFill>
          <a:blip r:embed="rId1"/>
          <a:srcRect l="0" r="0" t="0" b="0"/>
          <a:stretch/>
        </p:blipFill>
        <p:spPr>
          <a:xfrm>
            <a:off x="1206500" y="3039108"/>
            <a:ext cx="203200" cy="203200"/>
          </a:xfrm>
          <a:prstGeom prst="rect">
            <a:avLst/>
          </a:prstGeom>
        </p:spPr>
      </p:pic>
      <p:sp>
        <p:nvSpPr>
          <p:cNvPr id="8" name="Text 5"/>
          <p:cNvSpPr/>
          <p:nvPr/>
        </p:nvSpPr>
        <p:spPr>
          <a:xfrm>
            <a:off x="1574800" y="3001008"/>
            <a:ext cx="2779903"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CD3C3"/>
                </a:solidFill>
                <a:latin typeface="Archivo" pitchFamily="34" charset="0"/>
                <a:ea typeface="Archivo" pitchFamily="34" charset="-122"/>
                <a:cs typeface="Archivo" pitchFamily="34" charset="-120"/>
              </a:rPr>
              <a:t>Viviendas en zona residencial</a:t>
            </a:r>
            <a:endParaRPr lang="en-US" sz="1400" dirty="0"/>
          </a:p>
        </p:txBody>
      </p:sp>
      <p:sp>
        <p:nvSpPr>
          <p:cNvPr id="9" name="Shape 6"/>
          <p:cNvSpPr/>
          <p:nvPr/>
        </p:nvSpPr>
        <p:spPr>
          <a:xfrm>
            <a:off x="1168400" y="3458208"/>
            <a:ext cx="279400" cy="279400"/>
          </a:xfrm>
          <a:prstGeom prst="roundRect">
            <a:avLst>
              <a:gd name="adj" fmla="val 50000"/>
            </a:avLst>
          </a:prstGeom>
          <a:solidFill>
            <a:srgbClr val="DCD3C3"/>
          </a:solidFill>
          <a:ln/>
        </p:spPr>
      </p:sp>
      <p:pic>
        <p:nvPicPr>
          <p:cNvPr id="10" name="Image 1" descr="Check">    </p:cNvPr>
          <p:cNvPicPr>
            <a:picLocks noChangeAspect="1"/>
          </p:cNvPicPr>
          <p:nvPr/>
        </p:nvPicPr>
        <p:blipFill>
          <a:blip r:embed="rId2"/>
          <a:srcRect l="0" r="0" t="0" b="0"/>
          <a:stretch/>
        </p:blipFill>
        <p:spPr>
          <a:xfrm>
            <a:off x="1206500" y="3496308"/>
            <a:ext cx="203200" cy="203200"/>
          </a:xfrm>
          <a:prstGeom prst="rect">
            <a:avLst/>
          </a:prstGeom>
        </p:spPr>
      </p:pic>
      <p:sp>
        <p:nvSpPr>
          <p:cNvPr id="11" name="Text 7"/>
          <p:cNvSpPr/>
          <p:nvPr/>
        </p:nvSpPr>
        <p:spPr>
          <a:xfrm>
            <a:off x="1574800" y="3458208"/>
            <a:ext cx="2773172"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CD3C3"/>
                </a:solidFill>
                <a:latin typeface="Archivo" pitchFamily="34" charset="0"/>
                <a:ea typeface="Archivo" pitchFamily="34" charset="-122"/>
                <a:cs typeface="Archivo" pitchFamily="34" charset="-120"/>
              </a:rPr>
              <a:t>Valor de partida para el perito, tasado como venta normal</a:t>
            </a:r>
            <a:endParaRPr lang="en-US" sz="1400" dirty="0"/>
          </a:p>
        </p:txBody>
      </p:sp>
      <p:sp>
        <p:nvSpPr>
          <p:cNvPr id="12" name="Shape 8"/>
          <p:cNvSpPr/>
          <p:nvPr/>
        </p:nvSpPr>
        <p:spPr>
          <a:xfrm>
            <a:off x="1168400" y="4905375"/>
            <a:ext cx="3098800" cy="0"/>
          </a:xfrm>
          <a:prstGeom prst="line">
            <a:avLst/>
          </a:prstGeom>
          <a:noFill/>
          <a:ln w="6350">
            <a:solidFill>
              <a:srgbClr val="6E685E"/>
            </a:solidFill>
            <a:prstDash val="solid"/>
          </a:ln>
        </p:spPr>
      </p:sp>
      <p:sp>
        <p:nvSpPr>
          <p:cNvPr id="13" name="Text 9"/>
          <p:cNvSpPr/>
          <p:nvPr/>
        </p:nvSpPr>
        <p:spPr>
          <a:xfrm>
            <a:off x="1168400" y="5059680"/>
            <a:ext cx="319176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Fuera de alcance: zonas no residenciales, que van a tasación manual.</a:t>
            </a:r>
            <a:endParaRPr lang="en-US" sz="1200" dirty="0"/>
          </a:p>
        </p:txBody>
      </p:sp>
      <p:sp>
        <p:nvSpPr>
          <p:cNvPr id="14" name="Text 10"/>
          <p:cNvSpPr/>
          <p:nvPr/>
        </p:nvSpPr>
        <p:spPr>
          <a:xfrm>
            <a:off x="5029200" y="2254250"/>
            <a:ext cx="65405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453F"/>
                </a:solidFill>
                <a:latin typeface="Archivo" pitchFamily="34" charset="0"/>
                <a:ea typeface="Archivo" pitchFamily="34" charset="-122"/>
                <a:cs typeface="Archivo" pitchFamily="34" charset="-120"/>
              </a:rPr>
              <a:t>TENER CUIDADO CON</a:t>
            </a:r>
            <a:endParaRPr lang="en-US" sz="1200" dirty="0"/>
          </a:p>
        </p:txBody>
      </p:sp>
      <p:sp>
        <p:nvSpPr>
          <p:cNvPr id="15" name="Shape 11"/>
          <p:cNvSpPr/>
          <p:nvPr/>
        </p:nvSpPr>
        <p:spPr>
          <a:xfrm>
            <a:off x="5035550" y="2575558"/>
            <a:ext cx="3086100" cy="1547495"/>
          </a:xfrm>
          <a:prstGeom prst="roundRect">
            <a:avLst>
              <a:gd name="adj" fmla="val 4514"/>
            </a:avLst>
          </a:prstGeom>
          <a:noFill/>
          <a:ln w="12700">
            <a:solidFill>
              <a:srgbClr val="1F1E1C"/>
            </a:solidFill>
            <a:prstDash val="solid"/>
          </a:ln>
        </p:spPr>
      </p:sp>
      <p:sp>
        <p:nvSpPr>
          <p:cNvPr id="16" name="Text 12"/>
          <p:cNvSpPr/>
          <p:nvPr/>
        </p:nvSpPr>
        <p:spPr>
          <a:xfrm>
            <a:off x="5242560" y="2782571"/>
            <a:ext cx="2752242" cy="3606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1F1E1C"/>
                </a:solidFill>
                <a:latin typeface="Anton" pitchFamily="34" charset="0"/>
                <a:ea typeface="Anton" pitchFamily="34" charset="-122"/>
                <a:cs typeface="Anton" pitchFamily="34" charset="-120"/>
              </a:rPr>
              <a:t>8 de 9</a:t>
            </a:r>
            <a:endParaRPr lang="en-US" sz="2400" dirty="0"/>
          </a:p>
        </p:txBody>
      </p:sp>
      <p:sp>
        <p:nvSpPr>
          <p:cNvPr id="17" name="Text 13"/>
          <p:cNvSpPr/>
          <p:nvPr/>
        </p:nvSpPr>
        <p:spPr>
          <a:xfrm>
            <a:off x="5242560" y="3168650"/>
            <a:ext cx="275224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53F"/>
                </a:solidFill>
                <a:latin typeface="Archivo" pitchFamily="34" charset="0"/>
                <a:ea typeface="Archivo" pitchFamily="34" charset="-122"/>
                <a:cs typeface="Archivo" pitchFamily="34" charset="-120"/>
              </a:rPr>
              <a:t>casas de más de 450.000 USD quedan bajo su precio real</a:t>
            </a:r>
            <a:endParaRPr lang="en-US" sz="1200" dirty="0"/>
          </a:p>
        </p:txBody>
      </p:sp>
      <p:sp>
        <p:nvSpPr>
          <p:cNvPr id="18" name="Shape 14"/>
          <p:cNvSpPr/>
          <p:nvPr/>
        </p:nvSpPr>
        <p:spPr>
          <a:xfrm>
            <a:off x="8286750" y="2575558"/>
            <a:ext cx="3086100" cy="1547495"/>
          </a:xfrm>
          <a:prstGeom prst="roundRect">
            <a:avLst>
              <a:gd name="adj" fmla="val 4514"/>
            </a:avLst>
          </a:prstGeom>
          <a:noFill/>
          <a:ln w="12700">
            <a:solidFill>
              <a:srgbClr val="1F1E1C"/>
            </a:solidFill>
            <a:prstDash val="solid"/>
          </a:ln>
        </p:spPr>
      </p:sp>
      <p:sp>
        <p:nvSpPr>
          <p:cNvPr id="19" name="Text 15"/>
          <p:cNvSpPr/>
          <p:nvPr/>
        </p:nvSpPr>
        <p:spPr>
          <a:xfrm>
            <a:off x="8493760" y="2782571"/>
            <a:ext cx="2752242" cy="3606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1F1E1C"/>
                </a:solidFill>
                <a:latin typeface="Anton" pitchFamily="34" charset="0"/>
                <a:ea typeface="Anton" pitchFamily="34" charset="-122"/>
                <a:cs typeface="Anton" pitchFamily="34" charset="-120"/>
              </a:rPr>
              <a:t>+3,4 %</a:t>
            </a:r>
            <a:endParaRPr lang="en-US" sz="2400" dirty="0"/>
          </a:p>
        </p:txBody>
      </p:sp>
      <p:sp>
        <p:nvSpPr>
          <p:cNvPr id="20" name="Text 16"/>
          <p:cNvSpPr/>
          <p:nvPr/>
        </p:nvSpPr>
        <p:spPr>
          <a:xfrm>
            <a:off x="8493760" y="3168650"/>
            <a:ext cx="275224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53F"/>
                </a:solidFill>
                <a:latin typeface="Archivo" pitchFamily="34" charset="0"/>
                <a:ea typeface="Archivo" pitchFamily="34" charset="-122"/>
                <a:cs typeface="Archivo" pitchFamily="34" charset="-120"/>
              </a:rPr>
              <a:t>de sobreestimación en el cuartil más barato</a:t>
            </a:r>
            <a:endParaRPr lang="en-US" sz="1200" dirty="0"/>
          </a:p>
        </p:txBody>
      </p:sp>
      <p:sp>
        <p:nvSpPr>
          <p:cNvPr id="21" name="Shape 17"/>
          <p:cNvSpPr/>
          <p:nvPr/>
        </p:nvSpPr>
        <p:spPr>
          <a:xfrm>
            <a:off x="5035550" y="4288154"/>
            <a:ext cx="3086100" cy="1547495"/>
          </a:xfrm>
          <a:prstGeom prst="roundRect">
            <a:avLst>
              <a:gd name="adj" fmla="val 4514"/>
            </a:avLst>
          </a:prstGeom>
          <a:noFill/>
          <a:ln w="12700">
            <a:solidFill>
              <a:srgbClr val="1F1E1C"/>
            </a:solidFill>
            <a:prstDash val="solid"/>
          </a:ln>
        </p:spPr>
      </p:sp>
      <p:sp>
        <p:nvSpPr>
          <p:cNvPr id="22" name="Text 18"/>
          <p:cNvSpPr/>
          <p:nvPr/>
        </p:nvSpPr>
        <p:spPr>
          <a:xfrm>
            <a:off x="5242560" y="4495167"/>
            <a:ext cx="2752242" cy="3606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1F1E1C"/>
                </a:solidFill>
                <a:latin typeface="Anton" pitchFamily="34" charset="0"/>
                <a:ea typeface="Anton" pitchFamily="34" charset="-122"/>
                <a:cs typeface="Anton" pitchFamily="34" charset="-120"/>
              </a:rPr>
              <a:t>11 a 15 %</a:t>
            </a:r>
            <a:endParaRPr lang="en-US" sz="2400" dirty="0"/>
          </a:p>
        </p:txBody>
      </p:sp>
      <p:sp>
        <p:nvSpPr>
          <p:cNvPr id="23" name="Text 19"/>
          <p:cNvSpPr/>
          <p:nvPr/>
        </p:nvSpPr>
        <p:spPr>
          <a:xfrm>
            <a:off x="5242560" y="4881246"/>
            <a:ext cx="275224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53F"/>
                </a:solidFill>
                <a:latin typeface="Archivo" pitchFamily="34" charset="0"/>
                <a:ea typeface="Archivo" pitchFamily="34" charset="-122"/>
                <a:cs typeface="Archivo" pitchFamily="34" charset="-120"/>
              </a:rPr>
              <a:t>de error en remates y ventas entre familiares</a:t>
            </a:r>
            <a:endParaRPr lang="en-US" sz="1200" dirty="0"/>
          </a:p>
        </p:txBody>
      </p:sp>
      <p:sp>
        <p:nvSpPr>
          <p:cNvPr id="24" name="Shape 20"/>
          <p:cNvSpPr/>
          <p:nvPr/>
        </p:nvSpPr>
        <p:spPr>
          <a:xfrm>
            <a:off x="8286750" y="4288154"/>
            <a:ext cx="3086100" cy="1547495"/>
          </a:xfrm>
          <a:prstGeom prst="roundRect">
            <a:avLst>
              <a:gd name="adj" fmla="val 4514"/>
            </a:avLst>
          </a:prstGeom>
          <a:noFill/>
          <a:ln w="12700">
            <a:solidFill>
              <a:srgbClr val="1F1E1C"/>
            </a:solidFill>
            <a:prstDash val="solid"/>
          </a:ln>
        </p:spPr>
      </p:sp>
      <p:sp>
        <p:nvSpPr>
          <p:cNvPr id="25" name="Text 21"/>
          <p:cNvSpPr/>
          <p:nvPr/>
        </p:nvSpPr>
        <p:spPr>
          <a:xfrm>
            <a:off x="8493760" y="4495167"/>
            <a:ext cx="2752242" cy="3606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1F1E1C"/>
                </a:solidFill>
                <a:latin typeface="Anton" pitchFamily="34" charset="0"/>
                <a:ea typeface="Anton" pitchFamily="34" charset="-122"/>
                <a:cs typeface="Anton" pitchFamily="34" charset="-120"/>
              </a:rPr>
              <a:t>2006 a 2010</a:t>
            </a:r>
            <a:endParaRPr lang="en-US" sz="2400" dirty="0"/>
          </a:p>
        </p:txBody>
      </p:sp>
      <p:sp>
        <p:nvSpPr>
          <p:cNvPr id="26" name="Text 22"/>
          <p:cNvSpPr/>
          <p:nvPr/>
        </p:nvSpPr>
        <p:spPr>
          <a:xfrm>
            <a:off x="8493760" y="4881246"/>
            <a:ext cx="28727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53F"/>
                </a:solidFill>
                <a:latin typeface="Archivo" pitchFamily="34" charset="0"/>
                <a:ea typeface="Archivo" pitchFamily="34" charset="-122"/>
                <a:cs typeface="Archivo" pitchFamily="34" charset="-120"/>
              </a:rPr>
              <a:t>el modelo tasa a precios de ese período</a:t>
            </a:r>
            <a:endParaRPr lang="en-US" sz="1200" dirty="0"/>
          </a:p>
        </p:txBody>
      </p:sp>
      <p:sp>
        <p:nvSpPr>
          <p:cNvPr id="27" name="Text 23"/>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53F"/>
                </a:solidFill>
                <a:latin typeface="Archivo" pitchFamily="34" charset="0"/>
                <a:ea typeface="Archivo" pitchFamily="34" charset="-122"/>
                <a:cs typeface="Archivo" pitchFamily="34" charset="-120"/>
              </a:rPr>
              <a:t>14 · Housing Prices · EP2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DCD3C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718820"/>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1F1E1C"/>
                </a:solidFill>
                <a:latin typeface="Anton" pitchFamily="34" charset="0"/>
                <a:ea typeface="Anton" pitchFamily="34" charset="-122"/>
                <a:cs typeface="Anton" pitchFamily="34" charset="-120"/>
              </a:rPr>
              <a:t>CONCLUSIONES</a:t>
            </a:r>
            <a:endParaRPr lang="en-US" sz="5200" dirty="0"/>
          </a:p>
        </p:txBody>
      </p:sp>
      <p:sp>
        <p:nvSpPr>
          <p:cNvPr id="3" name="Shape 1"/>
          <p:cNvSpPr/>
          <p:nvPr/>
        </p:nvSpPr>
        <p:spPr>
          <a:xfrm>
            <a:off x="812800" y="1811021"/>
            <a:ext cx="10566400" cy="1925320"/>
          </a:xfrm>
          <a:prstGeom prst="rect">
            <a:avLst/>
          </a:prstGeom>
          <a:solidFill>
            <a:srgbClr val="1F1E1C"/>
          </a:solidFill>
          <a:ln/>
        </p:spPr>
      </p:sp>
      <p:sp>
        <p:nvSpPr>
          <p:cNvPr id="4" name="Text 2"/>
          <p:cNvSpPr/>
          <p:nvPr/>
        </p:nvSpPr>
        <p:spPr>
          <a:xfrm>
            <a:off x="1168400" y="2115821"/>
            <a:ext cx="1015085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9B8B"/>
                </a:solidFill>
                <a:latin typeface="Archivo" pitchFamily="34" charset="0"/>
                <a:ea typeface="Archivo" pitchFamily="34" charset="-122"/>
                <a:cs typeface="Archivo" pitchFamily="34" charset="-120"/>
              </a:rPr>
              <a:t>LASSO CUMPLE LOS SEIS KPI EN TEST</a:t>
            </a:r>
            <a:endParaRPr lang="en-US" sz="1200" dirty="0"/>
          </a:p>
        </p:txBody>
      </p:sp>
      <p:sp>
        <p:nvSpPr>
          <p:cNvPr id="5" name="Shape 3"/>
          <p:cNvSpPr/>
          <p:nvPr/>
        </p:nvSpPr>
        <p:spPr>
          <a:xfrm>
            <a:off x="1174750" y="2506979"/>
            <a:ext cx="0" cy="924560"/>
          </a:xfrm>
          <a:prstGeom prst="line">
            <a:avLst/>
          </a:prstGeom>
          <a:noFill/>
          <a:ln w="12700">
            <a:solidFill>
              <a:srgbClr val="6E685E"/>
            </a:solidFill>
            <a:prstDash val="solid"/>
          </a:ln>
        </p:spPr>
      </p:sp>
      <p:sp>
        <p:nvSpPr>
          <p:cNvPr id="6" name="Text 4"/>
          <p:cNvSpPr/>
          <p:nvPr/>
        </p:nvSpPr>
        <p:spPr>
          <a:xfrm>
            <a:off x="1381760" y="2506979"/>
            <a:ext cx="2989444" cy="685800"/>
          </a:xfrm>
          <a:prstGeom prst="rect">
            <a:avLst/>
          </a:prstGeom>
          <a:noFill/>
          <a:ln/>
        </p:spPr>
        <p:txBody>
          <a:bodyPr wrap="square" lIns="0" tIns="0" rIns="0" bIns="0" rtlCol="0" anchor="t">
            <a:normAutofit/>
          </a:bodyPr>
          <a:lstStyle/>
          <a:p>
            <a:pPr algn="l" indent="0" marL="0">
              <a:lnSpc>
                <a:spcPts val="5200"/>
              </a:lnSpc>
              <a:buNone/>
            </a:pPr>
            <a:r>
              <a:rPr lang="en-US" sz="5200" dirty="0">
                <a:solidFill>
                  <a:srgbClr val="DCD3C3"/>
                </a:solidFill>
                <a:latin typeface="Anton" pitchFamily="34" charset="0"/>
                <a:ea typeface="Anton" pitchFamily="34" charset="-122"/>
                <a:cs typeface="Anton" pitchFamily="34" charset="-120"/>
              </a:rPr>
              <a:t>0,948</a:t>
            </a:r>
            <a:endParaRPr lang="en-US" sz="5200" dirty="0"/>
          </a:p>
        </p:txBody>
      </p:sp>
      <p:sp>
        <p:nvSpPr>
          <p:cNvPr id="7" name="Text 5"/>
          <p:cNvSpPr/>
          <p:nvPr/>
        </p:nvSpPr>
        <p:spPr>
          <a:xfrm>
            <a:off x="1381760" y="3218179"/>
            <a:ext cx="29894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R² · mínimo 0,85</a:t>
            </a:r>
            <a:endParaRPr lang="en-US" sz="1200" dirty="0"/>
          </a:p>
        </p:txBody>
      </p:sp>
      <p:sp>
        <p:nvSpPr>
          <p:cNvPr id="8" name="Shape 6"/>
          <p:cNvSpPr/>
          <p:nvPr/>
        </p:nvSpPr>
        <p:spPr>
          <a:xfrm>
            <a:off x="4544483" y="2506979"/>
            <a:ext cx="0" cy="924560"/>
          </a:xfrm>
          <a:prstGeom prst="line">
            <a:avLst/>
          </a:prstGeom>
          <a:noFill/>
          <a:ln w="12700">
            <a:solidFill>
              <a:srgbClr val="6E685E"/>
            </a:solidFill>
            <a:prstDash val="solid"/>
          </a:ln>
        </p:spPr>
      </p:sp>
      <p:sp>
        <p:nvSpPr>
          <p:cNvPr id="9" name="Text 7"/>
          <p:cNvSpPr/>
          <p:nvPr/>
        </p:nvSpPr>
        <p:spPr>
          <a:xfrm>
            <a:off x="4751493" y="2506979"/>
            <a:ext cx="2989444" cy="685800"/>
          </a:xfrm>
          <a:prstGeom prst="rect">
            <a:avLst/>
          </a:prstGeom>
          <a:noFill/>
          <a:ln/>
        </p:spPr>
        <p:txBody>
          <a:bodyPr wrap="square" lIns="0" tIns="0" rIns="0" bIns="0" rtlCol="0" anchor="t">
            <a:normAutofit/>
          </a:bodyPr>
          <a:lstStyle/>
          <a:p>
            <a:pPr algn="l" indent="0" marL="0">
              <a:lnSpc>
                <a:spcPts val="5200"/>
              </a:lnSpc>
              <a:buNone/>
            </a:pPr>
            <a:r>
              <a:rPr lang="en-US" sz="5200" dirty="0">
                <a:solidFill>
                  <a:srgbClr val="DCD3C3"/>
                </a:solidFill>
                <a:latin typeface="Anton" pitchFamily="34" charset="0"/>
                <a:ea typeface="Anton" pitchFamily="34" charset="-122"/>
                <a:cs typeface="Anton" pitchFamily="34" charset="-120"/>
              </a:rPr>
              <a:t>6,77 %</a:t>
            </a:r>
            <a:endParaRPr lang="en-US" sz="5200" dirty="0"/>
          </a:p>
        </p:txBody>
      </p:sp>
      <p:sp>
        <p:nvSpPr>
          <p:cNvPr id="10" name="Text 8"/>
          <p:cNvSpPr/>
          <p:nvPr/>
        </p:nvSpPr>
        <p:spPr>
          <a:xfrm>
            <a:off x="4751493" y="3218179"/>
            <a:ext cx="29894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MAPE · máximo 12 %</a:t>
            </a:r>
            <a:endParaRPr lang="en-US" sz="1200" dirty="0"/>
          </a:p>
        </p:txBody>
      </p:sp>
      <p:sp>
        <p:nvSpPr>
          <p:cNvPr id="11" name="Shape 9"/>
          <p:cNvSpPr/>
          <p:nvPr/>
        </p:nvSpPr>
        <p:spPr>
          <a:xfrm>
            <a:off x="7914217" y="2506979"/>
            <a:ext cx="0" cy="924560"/>
          </a:xfrm>
          <a:prstGeom prst="line">
            <a:avLst/>
          </a:prstGeom>
          <a:noFill/>
          <a:ln w="12700">
            <a:solidFill>
              <a:srgbClr val="6E685E"/>
            </a:solidFill>
            <a:prstDash val="solid"/>
          </a:ln>
        </p:spPr>
      </p:sp>
      <p:sp>
        <p:nvSpPr>
          <p:cNvPr id="12" name="Text 10"/>
          <p:cNvSpPr/>
          <p:nvPr/>
        </p:nvSpPr>
        <p:spPr>
          <a:xfrm>
            <a:off x="8121227" y="2506979"/>
            <a:ext cx="2989444" cy="685800"/>
          </a:xfrm>
          <a:prstGeom prst="rect">
            <a:avLst/>
          </a:prstGeom>
          <a:noFill/>
          <a:ln/>
        </p:spPr>
        <p:txBody>
          <a:bodyPr wrap="square" lIns="0" tIns="0" rIns="0" bIns="0" rtlCol="0" anchor="t">
            <a:normAutofit/>
          </a:bodyPr>
          <a:lstStyle/>
          <a:p>
            <a:pPr algn="l" indent="0" marL="0">
              <a:lnSpc>
                <a:spcPts val="5200"/>
              </a:lnSpc>
              <a:buNone/>
            </a:pPr>
            <a:r>
              <a:rPr lang="en-US" sz="5200" dirty="0">
                <a:solidFill>
                  <a:srgbClr val="DCD3C3"/>
                </a:solidFill>
                <a:latin typeface="Anton" pitchFamily="34" charset="0"/>
                <a:ea typeface="Anton" pitchFamily="34" charset="-122"/>
                <a:cs typeface="Anton" pitchFamily="34" charset="-120"/>
              </a:rPr>
              <a:t>6,1</a:t>
            </a:r>
            <a:endParaRPr lang="en-US" sz="5200" dirty="0"/>
          </a:p>
        </p:txBody>
      </p:sp>
      <p:sp>
        <p:nvSpPr>
          <p:cNvPr id="13" name="Text 11"/>
          <p:cNvSpPr/>
          <p:nvPr/>
        </p:nvSpPr>
        <p:spPr>
          <a:xfrm>
            <a:off x="8121227" y="3218179"/>
            <a:ext cx="29894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Brecha entre barrios · máximo 8 pts</a:t>
            </a:r>
            <a:endParaRPr lang="en-US" sz="1200" dirty="0"/>
          </a:p>
        </p:txBody>
      </p:sp>
      <p:sp>
        <p:nvSpPr>
          <p:cNvPr id="14" name="Shape 12"/>
          <p:cNvSpPr/>
          <p:nvPr/>
        </p:nvSpPr>
        <p:spPr>
          <a:xfrm>
            <a:off x="812800" y="4047492"/>
            <a:ext cx="5080000" cy="0"/>
          </a:xfrm>
          <a:prstGeom prst="line">
            <a:avLst/>
          </a:prstGeom>
          <a:noFill/>
          <a:ln w="12700">
            <a:solidFill>
              <a:srgbClr val="1F1E1C"/>
            </a:solidFill>
            <a:prstDash val="solid"/>
          </a:ln>
        </p:spPr>
      </p:sp>
      <p:sp>
        <p:nvSpPr>
          <p:cNvPr id="15" name="Text 13"/>
          <p:cNvSpPr/>
          <p:nvPr/>
        </p:nvSpPr>
        <p:spPr>
          <a:xfrm>
            <a:off x="812800" y="4203700"/>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453F"/>
                </a:solidFill>
                <a:latin typeface="Archivo" pitchFamily="34" charset="0"/>
                <a:ea typeface="Archivo" pitchFamily="34" charset="-122"/>
                <a:cs typeface="Archivo" pitchFamily="34" charset="-120"/>
              </a:rPr>
              <a:t>POR QUÉ LASSO</a:t>
            </a:r>
            <a:endParaRPr lang="en-US" sz="1200" dirty="0"/>
          </a:p>
        </p:txBody>
      </p:sp>
      <p:sp>
        <p:nvSpPr>
          <p:cNvPr id="16" name="Text 14"/>
          <p:cNvSpPr/>
          <p:nvPr/>
        </p:nvSpPr>
        <p:spPr>
          <a:xfrm>
            <a:off x="812800" y="4493258"/>
            <a:ext cx="523240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E1C"/>
                </a:solidFill>
                <a:latin typeface="Archivo" pitchFamily="34" charset="0"/>
                <a:ea typeface="Archivo" pitchFamily="34" charset="-122"/>
                <a:cs typeface="Archivo" pitchFamily="34" charset="-120"/>
              </a:rPr>
              <a:t>Misma precisión que Ridge con 33 columnas menos, y cada estimación se puede explicar.</a:t>
            </a:r>
            <a:endParaRPr lang="en-US" sz="1400" dirty="0"/>
          </a:p>
        </p:txBody>
      </p:sp>
      <p:sp>
        <p:nvSpPr>
          <p:cNvPr id="17" name="Shape 15"/>
          <p:cNvSpPr/>
          <p:nvPr/>
        </p:nvSpPr>
        <p:spPr>
          <a:xfrm>
            <a:off x="6299200" y="4047492"/>
            <a:ext cx="5080000" cy="0"/>
          </a:xfrm>
          <a:prstGeom prst="line">
            <a:avLst/>
          </a:prstGeom>
          <a:noFill/>
          <a:ln w="12700">
            <a:solidFill>
              <a:srgbClr val="1F1E1C"/>
            </a:solidFill>
            <a:prstDash val="solid"/>
          </a:ln>
        </p:spPr>
      </p:sp>
      <p:sp>
        <p:nvSpPr>
          <p:cNvPr id="18" name="Text 16"/>
          <p:cNvSpPr/>
          <p:nvPr/>
        </p:nvSpPr>
        <p:spPr>
          <a:xfrm>
            <a:off x="6299200" y="4203700"/>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453F"/>
                </a:solidFill>
                <a:latin typeface="Archivo" pitchFamily="34" charset="0"/>
                <a:ea typeface="Archivo" pitchFamily="34" charset="-122"/>
                <a:cs typeface="Archivo" pitchFamily="34" charset="-120"/>
              </a:rPr>
              <a:t>PRÓXIMO PASO</a:t>
            </a:r>
            <a:endParaRPr lang="en-US" sz="1200" dirty="0"/>
          </a:p>
        </p:txBody>
      </p:sp>
      <p:sp>
        <p:nvSpPr>
          <p:cNvPr id="19" name="Text 17"/>
          <p:cNvSpPr/>
          <p:nvPr/>
        </p:nvSpPr>
        <p:spPr>
          <a:xfrm>
            <a:off x="6299200" y="4493258"/>
            <a:ext cx="523240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E1C"/>
                </a:solidFill>
                <a:latin typeface="Archivo" pitchFamily="34" charset="0"/>
                <a:ea typeface="Archivo" pitchFamily="34" charset="-122"/>
                <a:cs typeface="Archivo" pitchFamily="34" charset="-120"/>
              </a:rPr>
              <a:t>Búsqueda de hiperparámetros: ¿cumplen los árboles al limitar su profundidad?</a:t>
            </a:r>
            <a:endParaRPr lang="en-US" sz="1400" dirty="0"/>
          </a:p>
        </p:txBody>
      </p:sp>
      <p:sp>
        <p:nvSpPr>
          <p:cNvPr id="20" name="Text 18"/>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53F"/>
                </a:solidFill>
                <a:latin typeface="Archivo" pitchFamily="34" charset="0"/>
                <a:ea typeface="Archivo" pitchFamily="34" charset="-122"/>
                <a:cs typeface="Archivo" pitchFamily="34" charset="-120"/>
              </a:rPr>
              <a:t>15 · Housing Prices · EP2</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1E1C"/>
        </a:solidFill>
      </p:bgPr>
    </p:bg>
    <p:spTree>
      <p:nvGrpSpPr>
        <p:cNvPr id="1" name=""/>
        <p:cNvGrpSpPr/>
        <p:nvPr/>
      </p:nvGrpSpPr>
      <p:grpSpPr>
        <a:xfrm>
          <a:off x="0" y="0"/>
          <a:ext cx="0" cy="0"/>
          <a:chOff x="0" y="0"/>
          <a:chExt cx="0" cy="0"/>
        </a:xfrm>
      </p:grpSpPr>
      <p:sp>
        <p:nvSpPr>
          <p:cNvPr id="2" name="Text 0"/>
          <p:cNvSpPr/>
          <p:nvPr/>
        </p:nvSpPr>
        <p:spPr>
          <a:xfrm>
            <a:off x="812800" y="711200"/>
            <a:ext cx="41859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B8B"/>
                </a:solidFill>
                <a:latin typeface="Archivo" pitchFamily="34" charset="0"/>
                <a:ea typeface="Archivo" pitchFamily="34" charset="-122"/>
                <a:cs typeface="Archivo" pitchFamily="34" charset="-120"/>
              </a:rPr>
              <a:t>Predicción de precios de viviendas en Ames, Iowa</a:t>
            </a:r>
            <a:endParaRPr lang="en-US" sz="1200" dirty="0"/>
          </a:p>
        </p:txBody>
      </p:sp>
      <p:sp>
        <p:nvSpPr>
          <p:cNvPr id="3" name="Text 1"/>
          <p:cNvSpPr/>
          <p:nvPr/>
        </p:nvSpPr>
        <p:spPr>
          <a:xfrm>
            <a:off x="7978140" y="711200"/>
            <a:ext cx="3401060" cy="4521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9B8B"/>
                </a:solidFill>
                <a:latin typeface="Archivo" pitchFamily="34" charset="0"/>
                <a:ea typeface="Archivo" pitchFamily="34" charset="-122"/>
                <a:cs typeface="Archivo" pitchFamily="34" charset="-120"/>
              </a:rPr>
              <a:t>MLY1101 Machine Learning</a:t>
            </a:r>
            <a:endParaRPr lang="en-US" sz="1200" dirty="0"/>
          </a:p>
          <a:p>
            <a:pPr algn="r" indent="0" marL="0">
              <a:lnSpc>
                <a:spcPts val="1680"/>
              </a:lnSpc>
              <a:buNone/>
            </a:pPr>
            <a:r>
              <a:rPr lang="en-US" sz="1200" dirty="0">
                <a:solidFill>
                  <a:srgbClr val="A39B8B"/>
                </a:solidFill>
                <a:latin typeface="Archivo" pitchFamily="34" charset="0"/>
                <a:ea typeface="Archivo" pitchFamily="34" charset="-122"/>
                <a:cs typeface="Archivo" pitchFamily="34" charset="-120"/>
              </a:rPr>
              <a:t>Evaluación Parcial 2 · Caso B</a:t>
            </a:r>
            <a:endParaRPr lang="en-US" sz="1200" dirty="0"/>
          </a:p>
        </p:txBody>
      </p:sp>
      <p:sp>
        <p:nvSpPr>
          <p:cNvPr id="4" name="Text 2"/>
          <p:cNvSpPr/>
          <p:nvPr>
            <p:ph type="title"/>
          </p:nvPr>
        </p:nvSpPr>
        <p:spPr>
          <a:xfrm>
            <a:off x="812800" y="2903215"/>
            <a:ext cx="10883392" cy="1625600"/>
          </a:xfrm>
          <a:prstGeom prst="rect">
            <a:avLst/>
          </a:prstGeom>
          <a:noFill/>
          <a:ln/>
        </p:spPr>
        <p:txBody>
          <a:bodyPr wrap="square" lIns="0" tIns="0" rIns="0" bIns="0" rtlCol="0" anchor="t">
            <a:normAutofit/>
          </a:bodyPr>
          <a:lstStyle/>
          <a:p>
            <a:pPr algn="l" indent="0" marL="0">
              <a:lnSpc>
                <a:spcPts val="12600"/>
              </a:lnSpc>
              <a:buNone/>
            </a:pPr>
            <a:r>
              <a:rPr lang="en-US" sz="12000" b="0" i="0" dirty="0">
                <a:solidFill>
                  <a:srgbClr val="DCD3C3"/>
                </a:solidFill>
                <a:latin typeface="Anton" pitchFamily="34" charset="0"/>
                <a:ea typeface="Anton" pitchFamily="34" charset="-122"/>
                <a:cs typeface="Anton" pitchFamily="34" charset="-120"/>
              </a:rPr>
              <a:t>GRACIAS</a:t>
            </a:r>
            <a:endParaRPr lang="en-US" sz="12000" dirty="0"/>
          </a:p>
        </p:txBody>
      </p:sp>
      <p:sp>
        <p:nvSpPr>
          <p:cNvPr id="5" name="Text 3"/>
          <p:cNvSpPr/>
          <p:nvPr/>
        </p:nvSpPr>
        <p:spPr>
          <a:xfrm>
            <a:off x="812800" y="4503415"/>
            <a:ext cx="10883392" cy="718820"/>
          </a:xfrm>
          <a:prstGeom prst="rect">
            <a:avLst/>
          </a:prstGeom>
          <a:noFill/>
          <a:ln/>
        </p:spPr>
        <p:txBody>
          <a:bodyPr wrap="square" lIns="0" tIns="0" rIns="0" bIns="0" rtlCol="0" anchor="t">
            <a:normAutofit/>
          </a:bodyPr>
          <a:lstStyle/>
          <a:p>
            <a:pPr algn="l" indent="0" marL="0">
              <a:lnSpc>
                <a:spcPts val="5460"/>
              </a:lnSpc>
              <a:buNone/>
            </a:pPr>
            <a:r>
              <a:rPr lang="en-US" sz="5200" dirty="0">
                <a:solidFill>
                  <a:srgbClr val="DCD3C3"/>
                </a:solidFill>
                <a:latin typeface="Anton" pitchFamily="34" charset="0"/>
                <a:ea typeface="Anton" pitchFamily="34" charset="-122"/>
                <a:cs typeface="Anton" pitchFamily="34" charset="-120"/>
              </a:rPr>
              <a:t>¿PREGUNTAS?</a:t>
            </a:r>
            <a:endParaRPr lang="en-US" sz="5200" dirty="0"/>
          </a:p>
        </p:txBody>
      </p:sp>
      <p:sp>
        <p:nvSpPr>
          <p:cNvPr id="6" name="Shape 4"/>
          <p:cNvSpPr/>
          <p:nvPr/>
        </p:nvSpPr>
        <p:spPr>
          <a:xfrm>
            <a:off x="812800" y="5454017"/>
            <a:ext cx="10566400" cy="0"/>
          </a:xfrm>
          <a:prstGeom prst="line">
            <a:avLst/>
          </a:prstGeom>
          <a:noFill/>
          <a:ln w="6350">
            <a:solidFill>
              <a:srgbClr val="6E685E"/>
            </a:solidFill>
            <a:prstDash val="solid"/>
          </a:ln>
        </p:spPr>
      </p:sp>
      <p:sp>
        <p:nvSpPr>
          <p:cNvPr id="7" name="Text 5"/>
          <p:cNvSpPr/>
          <p:nvPr/>
        </p:nvSpPr>
        <p:spPr>
          <a:xfrm>
            <a:off x="812800" y="5659115"/>
            <a:ext cx="262590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39B8B"/>
                </a:solidFill>
                <a:latin typeface="Archivo" pitchFamily="34" charset="0"/>
                <a:ea typeface="Archivo" pitchFamily="34" charset="-122"/>
                <a:cs typeface="Archivo" pitchFamily="34" charset="-120"/>
              </a:rPr>
              <a:t>PRESENTARON</a:t>
            </a:r>
            <a:endParaRPr lang="en-US" sz="1200" dirty="0"/>
          </a:p>
        </p:txBody>
      </p:sp>
      <p:sp>
        <p:nvSpPr>
          <p:cNvPr id="8" name="Text 6"/>
          <p:cNvSpPr/>
          <p:nvPr/>
        </p:nvSpPr>
        <p:spPr>
          <a:xfrm>
            <a:off x="812800" y="5897885"/>
            <a:ext cx="305930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CD3C3"/>
                </a:solidFill>
                <a:latin typeface="Archivo" pitchFamily="34" charset="0"/>
                <a:ea typeface="Archivo" pitchFamily="34" charset="-122"/>
                <a:cs typeface="Archivo" pitchFamily="34" charset="-120"/>
              </a:rPr>
              <a:t>Nicolas Osses · Javier Sagredo</a:t>
            </a:r>
            <a:endParaRPr lang="en-US" sz="1400" dirty="0"/>
          </a:p>
        </p:txBody>
      </p:sp>
      <p:sp>
        <p:nvSpPr>
          <p:cNvPr id="9" name="Text 7"/>
          <p:cNvSpPr/>
          <p:nvPr/>
        </p:nvSpPr>
        <p:spPr>
          <a:xfrm>
            <a:off x="8736729" y="5659115"/>
            <a:ext cx="2642471" cy="23876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A39B8B"/>
                </a:solidFill>
                <a:latin typeface="Archivo" pitchFamily="34" charset="0"/>
                <a:ea typeface="Archivo" pitchFamily="34" charset="-122"/>
                <a:cs typeface="Archivo" pitchFamily="34" charset="-120"/>
              </a:rPr>
              <a:t>MODELO ELEGIDO</a:t>
            </a:r>
            <a:endParaRPr lang="en-US" sz="1200" dirty="0"/>
          </a:p>
        </p:txBody>
      </p:sp>
      <p:sp>
        <p:nvSpPr>
          <p:cNvPr id="10" name="Text 8"/>
          <p:cNvSpPr/>
          <p:nvPr/>
        </p:nvSpPr>
        <p:spPr>
          <a:xfrm>
            <a:off x="8300593" y="5897885"/>
            <a:ext cx="3078607"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DCD3C3"/>
                </a:solidFill>
                <a:latin typeface="Archivo" pitchFamily="34" charset="0"/>
                <a:ea typeface="Archivo" pitchFamily="34" charset="-122"/>
                <a:cs typeface="Archivo" pitchFamily="34" charset="-120"/>
              </a:rPr>
              <a:t>Lasso · R² 0,948 · MAPE 6,77 %</a:t>
            </a:r>
            <a:endParaRPr lang="en-US" sz="1400" dirty="0"/>
          </a:p>
        </p:txBody>
      </p:sp>
    </p:spTree>
  </p:cSld>
  <p:clrMapOvr>
    <a:masterClrMapping/>
  </p:clrMapOvr>
</p:sld>
</file>

<file path=ppt/theme/theme1.xml><?xml version="1.0" encoding="utf-8"?>
<a:theme xmlns:a="http://schemas.openxmlformats.org/drawingml/2006/main" name="Predicción de precios de viviendas · EP2">
  <a:themeElements>
    <a:clrScheme name="Predicción de precios de viviendas · EP2">
      <a:dk1>
        <a:srgbClr val="1F1E1C"/>
      </a:dk1>
      <a:lt1>
        <a:srgbClr val="DCD3C3"/>
      </a:lt1>
      <a:dk2>
        <a:srgbClr val="4E4B46"/>
      </a:dk2>
      <a:lt2>
        <a:srgbClr val="C9C1B2"/>
      </a:lt2>
      <a:accent1>
        <a:srgbClr val="A39B8B"/>
      </a:accent1>
      <a:accent2>
        <a:srgbClr val="4A453F"/>
      </a:accent2>
      <a:accent3>
        <a:srgbClr val="6E685E"/>
      </a:accent3>
      <a:accent4>
        <a:srgbClr val="8C8476"/>
      </a:accent4>
      <a:accent5>
        <a:srgbClr val="4A4741"/>
      </a:accent5>
      <a:accent6>
        <a:srgbClr val="9AA0A6"/>
      </a:accent6>
      <a:hlink>
        <a:srgbClr val="0563C1"/>
      </a:hlink>
      <a:folHlink>
        <a:srgbClr val="954F72"/>
      </a:folHlink>
    </a:clrScheme>
    <a:fontScheme name="Predicción de precios de viviendas · EP2">
      <a:majorFont>
        <a:latin typeface="Anto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chiv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Predicción de precios de viviendas · EP2</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Archivo
Copyright 2020 The Archivo Project Authors (https://github.com/Omnibus-Type/Archivo)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Anton
Copyright 2020 The Anton Project Authors (https://github.com/googlefonts/AntonFont.git)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2026-10-27T16:12:36Z</dcterms:created>
  <dcterms:modified xsi:type="dcterms:W3CDTF">2026-10-27T16:12:36Z</dcterms:modified>
</cp:coreProperties>
</file>